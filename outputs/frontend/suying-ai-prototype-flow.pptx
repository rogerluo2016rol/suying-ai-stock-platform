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0"/>
  </p:normalViewPr>
  <p:slideViewPr>
    <p:cSldViewPr snapToGrid="0">
      <p:cViewPr varScale="1">
        <p:scale>
          <a:sx n="126" d="100"/>
          <a:sy n="126" d="100"/>
        </p:scale>
        <p:origin x="23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圆角矩形 36">
            <a:extLst>
              <a:ext uri="{FF2B5EF4-FFF2-40B4-BE49-F238E27FC236}">
                <a16:creationId xmlns:a16="http://schemas.microsoft.com/office/drawing/2014/main" id="{EA0E388C-1285-4D6A-9BF2-C0B46399841C}"/>
              </a:ext>
            </a:extLst>
          </p:cNvPr>
          <p:cNvSpPr>
            <a:spLocks noGrp="1"/>
          </p:cNvSpPr>
          <p:nvPr/>
        </p:nvSpPr>
        <p:spPr>
          <a:xfrm>
            <a:off x="647700" y="533400"/>
            <a:ext cx="10896600" cy="579120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BAA6CAAC-6273-421B-BCD1-A6F44A7A773C}"/>
              </a:ext>
            </a:extLst>
          </p:cNvPr>
          <p:cNvSpPr>
            <a:spLocks noGrp="1"/>
          </p:cNvSpPr>
          <p:nvPr/>
        </p:nvSpPr>
        <p:spPr>
          <a:xfrm>
            <a:off x="952500" y="876300"/>
            <a:ext cx="12001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66F7C4-3D49-40A1-B1E6-791FA04D45C8}"/>
              </a:ext>
            </a:extLst>
          </p:cNvPr>
          <p:cNvSpPr>
            <a:spLocks noGrp="1"/>
          </p:cNvSpPr>
          <p:nvPr/>
        </p:nvSpPr>
        <p:spPr>
          <a:xfrm>
            <a:off x="1038225" y="923925"/>
            <a:ext cx="1028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可编辑 PPT 原型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B89C74C-26CA-4672-95C2-3236E0FDA061}"/>
              </a:ext>
            </a:extLst>
          </p:cNvPr>
          <p:cNvSpPr>
            <a:spLocks noGrp="1"/>
          </p:cNvSpPr>
          <p:nvPr/>
        </p:nvSpPr>
        <p:spPr>
          <a:xfrm>
            <a:off x="952500" y="1390650"/>
            <a:ext cx="7429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A2230"/>
                </a:solidFill>
              </a:defRPr>
            </a:pPr>
            <a:r>
              <a:rPr sz="3150" b="1">
                <a:solidFill>
                  <a:srgbClr val="1A2230"/>
                </a:solidFill>
              </a:rPr>
              <a:t>速赢AI 前端交互原型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92F92C-9B68-4AD7-AEAA-07502DC0DDF8}"/>
              </a:ext>
            </a:extLst>
          </p:cNvPr>
          <p:cNvSpPr>
            <a:spLocks noGrp="1"/>
          </p:cNvSpPr>
          <p:nvPr/>
        </p:nvSpPr>
        <p:spPr>
          <a:xfrm>
            <a:off x="971550" y="211455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2617A"/>
                </a:solidFill>
              </a:defRPr>
            </a:pPr>
            <a:r>
              <a:rPr sz="1350" b="0">
                <a:solidFill>
                  <a:srgbClr val="52617A"/>
                </a:solidFill>
              </a:rPr>
              <a:t>14 个一级菜单 · 61 个功能页签 · 每个页签一页 · 所有卡片和文字均可编辑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CE0E601-C3FB-4329-9EF0-4D5ADDBA54D8}"/>
              </a:ext>
            </a:extLst>
          </p:cNvPr>
          <p:cNvSpPr>
            <a:spLocks noGrp="1"/>
          </p:cNvSpPr>
          <p:nvPr/>
        </p:nvSpPr>
        <p:spPr>
          <a:xfrm>
            <a:off x="952500" y="2933700"/>
            <a:ext cx="2952750" cy="158115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5BAE36A-518A-4B30-BA01-531BD85ED0BE}"/>
              </a:ext>
            </a:extLst>
          </p:cNvPr>
          <p:cNvSpPr>
            <a:spLocks noGrp="1"/>
          </p:cNvSpPr>
          <p:nvPr/>
        </p:nvSpPr>
        <p:spPr>
          <a:xfrm>
            <a:off x="1123950" y="3067050"/>
            <a:ext cx="260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原型规则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4C531CE-559E-47C1-B009-0212E09B1EDF}"/>
              </a:ext>
            </a:extLst>
          </p:cNvPr>
          <p:cNvSpPr>
            <a:spLocks noGrp="1"/>
          </p:cNvSpPr>
          <p:nvPr/>
        </p:nvSpPr>
        <p:spPr>
          <a:xfrm>
            <a:off x="1123950" y="34575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86AC1A-68A5-48C7-91CB-76A9D12F8C3E}"/>
              </a:ext>
            </a:extLst>
          </p:cNvPr>
          <p:cNvSpPr>
            <a:spLocks noGrp="1"/>
          </p:cNvSpPr>
          <p:nvPr/>
        </p:nvSpPr>
        <p:spPr>
          <a:xfrm>
            <a:off x="1257300" y="3390900"/>
            <a:ext cx="2495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左侧为一级业务模块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72BEF89-02DB-47F1-9CC0-25557E5ABC0C}"/>
              </a:ext>
            </a:extLst>
          </p:cNvPr>
          <p:cNvSpPr>
            <a:spLocks noGrp="1"/>
          </p:cNvSpPr>
          <p:nvPr/>
        </p:nvSpPr>
        <p:spPr>
          <a:xfrm>
            <a:off x="1123950" y="37052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66A0C7-6E87-4820-8EF6-D0CDAA997460}"/>
              </a:ext>
            </a:extLst>
          </p:cNvPr>
          <p:cNvSpPr>
            <a:spLocks noGrp="1"/>
          </p:cNvSpPr>
          <p:nvPr/>
        </p:nvSpPr>
        <p:spPr>
          <a:xfrm>
            <a:off x="1257300" y="3638550"/>
            <a:ext cx="2495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顶部为当前模块内功能页签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AEDD91A-807D-4F7C-BB52-5E5FD88F123A}"/>
              </a:ext>
            </a:extLst>
          </p:cNvPr>
          <p:cNvSpPr>
            <a:spLocks noGrp="1"/>
          </p:cNvSpPr>
          <p:nvPr/>
        </p:nvSpPr>
        <p:spPr>
          <a:xfrm>
            <a:off x="1123950" y="39528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76E6FBB-99FD-4EBB-95BE-CD591FF7B57A}"/>
              </a:ext>
            </a:extLst>
          </p:cNvPr>
          <p:cNvSpPr>
            <a:spLocks noGrp="1"/>
          </p:cNvSpPr>
          <p:nvPr/>
        </p:nvSpPr>
        <p:spPr>
          <a:xfrm>
            <a:off x="1257300" y="3886200"/>
            <a:ext cx="2495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跨模块入口只放内容区动作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F03C9A1-51CB-4A5D-8FB3-2C145C51FFDB}"/>
              </a:ext>
            </a:extLst>
          </p:cNvPr>
          <p:cNvSpPr>
            <a:spLocks noGrp="1"/>
          </p:cNvSpPr>
          <p:nvPr/>
        </p:nvSpPr>
        <p:spPr>
          <a:xfrm>
            <a:off x="1123950" y="4200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1A18DB-6138-4821-BB79-FFEE59B1507F}"/>
              </a:ext>
            </a:extLst>
          </p:cNvPr>
          <p:cNvSpPr>
            <a:spLocks noGrp="1"/>
          </p:cNvSpPr>
          <p:nvPr/>
        </p:nvSpPr>
        <p:spPr>
          <a:xfrm>
            <a:off x="1257300" y="4133850"/>
            <a:ext cx="2495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默认白天交易终端主题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8890EE0E-600B-403A-A6A6-8E8A8F4E4059}"/>
              </a:ext>
            </a:extLst>
          </p:cNvPr>
          <p:cNvSpPr>
            <a:spLocks noGrp="1"/>
          </p:cNvSpPr>
          <p:nvPr/>
        </p:nvSpPr>
        <p:spPr>
          <a:xfrm>
            <a:off x="4248150" y="2933700"/>
            <a:ext cx="2952750" cy="158115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F03DBA8-7DD5-47BE-B270-3599E261325D}"/>
              </a:ext>
            </a:extLst>
          </p:cNvPr>
          <p:cNvSpPr>
            <a:spLocks noGrp="1"/>
          </p:cNvSpPr>
          <p:nvPr/>
        </p:nvSpPr>
        <p:spPr>
          <a:xfrm>
            <a:off x="4419600" y="3067050"/>
            <a:ext cx="260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交付格式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FB608F58-D59C-49E5-A54F-FDFC501DB059}"/>
              </a:ext>
            </a:extLst>
          </p:cNvPr>
          <p:cNvSpPr>
            <a:spLocks noGrp="1"/>
          </p:cNvSpPr>
          <p:nvPr/>
        </p:nvSpPr>
        <p:spPr>
          <a:xfrm>
            <a:off x="4419600" y="34575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2F9D528-3658-4D02-ACBD-72E375A3F30C}"/>
              </a:ext>
            </a:extLst>
          </p:cNvPr>
          <p:cNvSpPr>
            <a:spLocks noGrp="1"/>
          </p:cNvSpPr>
          <p:nvPr/>
        </p:nvSpPr>
        <p:spPr>
          <a:xfrm>
            <a:off x="4552950" y="3390900"/>
            <a:ext cx="2495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PowerPoint 原生形状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19F31C2F-6F84-47D1-B1C1-92598AD4F432}"/>
              </a:ext>
            </a:extLst>
          </p:cNvPr>
          <p:cNvSpPr>
            <a:spLocks noGrp="1"/>
          </p:cNvSpPr>
          <p:nvPr/>
        </p:nvSpPr>
        <p:spPr>
          <a:xfrm>
            <a:off x="4419600" y="37052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D2F9F48-B378-40E9-963E-D2035ACC1B69}"/>
              </a:ext>
            </a:extLst>
          </p:cNvPr>
          <p:cNvSpPr>
            <a:spLocks noGrp="1"/>
          </p:cNvSpPr>
          <p:nvPr/>
        </p:nvSpPr>
        <p:spPr>
          <a:xfrm>
            <a:off x="4552950" y="3638550"/>
            <a:ext cx="2495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文本、按钮、卡片可编辑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508DC18A-0A5F-4998-889B-9855E9ED8790}"/>
              </a:ext>
            </a:extLst>
          </p:cNvPr>
          <p:cNvSpPr>
            <a:spLocks noGrp="1"/>
          </p:cNvSpPr>
          <p:nvPr/>
        </p:nvSpPr>
        <p:spPr>
          <a:xfrm>
            <a:off x="4419600" y="39528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3769E0C-9446-402C-AEB9-AB8D3069F4A3}"/>
              </a:ext>
            </a:extLst>
          </p:cNvPr>
          <p:cNvSpPr>
            <a:spLocks noGrp="1"/>
          </p:cNvSpPr>
          <p:nvPr/>
        </p:nvSpPr>
        <p:spPr>
          <a:xfrm>
            <a:off x="4552950" y="3886200"/>
            <a:ext cx="2495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不使用页面截图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3595F5D9-4B54-4024-8000-0BDE1FDE80DB}"/>
              </a:ext>
            </a:extLst>
          </p:cNvPr>
          <p:cNvSpPr>
            <a:spLocks noGrp="1"/>
          </p:cNvSpPr>
          <p:nvPr/>
        </p:nvSpPr>
        <p:spPr>
          <a:xfrm>
            <a:off x="4419600" y="4200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5F71164-83F3-4E97-90C3-4FD7E21EF20F}"/>
              </a:ext>
            </a:extLst>
          </p:cNvPr>
          <p:cNvSpPr>
            <a:spLocks noGrp="1"/>
          </p:cNvSpPr>
          <p:nvPr/>
        </p:nvSpPr>
        <p:spPr>
          <a:xfrm>
            <a:off x="4552950" y="4133850"/>
            <a:ext cx="2495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可直接继续改成评审稿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8FFF1EC4-DFEB-4574-A9A5-260E5ACC402F}"/>
              </a:ext>
            </a:extLst>
          </p:cNvPr>
          <p:cNvSpPr>
            <a:spLocks noGrp="1"/>
          </p:cNvSpPr>
          <p:nvPr/>
        </p:nvSpPr>
        <p:spPr>
          <a:xfrm>
            <a:off x="7543800" y="2933700"/>
            <a:ext cx="2952750" cy="158115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77A9B69-95EB-4EEF-BD44-967437C088F9}"/>
              </a:ext>
            </a:extLst>
          </p:cNvPr>
          <p:cNvSpPr>
            <a:spLocks noGrp="1"/>
          </p:cNvSpPr>
          <p:nvPr/>
        </p:nvSpPr>
        <p:spPr>
          <a:xfrm>
            <a:off x="7715250" y="3067050"/>
            <a:ext cx="260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覆盖范围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AC73D5A1-9ACF-46D0-9311-7B1258E1119B}"/>
              </a:ext>
            </a:extLst>
          </p:cNvPr>
          <p:cNvSpPr>
            <a:spLocks noGrp="1"/>
          </p:cNvSpPr>
          <p:nvPr/>
        </p:nvSpPr>
        <p:spPr>
          <a:xfrm>
            <a:off x="7715250" y="34575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23620CD-E62E-4030-81B7-DC479150ABCD}"/>
              </a:ext>
            </a:extLst>
          </p:cNvPr>
          <p:cNvSpPr>
            <a:spLocks noGrp="1"/>
          </p:cNvSpPr>
          <p:nvPr/>
        </p:nvSpPr>
        <p:spPr>
          <a:xfrm>
            <a:off x="7848600" y="3390900"/>
            <a:ext cx="2495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智能看板到数据更新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DE07623D-1501-455F-85FD-19FD70941D19}"/>
              </a:ext>
            </a:extLst>
          </p:cNvPr>
          <p:cNvSpPr>
            <a:spLocks noGrp="1"/>
          </p:cNvSpPr>
          <p:nvPr/>
        </p:nvSpPr>
        <p:spPr>
          <a:xfrm>
            <a:off x="7715250" y="37052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DF5965E-259F-4C07-B398-29FCBED88CD9}"/>
              </a:ext>
            </a:extLst>
          </p:cNvPr>
          <p:cNvSpPr>
            <a:spLocks noGrp="1"/>
          </p:cNvSpPr>
          <p:nvPr/>
        </p:nvSpPr>
        <p:spPr>
          <a:xfrm>
            <a:off x="7848600" y="3638550"/>
            <a:ext cx="2495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市场、选股、预测、交易、回测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BA689E91-D159-4EEF-9349-4A47CD35B856}"/>
              </a:ext>
            </a:extLst>
          </p:cNvPr>
          <p:cNvSpPr>
            <a:spLocks noGrp="1"/>
          </p:cNvSpPr>
          <p:nvPr/>
        </p:nvSpPr>
        <p:spPr>
          <a:xfrm>
            <a:off x="7715250" y="39528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FAE19D2-1145-483C-B9B2-4EB31A94D57B}"/>
              </a:ext>
            </a:extLst>
          </p:cNvPr>
          <p:cNvSpPr>
            <a:spLocks noGrp="1"/>
          </p:cNvSpPr>
          <p:nvPr/>
        </p:nvSpPr>
        <p:spPr>
          <a:xfrm>
            <a:off x="7848600" y="3886200"/>
            <a:ext cx="2495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模型训练 / 注册 / 数据运维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E6C36C3C-CEB6-41F3-AF8A-8894E71EF569}"/>
              </a:ext>
            </a:extLst>
          </p:cNvPr>
          <p:cNvSpPr>
            <a:spLocks noGrp="1"/>
          </p:cNvSpPr>
          <p:nvPr/>
        </p:nvSpPr>
        <p:spPr>
          <a:xfrm>
            <a:off x="7715250" y="4200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AC7D5EB-3C16-4FB7-9328-8342D2F6EAF7}"/>
              </a:ext>
            </a:extLst>
          </p:cNvPr>
          <p:cNvSpPr>
            <a:spLocks noGrp="1"/>
          </p:cNvSpPr>
          <p:nvPr/>
        </p:nvSpPr>
        <p:spPr>
          <a:xfrm>
            <a:off x="7848600" y="4133850"/>
            <a:ext cx="2495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共 63 页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AE8E154-8E1C-404D-968D-6154CA0183D6}"/>
              </a:ext>
            </a:extLst>
          </p:cNvPr>
          <p:cNvSpPr>
            <a:spLocks noGrp="1"/>
          </p:cNvSpPr>
          <p:nvPr/>
        </p:nvSpPr>
        <p:spPr>
          <a:xfrm>
            <a:off x="952500" y="5715000"/>
            <a:ext cx="742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8A96A8"/>
                </a:solidFill>
              </a:defRPr>
            </a:pPr>
            <a:r>
              <a:rPr sz="825" b="0">
                <a:solidFill>
                  <a:srgbClr val="8A96A8"/>
                </a:solidFill>
              </a:rPr>
              <a:t>生成依据：assets/shell.js、各 HTML 页面锚点、design-spec.md</a:t>
            </a:r>
          </a:p>
        </p:txBody>
      </p:sp>
    </p:spTree>
    <p:extLst>
      <p:ext uri="{BB962C8B-B14F-4D97-AF65-F5344CB8AC3E}">
        <p14:creationId xmlns:p14="http://schemas.microsoft.com/office/powerpoint/2010/main" val="1135886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 58">
            <a:extLst>
              <a:ext uri="{FF2B5EF4-FFF2-40B4-BE49-F238E27FC236}">
                <a16:creationId xmlns:a16="http://schemas.microsoft.com/office/drawing/2014/main" id="{8BBB414E-03A2-4FC7-AFFD-95431C1C3A3F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导航信息架构总览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639FC3-C291-4DFA-A356-CDE23731B16E}"/>
              </a:ext>
            </a:extLst>
          </p:cNvPr>
          <p:cNvSpPr>
            <a:spLocks noGrp="1"/>
          </p:cNvSpPr>
          <p:nvPr/>
        </p:nvSpPr>
        <p:spPr>
          <a:xfrm>
            <a:off x="590550" y="83820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52617A"/>
                </a:solidFill>
              </a:defRPr>
            </a:pPr>
            <a:r>
              <a:rPr sz="1050" b="0">
                <a:solidFill>
                  <a:srgbClr val="52617A"/>
                </a:solidFill>
              </a:rPr>
              <a:t>每个一级菜单进入后，顶部只展示该模块自己的功能页签。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AE461E10-9AE1-47F6-B572-9DF71990168B}"/>
              </a:ext>
            </a:extLst>
          </p:cNvPr>
          <p:cNvSpPr>
            <a:spLocks noGrp="1"/>
          </p:cNvSpPr>
          <p:nvPr/>
        </p:nvSpPr>
        <p:spPr>
          <a:xfrm>
            <a:off x="571500" y="1219200"/>
            <a:ext cx="5238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1478C98-885A-491F-9BF0-F4EF59998B9E}"/>
              </a:ext>
            </a:extLst>
          </p:cNvPr>
          <p:cNvSpPr>
            <a:spLocks noGrp="1"/>
          </p:cNvSpPr>
          <p:nvPr/>
        </p:nvSpPr>
        <p:spPr>
          <a:xfrm>
            <a:off x="723900" y="133350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01 · AI 智能看板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E42AAA3-2275-4318-9B1D-57EB07F66C58}"/>
              </a:ext>
            </a:extLst>
          </p:cNvPr>
          <p:cNvSpPr>
            <a:spLocks noGrp="1"/>
          </p:cNvSpPr>
          <p:nvPr/>
        </p:nvSpPr>
        <p:spPr>
          <a:xfrm>
            <a:off x="2247900" y="134302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10" b="0">
                <a:solidFill>
                  <a:srgbClr val="1A2230"/>
                </a:solidFill>
              </a:defRPr>
            </a:pPr>
            <a:r>
              <a:rPr sz="810" b="0" dirty="0" err="1">
                <a:solidFill>
                  <a:srgbClr val="1A2230"/>
                </a:solidFill>
              </a:rPr>
              <a:t>市场情绪</a:t>
            </a:r>
            <a:r>
              <a:rPr sz="810" b="0" dirty="0">
                <a:solidFill>
                  <a:srgbClr val="1A2230"/>
                </a:solidFill>
              </a:rPr>
              <a:t> / </a:t>
            </a:r>
            <a:r>
              <a:rPr sz="810" b="0" dirty="0" err="1">
                <a:solidFill>
                  <a:srgbClr val="1A2230"/>
                </a:solidFill>
              </a:rPr>
              <a:t>竞价意图</a:t>
            </a:r>
            <a:r>
              <a:rPr sz="810" b="0" dirty="0">
                <a:solidFill>
                  <a:srgbClr val="1A2230"/>
                </a:solidFill>
              </a:rPr>
              <a:t> / </a:t>
            </a:r>
            <a:r>
              <a:rPr sz="810" b="0" dirty="0" err="1">
                <a:solidFill>
                  <a:srgbClr val="1A2230"/>
                </a:solidFill>
              </a:rPr>
              <a:t>信号总览</a:t>
            </a:r>
            <a:r>
              <a:rPr sz="810" b="0" dirty="0">
                <a:solidFill>
                  <a:srgbClr val="1A2230"/>
                </a:solidFill>
              </a:rPr>
              <a:t> / </a:t>
            </a:r>
            <a:r>
              <a:rPr sz="810" b="0" dirty="0" err="1">
                <a:solidFill>
                  <a:srgbClr val="1A2230"/>
                </a:solidFill>
              </a:rPr>
              <a:t>自选跟踪</a:t>
            </a:r>
            <a:r>
              <a:rPr sz="810" b="0" dirty="0">
                <a:solidFill>
                  <a:srgbClr val="1A2230"/>
                </a:solidFill>
              </a:rPr>
              <a:t> / </a:t>
            </a:r>
            <a:r>
              <a:rPr sz="810" b="0" dirty="0" err="1">
                <a:solidFill>
                  <a:srgbClr val="1A2230"/>
                </a:solidFill>
              </a:rPr>
              <a:t>运行状态</a:t>
            </a:r>
            <a:endParaRPr sz="810" b="0" dirty="0">
              <a:solidFill>
                <a:srgbClr val="1A223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490D7EC-781E-4E01-9AED-32AFA4ED2992}"/>
              </a:ext>
            </a:extLst>
          </p:cNvPr>
          <p:cNvSpPr>
            <a:spLocks noGrp="1"/>
          </p:cNvSpPr>
          <p:nvPr/>
        </p:nvSpPr>
        <p:spPr>
          <a:xfrm>
            <a:off x="2247900" y="1581150"/>
            <a:ext cx="2476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index.html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BE84D047-757B-4D4A-A2AF-6E3D536A7F77}"/>
              </a:ext>
            </a:extLst>
          </p:cNvPr>
          <p:cNvSpPr>
            <a:spLocks noGrp="1"/>
          </p:cNvSpPr>
          <p:nvPr/>
        </p:nvSpPr>
        <p:spPr>
          <a:xfrm>
            <a:off x="6191250" y="1219200"/>
            <a:ext cx="5238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F22697-3524-4A5A-87A2-95909A890242}"/>
              </a:ext>
            </a:extLst>
          </p:cNvPr>
          <p:cNvSpPr>
            <a:spLocks noGrp="1"/>
          </p:cNvSpPr>
          <p:nvPr/>
        </p:nvSpPr>
        <p:spPr>
          <a:xfrm>
            <a:off x="6343650" y="133350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02 · 开盘决策舱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55565B-D6B8-4C5E-9062-03869D2E7BFF}"/>
              </a:ext>
            </a:extLst>
          </p:cNvPr>
          <p:cNvSpPr>
            <a:spLocks noGrp="1"/>
          </p:cNvSpPr>
          <p:nvPr/>
        </p:nvSpPr>
        <p:spPr>
          <a:xfrm>
            <a:off x="7867650" y="134302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开盘闸门 / 候选决策 / K线推演 / 风控交易 / 链路审计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08BED7-030F-4200-8653-89B0219C2AD6}"/>
              </a:ext>
            </a:extLst>
          </p:cNvPr>
          <p:cNvSpPr>
            <a:spLocks noGrp="1"/>
          </p:cNvSpPr>
          <p:nvPr/>
        </p:nvSpPr>
        <p:spPr>
          <a:xfrm>
            <a:off x="7867650" y="1581150"/>
            <a:ext cx="2476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suying-ai-workbench-redesign.html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1A661C1C-4FB3-47F3-805F-806D373E5459}"/>
              </a:ext>
            </a:extLst>
          </p:cNvPr>
          <p:cNvSpPr>
            <a:spLocks noGrp="1"/>
          </p:cNvSpPr>
          <p:nvPr/>
        </p:nvSpPr>
        <p:spPr>
          <a:xfrm>
            <a:off x="571500" y="1962150"/>
            <a:ext cx="5238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B789E77-F0BC-4C0C-A2EE-65D22E8D6957}"/>
              </a:ext>
            </a:extLst>
          </p:cNvPr>
          <p:cNvSpPr>
            <a:spLocks noGrp="1"/>
          </p:cNvSpPr>
          <p:nvPr/>
        </p:nvSpPr>
        <p:spPr>
          <a:xfrm>
            <a:off x="723900" y="20764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03 · 智能选股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12163E6-0147-496E-BC48-29DF2544D3BC}"/>
              </a:ext>
            </a:extLst>
          </p:cNvPr>
          <p:cNvSpPr>
            <a:spLocks noGrp="1"/>
          </p:cNvSpPr>
          <p:nvPr/>
        </p:nvSpPr>
        <p:spPr>
          <a:xfrm>
            <a:off x="2247900" y="208597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策略入口 / 因子筛选 / 候选清单 / 批量动作 / 诊断联动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8B8DCA-E169-4F6E-B11D-1B95985C24D7}"/>
              </a:ext>
            </a:extLst>
          </p:cNvPr>
          <p:cNvSpPr>
            <a:spLocks noGrp="1"/>
          </p:cNvSpPr>
          <p:nvPr/>
        </p:nvSpPr>
        <p:spPr>
          <a:xfrm>
            <a:off x="2247900" y="2324100"/>
            <a:ext cx="2476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screener.html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8DFD285-2AD9-462A-B4EB-7A9DF140074C}"/>
              </a:ext>
            </a:extLst>
          </p:cNvPr>
          <p:cNvSpPr>
            <a:spLocks noGrp="1"/>
          </p:cNvSpPr>
          <p:nvPr/>
        </p:nvSpPr>
        <p:spPr>
          <a:xfrm>
            <a:off x="6191250" y="1962150"/>
            <a:ext cx="5238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EE197CA-839E-4C7D-B86E-5A43B13FF741}"/>
              </a:ext>
            </a:extLst>
          </p:cNvPr>
          <p:cNvSpPr>
            <a:spLocks noGrp="1"/>
          </p:cNvSpPr>
          <p:nvPr/>
        </p:nvSpPr>
        <p:spPr>
          <a:xfrm>
            <a:off x="6343650" y="20764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BFF"/>
                </a:solidFill>
              </a:defRPr>
            </a:pPr>
            <a:r>
              <a:rPr sz="975" b="1" dirty="0">
                <a:solidFill>
                  <a:srgbClr val="3D8BFF"/>
                </a:solidFill>
              </a:rPr>
              <a:t>04 · </a:t>
            </a:r>
            <a:r>
              <a:rPr sz="975" b="1" dirty="0" err="1">
                <a:solidFill>
                  <a:srgbClr val="3D8BFF"/>
                </a:solidFill>
              </a:rPr>
              <a:t>产业链拆解</a:t>
            </a:r>
            <a:endParaRPr sz="975" b="1" dirty="0">
              <a:solidFill>
                <a:srgbClr val="3D8BFF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959F583-62AA-4FB6-A752-56C50E1B64B4}"/>
              </a:ext>
            </a:extLst>
          </p:cNvPr>
          <p:cNvSpPr>
            <a:spLocks noGrp="1"/>
          </p:cNvSpPr>
          <p:nvPr/>
        </p:nvSpPr>
        <p:spPr>
          <a:xfrm>
            <a:off x="7867650" y="208597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产业图谱 / 链路证据 / 核心公司 / 风险传导 / 加入选股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2378FCE-29CF-4361-8997-801765751849}"/>
              </a:ext>
            </a:extLst>
          </p:cNvPr>
          <p:cNvSpPr>
            <a:spLocks noGrp="1"/>
          </p:cNvSpPr>
          <p:nvPr/>
        </p:nvSpPr>
        <p:spPr>
          <a:xfrm>
            <a:off x="7867650" y="2324100"/>
            <a:ext cx="2476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supply-chain.html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7E5F0E7F-53C7-42E2-AC3F-65D125404D47}"/>
              </a:ext>
            </a:extLst>
          </p:cNvPr>
          <p:cNvSpPr>
            <a:spLocks noGrp="1"/>
          </p:cNvSpPr>
          <p:nvPr/>
        </p:nvSpPr>
        <p:spPr>
          <a:xfrm>
            <a:off x="571500" y="2705100"/>
            <a:ext cx="5238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FB24687-2FE7-47F5-88E4-20A7E3181DFD}"/>
              </a:ext>
            </a:extLst>
          </p:cNvPr>
          <p:cNvSpPr>
            <a:spLocks noGrp="1"/>
          </p:cNvSpPr>
          <p:nvPr/>
        </p:nvSpPr>
        <p:spPr>
          <a:xfrm>
            <a:off x="723900" y="281940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BFF"/>
                </a:solidFill>
              </a:defRPr>
            </a:pPr>
            <a:r>
              <a:rPr sz="975" b="1" dirty="0">
                <a:solidFill>
                  <a:srgbClr val="3D8BFF"/>
                </a:solidFill>
              </a:rPr>
              <a:t>05 · </a:t>
            </a:r>
            <a:r>
              <a:rPr sz="975" b="1" dirty="0" err="1">
                <a:solidFill>
                  <a:srgbClr val="3D8BFF"/>
                </a:solidFill>
              </a:rPr>
              <a:t>K线预测</a:t>
            </a:r>
            <a:endParaRPr sz="975" b="1" dirty="0">
              <a:solidFill>
                <a:srgbClr val="3D8BFF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53D321F-0875-4C6F-9B77-6DD514B30690}"/>
              </a:ext>
            </a:extLst>
          </p:cNvPr>
          <p:cNvSpPr>
            <a:spLocks noGrp="1"/>
          </p:cNvSpPr>
          <p:nvPr/>
        </p:nvSpPr>
        <p:spPr>
          <a:xfrm>
            <a:off x="2247900" y="282892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标的选择 / K线走势 / 概率路径 / 关键价位 / 生成信号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554A3C6-F99A-48DB-9C91-222638247DA0}"/>
              </a:ext>
            </a:extLst>
          </p:cNvPr>
          <p:cNvSpPr>
            <a:spLocks noGrp="1"/>
          </p:cNvSpPr>
          <p:nvPr/>
        </p:nvSpPr>
        <p:spPr>
          <a:xfrm>
            <a:off x="2247900" y="3067050"/>
            <a:ext cx="2476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predictions.html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85D9C8A7-9B47-464C-8E92-7361634E22C6}"/>
              </a:ext>
            </a:extLst>
          </p:cNvPr>
          <p:cNvSpPr>
            <a:spLocks noGrp="1"/>
          </p:cNvSpPr>
          <p:nvPr/>
        </p:nvSpPr>
        <p:spPr>
          <a:xfrm>
            <a:off x="6191250" y="2705100"/>
            <a:ext cx="5238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CEAD10F-9D0D-4F6D-8DAF-A9046C34829B}"/>
              </a:ext>
            </a:extLst>
          </p:cNvPr>
          <p:cNvSpPr>
            <a:spLocks noGrp="1"/>
          </p:cNvSpPr>
          <p:nvPr/>
        </p:nvSpPr>
        <p:spPr>
          <a:xfrm>
            <a:off x="6343650" y="281940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06 · 方案管理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99FDBE4-736E-4BAE-957F-AAEDE5BBDA96}"/>
              </a:ext>
            </a:extLst>
          </p:cNvPr>
          <p:cNvSpPr>
            <a:spLocks noGrp="1"/>
          </p:cNvSpPr>
          <p:nvPr/>
        </p:nvSpPr>
        <p:spPr>
          <a:xfrm>
            <a:off x="7867650" y="282892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方案列表 / 参数组合 / 执行计划 / 回测复核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B56DF9D-038F-43D0-AE22-E17F84FAB7FB}"/>
              </a:ext>
            </a:extLst>
          </p:cNvPr>
          <p:cNvSpPr>
            <a:spLocks noGrp="1"/>
          </p:cNvSpPr>
          <p:nvPr/>
        </p:nvSpPr>
        <p:spPr>
          <a:xfrm>
            <a:off x="7867650" y="3067050"/>
            <a:ext cx="2476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strategy.html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C34370D4-5314-4ACE-A5C0-2BFAD87B2C02}"/>
              </a:ext>
            </a:extLst>
          </p:cNvPr>
          <p:cNvSpPr>
            <a:spLocks noGrp="1"/>
          </p:cNvSpPr>
          <p:nvPr/>
        </p:nvSpPr>
        <p:spPr>
          <a:xfrm>
            <a:off x="571500" y="3448050"/>
            <a:ext cx="5238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D141412-822E-45AE-AB62-C82157D8ABF3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07 · 交易信号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D257D1-A5D6-4FDB-AB5E-4D528E129F67}"/>
              </a:ext>
            </a:extLst>
          </p:cNvPr>
          <p:cNvSpPr>
            <a:spLocks noGrp="1"/>
          </p:cNvSpPr>
          <p:nvPr/>
        </p:nvSpPr>
        <p:spPr>
          <a:xfrm>
            <a:off x="2247900" y="357187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信号总览 / 买入触发 / 风险提示 / 订阅策略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E1FE57E-6B8A-4CC6-BA1D-623105232B44}"/>
              </a:ext>
            </a:extLst>
          </p:cNvPr>
          <p:cNvSpPr>
            <a:spLocks noGrp="1"/>
          </p:cNvSpPr>
          <p:nvPr/>
        </p:nvSpPr>
        <p:spPr>
          <a:xfrm>
            <a:off x="2247900" y="3810000"/>
            <a:ext cx="2476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signals.html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50683429-209E-4504-80A3-511FB8A60ADC}"/>
              </a:ext>
            </a:extLst>
          </p:cNvPr>
          <p:cNvSpPr>
            <a:spLocks noGrp="1"/>
          </p:cNvSpPr>
          <p:nvPr/>
        </p:nvSpPr>
        <p:spPr>
          <a:xfrm>
            <a:off x="6191250" y="3448050"/>
            <a:ext cx="5238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5CA5D18-E14B-42A0-8117-0943D728302F}"/>
              </a:ext>
            </a:extLst>
          </p:cNvPr>
          <p:cNvSpPr>
            <a:spLocks noGrp="1"/>
          </p:cNvSpPr>
          <p:nvPr/>
        </p:nvSpPr>
        <p:spPr>
          <a:xfrm>
            <a:off x="6343650" y="35623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08 · 交易中心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2822329-2AEF-4C15-983A-1E02FB9E9246}"/>
              </a:ext>
            </a:extLst>
          </p:cNvPr>
          <p:cNvSpPr>
            <a:spLocks noGrp="1"/>
          </p:cNvSpPr>
          <p:nvPr/>
        </p:nvSpPr>
        <p:spPr>
          <a:xfrm>
            <a:off x="7867650" y="357187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交易票 / 风控校验 / 持仓资金 / 委托回报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ACA39FA-7005-4CA4-A610-6FE92F48DFE6}"/>
              </a:ext>
            </a:extLst>
          </p:cNvPr>
          <p:cNvSpPr>
            <a:spLocks noGrp="1"/>
          </p:cNvSpPr>
          <p:nvPr/>
        </p:nvSpPr>
        <p:spPr>
          <a:xfrm>
            <a:off x="7867650" y="3810000"/>
            <a:ext cx="2476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trade.html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81B62A9E-F04E-4F06-AA9F-0FF1D4BD61EB}"/>
              </a:ext>
            </a:extLst>
          </p:cNvPr>
          <p:cNvSpPr>
            <a:spLocks noGrp="1"/>
          </p:cNvSpPr>
          <p:nvPr/>
        </p:nvSpPr>
        <p:spPr>
          <a:xfrm>
            <a:off x="571500" y="4191000"/>
            <a:ext cx="5238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D59320D-E786-4009-A180-C578717444B3}"/>
              </a:ext>
            </a:extLst>
          </p:cNvPr>
          <p:cNvSpPr>
            <a:spLocks noGrp="1"/>
          </p:cNvSpPr>
          <p:nvPr/>
        </p:nvSpPr>
        <p:spPr>
          <a:xfrm>
            <a:off x="723900" y="430530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09 · 量化交易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E0CD7CE-4FAD-46C8-AE05-DA8D8012B0E2}"/>
              </a:ext>
            </a:extLst>
          </p:cNvPr>
          <p:cNvSpPr>
            <a:spLocks noGrp="1"/>
          </p:cNvSpPr>
          <p:nvPr/>
        </p:nvSpPr>
        <p:spPr>
          <a:xfrm>
            <a:off x="2247900" y="431482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策略实例 / 运行监控 / 风控开关 / 执行日志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A38D7E3-4DA4-4EB6-832E-84EB4A80C9B6}"/>
              </a:ext>
            </a:extLst>
          </p:cNvPr>
          <p:cNvSpPr>
            <a:spLocks noGrp="1"/>
          </p:cNvSpPr>
          <p:nvPr/>
        </p:nvSpPr>
        <p:spPr>
          <a:xfrm>
            <a:off x="2247900" y="4552950"/>
            <a:ext cx="2476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auto-trade.html</a:t>
            </a: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29971876-4245-40A4-A1EA-132FF7EF1175}"/>
              </a:ext>
            </a:extLst>
          </p:cNvPr>
          <p:cNvSpPr>
            <a:spLocks noGrp="1"/>
          </p:cNvSpPr>
          <p:nvPr/>
        </p:nvSpPr>
        <p:spPr>
          <a:xfrm>
            <a:off x="6191250" y="4191000"/>
            <a:ext cx="5238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C81A68D-3196-46DC-BFD4-EF0E6DE0B839}"/>
              </a:ext>
            </a:extLst>
          </p:cNvPr>
          <p:cNvSpPr>
            <a:spLocks noGrp="1"/>
          </p:cNvSpPr>
          <p:nvPr/>
        </p:nvSpPr>
        <p:spPr>
          <a:xfrm>
            <a:off x="6343650" y="430530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10 · 回测分析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6676C1B-731A-4EEF-A537-A2BCCD59638E}"/>
              </a:ext>
            </a:extLst>
          </p:cNvPr>
          <p:cNvSpPr>
            <a:spLocks noGrp="1"/>
          </p:cNvSpPr>
          <p:nvPr/>
        </p:nvSpPr>
        <p:spPr>
          <a:xfrm>
            <a:off x="7867650" y="431482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回测参数 / 收益曲线 / 交易拆解 / 失败样本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3AA49BF-0039-4379-A32E-65E16BCA6613}"/>
              </a:ext>
            </a:extLst>
          </p:cNvPr>
          <p:cNvSpPr>
            <a:spLocks noGrp="1"/>
          </p:cNvSpPr>
          <p:nvPr/>
        </p:nvSpPr>
        <p:spPr>
          <a:xfrm>
            <a:off x="7867650" y="4552950"/>
            <a:ext cx="2476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backtest.html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D8EB8016-1C58-4BEA-9211-5E9B17C34617}"/>
              </a:ext>
            </a:extLst>
          </p:cNvPr>
          <p:cNvSpPr>
            <a:spLocks noGrp="1"/>
          </p:cNvSpPr>
          <p:nvPr/>
        </p:nvSpPr>
        <p:spPr>
          <a:xfrm>
            <a:off x="571500" y="4933950"/>
            <a:ext cx="5238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D22E742-A472-42C7-9DA1-6C4304166BB1}"/>
              </a:ext>
            </a:extLst>
          </p:cNvPr>
          <p:cNvSpPr>
            <a:spLocks noGrp="1"/>
          </p:cNvSpPr>
          <p:nvPr/>
        </p:nvSpPr>
        <p:spPr>
          <a:xfrm>
            <a:off x="723900" y="50482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11 · 个股诊断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0A9E53E-1443-46AC-8968-A8D90CDDE881}"/>
              </a:ext>
            </a:extLst>
          </p:cNvPr>
          <p:cNvSpPr>
            <a:spLocks noGrp="1"/>
          </p:cNvSpPr>
          <p:nvPr/>
        </p:nvSpPr>
        <p:spPr>
          <a:xfrm>
            <a:off x="2247900" y="505777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个股画像 / 风险雷达 / 历史信号 / 操作建议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7BC552B-662C-4554-8D94-2BB9C158ED5B}"/>
              </a:ext>
            </a:extLst>
          </p:cNvPr>
          <p:cNvSpPr>
            <a:spLocks noGrp="1"/>
          </p:cNvSpPr>
          <p:nvPr/>
        </p:nvSpPr>
        <p:spPr>
          <a:xfrm>
            <a:off x="2247900" y="5295900"/>
            <a:ext cx="2476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diagnosis.html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86838701-4EE0-4CCA-914B-D4A5218C8AE8}"/>
              </a:ext>
            </a:extLst>
          </p:cNvPr>
          <p:cNvSpPr>
            <a:spLocks noGrp="1"/>
          </p:cNvSpPr>
          <p:nvPr/>
        </p:nvSpPr>
        <p:spPr>
          <a:xfrm>
            <a:off x="6191250" y="4933950"/>
            <a:ext cx="5238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7912583-1E66-4654-BDAF-E7BCC50A5900}"/>
              </a:ext>
            </a:extLst>
          </p:cNvPr>
          <p:cNvSpPr>
            <a:spLocks noGrp="1"/>
          </p:cNvSpPr>
          <p:nvPr/>
        </p:nvSpPr>
        <p:spPr>
          <a:xfrm>
            <a:off x="6343650" y="50482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12 · 模型训练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7CD4E4F-CBED-4018-BA22-6A395271086B}"/>
              </a:ext>
            </a:extLst>
          </p:cNvPr>
          <p:cNvSpPr>
            <a:spLocks noGrp="1"/>
          </p:cNvSpPr>
          <p:nvPr/>
        </p:nvSpPr>
        <p:spPr>
          <a:xfrm>
            <a:off x="7867650" y="505777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训练任务 / 损失曲线 / 数据校验 / 发布闸门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609BF8E-1144-41D8-B509-BC47F6393848}"/>
              </a:ext>
            </a:extLst>
          </p:cNvPr>
          <p:cNvSpPr>
            <a:spLocks noGrp="1"/>
          </p:cNvSpPr>
          <p:nvPr/>
        </p:nvSpPr>
        <p:spPr>
          <a:xfrm>
            <a:off x="7867650" y="5295900"/>
            <a:ext cx="2476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training.html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86ECB9B0-4996-48BB-947E-562F628B001D}"/>
              </a:ext>
            </a:extLst>
          </p:cNvPr>
          <p:cNvSpPr>
            <a:spLocks noGrp="1"/>
          </p:cNvSpPr>
          <p:nvPr/>
        </p:nvSpPr>
        <p:spPr>
          <a:xfrm>
            <a:off x="571500" y="5676900"/>
            <a:ext cx="5238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C894C38-5B1B-4247-9D52-0DA9ED2C61D2}"/>
              </a:ext>
            </a:extLst>
          </p:cNvPr>
          <p:cNvSpPr>
            <a:spLocks noGrp="1"/>
          </p:cNvSpPr>
          <p:nvPr/>
        </p:nvSpPr>
        <p:spPr>
          <a:xfrm>
            <a:off x="723900" y="579120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13 · 模型注册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25E7907-9BDE-4950-9DD4-DDD032765CAC}"/>
              </a:ext>
            </a:extLst>
          </p:cNvPr>
          <p:cNvSpPr>
            <a:spLocks noGrp="1"/>
          </p:cNvSpPr>
          <p:nvPr/>
        </p:nvSpPr>
        <p:spPr>
          <a:xfrm>
            <a:off x="2247900" y="580072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模型列表 / 指标对比 / 部署阶段 / 审计记录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E97F3F9-C472-42C5-A5A0-B8D6CCE8F35F}"/>
              </a:ext>
            </a:extLst>
          </p:cNvPr>
          <p:cNvSpPr>
            <a:spLocks noGrp="1"/>
          </p:cNvSpPr>
          <p:nvPr/>
        </p:nvSpPr>
        <p:spPr>
          <a:xfrm>
            <a:off x="2247900" y="6038850"/>
            <a:ext cx="2476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model-registry.html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AD666D76-209F-4417-B08C-81DC745C3F01}"/>
              </a:ext>
            </a:extLst>
          </p:cNvPr>
          <p:cNvSpPr>
            <a:spLocks noGrp="1"/>
          </p:cNvSpPr>
          <p:nvPr/>
        </p:nvSpPr>
        <p:spPr>
          <a:xfrm>
            <a:off x="6191250" y="5676900"/>
            <a:ext cx="5238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FA5F215-1A97-46AE-9E95-B4264C9B4D33}"/>
              </a:ext>
            </a:extLst>
          </p:cNvPr>
          <p:cNvSpPr>
            <a:spLocks noGrp="1"/>
          </p:cNvSpPr>
          <p:nvPr/>
        </p:nvSpPr>
        <p:spPr>
          <a:xfrm>
            <a:off x="6343650" y="579120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14 · 数据更新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D7B8E55-AF81-4C85-ACFA-10F272BA3EB2}"/>
              </a:ext>
            </a:extLst>
          </p:cNvPr>
          <p:cNvSpPr>
            <a:spLocks noGrp="1"/>
          </p:cNvSpPr>
          <p:nvPr/>
        </p:nvSpPr>
        <p:spPr>
          <a:xfrm>
            <a:off x="7867650" y="5800725"/>
            <a:ext cx="333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同步总览 / 质量检查 / 同步日志 / 修复动作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A26990E-4576-425E-BB3A-A3713166332C}"/>
              </a:ext>
            </a:extLst>
          </p:cNvPr>
          <p:cNvSpPr>
            <a:spLocks noGrp="1"/>
          </p:cNvSpPr>
          <p:nvPr/>
        </p:nvSpPr>
        <p:spPr>
          <a:xfrm>
            <a:off x="7867650" y="6038850"/>
            <a:ext cx="2476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data-update.html</a:t>
            </a:r>
          </a:p>
        </p:txBody>
      </p:sp>
    </p:spTree>
    <p:extLst>
      <p:ext uri="{BB962C8B-B14F-4D97-AF65-F5344CB8AC3E}">
        <p14:creationId xmlns:p14="http://schemas.microsoft.com/office/powerpoint/2010/main" val="776895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F2622708-FC4D-40E8-86CA-4A7A5ECBE5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4BE843B9-342D-495A-9AB3-6748AC94B55B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9BCE79-901E-4D8B-A31C-899D60161112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7B5EFB-4BB0-48CA-8153-B3D9BEA1960A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1110CAA6-B480-425C-B84F-A1F7C28C114D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EEEA8027-9395-4837-AAA2-B04EAEFEC10D}"/>
              </a:ext>
            </a:extLst>
          </p:cNvPr>
          <p:cNvSpPr>
            <a:spLocks noGrp="1"/>
          </p:cNvSpPr>
          <p:nvPr/>
        </p:nvSpPr>
        <p:spPr>
          <a:xfrm>
            <a:off x="133350" y="93345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C53D8AE-4764-4581-969F-2C643BD20616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AI 智能看板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99AC27FD-43FA-4A7E-A8E3-71C532017227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345BA9-7160-4E6A-AEBD-1190AAF41A97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13FC7490-2276-4863-A8F1-82242666556D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01DF9B-FAE2-4BBE-AAB0-E341EBFD1340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DA5DCC51-4AB8-47F0-B43A-3E6B223AC0F1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E7607D2-A33F-4166-AC52-C94450981F4B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5657E7D6-FC44-46DF-AF7D-993D940767F1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899782C-6F9A-4F40-8D40-FD4439481F77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6894FF6B-27C1-4ADE-8BFD-467924CFCB9A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4DF79-4AC4-45FA-ADD7-445F8713F4B4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75C94A59-C4FE-49CC-B531-31779609BBB2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527B828-E8D6-461F-8BC2-E8A7A1A63971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9AB19F47-CE86-4A77-970D-3EAE7A164CCA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B82EE6-29C2-4BE7-8593-3D6ED6DA69D2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DCC89267-ED7F-4FCC-A508-924B4C181A4D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1D94C70-DA11-4D57-9896-F337D3E3D3D1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8548AF7-8549-4B47-A205-3D8257101E1E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60798A5-303A-43A3-BD35-98BCB4ACE421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02A9642-66E1-44B3-801C-028F4703A380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6A5E0655-5982-4360-8EF5-F54D94F52E91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3D11339-ED20-4E87-AED4-5C16A3CF62EB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A655817E-235D-42C6-AD0F-68715A9AE7AC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DE6AAD0-0E7B-4734-97FB-3ED8375D86E2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C6586A7B-0E54-4ADD-9AFC-ECFC77D39A33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15E1A0D-3649-4D1D-8172-C7FE67DF0231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9AD6D51-D5DC-47DA-8BEC-6192E3D7011D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21836CDF-A64B-4B79-8D3E-96D555F9C4B5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6AC75CA-6DEF-41E5-8A46-68FBC00B7CB5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A2B4E321-5696-4A01-8CB6-05DF1DB833D2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0429CA0-BC4F-4251-9268-B16F1862E126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8944F833-DF08-4669-834C-3CB9AAFF17A7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D318057-1BC2-4264-B600-5BC55D3585C2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4C247C72-47EE-45DC-8710-92DCE09AEEAB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064761A-5E7B-4022-BF02-D5817BD00BDF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AI 智能看板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6F5DE36-9194-430E-A852-F2E34676A5C9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454167EE-6291-4C64-B90D-FE7F9339DE2E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4882213-9A51-4D45-9E8F-C8D7D76058FA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681D450E-E8FF-489D-A3BE-13499923AF98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378A7AD-EF0D-463E-8AC6-D75FA49FBDA4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912E1AAB-35A6-4CFA-A290-061FE966C029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CEB1757-1DE2-44B1-8970-FC36F0BA7FAC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C0624DF-B6C3-4D63-9B34-EC9588555E13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市场情绪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7E7E51E-85F6-4D3A-A1DD-D3C2D72A5E58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指数 / 涨跌家数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C77E8B93-0A86-4E6D-8463-A4F6568EF6E6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391709E-4794-4072-BD9F-7AEDEF2E3262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A7C94CA-F307-4CCB-BFE8-D029431B7720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 dirty="0" err="1">
                <a:solidFill>
                  <a:srgbClr val="52617A"/>
                </a:solidFill>
              </a:rPr>
              <a:t>竞价意图</a:t>
            </a:r>
            <a:endParaRPr sz="795" b="1" dirty="0">
              <a:solidFill>
                <a:srgbClr val="52617A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887FD42-04C3-4E0E-A1E9-8ED6530F1032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9:25 抢筹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02FF4FAE-68E4-413C-B151-E196FDA8803C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EF4DAD2-3BE1-4B0D-AE2C-356FB2EA746F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A039F39-FDEE-4209-835B-18A35AD03CB3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信号总览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277DA68-21B6-4B18-B47E-EE05F58F8E0E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今日触发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77F6CBAF-025B-469A-BEAE-4B9E8526FEDD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B396D5D-BBCB-4F09-BC3B-3E19EF409CAB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3413166-15A8-49B4-9124-C204976E7F94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自选跟踪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B478A0F-28FF-4128-8D99-BBA54599756E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持仓线索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3991FF23-637A-4512-B02F-8BBAEB2C806A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F20F039-5562-478B-82E2-95486CB8E7DB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1D259E4-45AC-43DA-952F-CE215DA600F1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运行状态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EF10468D-EBEE-4411-8351-68F9A06BD47C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服务 / 数据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FF269D80-805B-4B68-9023-9620868EBB2F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A011CBAD-8ADE-421C-9026-81070F497D97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1815D7A-3589-47AB-A4DD-6655461672B0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AI 智能看板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FAA8DA6F-C132-4EAF-BE7F-B5C548DA7046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62E9D7EB-EB01-4DBD-A1A4-FB2B8EA5A60E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2E73463B-1691-4C38-8A92-43E748BD7ACE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市场情绪 · 竞价意图 · 信号总览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E802F5CE-A081-44E0-A151-4383085BC47B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5141231E-D4B2-4805-824B-B33A32531F35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1C1347BA-582D-4A09-AB9C-1CF10D9F7436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盘后复盘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940C6A5A-1F31-4961-897A-7082BBC84CAF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08D5D14D-7B4D-45D2-AF3F-6FB904BEBBB1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A49E20B3-8CE3-4FB9-90C7-F427E9EAC458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实时刷新 42s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228621B3-D27E-4F5F-9E4B-6F73913C3A54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03 · AI 智能看板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59D2E776-38C6-4120-8191-9BCD3ED459C3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 dirty="0" err="1">
                <a:solidFill>
                  <a:srgbClr val="1A2230"/>
                </a:solidFill>
              </a:rPr>
              <a:t>市场情绪</a:t>
            </a:r>
            <a:endParaRPr sz="2550" b="1" dirty="0">
              <a:solidFill>
                <a:srgbClr val="1A2230"/>
              </a:solidFill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ABA3A0F-141B-413C-9309-F7DD38B68843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指数 / 涨跌家数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79E4946F-221F-481B-B581-19B0DACF517B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14A9315F-354E-426B-82B8-E3901C0A0DB6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6E408476-DC7E-4CF3-BD9C-339A8C6547C9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F331B3BA-A2D5-49F4-9DB8-6B639F9DF9BA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智能看板 / 市场情绪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98B71C6E-CD72-4A13-AFEF-0AE6842FAB69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05F38C97-A808-4D38-A0CA-5C1DC2CBAC88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指数 / 涨跌家数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E4B640CB-B6AD-4839-8F0B-9DB3F93E99A1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8E7F95E3-B843-49A7-AF21-6AE67833C3AE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市场情绪 · 多维度模型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AB39D1AF-5A44-4473-BF15-9E97AEB4CB0E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AD6D8A3-011D-4B28-ACF2-62EE78868B88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B16A6899-2544-441B-A467-005A956246AC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C4008EC1-19FB-4F67-87FE-927D5A44FDA2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30AFC49-436C-4A44-8226-0FBD5C527908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62700ABF-0488-4890-A60F-38B51430C624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市场情绪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DF1304EB-86B3-46BE-A685-B59ED642CB6B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01CF19B3-4E51-4256-98A6-262FAC28DF85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市场情绪 · 多维度模型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E61E6805-6B3F-4266-BF9F-1123C7ED8C78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D56FF1B7-26F5-4220-93D8-EB4C419C0A36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实时盘口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2C6EF8A8-0B5D-4A25-B9AD-150F191C63AB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3A689C8D-764E-4FE8-A1E8-5AA36AFC79B3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封板率 78.4%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8C7FAB6E-47F5-4D54-992A-825A783BE863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10C695B8-58AA-4E3C-B1DD-52F211AF3D1D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0E775FD9-8CF8-4D53-BB5E-F898BB3F9233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63A65159-0254-4BF5-A06E-864AAD152ABB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偏强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8E3F2F12-3273-43CB-A708-A8885AB81B20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99913F8C-3896-4027-BEC0-36959CE69694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实时盘口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915DBDD2-1981-47DE-82B0-FFDB86FFC7FE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ADDDDE40-3420-46BA-9A17-9A5BCFD22E4D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封板率 78.4%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413377FB-ED19-4195-9734-D068C1E48830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CF76654C-6B10-4CDC-9BD3-B8FEF0E680AF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AI算力、电力设备、半导体排前三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C4D9F3F0-25F3-4E0F-8943-AEA465BA7E30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B5427144-677F-49DB-B1E8-3F972451988A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E6F3843C-340F-4780-B1F2-DCA68917AB1F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8CAA7673-4670-4E39-8A24-75A3B249FCA9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6974E301-0B13-4849-83DC-2A8245E15768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1AD39391-99F5-4398-A4D3-18E7BA40FF18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A203EFEC-4C90-4DA0-A933-026DF1B79207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偏强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C9D7F953-C150-4824-A181-922922ED223D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B8C730A2-E6BD-49F1-9277-44CAEAC03417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保存情绪快照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11A44925-BF34-43A1-9FF4-EF0A0A6C7A6F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79881298-D9C9-4B64-9BA9-077A49002BCE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实时盘口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C559FB1C-137E-429E-B932-9FBDF703120D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5608A98D-1154-4D41-8203-E354D4F3F549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生成风险提示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2AC85004-283E-483A-A59A-BFBBC52C4AEB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BE909768-B2F8-4A87-ABA2-35FD208CF55D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封板率 78.4%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EEC61C6C-DDA5-4FBD-B4B7-50022CB9F731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C0D89C02-5237-4928-8DC2-2E1EA56B8223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进入开盘闸门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00827825-2C44-40BF-9FE1-0A3948F6D70B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335806D7-AB73-4827-B2C8-506E32701EA7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F0E13140-8DE5-4A8A-934B-E20068574243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0C08DE0D-BDDB-4601-8C2A-47FDB6795401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保存情绪快照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0D1FFEFF-F165-453E-AB38-1AEBC453BA39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2100428D-C104-49DE-99C9-B9F9EF3ADC76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生成风险提示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41CDFF07-C9D0-463D-9BA3-D4DB34B5DB83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E358B14E-2FB5-4206-8089-34A60F7C1746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生成风险提示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06641E01-1C33-4EB5-BC46-BF4DF5922539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001B7A78-8C34-4C2B-92E9-E73155AF2E13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进入开盘闸门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01DB0462-6697-4CC3-80CC-3A0258E9364C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003CF0C2-0E55-4AAA-BE69-7AE79C96E97E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进入开盘闸门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A255404F-A077-4435-BA20-07A3F1B83947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6EB51F82-1064-43E1-A063-AE890C90AC14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保存快照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4DD43C9E-355B-44F8-80C6-48680485AC78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文件：index.html#market-sentiment</a:t>
            </a:r>
          </a:p>
        </p:txBody>
      </p:sp>
    </p:spTree>
    <p:extLst>
      <p:ext uri="{BB962C8B-B14F-4D97-AF65-F5344CB8AC3E}">
        <p14:creationId xmlns:p14="http://schemas.microsoft.com/office/powerpoint/2010/main" val="489884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B9061629-5A0A-44CB-9E58-AE5889915F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C92422F3-C5AC-4A17-8C72-A87D70CDDA0E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181569-7598-422F-8E51-9C98CC377FFD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0626A5-455F-45ED-B842-47A16C60D717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D6709B6-D03F-47A4-9BA1-8931E421916B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C5A021C1-4788-4EF5-85B0-221E833320BC}"/>
              </a:ext>
            </a:extLst>
          </p:cNvPr>
          <p:cNvSpPr>
            <a:spLocks noGrp="1"/>
          </p:cNvSpPr>
          <p:nvPr/>
        </p:nvSpPr>
        <p:spPr>
          <a:xfrm>
            <a:off x="133350" y="93345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A6AD20-44CD-4CB9-9D1E-B0D0393A89E1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AI 智能看板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1CD053D-1FDE-4BEA-BBE0-C472D2DC882C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05A050-3630-4A0B-AD4C-02003C78D98B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DAA3EAC7-F409-4BB4-8E3D-723F817AD922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1978588-5BA5-4DFB-AF21-AFE9AC990AA6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A70DB39-23D0-4945-A747-A9CCBC1C661D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6A20821-6A50-4709-94D8-A11417AF3A77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4FED66E6-A9C1-471B-8AF1-565B307D7EAF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E870555-2D51-4532-A4CB-E18E3218D8D3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C712AA27-891E-4DE0-9CF1-51F818EC5266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761417A-BE00-4B88-B250-4F9A44C672EB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6619ABF-BE2E-4A55-B90D-95A36115CABC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3556C57-D25F-4B48-9DCE-A29179691E9C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6A09F7B0-11E6-43FF-B243-4E0E717DB1AD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537616A-8A72-4C18-BA51-5CB273473735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5CC1FC11-0F26-4418-9F3B-6853A37F920C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1ED983D-88DE-40B0-BD2B-BE24BB49598A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FAB18C6-C35B-4CE4-9D30-9AF9FB672A82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D951BED1-AA80-40B8-8D5F-630DB496CA93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5FC87DB-98B6-4496-8CEE-CF5CF01623A8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A83519D8-39DF-439B-88F0-CC9C4F0EC3A3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5F39049-E400-4A4E-8E2A-B15811A66DCA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F958C635-2BEF-41C6-A360-642F41D30D14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3E1971F-3768-47AE-875B-6C804388CECC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D6191603-2E17-4332-A8B8-9399486CD823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92B15BD-66D6-47C8-819F-EEF94D563E23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2B6E69F-1CAF-4659-819D-F995E1A1CE8E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E36C12DC-FE76-4D17-94EF-C156849643D6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081F85D-1BFB-4742-A551-18D7562CDA7A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705DC04D-EF53-42A4-8B26-614B19D430C0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0DC86B0-C81A-4470-B227-B2558CA2F7B4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FE5EF39B-42C3-4AA3-8443-13C7F0390794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A06A69A-823D-4019-8C88-0D62459D7938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0AAED783-DB19-4CAE-A2CE-AD5987445B4B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4E42EEA-7C0E-4650-BB8B-6B2E9D7ED888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AI 智能看板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584A3AB-0EB9-4E8F-834B-F89D2B906EC7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CC8627A9-4054-4EFA-8E77-F309F57BB563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16F2451-7399-4B08-A786-8768ABC1129D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C9E758CC-3434-4A5A-BD7F-ECF00BC02ACA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1749697-5C41-459F-8956-4529B6DE8F0E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5DF7F1CE-FDF0-4395-BB36-2463E463CE15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5175EF7-CF53-4C84-AF30-51873754D3D8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6988C75-1EEF-4DCD-898B-92D0DC0ADAA5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市场情绪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05FDF1D-A464-4FD6-A717-03C9E6815781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指数 / 涨跌家数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63A65034-8B40-4CC7-A131-58EE03010CC2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5C7C2EE-631C-4A34-983F-5EFEF5C4EA87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07E7EB9-DBC5-46BF-AB65-1D1F434E9FAA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竞价意图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8D476D9-ECB3-4021-8A3C-2560826DB42F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9:25 抢筹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2E878301-D61D-460D-B12C-DB8F5F836421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A1AF180-4E11-43B4-858E-F2948E20EF82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34B26A4-6384-45EA-B678-2D28AAF87482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信号总览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D3B0097-CD07-44A9-8709-E1B3DF707265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今日触发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D17593E6-E81E-4F55-A747-6119BA211E29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E716A3B-CBAB-4979-A9B5-0D1181E97B04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9CD755F-020D-4182-9D31-D06FFECA76B2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自选跟踪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46ADD6D-32EC-4738-A8C7-C73F0A23EE07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持仓线索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4511A32D-35D9-472E-8CBB-E8D5242D67ED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62905F4-75BF-4706-8B4B-972300C37FA1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BEE2E07-EDF6-48E8-94F6-8032B9D71D74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运行状态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9AE9CE1-4235-45BD-B195-CAC29532C037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服务 / 数据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87837347-2F1A-48AD-9B1D-56B1CD3EB42A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0C804891-5346-4121-AB1F-74DF14325224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8478F57C-F91C-4B8B-9B0D-89B7F0E89523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AI 智能看板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3734FED1-E832-4250-A501-8B9EE2AA65C6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1A77729-6B5C-4D5E-8158-A5F8D4F1B8B9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71E7E7B-1219-4AC4-A7DB-42F9F42F3561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市场情绪 · 竞价意图 · 信号总览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76C7C1CD-41B4-48B4-A4E8-88A29C2B11B5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7864DCCA-5EB4-4033-A3B8-6F7E906089A5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75C135F8-F655-4928-ABCB-450BB7DE1B7E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盘后复盘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CD27633C-D3DD-4F0F-BE12-31A9B331437B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E1ACE6A-F62F-46CB-9337-EB7007548886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AC57896C-8B3E-4A6C-B724-3E51ECD8EF99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实时刷新 42s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24E19DD7-F30D-4BBB-A36A-16FCDB0FA148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04 · AI 智能看板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F7727DAB-D7B8-4073-B93D-4BDC3D5CCADE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竞价意图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DF59784-A796-48CF-AA5E-CD27C57FC35B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9:25 抢筹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8988037D-1150-430A-88C0-18396798F0EF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7CA8AD4-896B-43D7-8D5B-DEB5A235ECD3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0F1D3567-339A-4759-B575-3E8E7FDEE3E0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A38097A-EBB1-43A3-AB60-7B70AD67DA0B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智能看板 / 竞价意图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8CAF32E6-D7BA-4CCE-8788-9613A7E20B05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856C22E8-FBD6-457B-9CFD-7C2C4FBA0539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9:25 抢筹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038214BD-EC4F-4C3B-978A-AEC533B2F163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B745077D-D6C0-494E-9254-3F2FFAEC0B11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 dirty="0" err="1">
                <a:solidFill>
                  <a:srgbClr val="52617A"/>
                </a:solidFill>
              </a:rPr>
              <a:t>承载本页签核心数据判断</a:t>
            </a:r>
            <a:endParaRPr sz="885" b="0" dirty="0">
              <a:solidFill>
                <a:srgbClr val="52617A"/>
              </a:solidFill>
            </a:endParaRP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6E603A50-99F6-483B-953E-FF5E931AC74B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C9148D84-494E-49F1-8287-F7449BFB2526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C03D7917-8B8F-4557-B7F0-A3B0D923CB19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88D270EB-EFDB-489D-817B-0B365FC0A65C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4D321F80-EDF1-4230-AB4D-AF68831AC93E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EB58821F-A745-460C-9272-12C501248D11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竞价意图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0F8D9B32-28C0-4213-8F09-3456C87B39CC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584D807A-72EB-4D2D-8A1E-BB6FAB659D30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9:25 集合竞价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7EDDD46A-8E38-43A3-A1CD-BBF1C3F45B51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7F4E2364-8481-41B2-BA9E-8900DF6DDE11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高开抢筹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CB4B9E59-6036-43E7-A6BD-3BF2232D39D1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635D260B-062E-440C-A6A2-223B3151A30C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量比 4.2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1135CBA7-F31D-466D-9669-355711B1886A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D7C8B2E9-28BE-42E8-9B0E-80D123F5D9BE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D3346A9D-4A61-4DB1-BE9F-1A54FE97235F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A31291D6-0E3D-4CFA-A1A6-4B611F50325D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9:25 集合竞价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23C0E497-F962-4DF7-B3DF-D4566596B753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A4F88E29-0D62-4B88-91CD-57D63D7A68E5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高开抢筹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CA9EE61D-E0E0-42BA-8D83-B8925BDF791B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97625AB3-FDB0-4016-A1B0-C96556E1F37E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量比 4.2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C717B963-98C0-4745-B7D0-E527B086E296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68BB83AF-6E31-4579-9EEC-909C584FDAA9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优于VWAP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68F2D6FC-C642-4454-B31B-E2893A0CD0DF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16E8E51B-4441-42FB-BA4F-5AB9F57EB2F3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9236F19F-7BAE-4662-AF09-53772CF5F06C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7E828DA5-A20F-4860-B22B-CF3D8C284A4F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50B24F87-5A10-4BCD-AC0D-1B43DAFEC8B4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45652F26-53A2-41A4-87AE-7BF2FD2164CB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52E6D78D-790C-4217-A985-2C892A3C29A2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9:25 集合竞价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DADBCE76-CCE1-4BC4-A0D5-62E99C2A3921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BA25E4F8-77B0-4D75-BFA4-29DB91EAE1ED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看多 28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8F1AC502-9572-47BF-A429-5F9548B13736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17003B90-8E4F-40B4-816F-AD2B7399C148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高开抢筹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F5BC23F2-7BFA-4B55-9E90-812FFF551D6A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9EB1E03F-87BD-4E00-BF38-83F711B84AA4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看空 19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F49635DE-F33C-4DA0-8B79-42992FFEDF98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2C882FE9-F64C-45AD-BC6E-91B4E8613B0C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量比 4.2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BADB12E3-1029-4D44-A37F-CD0173E8FAB4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24814E6B-B1FB-4530-9AF1-E5F4F9CE696B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F25E7C37-2E16-4B4E-B721-DE4313320253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FD942CF4-0462-4C59-A568-B64925D959BD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D4A63991-06E7-4C7A-9200-6C11383BA1F4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A439263A-E51D-48EB-ADA3-1DF65FCC319F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看多 28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754036FB-E386-4ABB-9DE2-4BA42B437241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D66C2930-929C-46C8-AB87-786032845C58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看空 19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4696E01D-C050-4C10-BC92-6872D1D4B8C2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631D7189-398C-475F-A928-F61749C94427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看空 19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8A3D52E8-1F86-4A36-8D08-A76067309364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9056BF67-BA9F-475D-B593-E92846EAC747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AA3580CF-B44F-40E5-BE36-387EE21B79D2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5D5DDC97-F2B3-493D-A774-80520FFD3460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753385CA-E3C2-4C59-9626-2DCA44F1DABE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8023D48C-7FD1-4BE7-A0DC-5A622C24A97B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69199EC3-F3A6-4B1A-8B31-45BABBCD5596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文件：index.html#auction-intent</a:t>
            </a:r>
          </a:p>
        </p:txBody>
      </p:sp>
    </p:spTree>
    <p:extLst>
      <p:ext uri="{BB962C8B-B14F-4D97-AF65-F5344CB8AC3E}">
        <p14:creationId xmlns:p14="http://schemas.microsoft.com/office/powerpoint/2010/main" val="290182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D50C58B3-FF3C-42DC-A1C2-7F54583B20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71CF92FE-E1BB-4F41-AF77-6BEFC7014573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EC6DF0-9BB5-42D9-A915-5CD965186C36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44500D-523A-4DDE-AEEA-E2169DD82103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209B4AE5-D8BB-43F7-B6AC-DB9615F30276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9D8A9A39-8CB6-4866-BF19-97386025976B}"/>
              </a:ext>
            </a:extLst>
          </p:cNvPr>
          <p:cNvSpPr>
            <a:spLocks noGrp="1"/>
          </p:cNvSpPr>
          <p:nvPr/>
        </p:nvSpPr>
        <p:spPr>
          <a:xfrm>
            <a:off x="133350" y="93345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BF85A1-41A4-4068-8896-3519718B8994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AI 智能看板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97ED1C0B-A69D-4444-8532-876AD20DCE80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5E0043F-F9E0-4313-8F0D-4109698C8847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DD9B0C60-B238-4ABC-A584-280BBC3AF352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5F38E8-95C5-4513-B07E-EF4B51ED4FBA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D00CA2F4-3483-4062-B561-B1C6F24A9C60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3607819-3D5A-431C-AF62-1D405031230C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496841D4-20DD-40BC-B68F-41C1E9BA3EC0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0D3A217-0CDE-40A7-970E-A8E57B0EF4EE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ED13D8F4-FF12-432E-A5BB-1E551A2D41CC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D3B9C0E-36BD-4025-83C0-2A0A47D70D33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B156B9D2-9A16-49C5-8865-9FEA81C6855C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45A2E26-3B4D-4891-8E1F-D27058B36A31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E83A44CC-B187-4EEE-9DCD-A54D7203981E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6DF72E1-171F-4BC5-BE34-D74512F56EC8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F2E20528-E8BC-4FB7-BEA0-4DDB289EE39E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F3ECDF7-1EF8-47E4-BE7D-44C921655828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114227A-9653-4378-BFBF-DD75FA17B086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11DB4315-DE8C-4DB1-A9DA-680BFCE76CFD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1C931E4-E59C-4AF1-8339-8A89C67A42A5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C2969A93-4EB4-42E6-B8D3-C804559FAF5F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A60BBD1-7499-452E-A963-3FEFCA9CF07D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65BDDDBF-712B-4C64-86AD-4F2D1869BF19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5851F2A-2AA6-4B28-8EDA-4F238F1AD72A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1D0242AA-AA0E-4C47-AD7A-9042D72A83DD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EEC8C25-6CFE-40C9-9C69-780A2C7F3617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35E7121-EBD7-4180-8B02-4BFCF7DC9627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E5D693EE-7E86-435C-9138-7E01F52A77D6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5C99B09-A1AB-4B35-9D76-EC2EC4B74F94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BF6D5132-3BF1-4A5F-9B91-254A1C3BBC09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C5043C6-D911-4E96-A81C-80A5A36B7BBE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6D5A2928-B04E-4713-8036-02FD81F5F919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2C9BA78-FF25-4D1F-B31B-018BB32143BD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B8BE0889-5047-49A6-ABC9-8EC29734CD72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6EC9EB6-9099-4A59-8C82-62EEDCB400D6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AI 智能看板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862F18D-991B-4830-A573-02B561009838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D91BF6CD-81B0-46F3-A337-2EAC7B17C7FF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DFBC332-CA44-4D11-9EB6-138BC25C1BA6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75CCA19A-CE14-4A6B-866B-2477309415C7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0683E60-B748-474E-AF31-1E6FAF9835C4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2C6B6066-ACBD-4FB1-9FB6-B725EB9B69D2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2867A2A-297D-4C0E-A47E-DAB3998AC23A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0DA9AB1-4FAD-4CE9-A413-411D6A3E2147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市场情绪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57F3EFE-67F7-49C1-B9D2-7B6116354BF1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指数 / 涨跌家数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87C4A25D-BFFA-4E47-B2A1-55CA19F3303E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1FE1C63-EFC3-4E50-A105-126EAC5C9825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B794FF6-AABB-44AD-8BA1-407EC8150EFE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竞价意图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2A59DAD-61FC-47B8-8424-41D2D4C09CE9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9:25 抢筹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4AA50CA4-549A-4664-A9EB-04FF7C15090E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C3BADD9-5E33-4883-BDBF-8035AE950F4F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CBF85BB-3C63-4164-B746-BF7C77A0EEFF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信号总览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6F285DD-79DB-49C3-AB14-AE643CF53060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今日触发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950BD6B2-FA35-4E07-9072-88CDFE193602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EB32456-D0B7-4300-89DA-E3963370BE3D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A0EDAB2-6610-464B-AF18-017CA78E2588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自选跟踪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1ADDD87-3FD9-47F4-B3A8-833F2AB066AD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持仓线索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1FFD9321-F736-4B02-A280-BFB92B9823D2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F7E6B04B-333F-431E-8BF9-CBD0CE9D5DDB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440B206-2DA3-400B-AB7C-805835FF07C2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运行状态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9AA1339-2CA6-49E8-B9C3-EFC5D32FB87D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服务 / 数据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8797C38B-6CBA-436F-8282-90AFA54E52BE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46D50A5-F231-4190-935E-D7AB3FBBAEC1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79A9D43-54CF-4773-A45B-1C033B38E79E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AI 智能看板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FCC23660-1FF4-4A48-9CC1-B92C6590A8DD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00F512B7-8B4A-4FC9-A834-BFD6A2E47EE6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788B5FBD-33BD-4575-8C35-497473C7B538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市场情绪 · 竞价意图 · 信号总览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369E34DD-E993-438A-A3FB-7D8B78FE3129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3EE6F3AA-4F95-40A0-8266-AB6C8481FD03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A8AFD5FF-7617-45C6-A4F5-7DAC372F6EB4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盘后复盘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333C2633-51DC-4116-B926-D062B2DD564F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B1A57FD0-2E6E-41CF-B4C8-811306ED60CE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A82EF59A-97AA-4BE8-91AE-76C62CE8F306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实时刷新 42s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9F6D29D-4593-4250-BF9E-DB634F6452E1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05 · AI 智能看板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9D180647-BDAD-4142-983D-0FEC9EB57A6B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信号总览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20153F28-CD34-4FEC-ADFF-DFE36080BFF4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今日触发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23674215-EBC5-4A7E-8B05-D95C828AA1EB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759A301E-3BC9-4EF2-A794-587FFA33A4D9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221ABE15-168A-4D98-9F01-A59DAFD56753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BE46F310-89E3-4D64-A3F2-5671A8ECC095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智能看板 / 信号总览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601395FE-AAEE-4CE0-BDC3-E315316A4726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AC264C82-521D-4DEA-818B-B06E32901AAA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今日触发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23CF429B-866C-4D76-B7E8-531C360760C9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F1E598A7-C698-4704-A731-C869C179EE7E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今日 AI 信号股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AA9162CA-664A-4758-BB09-348C93285606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60C4BB20-58A7-47E6-93EE-359346F0D55F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A82A71EB-4354-4BDD-B92B-F8DCE5B8F69C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CDB445CC-B2CA-46BC-872C-DBABA14D292D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3F44CFDD-820E-44CF-947A-CAE186B2BA6A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B60827B5-FFC7-448E-A459-5122F9D68AEF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信号总览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B1D94447-4E88-4CBE-BDFA-A50432D23C3D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D9D5A3D1-1738-45BA-8A62-F8EA6C6079CB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今日 AI 信号股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BAAE409A-3744-406F-9F2F-245F51BD5BF0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F298EC34-7DFC-4F25-ACEB-D60BD10D7B1E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➡ 震荡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380F888D-324F-478F-88AA-DC4D8844C35A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C204E4D8-E16D-430E-8A68-E96CEFBF2A5C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▼ 看跌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3B327F30-2AC8-4267-9026-E1BA24620B72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AA5C6CC5-7B02-4D7F-970F-2E71C43F8A20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269E15C3-5D7E-40BF-9E01-63329594D151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6A2B7788-FD5A-469E-A111-924E05AF5D9D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▲ 看涨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3B9E3A79-A9E2-4DA1-B660-F652920238A4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317BCA90-B2A3-4817-9B62-DD23A62BB67C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➡ 震荡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E59CAF73-2B46-4534-A472-0550C0BA70B7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5A368952-FAE4-4B5E-A0BE-CCF75B9F93E9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▼ 看跌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39B18E21-4F4B-46E1-8E73-AC66D960B5E6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24F6E33E-661D-4D55-9818-5A079F64D430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9DC7C294-01A1-4D99-B09D-9C2E0E8DE43A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4E448408-9809-47A8-9FB1-A4A821E7D5E7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BCD6FC13-5AAB-42FD-B3C4-DE8B896E17A0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8C55EA51-BDCA-436F-8622-BCC97EB3533E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3A084FB9-D063-4A03-9F58-614773CFB8F0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490497E1-6523-44D1-85AD-F1BECB2FEF12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3E82E1F8-4ADF-45FA-B892-38A6971B911B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代码 / 名称 信号 现价 涨跌幅 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84BC591-3E88-4136-9A7B-83DB288109FB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45381E30-CEF8-4E0D-8D68-A63D087CD6B2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查看全部 →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333E06A7-826F-4472-92DE-C26E4A1E7B01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DD66E7F6-382F-4426-927A-988A1473A7BC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600519 贵州茅台 ▲ 看涨 1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7A6A0FED-6D17-4F7C-95D5-61345F59FB5E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0798A892-41F6-42AB-8EF4-442632AB19F0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生成草案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9FB49640-BED4-4129-9491-6B8BBE374143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2D4DF436-2CB8-4520-A367-A7482DAB0B58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300750 宁德时代 ▲ 看涨 2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3E833C34-FC74-404E-99E5-7D4E5A6A4048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D270E037-193F-4412-81AE-ED79454DC257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写入交易票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2E3EA18E-60D9-4D03-8750-A099E38D6C9B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6FCD8F09-A747-4A51-9A57-A62EF37C4665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7CEBC659-0506-4465-B7B8-FA5F6CCC45E3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C2DCE69F-DDA8-44A1-BF4F-1E3D4D7F102A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查看全部 →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F43D927E-6C74-4A5B-9E34-3D4B72DFC8C0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A6BC0852-FAD3-4A17-ABA6-46AEBBDA580B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生成草案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63B4105B-D7EA-4335-89C1-3AB197446562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EE13ED66-D669-4F39-AB60-8A71DF199CE4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生成草案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98361D01-D2CE-4D08-AB99-A4D8778E1729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8CBF4E2D-357E-4D0E-8AA6-03F95FE4B221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写入交易票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CDFCE14B-0DCD-4EE0-A0B8-7DA901CD0CC2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6919ABE3-ADEF-4630-B8DB-7B75A714CF65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写入交易票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2D7EEF30-486C-4F38-BCE5-147D3C7A7B78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7E942CB5-F36A-45EB-8DE3-4C85BF5616AB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提交复核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2EB2F84E-3D95-46D8-9A66-D5169E3DE585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文件：index.html#signal-overview</a:t>
            </a:r>
          </a:p>
        </p:txBody>
      </p:sp>
    </p:spTree>
    <p:extLst>
      <p:ext uri="{BB962C8B-B14F-4D97-AF65-F5344CB8AC3E}">
        <p14:creationId xmlns:p14="http://schemas.microsoft.com/office/powerpoint/2010/main" val="416923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D8B11391-B3C4-4035-A79E-C35887B042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E1C642B0-B8B1-42BA-B89A-AF2E765FE954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D16E8E-B3C4-44EB-A4F3-03F0D4D20419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64F7F9-71A5-4FE2-AD96-6CCE8453B2CA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7303906-DD27-4BAB-A317-2057262F1444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BDC5536-6128-4B8D-AE44-EAC2AEB51321}"/>
              </a:ext>
            </a:extLst>
          </p:cNvPr>
          <p:cNvSpPr>
            <a:spLocks noGrp="1"/>
          </p:cNvSpPr>
          <p:nvPr/>
        </p:nvSpPr>
        <p:spPr>
          <a:xfrm>
            <a:off x="133350" y="93345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104F65-048F-48E3-9030-B3D13FC763F9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AI 智能看板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C138C56B-73CF-4753-86D8-6CD8451DE39A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3FCEF3-0E0D-4D00-B4F7-EA950D7CB5D0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F0F3DDE0-5937-4820-93C9-B5EF7ED895C3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ABF7852-4895-4411-9AD9-DC0D859988D8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648ED562-40E4-4502-B185-2A5598217320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18646DC-F41D-4255-99C6-36A149DF0C23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69687B64-0712-4BCF-990E-EB5A03F851E8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5EC6FE-5A68-482E-833D-2F395E8A115D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24C4365B-4E6E-4D29-9018-E2CDFBCB137A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16156D5-120F-4EC5-B796-57F1BBB364A6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6195EC1E-318B-48A9-862B-761B81D70858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D49771C-595E-4D8D-BB71-1A6076955603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906C0CAE-DE94-445A-8821-C1AA66887829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8254941-EBBC-4411-BE0C-36AC2D62D7B4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6EFCF05E-C68A-4BA7-9F94-C9E69DF28D27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F927386-BF29-45DD-BAAD-073D75CDD8F5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963020A-0165-444F-94DB-B2B230628866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EFB05C4-F9B2-42EB-9C42-EDBC155F6849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3FCA3E1-4EE9-4D17-8DBD-250A289FE748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66CCC42C-7DBE-40C0-A2EE-A08ECB41B6B1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10CF450-7D9C-4194-AE2D-BA984C1C1BFC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12642586-B8D8-405F-B035-3E3AD632E535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CA5B80A-BCC8-4867-8911-986E167BAF7F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E3CE83E9-47B1-4411-8BBB-BC9618741BC8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0CF3027-7FD3-4D4A-91E0-5F8C988114BB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ED4DEA3-38D2-460F-B444-511623BD6435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16704112-9367-41F7-8EB9-672C498A24CD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BCDA36A-C4F1-4606-86A9-040B41ADCDC9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573BEB20-1C0F-4CAA-ADAE-9787E420B8C3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AF97D26-26A5-4810-B976-3A0BE422F507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EEA12DC1-DEDA-4D3D-9FB9-BEE007EF2EEC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D78B99B-286E-46E1-8332-3D9DA6F7985C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35F6B1CB-4399-4D6A-B782-2B17ACD7D967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68AE68C-45A9-4770-A79F-BC5344B2E0FE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AI 智能看板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205AD14-DA0E-41BB-84D4-B6A9BA0C7385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DBABE3B3-16E2-499D-AD7F-44F0581AF2A1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D646054-E47D-4481-A59F-78D4CBDF16B2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A046EB78-74F8-4308-BC63-6C08E324231E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CFEED05-10F8-42F9-845C-CD52DF0399A0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B9E55E37-DD20-4954-B41F-3EFC173A5EC9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AD46CF6-2DC6-4082-9D60-731D5E2CC2CA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317664F-4945-4306-BD29-A0A6257CC4FD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市场情绪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FE5EF6F-00D7-41A7-9412-BDEC872BA0DB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指数 / 涨跌家数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57CB9486-D111-4BBE-B732-D720B907CB14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C057031-4445-412F-912E-63AB6EAA4AB6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C79954F-3E45-44FF-828D-1D4197025B29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竞价意图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DE71BE9-76B5-44C6-8937-7E04099D0BAB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9:25 抢筹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7DAAAD5B-A1AD-422A-B018-1F79E6C2EAE1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B7E9F54-3A9E-451B-AC65-5586A8E5A892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18BBABF-91EE-4405-B426-6F358D8898F9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信号总览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C1E15EF-841D-4491-844E-FB5527503E17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今日触发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D1C5E361-706D-4C03-AB5A-61991B35A8B6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7771698-1B81-43FC-959B-5EAE7FF600AB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0CA4D25-6D1F-45FB-A924-1BAE08D62D37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自选跟踪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5152546-27B6-4CC4-955C-F48AE4BB6E87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持仓线索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9C20A9A2-12D6-426D-A933-6FFC16A2FD6A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D690E17-6A29-4399-B7E2-354C310672CC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9B5F13C4-F37F-408F-8FF2-B5CAF20B02E3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运行状态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8CE219F-AE3D-4F64-B573-FC9D0C82AAC4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服务 / 数据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89BD5D9D-E4E7-44BD-A153-D9AFF5316F6F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409A08D-7FE2-4DB3-AE9A-A1AC913E761F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3B1132D7-1D2D-45C5-A011-0AA7553D18AB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AI 智能看板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BAEA2398-1932-4168-8753-3E0368C40175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BEF1DBA-BB98-4BA9-A72C-3BEBCA191A52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0AE10F2C-3A85-4952-9CA0-CA226ABF8827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市场情绪 · 竞价意图 · 信号总览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2D36E698-99E8-48AB-A336-2ADE452B5492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072AC75-59EA-41C8-B606-A3C5E5051B06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6B6821E-C3FA-433B-B085-B07444BE1436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盘后复盘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5BA7D808-C5CC-486A-ACAB-C951F976CCDD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96E7CFF4-FA2B-49BE-8F42-7F7F2F3E27CB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64E9D1C-C261-4126-AC97-F15559BC3049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实时刷新 42s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28AF6502-79B6-4D74-B7C8-2947198A134E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06 · AI 智能看板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F48D47DC-6789-4B34-8283-BFF2C9B1C8E3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自选跟踪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7A1096DB-F814-4B8E-BB94-D8A80FC4D87A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持仓线索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6A192768-A055-4054-B58F-0D5F68468FCD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16BEDFAE-F218-4548-9CED-A2AECACB2199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E96700CF-6DA0-4C8C-8D97-B31FE241D7AC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88A478EE-8382-472E-A17C-A3B9C5F39B7D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智能看板 / 自选跟踪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47F5733D-EA61-44A0-BB56-B6568DAF6C1B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FBDB6A5C-3780-44C8-AC6F-C0FAA4CC855D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持仓线索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F0A927AA-7F8A-4531-A9DB-68753BD4EB41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66ABD3A-6301-4F8C-BBCE-976A01D65BDD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我的自选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0D640B64-7E4A-4F89-8311-7A9D0D90CCD9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52E07FE5-629D-4C2F-9974-F2A3A2764192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8F999B42-E1EA-4982-95C5-0E089E7E8F5E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79ABFDF9-5EC1-420A-8300-2F7481B463E6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D48581B6-9E70-47C3-AE28-BE69C33153F9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B591527A-3429-4182-B809-914856BE2DF0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自选跟踪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AAEA552B-2EFA-43FB-8066-AADBD51F4261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F1862AD5-5519-4B7C-984E-9A9F7D6E6277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我的自选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7D08DDA9-BACA-4777-8345-57B2C124105C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E6735C5F-173C-4CCB-9737-C7026E55C205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智能选股模式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8EC9BCEC-E83E-449F-9286-718829461BB2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125552D3-BC66-47FE-90AA-D9998C833175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趋势波段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A4717BF1-E4FD-43F3-8EA1-E824362E5F99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F51725B3-CD6D-44C7-9D5C-2A5029457BB6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3140FE6D-6429-4E65-8F00-70A594C2D9AF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6A3C1358-C8D8-4032-A5DE-EB0ECBF76207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12 套策略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3B816459-27C1-46D8-8887-83255E52A784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A46DF0C0-167C-44D7-BAF5-A3A46586EFC5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短线打板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B6D74A66-01A1-4397-9E38-6C4F62B4ECD1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CE9C3412-CA7F-42D3-AEA8-C72C0F57F65D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趋势波段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E2DFF6BA-291F-42C3-8726-E6A472EAF8AB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689BA6AB-83C6-48E3-B355-6E20EDB4D32D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低吸潜伏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48DC4A71-25D1-4160-99C2-8FB48F5209AF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283E6E36-6D26-48FA-B1C5-CA4DC9136229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DBE9BBFF-5BDB-45E3-AC01-93399E1074AA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18780971-F1FB-4FA5-B7D0-3A1A1F922C2F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1C2C0DE7-8306-4B0A-8525-EBDE3E4620EB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B9B80388-0137-4B7E-A7C6-74EA603969F6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69B46813-E7BD-4EC3-886A-C0EADAD5E039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12 套策略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9F607B2-CCB5-4BF6-BDD2-F12B42A550C7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F8746344-5158-402A-ADBB-CD3786686BC0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管理自选 →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C6BFDDCE-214C-42F5-BCD2-525B8E01C314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21F728EA-2FAA-4962-B655-D03845E940F3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短线打板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1626637C-D8BB-4BB3-90F8-A0CB5646C4DD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A62665A3-C235-4ACB-8B37-69A43529F8CB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进入选股 →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07082F9E-8447-44BB-A268-B7F8340AF171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972761C7-4389-4BD5-8FC5-6BC523A9A5C8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趋势波段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4D0B0FCE-A984-4C23-B3F0-DC35F0E325EE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8669590D-6895-47AD-B3D4-B7DFA98911B5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加入自选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4983E513-ECA3-48DF-8907-87A0EB489B32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F775EFA1-2233-4B6C-8C92-3D77EEEB4007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7FBCCFE9-7EAF-4410-9F62-301501395850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8A994A73-9FEE-4995-AD96-47A98484CDCE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管理自选 →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1FA9CD8D-25AF-4E75-9B2A-4C0822023F1E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2BD857EC-BC08-4019-A751-BD314AFF5D45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进入选股 →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BB82575B-D608-4A1B-AFF1-C1B6B1F1261C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07670753-5BE9-4DB2-BD9D-932CCEB4BCFA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进入选股 →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3ED5FBAA-C8DB-4238-8107-24F95CC05245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6BEC4BDD-BF81-4FDC-ACD1-B446151F0A26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加入自选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40F29ABF-1612-4F1D-85E8-992D3BD02B8D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378BBA22-9080-4F8D-B12D-E0A50BA34B1A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加入自选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F0EC9DF1-31DE-4AF4-BD14-06291E59647E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28BCE7EB-9093-42D1-AF61-8B8063E738F1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批量送诊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E56DF012-3263-443D-824E-7CB79C8E7756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文件：index.html#watchlist</a:t>
            </a:r>
          </a:p>
        </p:txBody>
      </p:sp>
    </p:spTree>
    <p:extLst>
      <p:ext uri="{BB962C8B-B14F-4D97-AF65-F5344CB8AC3E}">
        <p14:creationId xmlns:p14="http://schemas.microsoft.com/office/powerpoint/2010/main" val="333425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905480A4-84E9-46F9-BD94-9D4EF16297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6302E209-03B3-4EBE-8EFC-726F9EA10BDB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12543C-A0D6-4DB8-B18E-811B2DC26280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F9362A-CCD7-4731-8673-701BF7583E90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292E0759-A8F4-4E25-8DA8-B1EE37198C04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1B517CB0-9C88-4A6B-A58C-800E2E7DC7EC}"/>
              </a:ext>
            </a:extLst>
          </p:cNvPr>
          <p:cNvSpPr>
            <a:spLocks noGrp="1"/>
          </p:cNvSpPr>
          <p:nvPr/>
        </p:nvSpPr>
        <p:spPr>
          <a:xfrm>
            <a:off x="133350" y="93345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81019E-4124-451E-9C49-4D6D951614CE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AI 智能看板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973AC234-9487-4FD4-8EDD-20463D0157F6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8DFBD9-DE35-4821-B365-9090701D5BE8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8228775C-13D1-4972-A5E8-B602C830229F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1D0291-063D-4666-9D8A-109477E21773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2F80A42D-2D16-42FE-885E-813EAB6E0EE7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79EB62D-89F4-4369-8DCD-96F1A009B7A8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F2ED882E-5A13-4202-B417-DAFFF151B1C1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85C59C-FAE0-43D2-BF58-628FA2A64C0E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5054CBAD-2140-4C73-BF68-DA2A7C803AA0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AFB6E61-886B-47D4-8FAB-F7DC2BE0EE4D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E684FD2E-33C5-42A4-A5F1-0297191C68F6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5DF495F-BE78-487E-BB13-3E8B6251021E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D47D5D1E-654B-4EC7-973D-D4D3067A61DB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C10DFCE-89D1-4BCB-85DE-81F9B06EA1AA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BE83AC5-C5BB-4455-949B-090741987660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2018C69-6032-4324-A1F0-672F302A7D5B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9446EE-AD66-4C42-94B2-6A4FFA7D491F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B9448525-1760-4AF1-87C1-C6774221405C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A5953C-EF51-40B9-8AED-2838DAEED355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380B7F15-B792-432D-9670-F9B8C30E0741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249F354-BF58-44D0-8D87-598B2C889641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D89E3A3C-DE6E-4681-8EFD-21E76A46618D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9428B59-E415-4B7D-B784-FA547075D63F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25592872-E8AD-41E3-8AA5-C6D68D0B6723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4CAB394-1859-4EAB-A9B2-701F2022F272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5B4E55E-FFD6-4002-9843-9266BD7A7BA5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6F2AC31D-AFD4-4516-AD2D-FABB7458A146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69162CA-5183-4987-B876-8991DEE2E2F9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EDB5F9F3-1B27-4F41-8CAA-6E5A72164340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FA0C630-514E-4AC8-8C96-E5B0865B353D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418D0AEC-5D3C-487E-9BCB-16A4F99DB149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B9F23AA-F6A4-47B1-9DDF-3BAE5EA3A820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D583705A-060E-44FC-BA58-929CC6CA4A81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1B212D9-95EB-4627-A971-BAB557C9D49A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AI 智能看板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2349105-5ED7-48AC-A887-096AEC79798C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A1D49046-4A79-4BBC-B806-5B0FD1BEA55E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8D4AE3F-8991-41BD-8EFA-ABF47C533204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E25C074E-E9D2-4E7F-8505-05CA078647AB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DC61FB4-ECDC-48F6-BD26-E108BDC4F2DE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5378E6BB-EEA6-4DC9-B447-DB513DCC9261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6BFEE04-B57C-46AE-B9CF-EF20A9965424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5A0A570-09DD-4F9E-87AB-1DC48E1531B2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市场情绪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FAB4C46-CE3B-4A01-B6ED-15441538EA66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指数 / 涨跌家数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BF4793A8-9B8F-4F23-8B06-876B6C566D0C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23FB958-D410-4E70-8C03-6A82D1AC37CA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E5237F1-DC07-4848-B9ED-AEB3040C61BC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竞价意图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612EB08-79F5-407D-93C3-EC5B2D193F90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9:25 抢筹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ABDDD949-0DF5-4E49-9839-A2A187385363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AF86A8B-BE65-4B11-AA59-5F8E47A0E620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5D60877-D968-47CE-9616-4366D310724E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信号总览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2AF6058-0EDE-412E-900A-33F7FF8E5FC9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今日触发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7B26AEAF-08CD-4C5E-8E64-CB6BF4644B59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BD80802-8346-4B4E-A92E-6D8E25CEB93C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D4ECE01-A317-41C4-9D6D-BA04F6CECA77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自选跟踪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B776180-6CBF-42EF-AE95-F4E944F93A67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持仓线索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6796B2FE-4BCB-4882-B5B5-27BC261F17E0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AA576FC-290F-4FBD-B719-E68CA2BE97AD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A02011B-6B04-45ED-9D52-24228CDE7156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运行状态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A9B17802-769C-425A-B658-5C1827AEEEC6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服务 / 数据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42B8228C-F90F-40A3-B67C-20E92CA9F9D9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C1A541DD-A0B3-4190-97BF-9FCA0F740E30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19EE859-7228-42F8-8C86-8980F1160531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AI 智能看板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8434C701-F200-4D42-BA7A-99ADDCD60D18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2768C0A-DAAE-4322-A4EE-B8B414267C2D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9207DC09-3764-4FB1-B349-F06D97E58AC6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市场情绪 · 竞价意图 · 信号总览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9E1FD2E5-3094-496E-95BF-685E093F2B58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915F86B0-963A-48B3-B696-D2EB6B4F3E41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338C0F69-6E93-47DD-A828-5AD50C702073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盘后复盘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A6AB4424-94B7-45BF-BB9E-4040B3B1141F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D8D1B43E-A7C8-4808-BC83-A6086C7B3B3C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DCDCFF39-2C0B-4EA4-8445-C4CF676D9C42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实时刷新 42s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37C8D10-A536-47FB-B581-8B4339B71772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07 · AI 智能看板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5C5FBD7E-F80E-4B48-AF89-4F8BEFB25483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运行状态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A2E9889-0A8C-4726-A5B9-540614B5B3BF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服务 / 数据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4FB401D1-3FAF-4B32-92C3-607DCD7F4644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103D6047-3645-4E35-AE57-AAE44F616695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131D3464-898D-4D17-B83A-2C70B9B4FC83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542BAD97-D85D-4AF3-B5D7-918408057809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智能看板 / 运行状态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8123EDBC-D02D-4CC1-A90F-DD4231A5D7A3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49A8D9F-F02F-47FF-A763-9833F9264042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服务 / 数据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8D4B4190-D81C-4C6C-BBF7-F45550EC60BE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385FB59E-6720-40E6-B53F-F445D83A81C7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涨跌停统计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245FD2A9-4A7E-4ACC-ADE3-66D5931DE51E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7E026410-C3CD-499E-AFAC-658E20EFA35C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B20814C7-DEF4-429F-8785-443FED977120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78F16D66-D2FA-4F95-9881-F3D317DBF569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B1F7818-4C45-4DB7-86B1-270AF026DC3A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D410390A-1429-4EDE-BF75-330A099085BD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运行状态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5F42E9CA-A8E9-4D7C-A296-0E5092691FE3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1053B8DF-D086-4842-BC1E-DB8DDBBC8E45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涨跌停统计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6B03225D-EC35-4BC5-992E-25C36714F958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5077CF1E-526D-4F71-9163-978EADAFB17F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服务健康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463CDB7D-3153-494A-AC96-7A8EE21B77BC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DF6F11CC-948E-4A98-A64D-65DDDAA0E007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我的自选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233B637A-F32C-4454-9EE9-6690955F62C6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9DF14581-D4A7-4671-9C2E-31443BF9DBF8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DDCDEEEE-7130-4C02-A417-5068A790FC7C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E5C26501-8EE4-4DBC-A95D-105ADCE8399C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展示盘口运行状态和后端服务链路，只用于判断数据可用性与系统健康度。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520587F5-558C-4F73-B12F-076994872819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DDCD4E9D-B833-4749-B0B4-6C03DF8D3855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实时盘口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0E5CAB1A-C521-47FE-860A-DFB702E3EC1F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4ABEA683-CA4C-4163-A934-C72BBAB96571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6 板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20AF0026-992A-4298-8F12-716F30CCF1C7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924BE918-EBF8-45DE-B9BB-C223F5F60EFA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炸板 23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FD3B82D2-D9D4-4DD9-BB65-FCAC7F32EFDB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78647A70-1E64-4F59-91C7-53D024BDE558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24003AD7-0A87-4D85-BA76-AF93BDE9F434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6EBE42D9-2E75-4AF4-9FF6-2F748E505131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CFD42970-F2A4-4305-A186-43C4E6723A28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0BE47999-2D04-4A36-823F-80DEDAEA6AF7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CD4C918C-2961-4839-8B74-13446FA40C08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展示盘口运行状态和后端服务链路，只用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305C245D-9E99-4A7E-A2C6-7BEA79E8D5BF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075C8836-7CF6-4163-92E5-7B9931B6C49D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启用缓存候选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5C5355D3-1E12-46A9-9A37-80E84ABDE2CC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EBCC8593-64B5-4C95-9CCF-62A8156BCDBD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实时盘口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CEDB75DC-21B0-4E38-8E0C-EBEAEB7EFC0E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76BAA656-41F5-415D-B8A5-29415466B90A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重新检测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9087B4BB-E452-45A9-9C38-B328D33AD092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3BB4586D-104E-47A9-A352-0C19385AB1B0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6 板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FB0996A5-F824-45E4-8C79-B28C53931B76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3CAD5FBD-888E-43FE-BB30-132768DA3FF1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管理自选 →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A9704151-1288-4CFC-9B16-BE4F3D631F12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74EE2029-0F8F-4223-890F-9BAFF1D600CF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1A2460DB-CBA7-493E-9245-7EF134D0B1B4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1D807B1A-AB38-4818-AAB1-5BE9058EC7D3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启用缓存候选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F0C374FA-D0AE-47A5-8C92-FC54D110EE3B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447E99B6-0FCC-4779-8590-43606B2AE13A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重新检测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F16F4753-85B7-4EB3-9416-BE83A49A4DE1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2169074C-347B-483B-814D-03CFA3BEC2CB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重新检测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FD0A4203-8872-4E18-993A-459766994148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7AEB3FE0-F79A-4F00-ABE0-87E84195EE72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管理自选 →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AEE679EE-1F2C-40BD-9B91-DF14AC4781D8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1F520DDE-7DA8-4313-BBAF-6A48062DD7C0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管理自选 →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E7F8F1CA-EC35-46A2-ADC9-2FCB3DF356F7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208BDE04-A5C4-479A-B1DD-2C485C4F63FF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进入选股 →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3B32085E-A97E-4726-86B0-60EC1EB1A5E1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文件：index.html#service-health</a:t>
            </a:r>
          </a:p>
        </p:txBody>
      </p:sp>
    </p:spTree>
    <p:extLst>
      <p:ext uri="{BB962C8B-B14F-4D97-AF65-F5344CB8AC3E}">
        <p14:creationId xmlns:p14="http://schemas.microsoft.com/office/powerpoint/2010/main" val="815521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C53C846F-2CB8-4A21-BBAA-C17620E250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2A0FF569-8212-40BF-96D0-9DF9FD840F96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4D208A-4934-4022-B9E0-03FC37809636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875285-63C7-4175-BC89-29C1242CA18E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D9D126B-02F5-4CF9-9CD8-67D558ED68A7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6E52806-D57D-43EA-9B33-65CA29689BEC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E511B2F2-4088-4442-B953-06353EF9174D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58C82AB-D0CB-426E-943B-1B7B1358248B}"/>
              </a:ext>
            </a:extLst>
          </p:cNvPr>
          <p:cNvSpPr>
            <a:spLocks noGrp="1"/>
          </p:cNvSpPr>
          <p:nvPr/>
        </p:nvSpPr>
        <p:spPr>
          <a:xfrm>
            <a:off x="133350" y="122872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594E202-A080-4695-A3C5-127F413BE4DA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开盘决策舱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7302668A-72FA-464D-87A0-F17A283378BB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ECA1D61-3EC5-4025-8D4C-3D3F0D8F79C4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0DEBB0EC-03C9-43FA-A2D2-62C057527BB8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15E5D0-FD28-45E0-823C-0DF675AD54C7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5B0B6505-4437-4720-8979-779886326762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7CD3AE-A11F-4604-9B4D-7D804F9F9457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D19CD2A7-1292-407D-AC36-6938A60F506C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A979A11-E3FF-4A1A-AFB5-2090D9A84B75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1FAD07F-CDF4-49C8-88A0-B1CBC0442DF2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BAB624C-8381-49B0-AAFF-DE79C7841836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B219D827-A368-435E-93FC-6C1FEAFA2E43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58E7B26-6EBE-4A08-B5C8-9816CC37F801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35AD5424-A163-4483-A70B-F1476C41C2E7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E709B1C-1B13-4BD0-8A03-C25691FB9C17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C46815-591E-4943-A609-AC8C2DFB10C2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7331C3A7-02A9-41C2-98EE-DFF3E7B34244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EEDAF83-F5F3-4443-B4F4-5B264A479CAC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A46F5784-3980-4C8E-B9D2-5E46BDE5B524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8E3CE49-1A60-48FA-9942-449AAE83DA4E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F8259DDA-F70E-471C-86A1-65941537E760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0FB446F-7AD3-4CD4-9D50-571412904BD7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8D622722-9A9F-4092-A484-65F5783B6A0F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0A933D9-E624-4CEC-ACBE-FDAD9A9A8228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CFB01D7-945D-47C3-BC0F-0649C8BF2FFD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41D29CFE-B455-4CC9-BAA3-98FC89E622FD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EB7CDFC-4616-4751-9179-760CFE6BCFF5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9CCC2507-4729-4AF8-A6D0-D2D4BC6B4749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B6C3DD7-3CC5-4D64-ADE7-D038C6583343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D7A29989-B387-4174-B747-B8E63078D603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1487AA7-1D27-4604-B09C-7C5712C058AF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4200DD80-ACF6-409A-B90F-B88E1913EADB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640011-B67E-4F3B-88B8-BD91970535C0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开盘决策舱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D5D17ED-9D3E-402E-8F5E-BE9CFFE57EDD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892E3FE3-F3F1-4ECC-B3C9-57678AA7B2E1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F13431E-A84B-4144-948C-8ED654BEBBF3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F928FE0D-F69C-4734-A985-440FB789EAF2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A1C9A35-C767-47DF-9803-B6B2F57FE850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F8377F64-B90A-4203-8137-B1361511E0EB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28B1662-D25C-4C43-9F1A-FD500124A10E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0CA7480-0057-4D9F-853E-E80B606AE14A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开盘闸门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FAB32DF-AA90-4B9C-AB23-1BE66048AF9B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交易简报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25E35F2D-FF1B-46FE-8549-3A86617F79A8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2CE4ED4-FFDD-4406-8E43-9BF6A43E1BBB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99BC287-704B-4571-AE69-11354CCA40A3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候选决策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723C0B6-1D81-4C84-8CE4-AC0D8273851A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AI 队列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E1257353-5AE0-4443-AEF2-0F5477C6EF71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59DFC93-2BEB-48AA-8261-A0CB1F42045E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3B5236E-41D6-432B-A4F8-EDB82FF3AA69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K线推演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E9EC19D-EA7D-481E-A131-B32D1F5A6359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30 日路径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09BFCA2B-4720-468F-B88A-4CC286583764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43223EF-6525-401D-8597-B3A541BEE61D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E49EC8A-1B49-4689-807B-A2A87641E45F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风控交易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937588C9-569C-4F3F-BA00-2D908CFFB9B4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半自动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722AB857-A219-49F0-96EE-8EC6ECDEEA17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7F9B184-BBAA-4525-BB03-8606BD55939C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3E353BDA-CFA2-4A25-9D87-2C07C2DE856E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链路审计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75F7013-F425-4359-8AC2-468799710082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6 / 7 在线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89565B1F-5F9E-45AB-901C-BC32AF7150EB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1D85BC1-E66D-498F-BBB8-6E163F04EC6E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4F2A976-1D7E-4F04-BDD7-20E57F74335A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开盘决策舱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7624657B-F2D4-40DB-9444-0B27267DC826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9321221D-F24C-429A-A171-342A40341328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5686492C-3727-41B4-969A-0D5847DBDB93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开盘闸门 · 候选决策 · 风控交易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8AAAD68A-9516-4147-877B-F0B65AE5CCE8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F05CDD8C-68CF-455B-883D-573D298C14F4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4BF19279-D2BF-4DE3-8DDA-96474E78B71B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开盘前复核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E74246C7-3FEB-44AE-B8D1-64F3426DC28F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6F059BCC-8A24-4BF1-B611-4AAF3515333C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792E760-5E59-486E-A700-1B56D43E6835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候选延迟 1 周期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C1B14B8-F3BD-4697-BDBD-F6B05C1A4F3A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08 · 开盘决策舱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1CE843D6-48C5-41D8-A2CE-3A24F08F8BA9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开盘闸门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C10ADCC-1B41-4166-BA6B-F5999BB66642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交易简报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335B11EA-0227-47DB-8478-FB1C6FE95E71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63E82120-7F6C-4B03-B529-3F19C0978352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7ADEC5C8-622F-4584-84B2-1B2FEF54EF46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ADD4D189-7F18-412E-AF28-B330C20F10C5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开盘决策舱 / 开盘闸门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CC0B2898-814A-4A34-9445-2223F10DEB73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2A06602-54E1-4529-9063-D9B7FCC3A067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交易简报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F5D192DD-7CA7-463A-98B1-8A5023296A6F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485CE210-69D0-4C1F-B03A-75617146E40A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37DC2C60-15CC-4910-9C67-8CD0A1D3F08A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C8735AC5-468E-41A1-91DA-EAA50E6D65BD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5DD5471C-7CEF-4FE4-A956-F771CAC17ADE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52EC203-F810-45B7-A421-8F414C6ED1E6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EA66689C-9F0B-4A31-91DE-78E8CE749353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B0E19B50-FCBF-4A31-AC5D-2CFD25BE0585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开盘闸门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E7E23E83-FBDD-4562-83A3-117399A98285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0C89CC50-A365-4986-9723-E4A618ACB8DC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B3D8643A-5C89-4A06-B60F-76FCE87660DE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9D14A152-9BF3-4313-BDBB-A988C4A2B02D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盘前流程闸门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0EE337B3-13D3-446C-8F88-4828BBF3E1B3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865608E0-39E8-48C5-B8B4-1A6901D91384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评分 ≥ 90，可进入交易票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DC23AA61-9BDC-4E1C-AC40-304C7BA9D3CF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FACA1218-BBF4-4155-95D7-11F079BD9ADC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137E6FD7-3F26-427E-A622-24DF73A75EF1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9FE02739-2A70-4D86-822F-1427E0C9BF08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偏强，追高风险上升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549F1198-B15C-4D55-A8B5-D959FF2F2CAE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7182C4C-CB8E-4FFA-AF2B-B09ED4AF938D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12 套策略并行命中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8C67B04C-B8C2-4D32-AAD2-E6141B1CB1C2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C47580F8-3A9E-4241-A52B-F35246AD5D70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评分 ≥ 90，可进入交易票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9DD25687-0AD2-4828-9208-C4E70AEDC8A2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3125D7C6-3E07-4A7F-A4F4-A6C392D13C3F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选股服务延迟 1 周期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81327AD7-0E56-479B-85F3-85A4150B5EC9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D5C84711-17A8-4ECE-95CE-299DB431C1DA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E15A00D7-6082-4399-BD4E-F14C098AD1FE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60F1D23F-B575-4FCA-8BDC-F11ED61D832A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E5C099BA-95D8-4865-AB68-D8DCB678C049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3DBDC4E2-F95C-4010-A67E-01031CB60B96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ABC628C9-8F0C-4043-8BE6-314AFCBF3CB6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偏强，追高风险上升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2E9ACD5B-506A-454B-A53C-986036507C82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4D09CD13-7A40-44B0-8D86-2193338CC52C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刷新行情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9BFB946D-8AC8-47C7-8DF8-FB2866DC30DC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ED8D468B-FB50-45A9-ADED-F570ACFFBF5C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12 套策略并行命中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D85BC7E5-922E-4336-92BF-E31DFE88A3D0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FC37EFA9-048C-4081-AD57-7C9530F1D33D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应急降级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299DD137-4632-4E62-9F98-70CC5411A318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FB068140-AACA-4AE5-8C9C-D6EB9DB91FD7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评分 ≥ 90，可进入交易票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CB714BA3-4311-4287-8D75-123D275EEEEE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D37DB694-F402-461C-8D08-197D76009E53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进入信号中心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E78F1B4C-F78F-45C3-B23E-B01ED0F43F82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B55AA12C-7FDF-43C1-9ED5-FD5FE1E411BD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1DC1951C-EF6F-4503-886E-6CCCA962188C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F3BDA814-D370-4C8D-ACDC-2E58CAD6FC25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刷新行情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A839AEB6-2BB5-4507-950C-5A025339C2A3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F07FA704-3813-4533-A26C-2409F9C6475C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应急降级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84147D74-7101-49DC-AA22-C3DE94D76BF0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F6736BC2-56FB-433F-B5E0-BA9BD234EB6F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应急降级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2AC1A036-409F-4CF5-8000-9682C207CD3C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7C53CE09-0F47-46F6-9742-8F8F11B1EAC4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进入信号中心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7911881F-E691-4DFE-B4CE-A69E00D05A85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3162EE16-EC1A-4525-9689-AFB3FEB4E544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进入信号中心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D388C1F4-6697-403B-8166-9C0456D544F5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4BC6FC96-C829-418B-AF3A-00AE2C1935D5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提交复核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C6AB4924-619E-4411-B90C-5E608ED69CED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文件：suying-ai-workbench-redesign.html#overview</a:t>
            </a:r>
          </a:p>
        </p:txBody>
      </p:sp>
    </p:spTree>
    <p:extLst>
      <p:ext uri="{BB962C8B-B14F-4D97-AF65-F5344CB8AC3E}">
        <p14:creationId xmlns:p14="http://schemas.microsoft.com/office/powerpoint/2010/main" val="1515882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0BC75005-2AB7-4105-A332-228CE0CF61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250E8DD4-B12F-4F9A-941A-05748FAC807D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B65892-0CD6-444F-BEB3-166145220538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7A446C-660F-4449-9F60-3399008D4A35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179A24CE-932E-427F-A313-2BEB55D3A5C6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7F2E88-F0C7-4A20-ACCE-CB5C5DB90461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8EE2EB51-52C6-49A9-B064-916B3D3EE411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90EF3FAB-6BDC-4625-8451-D71FB1CB81CA}"/>
              </a:ext>
            </a:extLst>
          </p:cNvPr>
          <p:cNvSpPr>
            <a:spLocks noGrp="1"/>
          </p:cNvSpPr>
          <p:nvPr/>
        </p:nvSpPr>
        <p:spPr>
          <a:xfrm>
            <a:off x="133350" y="122872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B63929-F1B3-4259-BBAA-AB9821B0B9C4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开盘决策舱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815F6B2C-1F87-4A11-86CC-899B7D1E54FD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2FF326-C6EE-4C16-B210-01191B25D920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7F2A1E38-E944-4E0B-917D-07121FA8B47F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3595829-4930-4817-8CCB-8ECF1D4C234B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049B9E67-67A5-41E4-820A-497D41827E45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BBB4CCD-29B7-427E-81E4-9FCE30B75DBF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526E3197-BABB-4530-871B-65F5DA300025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195EFF-AAE8-4B20-8ADE-455EDAF0C264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5FB5B3F1-E919-4EEE-8278-302AEE6B8027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FF989FC-E9B9-4E1B-8FB8-B3EFAE79510D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1855DB52-1B90-40B4-AA3E-4F5329C00E71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8389C3A-F068-44A8-91AB-80C7A03F0CC5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CCBD1686-0735-4D06-975B-EC64975F925B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DEBD149-C2D5-4187-A231-812A4A6F0273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D3E3EA6-8598-4CE3-A810-CFD5D55E48E6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600455BC-A54B-40DC-86C8-55EA0347D7C2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6E6C1D7-46EE-49FA-BC96-8821DF59E9AF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1CD2A667-DF26-448A-861C-3190D262EC23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656A243-A11E-4486-91A7-1B59831D035F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96271032-8593-4B02-B1EF-BB3C0801338D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F50D2A6-68D5-4CB6-93C3-E07F205A16E6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E1EC14E2-4D0F-4E8F-BC5E-F3B3E52318EF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87D3E7D-1273-4D82-9F1D-C5FF5BD4D6C2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4CC67FC-B693-4FE0-B8A4-953B94A03198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CCCBAE34-04F5-40C9-BCEB-01B3A0EEF42A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8359695-45AC-4285-889E-71A822AD7BC1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52D8ED6C-4F2B-4645-879F-00C607C10C20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4BD5FBD-546C-4D98-8DB1-51E0C1D24326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9EBC0B40-1019-478D-BAD0-61097ABD2C05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6467EE2-F847-49AD-A65A-FE2CA64078BE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B372FB36-1182-4AE3-AD3D-A93CBC334830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369CCA9-A763-49D8-8F65-260210846CDF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开盘决策舱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F361187-4524-4784-A652-7425DED1B94D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3DF4C854-4E1E-40F5-A335-9C7D2E248E64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4B800B4-3EBC-46E3-AF59-033D246906EE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A073F6A7-3B43-4ED5-AE3D-DE75DA2E01C7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C097CD0-EF71-45DB-8162-4ACF9800D3FB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19FA27C1-3518-426D-B16D-D061AAB53B1B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E8870EB-BB85-4C7F-BC03-14E2DEE71479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9232E71-02FF-4A62-A357-F07DD567E5FB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开盘闸门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FCF8FE3-399F-4E16-9F2D-747B60535E4C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交易简报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8044DFE9-8E91-4E56-9303-98F5DDC364FB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0171E9A-2DC3-4751-970E-098C029DC19C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3A9C167-3E25-46B9-B529-6DFD594D994E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候选决策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C9CEC5E-BD4B-4F9A-A635-6ADD9FFD31EF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AI 队列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386677E9-A19C-4101-BE3A-840DEB5411A3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F473B4B-F903-481A-9A2C-DCE44B8AA3BB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8F487B5-2C20-4922-9771-DC8C897D7BD5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K线推演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FE16F56-E5AF-4BBF-AD52-AC1528184BA3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30 日路径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B5C71B6E-8638-4EC9-AB81-7277FB4BD284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5ACECFC-503F-402B-BB12-ED1DA9AC7299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FC13457-2181-4EF2-89A5-27101DC9502F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风控交易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BFE1573-E4EF-4B28-A430-E36A0D384978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半自动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30E486B1-8E7B-4508-A669-4B2CBF875094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24A35B2-7B01-484E-AFE5-65E34A9D2D6C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6853FF6A-EDBE-408F-A048-49C4DF6AD9C4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链路审计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7AAE713A-C02B-4046-A393-33F75EA7B119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6 / 7 在线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7E24C4AF-01F6-4B2C-922F-3935061D9154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AB09A61-5222-4897-8050-66CCA45DFA72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8EF8171-6389-4AE6-A01D-5B31F714B09B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开盘决策舱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2BEA54CA-C10F-4760-8F35-D14E875A5AE3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C4B5FF13-2739-424D-A918-ED8D33C610DA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3011EC93-5F2A-449A-8836-1461B3804DEA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开盘闸门 · 候选决策 · 风控交易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E6B321E9-D619-476C-A030-19631DCC3749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8BEC9840-1DEB-4243-A2A8-7D43137F7301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9715C973-4AA1-46F4-9A37-63DFA251C462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开盘前复核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DE9686E1-FA7B-47C6-9109-FDD035B49737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0DD6BA5F-5955-46D8-BA16-37D51EE16FF5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A554E33-7AF5-4D03-BEA6-292D23668663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候选延迟 1 周期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099DCBEE-0786-4D72-BD2F-2BE4010FF4D4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09 · 开盘决策舱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416173AD-0B8F-4460-A496-3AB777D0AC53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候选决策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F3FB4C3-1C4C-4920-8869-CBB479229FE9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AI 队列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87B91ABB-51C7-401D-BA3F-5E968A9B8DF8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F066B21F-C952-448B-9E32-7CEDF389665C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1A5917AA-C49E-4915-888B-25E2336A0F35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54A40E5E-6C9D-480C-B992-78F31BD23C44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开盘决策舱 / 候选决策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512F5329-84CF-467B-B78F-4A34872AE07A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4129FA6-04CE-48EF-ACAE-EF3B1392B41D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队列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2DF5DCC8-702F-4850-9597-C72CA500956F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E1874E3-79D1-4C35-B6DD-E1241FDE64D7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候选池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C42E3907-63B2-4DC7-8A86-B005158DA781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329C5EC-E569-4321-801B-AC7EECD817FF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57FA33A2-3B5B-4159-8543-99AE7BDA7883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7901D303-D6E0-4856-A499-5ED64331A28E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60A4F81-1DA7-4AB1-9F59-4ADC6AFD5522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8E7FFDAE-BF8C-4FF8-83D1-5313BCCB9955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候选决策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C407CE7B-1C23-42C1-A834-18EEF0BC54A2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15433677-4BB3-4FB0-9211-5AF108F3D75A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候选池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F9A7463F-BC95-4696-AC86-E91F3618D913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D4E4F4B7-05D5-4649-B6AB-7A70B489AB88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87B538AE-3849-4B55-9B4B-F23F469225EC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8D58FF93-9834-48E4-810A-2845EAAE18EB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强启动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8271B889-96D1-4BFE-86DA-BF7C4A4A3C2A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A85944F5-9DD3-406D-A797-5E34FE5BF373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B04FE1C0-56A1-4EE0-AF9A-F4C37B172ECC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BB7467D9-D72C-4051-8070-CF2302959269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4 / 4 · 按综合评分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FE761179-4281-40EE-B4A7-0181731A32FE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E3B78BD9-8905-461D-BF85-560C276A1EB3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7121F217-F5AB-4955-B7B3-39A297F8176E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B8B52B84-3EDA-4E34-B21C-5262F4486409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强启动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CF693783-D58F-4156-85E5-CDEE1EC2307B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B3E1FFB3-7909-4996-A55C-86F4CC26370E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产业链共振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DE5076C0-317A-4376-9EE6-1DFEB3939F2C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CC21B3F1-B898-49DA-9209-46E56FF490A1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C0859D75-9B4B-414F-ADF5-47BFB57A771A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3BA49E0B-CDD9-4613-821C-7E57346C2509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6EC69B6D-B56D-4891-B1FE-B24EAFF5F33F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C484974C-7344-4B43-807C-1E14F0EF6AE4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F6871FBA-8700-4C77-A5D4-23241EB71677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4 / 4 · 按综合评分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91A5C445-B1CE-4803-AC23-06671726E82B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79732017-9A99-4EAB-B7DD-8525A9CE9B8F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全部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2A97F159-7AE6-4977-B817-58A3838109E4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12910D3A-E445-4685-88D2-07FFC1996E3E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全部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8FF11126-038B-4AD7-98EC-A560161EB3C8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46E5DD8A-AF7D-45D3-B3A4-77E1251F0209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强启动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651A4EE6-E24A-4F34-AC7D-F992D9AE998A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A4E8D26F-9547-4A50-93E1-96FAC81B7503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强启动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780C7FBA-DFA1-4DC2-9DE9-8D7890979244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E246F150-52AB-4478-A1FF-5B4F04CE2071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产业链共振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AB3ED563-1E9A-4EE0-A1FF-5CF62C767601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00343BEC-8C59-4DF5-A9A6-6D0E043F0170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0810C621-3990-4CE9-B612-78714C4456FB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3B68D6A2-3FEC-4105-B1FF-541D7A233185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全部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8546A2A9-A867-4603-817B-5196B4AC8C3A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F25B1FC9-CF51-4998-8513-E4095E528950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强启动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6B2A1D6B-E9D4-4574-B4B0-B3047D3FB82E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DB40D474-4146-4D4C-BE04-295BAE51DB65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强启动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61285FF9-2ABF-44E9-B447-C802C11A3AAE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D3003EC3-C2EC-47B8-A2DF-175EFE31F3D3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产业链共振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7A73F3DB-39AE-4C08-8604-09EEF7332D80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FE90318B-EEAB-4445-8D07-BC2F8BABFEBE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产业链共振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C5DD36E8-64FF-41A0-8E39-6701F2E1A563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BF758C2B-478C-4DD2-BDD6-DEC359477C76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清空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105F18C2-9078-4A09-A224-C0814AE23FBD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文件：suying-ai-workbench-redesign.html#candidate-workspace</a:t>
            </a:r>
          </a:p>
        </p:txBody>
      </p:sp>
    </p:spTree>
    <p:extLst>
      <p:ext uri="{BB962C8B-B14F-4D97-AF65-F5344CB8AC3E}">
        <p14:creationId xmlns:p14="http://schemas.microsoft.com/office/powerpoint/2010/main" val="50066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7FABE63B-773B-4131-A09F-1079D77EA0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2BDB432D-6D45-4DBC-BC4F-55E1AAD70321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6EF9C6-A952-41BC-9711-86083EAA3384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34499E-BCF7-4307-B073-94380F070CDB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3FE2B967-60EF-4D1E-BD4F-B95546B41B0F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1C5CB0-EC90-4623-8CB1-55D799B4D4AD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F8AC57F3-7416-4456-9360-FEC058918874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9DD56356-71FF-4109-9F7F-71EE30D0BF5D}"/>
              </a:ext>
            </a:extLst>
          </p:cNvPr>
          <p:cNvSpPr>
            <a:spLocks noGrp="1"/>
          </p:cNvSpPr>
          <p:nvPr/>
        </p:nvSpPr>
        <p:spPr>
          <a:xfrm>
            <a:off x="133350" y="122872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00269A-779E-4AC6-B78C-59111ED16876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开盘决策舱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652B873-AA98-4D91-B0BA-0D4F58CD582D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29D7BC-92FA-40D4-98BC-F4726E95FD1A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716618BE-5104-4082-A16B-E14317679E56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0B0121-6688-41D1-B7DA-660463DE6A6B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224578E1-5F7F-4047-AEC4-306E63A93EA2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6A498A3-C476-4052-89F1-26C8595B59DE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5C413D52-A3B9-4EA0-89F7-3B7CF5C9D4D3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6FAD0A-3772-4DD3-B705-ACC7C64A5B2B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FBEDE0E0-DD6D-4BF0-9BDA-527043733CF9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207E45D-12CD-4C0A-8AFE-6DEBF65998DB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E18A5DC5-5FF3-4216-A533-E2908BC2F6EA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F86ECFA-FC70-4001-A907-B1ABFDBE9FFD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64DAA0DB-9E86-4B06-8B6B-28D2A3E4D6D4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6B4AA18-2101-497C-8F03-94B4B25E189B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C849A8F-BFC2-405E-ADC0-5864A080485F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D041DCE-3ED9-4EB9-A3E0-A1EA8DC7D1D5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65CD594-4B0C-41C6-9182-65A861B180D2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9EB92130-10D7-4D3B-9BB7-CC6CC5E5B449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7D3F9BE-9EB6-48D7-B0DA-5A25BC373704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01A40DD6-73A4-4C12-8F99-E4A2D8F8F8E4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1A2A0E8-FF48-43F2-82A5-89C01BF26BC0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C5DAADC6-65A0-47CC-A081-5C6192F9AD58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6ECE425-31C9-4A79-8B83-8E7719D2401C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7E66082-D81B-43AC-BA53-A452D6E45118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90EC37A5-0014-4BC8-86B4-96AF0E61E83D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2DB0669-D1B8-483B-8EF3-54A71D31DEF7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326C9887-0343-4C33-BC9B-2178E907C290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A804582-55DD-4492-B895-C6A8B265A1CA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14537F0F-C9D1-4E0B-B1DE-3DD32D12702B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B4138D7-DCB3-41F5-8FBA-7F2E85B23242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E0216318-7ACF-4815-B789-550CF8372C3B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FAC9189-D10F-42F2-BBB9-2E869DD91EA2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开盘决策舱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C53E40D-F3E1-4EDC-B374-E64813D5700D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75A4D1DC-A3C7-47F8-BFC8-C6DB25183EF2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70E264F-3599-4C19-BC62-8975C9559D90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A8196637-774F-4B47-8B73-9FF31FC4AE79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BDCD5E0-C9D1-460A-842A-67D4A8500E53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6C105A3D-A5BE-4122-A29B-4AC268527A20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16D70DB-84BE-4EF5-B392-D7EB8ACDA6BE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C3FB37B-642E-44E0-8916-0CFAB364F631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开盘闸门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AF291B5-DDC7-42B0-B284-9044F485F420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交易简报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C5021553-E358-4571-AA0C-82A7EEC0AED2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6498964-5761-4DAF-9FDE-E047619F3B43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C7C6A2C-D7C3-4C41-9AE0-953CFE487D26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候选决策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C03D9ED-9F7E-45AC-8CE4-D29B2275D441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AI 队列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81C7A459-3C87-4794-B582-6DBD4C518F37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12EF66B-E207-4AAC-941B-4D108D37A0C7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40DF623-77E1-42A9-8469-926054868160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K线推演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FEB0C18-4DC2-46F5-AC40-B639E6831BBF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30 日路径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62930DE7-96AE-48CC-8AA9-16F60AE47D79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3569631-973C-4AA7-80AC-73183FA87285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966B90A-AAEE-4B51-BC12-A075151F2694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风控交易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FF044CF-53F8-4035-9EC6-9F6D681D7C20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半自动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4F0A494A-B108-4B6B-93D7-4367ADE6C63E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8DD5F66F-BFCC-425B-A4FE-C36EE726FFA6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FA643796-467F-4A2C-8141-FB35832CDB7F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链路审计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B15F112-1A13-42FE-A5E8-7438CB930734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6 / 7 在线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CF2D7F1F-BD30-46B2-B9C5-7D87B2240EF3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3E2580A-AB56-48A7-B8E2-4CAD4559CAC2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EC2C555C-49EA-4808-A1EA-87126C6D3B9F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开盘决策舱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42DCA4B0-55C7-405B-8DBD-C7B5637B3E7B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685ECC3-EB9C-41AF-BBA2-DFAE9056AABE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105C138B-A446-4A5F-971F-76B34C2D0123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开盘闸门 · 候选决策 · 风控交易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4948CFCD-3DF9-4300-9268-8B308F786B47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021F18DA-2667-4900-87C7-5DACF7BC2D53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34CB2F16-2B61-4DFD-95A6-D2F5FBB9DDB5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开盘前复核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4AACFB30-51D9-43E3-9B26-721D08C94703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1B044A21-A041-452A-B4BB-948482D316C3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26937CFB-5DF5-4F0E-92EE-090112E7137C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候选延迟 1 周期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5455614-AC72-496A-A703-A93193B92FDB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10 · 开盘决策舱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4C46AB4-2498-4988-823F-E5D4EBC11D8D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K线推演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99B0B37-1ACD-4382-8BF4-AB539F054084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30 日路径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3520539F-70E4-4D3F-B436-54AB6027FAC1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B731FA1E-13DA-48A8-8113-626A5E684746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8D4D6681-570C-4162-8B29-7FBFAE294D47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923A8761-F523-4ECC-96C8-BF6ECEE084F0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开盘决策舱 / K线推演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C9819A4D-C375-493B-A68F-379519D972C3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3146BFA4-0017-473D-B91E-31417ACCFB51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30 日路径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34AD7A54-88F5-4218-9CF2-28DD41084A03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2993563B-F773-484A-B5EA-D2047B1EB7F9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中际旭创 · Kronos 30 日预测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9C5B1E84-E46D-4EF5-8DEC-1B9B1C376EB5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9B5F6B13-39AF-47FB-A09E-1B4A073ABDFE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23D1809A-0ABE-4F30-82F2-3235AAD58EA6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80E2CF1F-BA10-49EB-8CB9-9CFEABEA1E18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77A3B5D8-CB47-422E-9357-5C4A541541DE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F2A06421-6640-436F-8B21-DDA360A3FE10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K线推演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9D88C62E-A0C6-4EE1-97BD-467BE29E66EB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FD53B4DD-0F90-4118-AA7E-E892558FABD9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中际旭创 · Kronos 30 日预测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7BA4B3A5-A0A7-4E85-93FD-D8023BC46A66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0ED256CF-FB55-42A8-97BA-7767DC60743F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现价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673F683A-D322-49BF-AA36-73BF13951D27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68D6EA5B-CD4C-4ABE-A939-D9D834988722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id="prediction-panel"&gt; 中际旭创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E2F4E429-5868-462E-927B-718797457244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4FA5232-079F-4236-91EA-A80475CF9C78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790DB7E7-9579-4530-BADF-EAC006960FB4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565D8603-1406-4E52-BF2D-671837C6500C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历史走势 / 情景路径 / 支撑阻力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E5FFE3B4-A4DD-4334-8E4E-F9CB4D1ED1E0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C306D883-ED34-4BF5-82CD-AA47DC196F9C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现价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7A1E71D3-683E-48B8-B44E-F0338AC4E44D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DCBA09ED-A932-44BF-A3E1-C78DAD0FA1DE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id="prediction-panel"&gt; 中际旭创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C5693F6B-626F-4A23-BFA0-E3AEBA1CA55C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95C33D02-C1E9-47CE-B626-056F84A2B9CC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保存预测快照 生成信号草案 打开预测详情 &lt;div class="card"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60F98B42-9C08-4E5C-9D68-A1BE682157E3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B19B8EAB-63EE-4EFC-BDD0-403137BBE937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4B017D58-899D-471B-A3BC-E501AE48459C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EE69E8BC-849A-4AC8-80B8-939DCDCBA8BC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FAFAF696-BFF4-45D6-B82C-73E5FB077BC3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7E6A5C23-D074-4E67-B656-DFB78D546128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91D1EAA0-9820-4154-8F38-2EB80372A4BC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历史走势 / 情景路径 / 支撑阻力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CDE445F9-20CC-4A99-93E1-C5D635B36EB5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176C0CD4-DBAE-441B-BE56-9C9C7CFE0840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保存预测快照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A2C87096-81B8-4ACC-97E8-74ACF8DBFE4B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8340A92C-A585-4CF1-A305-3520BCCBF7A3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现价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5DD3C117-BE8B-4C41-8B45-B0EE5825A7C3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5C696070-9E3A-41D3-A226-554230EBEC11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生成信号草案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A806D083-AC57-4899-8ABE-348DFFE0D036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26CA0784-4B5A-49B5-8D21-27F772A9A2D6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id="prediction-pan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94075E98-81DD-4CA0-AE8E-3BC5F44D5BD9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55FDC482-CE86-42E1-8F44-0F8DF7BF29EB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打开预测详情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F3D8F5BA-7BA7-475D-8973-1AE2609E21EC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3A66A6C7-F692-4BE7-98A8-C3EA3FD791C6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D900FBE9-B4D1-4F2E-8A28-8DEB11F85166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910C5BB9-7F0A-411B-9399-224A73999848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保存预测快照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2C373FED-491C-4D03-8E0B-6FF4D0E09C67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7813C459-86EE-4C4A-887A-3CF3C44CB2FC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生成信号草案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EF2041C4-6893-4C15-8A64-FC878CC5280E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B8375C0E-77D2-43E3-B7D6-DB9BB54C3223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生成信号草案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FB4C0048-51FF-4E48-A8D3-59E64B27E981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2D64D080-603D-4944-9AF6-06B35AEDF63A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打开预测详情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5567B332-BE16-48F7-9DB7-21D32E7BE8FB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C61791D6-E28C-447D-832B-9C88B7F49DDF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打开预测详情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4848C784-C783-4345-9A7D-ABA4E823C98F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C54B2166-F745-4AE5-A6AA-09F089D7E1EF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保存快照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11B219DC-6018-42D9-AF9B-170888DAE39E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文件：suying-ai-workbench-redesign.html#prediction-panel</a:t>
            </a:r>
          </a:p>
        </p:txBody>
      </p:sp>
    </p:spTree>
    <p:extLst>
      <p:ext uri="{BB962C8B-B14F-4D97-AF65-F5344CB8AC3E}">
        <p14:creationId xmlns:p14="http://schemas.microsoft.com/office/powerpoint/2010/main" val="156362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BAC44BDD-F469-4C58-85EE-DCB447921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4D2785CD-0C90-439B-AEAE-C3EFC7238DCA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5E6FF4-9BB1-4FFF-86F7-7475BFD12FFA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FE953D-454D-4689-8FD1-F6E061EE5D30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1F568B4-0D39-4BC4-9356-425E847BBF19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047F43-28C7-4AE2-B0F4-2D80916A64DC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9915AEA-E44F-494A-88AD-88BC11398479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6B35668-3F97-46A7-BD78-E9567B20F67E}"/>
              </a:ext>
            </a:extLst>
          </p:cNvPr>
          <p:cNvSpPr>
            <a:spLocks noGrp="1"/>
          </p:cNvSpPr>
          <p:nvPr/>
        </p:nvSpPr>
        <p:spPr>
          <a:xfrm>
            <a:off x="133350" y="122872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729D59-4B4D-4E73-84D7-A7AE4477F8BE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开盘决策舱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C5475F0-0D4C-41ED-BEAD-2F34512A128B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DF8AFA-47BD-4463-9CE7-C1D565EC569E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31F3C33-001F-4729-9B8C-FDB898D48BAC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4897C2-51D0-4AC4-9EAF-8E69CA7D393F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9C48E0EC-5C3B-4852-8B55-2A2774529118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9D5852-E5CB-40E6-A3D5-EFEC547D5D55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313A95E9-2DE0-4AC2-A2A2-2DD1D7E99855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CF8E090-456D-458B-BAEC-E4C83CDED980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37BF31C0-A45C-493A-88D1-5848F21A5DB3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B202710-4280-4B87-9BD5-2CCDF79FFDAF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E4F4E721-BA08-46D6-A4C7-12D0ED68B202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87FBCFB-075F-411D-8394-4890716156FF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FAE2E83F-2240-4202-BB91-474B0B370C37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B5D7219-AAD0-4DDD-8C37-10186CBF6C1F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5DF01D2-4863-42B0-80E9-1A9F4CD1352A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9A1C6748-A133-428C-8F32-B1E8149467D1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EEF7CEF-4CF4-4DA2-921B-623477FFDF01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6B837582-693B-4B13-812C-CF57ED5F1051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9FFEAF7-D49A-410F-966E-3D66C783F068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CE950A51-2EAA-4D24-9141-8908DD07835E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20A2D3A-8D21-41D6-8233-494EF3A47943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034557B1-422B-4F40-8F99-CFD8A669E81A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4444ED3-DB01-4192-81FA-6E0F352A4468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F940068-B37B-46CB-8686-8F4952BB24BA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A0447D87-1F27-444F-AD34-96AD59D718B3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394DCA4-9B72-43E9-A696-51E0E92CE246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01A3B60E-92D2-4680-B2B7-0BE2AE39D57A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03A5787-6FA5-4019-BB6D-9598226F7293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A3D0EC40-84B0-484C-9745-B330104AEED2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6E71ADF-BADC-4716-881B-BB31D59B53CF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2DFD130A-C7AD-485C-BEFA-35C83F798207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2FDC211-10FB-4032-A4B5-D49B9C4E3CCA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开盘决策舱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8B5D565-2093-4B2B-B9D0-9A5145ECB441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D0E0AAF2-B95A-4EF2-A57B-800919272D54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A030A60-AE73-4C2F-9A88-63160B30FFFD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42AD90FF-592C-4D1E-9698-A44F15216956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6C2A4ED-5104-47AD-BF8C-9A484C6EFC38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4EC43FA7-9A1E-4E43-929F-42D22A5A9F77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8F28B19-7083-487B-A6D9-FB7D24A02426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F1A821E-C3C6-44FA-8F39-CC6F9122E133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开盘闸门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C3E339E-7137-423E-9F81-E247B72D678C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交易简报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2342A81D-8077-4BE3-AEC4-1F806B020787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10CD60C-9223-4426-B19A-02A5751A0247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F8BD1E1-3D47-43F3-B470-1EAAC10F159C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候选决策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181532B-FF8E-4688-A9E8-141ECAA4046E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AI 队列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90AD3B4A-F17B-46D9-9932-CDBB517B191D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AFDBF96-EA55-4FE8-B6A7-9C220B667E78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0A424EC-ACEC-4400-9F71-4EAD4517F81E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K线推演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E38848B-CC48-44A5-AEF3-96A846EB2C91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30 日路径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B37E2463-1333-4468-9C52-DAB85DC2C923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05C3294-3636-4DC4-89E6-0E7B75CF42C3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FC3D086-5FF0-494F-956C-3BE5A81320DE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风控交易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2F31241-2BC5-4975-B0AC-44B3C6F94A76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半自动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5FB8DC13-F84E-47E7-B0C1-1F087331CF3A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B840E600-E351-4122-9D4D-95E034298B50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5B4E060-8050-4AD8-936E-880C2744563B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链路审计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B6E363B-0171-4AF1-836D-69DF0FAD0012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6 / 7 在线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C43101E0-32E2-4878-B2CA-214BFDFDCFEA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0895DA7-37A9-4E86-9EF8-FF2A0F984B5D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8668E99F-3545-4977-B215-1599D089A71E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开盘决策舱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7755E218-7350-4451-9163-D4CC887F45A2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ADF9C60-7C2E-4B99-A33B-09ACA0048C3F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52EDF0DD-8A93-4FFE-B5CF-40C56B29B806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开盘闸门 · 候选决策 · 风控交易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FBAAD054-63B8-4BC6-B35F-A56104A6EC4E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7DB53618-8BE4-4E62-9335-D987149C1ECF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2DF9151B-049C-4A64-AA7D-A8340D574B9D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开盘前复核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106B648E-D022-465C-A835-D26717E61255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7A4C9A0C-1365-4C67-AD45-D9823758961A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E4C95BD-1B36-432B-A1B8-B1DFA591DB67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候选延迟 1 周期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0F2EC66B-BD41-4F62-A9AA-77D9865A03A6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11 · 开盘决策舱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F008909A-DE4D-484B-8AF1-52BDC6635B49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风控交易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C836ECD-CCD1-4936-B223-907ED512DC11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半自动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6A631BD2-457D-4CC3-8A66-7781FA924986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7C058838-487C-46B6-AF0A-E46DD1EDB222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2AFD3023-07B0-4597-9BC8-3345E383BA7F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A2C671A1-BE17-4661-BFEC-F6B2F77110C6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开盘决策舱 / 风控交易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78AD41A8-85E0-4899-BB59-AE3B44922353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7B45BE73-180E-434C-A10B-067AF49A4150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半自动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AEF9C300-00D9-425B-984A-E1C1300D7DF9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024F7962-87BC-4197-B6CE-FB130448E80E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风控交易票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1AAA8C00-67D0-462C-A646-2A5A2034640D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034E01FE-AB0A-4171-B894-8190EEEEE262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C0A334FC-B813-4922-947A-5326A44CB06A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4C5ACF0B-A97C-4953-9448-3BB189C10CD4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CCD33912-4709-4906-B585-F76B5D1104FF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8773171B-E8F2-4F26-82F9-E99E782A66C6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风控交易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5C456699-47D9-4FAC-AFD7-A61EF3AD5E97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410AC714-1C2F-4E79-A131-69A24F06AFD9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风控交易票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573C7BD9-E0CD-48D0-833D-9EB0EA2D41B5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4C59559A-EDF6-4513-B2E6-F55B3C01DB49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中际旭创 · Kronos 30 日预测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AF53C21E-D157-44B4-950D-FA6D3BC34D2E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7661C579-1D3C-4DE6-93B1-80CF92CE046E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历史走势 / 情景路径 / 支撑阻力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D1E440E1-559E-478E-8BEB-739A7FC87900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7FF54807-C306-46AA-B198-28D0349405E2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0A8CD2F3-854A-4A72-8A7F-9DDACDBED822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3C50A46F-68EC-46FE-A8E9-791F1150201A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半自动确认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5F0C7CAE-E99E-46E4-BDD7-0FCC18332D7F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99777DCB-BAD0-4291-9CB5-4C1D3EEFAD26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交易票状态： 可提交人工复核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27069343-5E39-4AB8-B94F-F5DEA6345AEA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35CDFE10-275E-45B3-A4CE-387F9F628A65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历史走势 / 情景路径 / 支撑阻力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395CDA81-E41A-47D9-BB93-4107A9AF9458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2A596826-E051-4CF5-864C-E06E8A0761D7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现价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7A987F40-304F-474D-B483-ED629BB484A7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AA42AC3B-405D-432D-B7FB-1F2768980B65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85539C10-0F7E-4888-8EF6-A59C95F183B1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87746CDD-3209-408D-AB0D-D057466D4C02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0937BE92-314E-4DAD-A0A3-38A88E25BB27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BBA8DBB2-4FC9-45B1-853D-370F32CC32FB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AE687D9D-AF89-45C5-A99A-AC8B395D5AB3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半自动确认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32EDE265-45B9-43DD-987C-84A97DB54B4B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2D8A54D8-B874-4040-B01B-411957467E98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提交复核单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CFA7BA5A-9F1F-4962-B627-489B7CB379A3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0AB51C7F-CF5D-4DBA-AA16-D3F186E274B9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交易票状态： 可提交人工复核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9EE9CCBA-BD5A-4759-8815-ECCACA682EDB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FB9D1426-D087-47A1-ADEB-0259277A6A73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复制交易计划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8D9BAB6E-D970-4C34-AF4A-7AB002976D60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4921C4A7-F959-4028-B312-D98394536613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历史走势 / 情景路径 / 支撑阻力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920D7E87-B780-4A1C-A50C-F0B802CAD18A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A353568E-A2D7-4728-A7F2-E078375A9430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加入观察池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3577103E-A099-4074-838A-27C7A36D5ACE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7A813119-8097-4E5D-B652-EB71A1599FFE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CBFC9704-85DF-4BC9-B6C4-E41AC73A5475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295971F4-FD47-4067-A6E2-8A10662923C1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提交复核单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39B1EBFB-B86E-4C14-801F-D4E285251D38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CBA764CE-6208-4B6B-AB48-33D715725033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复制交易计划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01874136-BBDD-46FE-A8C4-F9EB898A9324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29AAC4E1-8263-4159-9814-10C0AF7923DE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复制交易计划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573AF6B8-BF37-4E71-A127-301AFABC0326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2B278F8E-4722-4A34-89FB-00C3F54CAC2B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加入观察池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D7E1AD27-0766-4752-ABFF-165C7AA31784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0F71043E-3C7A-4418-88C7-B5AFB9F51E64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加入观察池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3623305C-C418-4F33-857F-B906E7F37AAA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A553388D-3874-4A57-9562-BFE288F26881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只保存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18323F91-6D8C-4EAA-853A-3BB1F5F7AFDF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文件：suying-ai-workbench-redesign.html#trade-ticket</a:t>
            </a:r>
          </a:p>
        </p:txBody>
      </p:sp>
    </p:spTree>
    <p:extLst>
      <p:ext uri="{BB962C8B-B14F-4D97-AF65-F5344CB8AC3E}">
        <p14:creationId xmlns:p14="http://schemas.microsoft.com/office/powerpoint/2010/main" val="862534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F81B88D5-75F5-4E28-AE1D-A049606369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88B07A65-0764-480B-B583-0DD2946B6ED5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3415D-CA35-4248-85FD-9AA7B779118B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734E15-DF8F-422F-A9B4-D1159A0F3951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3224C45-4FF9-4A40-8B94-C93234DC39EF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035D03-1599-4BA1-AEBF-F6FC003245F4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DE31D7E-370A-4E78-922A-4CA8870340B6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51031ED-0C8E-4D60-9CF4-84CC33161E87}"/>
              </a:ext>
            </a:extLst>
          </p:cNvPr>
          <p:cNvSpPr>
            <a:spLocks noGrp="1"/>
          </p:cNvSpPr>
          <p:nvPr/>
        </p:nvSpPr>
        <p:spPr>
          <a:xfrm>
            <a:off x="133350" y="122872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DCFE70-9B0A-4AAE-8CC6-EFB17FCF3A0F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开盘决策舱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CA753E73-8DC4-48BA-A659-F46FDDEFEA6D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E102E2-71FE-4721-9235-72A5B943A314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34A3ECE4-3905-456C-BDF3-8F58A9B5AF69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4C2E7F6-8F2F-47D7-BD0B-09171E25A617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FEF02428-E7A2-4F9E-B3ED-8E76E3AFE45C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8AB324-1E03-4501-B1DB-9002222DFBF2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88308C44-8490-4D0A-AD2A-8AD2D3612EAE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FCF2F1A-1D30-4F9C-AF04-F76731DD456B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381657F0-9A5F-4E4E-A43C-ACFEBE81544F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1046100-F7C7-46A8-803F-E40A5174CA42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D59A3DF2-FBE4-4CD1-9453-173A29952F07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DEE371-4470-490D-BC4E-55B9B4BF6E6F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F118C773-CE8B-41C6-BAC5-49F721062A04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FA91069-7AD9-44CC-ADCC-173B4993B120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A38FE7-35FC-4EEC-A922-5E6F4BA53066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0FAAAF38-45DE-42E2-9835-2B0D5906E0FB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5718D5C-2BF0-4268-9A67-88C922D0C6E5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3DCC4348-098B-4DB9-B50E-AE280F55877F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5FCCDA3-122F-4B33-A2DB-28C2A270696A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0340BC63-54CE-40F5-89FA-CA7348070423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8006A1C-678E-4A6A-8EFF-62487D880830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6CF2BB06-0494-417D-B9D0-C7DBFA4998A2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04504EA-3606-45A8-9A92-FB6AF2BB7584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3B7056C-A0E1-44D2-9754-5DFFB1367511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52408758-B041-4F9A-BD7F-799191E3240C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03298A7-E409-4C6D-88E1-9114670CF2DE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AF0E1DA5-0638-4481-80BC-6AEFB4CAAA59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B1EE191-10E1-4684-847C-BD6BFD2793CC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0BFE3F52-9AC5-4F50-A813-F442244B16B1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33364B1-D8D6-46C4-90C7-1AA6F13399CB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8AB1662F-2017-4C2A-A5ED-69A363D7366E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B24D578-A47C-4E37-A962-800333A9987C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开盘决策舱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B7D8729-2646-4EBF-BDD4-EA764A95C6D1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A0858BCB-F90E-4F4B-B5EB-DC7E28D7E06C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6D64941-0623-4D58-A7F6-73F90E5FD5C1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5252CFCB-B839-419B-8C0F-AFE20C9BB9E5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BEC7DBE-4108-47F2-85A4-889C3931C39E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8FE965DD-58EE-4E25-BBB1-A79BC92DA7FF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C60BD1A-22BB-4B4D-A43D-9DBFBFCFFE46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9EA0AE9-6EE6-489C-9A6A-1A12F46F698A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开盘闸门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7A29024-D0F3-425C-9F85-22450B9C3A41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交易简报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89E69D49-1B59-49AF-859A-D9C520844BE0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F84292D-9D2E-47B4-8DE5-CB35F160C86A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481A48C-FFD2-4036-A33B-13F906D1BB18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候选决策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8EDD856-7228-4F56-8065-442C71C7BE99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AI 队列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FB2090B8-BB8D-4F25-A6AF-73756CC7963C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0BE18D9-E787-4571-B479-C536D57936BC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3BA542A-E00C-4A73-8AD8-82C078C05164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K线推演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8EDBF49-EE12-4432-914E-F5758DD020B1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30 日路径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B829E4AD-3B4F-41B5-A241-4A3A3231236A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59B1C7A-2B94-43F4-939B-ABB5660D92FF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94BB5A0B-3EB8-4527-9466-06A1E5A21475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风控交易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3A3BF1F-D8F2-43D2-8C52-D37745C7FAEB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半自动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A51A6817-F179-415E-956B-8691F404EFF6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F4542A8-FEE7-4087-BF3A-60CF94CD8844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4F5D3D4-4DDF-44D1-8A77-235657E41069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链路审计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E57A44C-C24B-44EF-AF15-9ECE74BA36FB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6 / 7 在线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1C81A205-B5E3-4772-A9A5-C0A0F6C92B16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996DED4-56AF-456E-8799-37F79366BC91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8714EFD-7193-4914-B305-AD7F0F37E140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开盘决策舱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049E405E-68D4-462E-BF66-CD2713C116EB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19575AC-8773-448B-8CB4-866455A871CC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D93B1FA7-045A-40E2-B6A3-5B254D8FE1E3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开盘闸门 · 候选决策 · 风控交易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D569FB2A-5E70-451D-ACFC-CC2E08E9F693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0B152745-8EAF-4AA1-BE70-3DEDB3D7CA49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FF10993-5016-4781-8A32-2A14B3E7BD15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开盘前复核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1A9A8A2A-31A0-4077-A914-D21404768051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211AF5E-E619-4771-86FA-F88D8C6940E0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22BF71A0-AA7D-4E2B-9889-CBBB1341BC1D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候选延迟 1 周期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D7E8FEC-01B4-4C5F-A264-4CFF56DC341C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12 · 开盘决策舱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CB4F4854-0D1C-4BC4-AB72-56C1112433BB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链路审计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4D336E4-A2AB-4498-A6A2-CB6EAF63FF12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6 / 7 在线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1F5BA6C8-03AC-436A-8A64-201925AB5F12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65DE3D07-1AA2-414E-99AD-373C9AB338DF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EE43DBF1-9B34-4B1C-93A6-721475C59427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2FA7CD66-3791-4F22-82DC-70B5FCE1F0FE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开盘决策舱 / 链路审计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6AC310BE-E80C-4959-862F-296B3AF6DD1E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2E6B9FB-F1C5-468F-B09A-9F810C13BE1A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6 / 7 在线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0C96D804-9298-4C51-811F-41F7A13039B5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D0BCAB43-A469-4CFF-B3AB-54FB21E96569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服务与审计状态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3C670FB2-7F31-43CC-AF09-EE6B0601392F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070C0881-ED77-4E00-8037-AA76F1763475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84322D50-C4D6-498F-BA5F-3178D5900851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B8A964A4-B296-48DC-829E-21631859AF93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FB86F79-0778-41F8-8221-8589DFC94BB1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9973CDFE-7351-4968-B7E5-F1013F0EE79B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链路审计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54E5256B-A3EB-4A1A-A196-A192BB916CAC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3C0D275D-9574-43D8-81F9-9434FF2B96E8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服务与审计状态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B1277FC6-16CD-4922-AB90-EA48EE88AC1C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1734CB1F-2231-47DA-A52B-88ED2DE7C4D8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118ms 候选池延迟 1 周期 K线预测服务 :8002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FAED28BB-6C96-4667-86C0-E98D5807E103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41B03627-660A-422D-B77F-707382D101BB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31ms Kronos checkpoint 在线 交易网关 :8006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F2B9FA70-EF9C-4D86-A6EC-41E39B3F0556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EF3AE157-5F2F-4B5F-90EA-B9011CDBDECA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50674D9E-6F35-4FB4-A306-5DEDF89F7A10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A5845F26-FCB7-4CA2-A5BB-C81D9EBFA82A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交易前链路检查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14E0A774-F0F6-4015-AB99-8DB3B20327FF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8D3DEE9-C0EE-4D07-A749-5F39B8E31D2D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118ms 候选池延迟 1 周期 K线预测服务 :8002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43BB18D3-F4FD-4A90-9012-7462EC078C29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B1D50DF1-6179-48A8-A028-02C7A100673B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31ms Kronos checkpoint 在线 交易网关 :8006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F577EB31-20EB-4A36-AAC3-1D917E58F160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CE43C5B9-1509-48B0-A69C-B2854D162386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21ms 半自动委托通道在线 信号服务 :8004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EB3AE728-5B24-4284-9F22-A75BB9205608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02FDAF83-96EF-48E4-B903-5139161D7254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D4146717-7F48-4AA2-91E0-7A7F2FB318A9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F491D72D-426A-4205-BFA8-2B38AF1DA0E5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521B35AD-5EF7-4258-8C50-7A8A330B5A01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CAF6F3B5-EF38-4073-8605-B6512070F65C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07B34456-76C4-4F93-8671-6C3BF0855D7C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交易前链路检查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9534D22C-3F66-47E9-AAE4-D694039C324D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A2127C05-8848-4C46-8F0F-242BDF015172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导出审计记录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3BF824FE-9093-4CA1-B196-5FBF62081364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F0EB3D90-87A0-482D-87AE-4E8C75203F26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118ms 候选池延迟 1 周期 K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C88E44B9-977B-4648-A94A-B2E57503F0B6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2A00305B-81B0-4786-AF11-77573451A3B0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重新检测链路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35E83CEB-2FEF-43C7-8B23-136EA9FF562A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870772A7-9F40-4859-8039-DCD0BE78CC89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31ms Kronos checkp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F2CE4C7D-3E00-4BAA-A136-4071088CECEE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2514F857-6A15-40F7-BD25-41F08931BA18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提交复核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D8CF3D9E-F76B-4DBA-A3DF-C8D0F12D7473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DCAB7C8C-9F31-42C3-80F0-F04952FABC4D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F33D6644-B699-4977-8F5D-A1B95B6744BD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DFB431ED-AB2E-46FD-AF64-3AD5AD520895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导出审计记录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75364EA2-B003-44E5-AFC1-1D0D5F71DFF9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609B828E-D7D0-4CA9-9004-2B07442CA8AA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重新检测链路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A641BB5F-A280-4798-8BCE-CB3495CA0B3E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4C1C2DF1-2C99-4455-B615-99D4F4C06353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重新检测链路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78B36C47-1420-4F86-A06D-4A3F31E770B8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50DF4588-0C44-4F41-A55B-50970B916B2E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B6D0BEA2-720C-4506-ADE8-5099D481F4FB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25F5E685-3363-413E-A90C-3F30EEEB5164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147CB4CC-362C-4086-93F1-CDB7C10C8B41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043B72F2-126C-4551-AA2E-732506468524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导出证据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6A6E16D3-6737-4CD0-8BB8-29B116BB9A0E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文件：suying-ai-workbench-redesign.html#service-health</a:t>
            </a:r>
          </a:p>
        </p:txBody>
      </p:sp>
    </p:spTree>
    <p:extLst>
      <p:ext uri="{BB962C8B-B14F-4D97-AF65-F5344CB8AC3E}">
        <p14:creationId xmlns:p14="http://schemas.microsoft.com/office/powerpoint/2010/main" val="896795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0A98B2BE-C8BC-4222-AEE8-1593F7E118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7642ECC8-71C7-40E4-8E69-9B461B053709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2A85AB-789F-4F31-A04B-45FAC10623D1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C5F48F-A01A-4D02-AA7E-BAD9FF2912AC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27B4CBB8-63A5-4205-985F-64FAF6C6F4AE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87D4C7-89EE-4AF5-BE82-CB9B719447AC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A3F12F11-510A-4C53-A61B-EB9DE31E1829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0ED1CC-D5DB-4DC9-869B-E7AC622D26E9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87730B2-69C5-4F84-A5E0-F4CB3FC759B2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7035BC46-4761-44A3-8F7B-6B882CFD3BE3}"/>
              </a:ext>
            </a:extLst>
          </p:cNvPr>
          <p:cNvSpPr>
            <a:spLocks noGrp="1"/>
          </p:cNvSpPr>
          <p:nvPr/>
        </p:nvSpPr>
        <p:spPr>
          <a:xfrm>
            <a:off x="133350" y="152400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232F638-AFFA-42B5-B1F1-654AEE633256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智能选股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B60AFA2-6EC0-44EB-A909-4751D7612C03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F7FA37-7FEE-402A-8392-B0107C7AE377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F0CD9A55-F8F6-4995-B98A-8C73DC862CEE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10F0F8-A630-4713-B78C-2F72DA7E140D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5FEC0675-5FF6-494C-B075-4A80D3174C13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48C489B-C009-45F6-80A8-3885DD7D1CB1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C18A622D-41E4-4208-AAD8-3D9457A4D830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85FC6FE-2575-4C91-9481-9CF5443E8BFD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FE8567BD-6081-4A18-9189-5AF04E2CDC58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CAC745-DCD6-479F-B853-3D4BAEF1F159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F530DAE8-530C-4FB8-9C32-B5A0ED7BAE2F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F650FBE-AF84-49D1-BC97-D0BB9370069F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4FDDCF2-BEB4-4229-9067-97D31C7E1473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824E4773-C1A2-4674-9A09-673E5A8DF997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B4E355D-033A-4CE0-960B-10ADC32C9117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29A04D97-D53B-432D-9DB0-C9C05D0B0C6C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83A2085-DADD-4C27-8A69-81F3E0B49C46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C73FFB25-9BA3-45DA-A3DE-420A94F75046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76D7F6F-F0FE-4FE9-AFB9-016BBFE0EF8C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7BAFA704-57A6-49CD-AF29-35DC075CABBD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0E41CE7-853D-4434-9754-4B529D221646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1356495-B41A-4AE8-B816-54FAAAF446EA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14B5AF76-8781-4D35-8A9B-9C13C9F20713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4FB7113-0BF0-4CB8-96A8-E9BB75FABD59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20296A72-62A0-4D03-A2F8-063B77EE9015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095BA4F-E670-4E73-B7F5-D570705F3E96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F1755821-ACB5-4F15-821D-0D28B72C8AD7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794075-8DA7-4260-8EDD-E2BDAA6E339E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F56F0718-0E22-49DC-AE12-19B8300DB939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9551BBB-30D1-4327-BC85-A121A6585CA3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智能选股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BCF60E2-C694-4D4A-8397-7C56E0057570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91D0A8BA-E165-4F2D-8A97-D0C243A9DE4F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0CB985E-C075-4009-A070-DF1F0C780B5A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62ECED33-34AC-41E7-A712-1A618675970E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A8F4E85-A950-4B6B-9F6E-AA2E6256F633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3893C371-6EDF-4E53-8E47-10F1E1B37C76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A919A38-4064-460B-978B-2B1DE38519A1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0955F2C-35AB-46F1-BFE5-CC4B7A374439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策略入口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F5BD27D-107D-43C9-BC5B-E37C00631F0A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12 套策略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BC768FC5-1E91-4968-BCB0-304B6ACC92A7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BE20132-87A1-4E97-9582-6478ADFDCE0A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4CAC440-1C54-491E-B937-EEAFA0904F72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因子筛选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DC9EAA8-C37D-40D1-8102-D3569406A1D1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过滤 / 排序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E2CB0BFA-7CBC-4D29-9F6C-1D65B35037EF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33A8939-C6C9-4067-8111-362A21A87EB0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CFC075D-DDFB-4510-AF83-D04BA5CD968C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候选清单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C742462-88D9-4058-A60E-58972DFD3B4A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评分排序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E704E8D7-82EA-48EC-A98C-4AD81CDF1801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E88637E-18C7-469E-9285-531345EA92D5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FAC9AA1-288E-4BC5-980E-16AF722EFD89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批量动作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B24665E-584A-4D3F-8485-ED2CB1AF1D87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自选 / 下单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FDD1A2A2-8672-4B13-9B91-277BA41DBD3F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86BB961-B854-45EE-B72E-3E02C222468F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FC8B53BA-EB4A-40C1-8E42-231BEC7DB49C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诊断联动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2A20E5BE-1A1A-458F-A5CC-878FCFC14077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批量送诊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8D50575B-EE1E-44F8-8BC3-E1A1F92AC4A6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0873F1FD-CE5A-47E8-8F92-246DA68C1D19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FCE21616-5039-4C24-852A-C1D99C06885C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智能选股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21C1D9F7-C5DD-48D6-92E3-6AAD539A9303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F8A6BFA-CB30-4BCC-BEC0-310696245CBA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79362B57-BEA0-4D26-91D6-57409AB49150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策略入口 · 因子筛选 · 候选清单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94FCC1F4-8172-4018-A0E8-2FB400BD0F30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8E304E10-C35C-48CC-9B1D-854EB80C3610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1C401678-8829-4804-B80F-D1352071F147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42 只候选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48CB5FB3-AE3F-4FD8-9AA3-E548EB068600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C8AC58B2-648E-4724-B09A-6DA5BFDE62ED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56172782-417F-4CE0-9F74-20109406D39C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选股服务延迟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3B091D7F-0139-462D-83C2-E807324D03ED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13 · 智能选股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BA92CB8F-6343-46EE-9782-C4496EAAF64A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策略入口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4355F7AC-3AE3-4279-9189-DB570125DF91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12 套策略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044192CE-393D-4B79-8467-AE89265A93EB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44C6EBC0-9566-48E6-8832-B4C9CB354B8A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299F2D06-9835-4121-9A7B-C6C921782BE6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7DAF1CA-E09D-4115-833C-6F991EAF545D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智能选股 / 策略入口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8E4C44C5-431E-4426-8A5A-0C8666CC9BDA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68F7FD23-B74F-43B9-BF86-CFD33F48A6DA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12 套策略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41E7779D-2E84-41B3-8746-3F9FD18810C3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EB45E0D5-C207-4C13-8E06-C8F2A8AB630F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id="factor-modes"&gt; 短线打板 日线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EDA268CA-3E0E-4647-BB61-603C8DDFE784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9343968A-B066-4F2F-8937-BAC7786E3113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B61125FA-26A8-4553-84EA-3E1F4DD90D83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F06AB882-C8DF-4B53-80FB-E5862AD6DB3D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62142857-2393-42B2-A763-6E46AE947633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1D226B43-0850-4F1D-A864-BD4F80832D86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策略入口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657339FD-E75B-4508-90D9-8E78D5E4022A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B0266047-3732-4AEF-AFA7-640F12A337DA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id="factor-modes"&gt; 短线打板 日线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8E268923-3F86-4AC4-8010-179AB2F011A9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169F606B-9C0B-4A82-87DD-C88B19E6D2AD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激进 激进 18 命中候选 趋势波段 日线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237B5428-F485-463F-8548-7D0965D82AD7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EA1033EF-FDC5-458A-A35B-C3E57F348B87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稳健 稳健 11 命中候选 低吸潜伏 周线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ACBA8B40-C530-4D1C-A32E-62CCC7206656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CC327AB1-026E-496B-829F-3C356F83C120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9198DDB6-B5BA-49BB-96AD-BFC6DA5458E9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C37C3E26-17E9-4A3B-8FBA-141135069258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日线 · 激进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2B63101F-2B1B-4F5D-AC5E-9D8E1DE7073C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3EA00A17-DEF5-45BC-942A-2AB8F1D2D9D4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激进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03487856-F604-450E-9295-1AD848291867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236AD709-A9E6-4FFD-A9BF-11BC16E156F9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命中候选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F676EEBC-C18F-45BD-8344-8940AE1E3C96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6AE8B0FF-FD6F-457B-909D-2D95F6B2D468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日线 · 稳健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8BCF7A8E-2165-4035-A3A5-CB5B9D2BFB19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8B2CE330-3747-432C-B05D-1A2010E2DAC9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22EFC350-B4B8-4A0F-9277-714B5654F0B8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58E1F2EE-64D2-4711-88E6-4D440D229459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D4683825-7B9A-42F0-B301-DB20E1EFAF9A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70685272-16FF-4754-BD64-19AD09F0A39D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237FBFE1-1EE2-4842-8450-F4C25B0F54DC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日线 · 激进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1D023F40-A4D2-4035-A47E-E48FFE562F08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4418092F-902D-4B3B-84BB-749E6ED5207E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54670898-289D-4A3B-8C97-FBF23DD5B1FD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B756C87E-6582-4104-A2D9-26B4314C8F15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激进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3A301A04-EE7C-4B8E-9151-B92D3298EE93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02733AEC-4CD0-42A4-9DB2-20F7CA547003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导出数据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616716B8-11F2-4017-9BA0-F8FA2074EA42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67335F96-953F-4B59-B509-A5C5A799EC1C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命中候选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A052FC18-869D-4E72-8589-F55A24A3761E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9F8D219F-7093-455A-99B3-56FC9E1CE8CC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刷新状态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FF710603-88F4-405B-925C-870069FAB248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DE90D080-268E-4898-9BFA-609AD2D6EA7B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98E1B07C-8337-4734-8C9F-D2B25AED4807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A7542183-4B26-4026-81F2-A4F5DB45F1D9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保存快照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573C997A-C72E-4A23-B012-A01AA9CB6696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1F495BEF-739C-426D-AB9E-ED03C1E91A95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9DC27172-7CE6-45F8-9CD5-8817CEAD9265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BFBC3142-B792-4BC6-9514-5EA5CC2B8FD1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CC0C7C76-44F5-4F6A-BB28-DD5BF1619EC6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F93B3065-9AC8-4290-B2CE-31943E04FC08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刷新状态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BCC1CF30-B632-46BB-8BC1-DEDD021ABC41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952C93A7-173E-4411-A1FD-DB2BCD5F4913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刷新状态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4F10BC5B-1D50-42DC-B1E1-58931947B27A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74F4A2F5-8F5C-43B5-A242-28345141AA94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写入审计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D133D6D9-9378-44FC-91B5-EAF4C968A15C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文件：screener.html#factor-modes</a:t>
            </a:r>
          </a:p>
        </p:txBody>
      </p:sp>
    </p:spTree>
    <p:extLst>
      <p:ext uri="{BB962C8B-B14F-4D97-AF65-F5344CB8AC3E}">
        <p14:creationId xmlns:p14="http://schemas.microsoft.com/office/powerpoint/2010/main" val="519219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08D2472D-7EBD-47C6-8F08-4AE2F81E82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59025C15-ADE5-4EFF-8C5E-F18C1468928B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F0455D-4155-4FE2-A1E4-49A8F0A28DC3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EEA7F2-F71D-4B1E-A4B2-93B0CB779FEA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F4031A5-4CED-4F02-A018-1EEE1FBABDB4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C4F669-3BB0-43F4-A1EC-F42315E13459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4892E754-D577-45C6-8425-9A6F5EE9DFDF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AB8B38-432A-44B4-AF44-0CE82B46A0F8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44E0C2E-660E-4669-861C-5D3C3C0F8A04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7D7C0814-00E0-4115-A047-6E6A79F4B965}"/>
              </a:ext>
            </a:extLst>
          </p:cNvPr>
          <p:cNvSpPr>
            <a:spLocks noGrp="1"/>
          </p:cNvSpPr>
          <p:nvPr/>
        </p:nvSpPr>
        <p:spPr>
          <a:xfrm>
            <a:off x="133350" y="152400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36DFF4-F58A-469D-A12A-86E799BCE3B1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智能选股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DABDD66B-BC00-46AE-A4A0-1852C0E98A26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04AA74B-08BD-4FEB-B73B-FEA56E5C501E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4C05E3A0-5E52-495F-9256-8B1AF4D544AD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3639994-19FB-4765-999C-DA775846B2AE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43347C45-6D95-407E-8FF9-A3E48AF305C4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5CCC0BC-4370-4409-9F96-89FD6D7F4938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7A6F686C-0A5F-411E-B4D9-498DE2604E14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CB7C352-310C-48C3-83E1-9D228AB523AE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EC3EE30A-C664-4468-8F42-CF773BA78CDE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6873442-78AB-4DB3-BB6D-A2AD26B60123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0FC7C06C-362A-4E1A-BF68-C8EBA0253012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588F51-475A-4F70-96AF-6EB8E2E0819C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324CBA5-25D2-4173-BB62-9F09D33A50D3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1F939CF-82D3-40C9-84C1-43D3A473209F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399B9B4-7785-4822-99C5-34472C5D29E5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7F2B91A2-1CED-40A7-BF96-9D033F4650F1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FBB30FA-A3BA-4405-B228-227D268E31B8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E974E039-49C8-4E44-8B2B-4107E663E133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2A8216F-39B9-4B57-AE68-AEB011F139D2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2A051514-8A89-45FE-8AC3-5D56F79F596F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67AAA29-E0FD-47C9-84CC-E14674CDEB44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F420594-0964-4D10-8541-EF681A795B60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EE85BD27-6158-4DC1-B050-1CE95BE769E2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7F2140C-E6F0-47E7-A8FF-5D63FBD13BCD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CF595CD4-CD48-4176-948B-8284A468F3D4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7A5DC29-F3AE-4682-8FBF-5E083073EAB1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EBF0669D-0002-4EBF-A8B5-5CA7C4F172D2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3BE2B93-86DA-45F7-968E-0EFC1FCEC322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1067359C-3194-4EC1-ABD6-68BCD2D51624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9C4DD2C-A9F9-441F-B154-17FF974F40BC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智能选股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6013FDA-D7B6-42C4-9386-ED2778F50B16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ECC78E5C-CD22-4F86-BD96-155062B84731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98DBD82-0F62-425C-AB6A-FB2DB8DADB8B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2C0C62BE-AB85-4C4B-898F-9A04B0A91173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05C047A-A12F-4F93-8C60-D4E63920D4F5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1A9C876B-B104-4018-9166-157DB3B85A81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83F7229-6B49-4C7B-AFBD-61C336960F02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62A42D0-0015-455E-A1D3-B440000AB504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策略入口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CC6FADE-5869-4277-94D7-3715297CF31E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12 套策略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6B2BF074-82DC-4445-8298-CFC0E769A22E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6921807-651F-4E6C-8088-EC99472968D7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458644E-542B-4A75-A4A5-7F8ADD6086D9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因子筛选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600043F-B8C8-46A7-BDD4-FE7FC7CF62AF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过滤 / 排序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D38A040D-5D95-4EE2-9F19-4F6D0F4F254F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806C1FC-17C3-49D1-A6CA-A5FD68038CA8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A60E719-56CC-451E-91FE-077B0F48D03F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候选清单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4616270-1261-4B8D-8AD3-530D02545EAE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评分排序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21350B0D-E420-4BDC-A1F6-AD68DD59CB6C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2618DE7-F45B-43B0-822F-B462A5BB5CC3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042DAA9-2390-4804-A4EF-155993207A24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批量动作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6580E25-14CC-4898-B81E-ABFADB9027E9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自选 / 下单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9FB1C2FB-3C3B-4FC4-920B-EDF158155651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B4E2397-76A5-40FE-8C29-1FDE8E3C297D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3824B2EE-3882-47E4-A13C-BE65D6C0B9D3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诊断联动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EFD5F204-BE15-4938-8C0D-0F59B2B6E631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批量送诊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4D3B759F-8BF1-4195-9D38-2235C4137506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6BDC8D1-151C-4A40-A236-FB2A6736032C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0E875A05-5D17-4706-81CE-FA873FA58B18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智能选股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A8C3121C-2CF8-405E-BB37-A03468AA9D70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D49E69BB-3B44-4E66-B69A-BAB237709C09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0243B0B2-BB53-443F-8BDA-7483799DA201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策略入口 · 因子筛选 · 候选清单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DEF42486-EE3D-4C63-BF32-24E77936C0B8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F5135B3-38AD-4533-B47E-D5216E22623D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BFA12BDE-297C-4BF8-A3E0-5DD3B934C36C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42 只候选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0178C163-387C-4A43-8F02-527DAC3BD655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0DAF624-B0E7-4AB3-AD44-270921B332C6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31EAF692-0823-4946-945C-3F8DD022C2E0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选股服务延迟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7747767-214F-4B8E-BBAF-0EADD44012BC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14 · 智能选股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852072D7-8035-487B-830D-0ECDC5052235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因子筛选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7D07D16B-7D1C-4ABB-852A-604E3BFE05A7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过滤 / 排序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81A94C9C-6A88-4D7B-844D-BEF55706AE8D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861532AC-9C2F-4231-BD3D-13CB2E463D1E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09F2ABE-7ACE-4F3A-9AE4-636F29964B76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EDD41D1F-AB95-4B7B-9681-D894688E9C44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智能选股 / 因子筛选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CDB6DB4A-4C63-4943-B87E-8806D74A60E5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A5A39064-15CB-4C10-854D-D3F22E91FE14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过滤 / 排序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D54245F4-C191-4961-84BB-723DF2B77686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A08E5A00-FB89-4B35-A12C-D0B887755B3C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候选股清单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F7A7ADDC-2A0E-49B6-AAE7-58BFA280DEAC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F7F88F63-7D7D-46B8-8194-F054C04B32D4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BCD629AF-6908-4F36-823B-1F694E1EE53B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698A66C7-E548-44A3-B832-71B35D22334F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3350846B-0259-459D-A261-9C4ED2B338A8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D0CF4FC3-3ECB-4028-B46D-F3424A78B0E2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因子筛选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DC9319C0-6CC5-4626-915E-8991F3376BDA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A7A926B8-5A8F-4C72-A679-1F07A47DA72C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候选股清单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4B3C1F08-58A2-48F3-9346-B2E8078A41FA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20DD48BF-3BB4-4F1D-9204-3486FDBA1D50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411B9EF9-38EB-4434-98E4-35C5EA815923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D34FE49A-8425-4803-812C-20C7F027840F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看涨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C520D51F-670B-4218-876C-0080D0EEE7F1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D8A12F92-4CAF-4820-A5B7-400FC68BF74B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8063C596-7696-4F7F-A9E0-C6526532AB2E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FC962044-E2E5-4035-98BF-8F3B14A5A3F4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共 42 只 · 按综合评分排序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4D29B95A-4596-4811-9C65-C5ACD40CC233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B00E93C-AE5A-4CBA-924B-1BF2BF4D7C3E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1D0A1BD8-96AC-4AA7-BB3E-14E5DF2ADF7A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561E41D5-241C-4914-B157-2DC020DCE56A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看涨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A52AB13B-76AB-4D98-9D12-551EB6CDC20E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8DAE3623-DABF-4E33-A5B8-9069DC60860E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热门行业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5E2D796C-10A9-42E9-BBAE-510EC4201282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3F1B37A3-2905-42BD-BFAF-888E11C01987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7D02773B-4879-4FA9-816C-B0DD62094010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E799ECDF-2A7D-4206-9F9C-933950BDDF2B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5294A1F2-3A1A-4AB0-9908-4FAE6B171147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ED05FEFB-FC2E-4F5B-B4C9-90AA96F2D11D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446EEFA4-4B00-4DBA-ADCD-5FFA115D505C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代码 / 名称 行业 策略命中 现价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E2556DEA-32D8-40A6-B9BD-D8725042B513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0A4278F8-5B6F-48D9-A240-99C80F2B2983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诊断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FB2FF854-C478-4F2D-B318-F858D122459D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951BB88C-74D2-4944-8F69-F051D810DA1C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300308 中际旭创 通信设备 短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0CDCF296-D13F-4575-BF2E-ADB711198A5C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E66F4AD0-1357-4054-B62D-D206A2CB5405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F883B462-F37C-46CF-8988-A70734825489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0067AB62-5C39-4F4E-BF91-30186B029DC6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688256 寒武纪 半导体 主升加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C3F3F7F9-72CA-4E8D-B94D-93037AFE6FB0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CED130E6-1E38-4C81-B6CA-D5AE9D91A441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导出数据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90B55743-34B8-48A0-8218-923E5E2F99D4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33012A66-ED84-40BB-A1A6-D74CD8F5EA5C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FA69F37B-7A43-44EC-A060-9BA27AA74F7E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4B6BD690-9E56-4C9D-9510-7DC35805C9E1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诊断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E049BA6D-578D-4F0F-A64D-B778D08143F6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C1BA9EBC-FB5A-498D-8E79-2A9F9FBDFA83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68FDA0A0-51C5-400A-AD90-FD42AD99DB72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3E37C7CF-BA12-4AFB-A4EA-C0DB9922E410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B3824340-0C67-4AD0-BBB2-F825427116AC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9775D8AA-01F5-4E47-BC93-842FFA6B5ADD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A279BBD7-96DB-4F61-8566-C5F501168485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DD5F7697-A607-4E7A-8611-219527491394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A98E863F-84D6-40C5-9924-C89E1A3E2B20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B1DE1EE0-4A8E-4B3B-9A1E-FB36158CF4A3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刷新状态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140B9FB8-92B6-4DB7-85C5-EFA9C7EECDB7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文件：screener.html#candidate-list</a:t>
            </a:r>
          </a:p>
        </p:txBody>
      </p:sp>
    </p:spTree>
    <p:extLst>
      <p:ext uri="{BB962C8B-B14F-4D97-AF65-F5344CB8AC3E}">
        <p14:creationId xmlns:p14="http://schemas.microsoft.com/office/powerpoint/2010/main" val="1766084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08E2D50E-8B61-4117-AC5D-D7161AD70F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094ED9CF-3DA5-4956-8214-BE06BC5EE6B1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E33CFD-E810-466F-8511-B8C8D8AC2E33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4D539B-9C9C-4C52-9A36-90F51C303DE7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DBF4CB9-D640-4810-AA98-591CC0E8DE0F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0AE7E2-B6C7-43FD-AA1C-58877F387756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7FF5CC9-1B53-4D59-ACBA-44B1FD7D44B7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2E03B25-44B2-45F1-B14A-51AA6CF4DC12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8FA0277E-E92F-4ACD-92F9-85F2E9BCD785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9BC33F70-644D-4CA7-BA5D-4B1C99CD9CA3}"/>
              </a:ext>
            </a:extLst>
          </p:cNvPr>
          <p:cNvSpPr>
            <a:spLocks noGrp="1"/>
          </p:cNvSpPr>
          <p:nvPr/>
        </p:nvSpPr>
        <p:spPr>
          <a:xfrm>
            <a:off x="133350" y="152400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F1CCDFC-F190-40CC-B88B-446A41A679FE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智能选股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FD2266A-F16A-4911-B275-0B7B1C7B504A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DAD7F7-C5A5-4AB8-BD2D-706D0C51DB0A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D61E8AE1-815A-488C-A0E7-B5D8F80C0E48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EF2E22B-1F78-485A-B21D-C647AEC5C37E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1E63B1B1-B5AF-4F3C-877B-A6B795F44675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C63AC8A-E3AE-4D4F-B6CC-F3B372CEAC74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3CD6BB8A-C996-4094-ABDD-B819439F7415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FC1C8D3-D9B7-4E50-9A3C-86A3556E595A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904E5739-ED64-4530-B087-60F53F0E98F7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E3E68B3-2AFD-4AE1-8E93-A92DA17853F4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58B36FCA-4549-4D8A-A6F1-3A9D997DC183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0E7F2E3-3821-41E1-9EB4-8C397F29D9C3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D271CC6-1640-4329-AD00-B2CBCAA7291A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8CFCE0D0-2870-4953-8959-A9224975A830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D12F293-ED6E-4182-A65C-5ADA0E47D4D5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0DBF833B-277E-4C2B-81A5-BA87A1C4F077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9C80D5B-1258-4684-89E1-A3C6ADA96822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69AF77F5-0DF1-46E8-8C66-9070E278E209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5415EFB-FD8D-4024-88E1-243473656CC0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061A8EEE-272E-42F8-B34C-8EF23E53C7D8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BA117C1-D027-42B9-9E29-528C2D28C26D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7A60351-D369-49DB-9D3E-7D5FC1F3B539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87EE3BFD-8049-450A-ABD9-DCA21E9CA7B6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C484F61-F598-4A2E-836F-4C968A8C2DE5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080B5BAE-B485-4A63-88B2-6E135048EE11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978DC3-0924-4D9B-B3B4-8317AB233D23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B275E02F-9270-4507-9992-0CD887022CFA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8B63B84-2F88-4529-8F4B-903EB35AFBE7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CAED1A87-F904-477B-B3B9-10A09B1BA67A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A835707-103B-4232-8745-F4B239069FE0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智能选股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EEC9F25-C774-4CA6-A4A8-1FDDEB491178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4921AFF2-A7D6-4BF6-9A26-5FFDBA41B682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B581D26-F465-4ABA-ACC9-67EA7D71BB99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F75D86FA-AA91-435D-8431-D5E5D9B96621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73C7A1F-7334-468A-9F0E-0443311FE2EA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31069852-6892-4E7F-A488-258CB1A363F2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E4A0911-3C02-4156-9CE6-4E053B0309AB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BCB613B-5B88-49F1-90FF-7309B1E32179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策略入口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47B417C-B6FC-4861-BBEA-0EDCA88244C3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12 套策略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F49CEB75-F996-4D8B-AB51-E8B551175646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6F59D39-27CE-4F82-8F97-5418CFE14498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1AD2BD6-3C7F-4A81-91DC-675F7762871B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因子筛选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7DD910A-A6D9-425F-9F38-B29C123F7A57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过滤 / 排序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45FFAEB4-53AD-4F34-A4C2-816CF0BC8318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4279616-FAB9-43C5-B66F-1D82C1D1C4FE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DF7AAE1-7A29-4208-90AC-90E76F5286D5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候选清单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E4BF934-2F41-449B-9D75-95FAF0FD2E8B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评分排序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5013A5B0-0B1E-4004-BAB1-865D959A13AB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7650F5C-365C-40D6-BEC1-8876B30695FB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1FBFBE3-CAEF-4E38-90C9-E776B182375D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批量动作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EE90F34-ED90-47DE-BD83-892448996C30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自选 / 下单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E34FD43F-BE50-4ABF-936A-DA932F749ED6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8611794B-3FED-4C30-BF16-0B949E13F33C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03D0CC6C-A61D-403A-8B30-4384C2ABB029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诊断联动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F2EFAB5-CFD9-47D9-88ED-F9213E91ECFA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批量送诊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8CE3E88D-284D-476D-9A77-34C1170F0396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3B77106-FFD1-486B-B78B-0DFC67EA6CCA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32C16F84-7FCD-4209-B9CD-27D2BDA0B555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智能选股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911B61F0-D1BD-45F9-9D80-140F8A592462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C238AA08-E5EE-4A42-8261-791DDD57F7D0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3BDC0B23-12DA-430D-9305-D4882DE617F1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策略入口 · 因子筛选 · 候选清单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2D8A2488-4DE0-4BCC-85E1-BB9C3208B58D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CC7304C-E542-4B9D-8B81-35B4A221AF84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A7343FC8-CFA5-4A89-97FE-9CE57CA2F99A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42 只候选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2B5D9ACA-7780-4618-BC65-2DA255417F99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AD0F5EDB-9716-4CAC-B05D-54E3DD48175C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D6D6D135-323A-4C61-90B1-0C487508630B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选股服务延迟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E4E3DDF-E4D7-473B-B05D-ACEE07F53428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15 · 智能选股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CCEA613B-C408-411E-9A3C-CE0FAC4C0BCE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候选清单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477BF189-71CE-404F-9548-1479CA9BE25F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评分排序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D9645694-5E63-4DAC-A930-4C3D9D66F2CC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1080F2C4-4B4A-458E-81B0-51F179225AB8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F7F9F98C-541D-4A5E-8A80-912F9379CD31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275BC3D-B20D-4A2B-91DB-5BDB13349A13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智能选股 / 候选清单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937BA70A-5663-426F-BC23-33F1290AD55A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E4687127-77C4-4DFD-B459-49D995DCC893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评分排序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7D101A93-7567-4424-A071-9AAC25829D9D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02F749AD-0E89-4E4B-B9BE-A7055AEA9D5C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候选股清单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2AE1D9EC-2CDA-4120-BAA0-5BCB78A22B1E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777E5767-E467-4978-B6B1-7D1BAD202FE3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EBAD1D88-09BC-4854-931B-013557B4B607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50A04D1D-1170-489D-812B-30DF3A2B9DDD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B9766098-4BCA-47A8-8F7A-A546BBC94729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7AC59B47-62E2-4571-8979-A1610A185F0C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候选清单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08101EB4-C448-4415-B43E-7FCB50D01F8A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ECC5DE8D-9969-4AF3-AB1C-147395A248D8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候选股清单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F6A59A6C-937F-4F68-9A26-BDC9E2BE1594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4331B87-16A6-4330-94C7-5EC9AF5D0E7F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CF1E9503-B000-43CA-A122-7508FD48A957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D9E0C742-DAEF-4BAC-BF51-29862CBA41A8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看涨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7024EB0E-88F2-44EF-A154-AE002332C2FC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463E26C8-34E4-4551-A313-D9265641F78D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47B29E13-CB77-4AF0-8668-DDA9E429FAC4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2EC73311-0A91-424A-973B-EDAB68779502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共 42 只 · 按综合评分排序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AC7A9BB7-CE3B-4F8E-96DA-D9A3C0A7153D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F23E20BD-E473-46A2-BCD0-88D9D2AC925B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87DDFA73-9BC5-40D6-9EAB-B49D3F7D8571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5AD30E0A-ED30-4389-A404-3AB716E9C979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看涨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0C47A913-8FF1-4411-BDB3-264AD8409BA5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4BDC250E-D3F8-41F7-92EB-73113CCF9F00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热门行业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CB614F94-4DC0-423E-B2F6-D34A929ECE64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FD13A1DB-9769-47F1-B733-E9C62618D952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9F682829-BF67-4D24-BEFA-890B01AFC839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EF97268F-CCA1-41F1-AB8D-8309CF72A68A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EAC24A61-6E16-49BB-987D-C56A05E5C478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3DA94BC3-4E5B-47E7-BBD9-57A18B7796C0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00EA91E3-5500-4FE9-8B52-91CCDFF717FA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代码 / 名称 行业 策略命中 现价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9BE8765B-96AB-4B70-80AC-DDC26055FA3C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916B6867-C09D-4594-AF54-38A0F23917C1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诊断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2D8EB3BA-05AD-4E67-80CD-97CA004841EC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41B5FEFA-28D8-4D99-8956-C04E7496ACA8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300308 中际旭创 通信设备 短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C7B39422-878A-4F92-BD8A-9CBC41686CFA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CD4E0B40-A5A9-495A-954B-F1E3638C457A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加入自选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652F14BE-2101-497C-B668-634002567110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ACFA7D10-F449-4596-A71E-4A9D9A9748E9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688256 寒武纪 半导体 主升加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F542FB1E-590F-4DF5-BB14-A7D305394AFA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033ECE12-8934-4E92-93BB-4BF661A0DFE6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批量送诊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79165FDA-C586-4866-93D4-024630EF7EC3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73E69542-09D8-4B99-8636-F107F2354A4E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06D4D003-10E2-49AD-8F10-42F76AD42107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DBB8BD77-B5E5-40E3-89DC-7871ED10176F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诊断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4DC6AD56-FB59-4DE1-BF6A-8117879CAE62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CA2BD493-203A-4A75-9C47-48D151A01310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加入自选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9AB77111-A1D0-4FAD-B191-7527F12FD398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4FF3BBB2-DC1E-465C-A667-85BAE666F2DF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加入自选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D0BBDFB4-E116-4972-BD59-FE7E45E1AFEF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2B9045FA-8528-4B6C-BC30-A66CDAC98EF5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批量送诊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8EF7E25B-4F10-4F58-8691-205E5A188C38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3EB7333D-3B9F-49A8-BB3B-A9BCD6109E6A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批量送诊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828915AD-B764-47D2-AA5E-1558431D8980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7EE17A0A-70D5-4847-9B0E-612527EFA730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保存策略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AE63AF71-DE3D-4204-9E88-6F4D02CBC87E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文件：screener.html#candidate-list</a:t>
            </a:r>
          </a:p>
        </p:txBody>
      </p:sp>
    </p:spTree>
    <p:extLst>
      <p:ext uri="{BB962C8B-B14F-4D97-AF65-F5344CB8AC3E}">
        <p14:creationId xmlns:p14="http://schemas.microsoft.com/office/powerpoint/2010/main" val="7449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AC947BFA-1E93-40F5-9BD4-29B10B8A43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D0A3F25E-D012-4267-9D1F-5402FE618BD5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B07F85-0F93-419D-96B0-4B4AFE0ECDEA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6A8B9F-4366-4251-8B46-83A45E1BD3DC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C40AB73-27B2-4590-87EC-6A84CAE1D6D9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9E7D0D-43C7-425E-9AC2-A3BA5F479090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96721AFC-AE34-4EF3-AB60-1FB3C96B39FC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2B47CE7-940D-4820-A7F6-EEB2C2AF80DD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8048AA46-DC8A-40F2-BB70-2BED44CC3703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2CB59ACC-D647-4D32-A29D-9CDB9939B243}"/>
              </a:ext>
            </a:extLst>
          </p:cNvPr>
          <p:cNvSpPr>
            <a:spLocks noGrp="1"/>
          </p:cNvSpPr>
          <p:nvPr/>
        </p:nvSpPr>
        <p:spPr>
          <a:xfrm>
            <a:off x="133350" y="152400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A62D90-26F4-4530-90A6-374DB76F7752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智能选股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4C6F07D6-4776-4C3B-A3AF-115F1732B996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92156-E9E1-4BF1-9F7E-EFE218339470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5B8FFEEF-5ED5-4AE6-B3B8-E12344CD0680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075788-5117-4DEE-8139-E09AA17C6B6F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44D99E9C-A35D-468E-95AB-98989D574466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CA75193-0AB7-4F1D-887D-67AEA444B5D1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94EC9CE2-F1AB-44A3-814F-2B8FC681954C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707143-CCF6-4EDB-AD04-FC6DBC5E778E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7D6F6543-4492-44C1-BB75-AF53592EB7C5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D7E6D7E-FC48-4D9C-B0CF-34D449F3FE6C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8F72B97E-08C0-468D-ADA5-A4B32A48831B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5C55798-305B-4407-A709-C77F1028F90C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51DD201-34B7-46D9-B554-72BC7A6961E4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878ED920-C8A6-4086-8E37-6C84F572168D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EAE992F-68B3-470D-9549-2092D54086E1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0B143059-0964-4CC5-9B1C-2E4274C6535E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4AF3135-A73A-437B-B488-AE9BA4EDD0FB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E4C2FEB3-505F-4745-99F5-35182069E2DF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EC975A9-0670-4382-BEF7-5E04034535D7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7C1FDABC-798C-45EE-95C0-1203D9A6A7F4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41A9793-AE3F-4D62-AB15-28F8B0364A6E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45DFD11-8517-4028-9D36-FB5BCFA66E04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C3CFAAD1-5AF5-44DA-9B58-C4354F8BE0FD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CEB3F91-C5A0-4122-84F2-86AA42CBB1DE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7F2E0888-71FF-416B-87B5-4D1AE5CBC405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72A022F-E5C6-4C2C-9FF9-2223074E72FD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69EF422E-46D5-47B4-93EA-9C84FCAFAB6F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755CB10-357A-4814-93F8-9532E6F42E79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43B4B8A9-0FF1-4066-B554-B5B591808735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62F12FC-091F-4876-ADF7-A48840583BB1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智能选股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0FCBFFB-D0EF-4F20-9044-9F97084A5FB2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F49172AC-B104-488A-9252-E711C32B10C2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CDCF1A4-ABB1-4094-BF75-4A1B114227C7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A6DF0E6B-A5A8-4463-92CF-B2E7F0D61F43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F233C24-5DBE-4308-BEE6-F83BD0D13619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386F748F-F457-4B70-94D3-AD15A9883FD5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9D517E9-A668-4227-AB8D-AEE9B487AC20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D40DD9A-AD93-4BC7-A581-4B94B11EB9A8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策略入口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410331E-3958-4719-B51E-D94EEA53BEC5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12 套策略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D30D8D65-62D1-4644-819B-317C9DC8F341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2BEBD55-5C6C-4255-8398-0465341A3E42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A98CD8A-3803-4131-8B30-8F3C01157F9B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因子筛选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F260B3B-F460-4279-9539-655EEAAA2307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过滤 / 排序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D420A656-8803-46E6-8056-E492DA8AF72F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05C1362-D34E-4F1C-BD07-9166CE0DA0F4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3C99AF6-C68B-430A-86C0-DAFE057514E8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候选清单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12256B9-D18A-40FC-8C07-7964EE2BC9FC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评分排序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842D85DD-D42B-43FC-8264-C1AD58BE5C42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B5D69C2-C6C7-4D5C-9844-C5C6AF89EA43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C0748B5-14C0-4EAE-9092-740DF01F4150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批量动作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9A2D7F3-34C7-4ED6-9A5E-26BCFCA321B0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自选 / 下单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A11245F5-B0F2-4ECE-978A-CACC04BB154C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997A1FB-5506-4182-8521-E2962D161043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F221C18-09EA-42B0-9242-4D6B8269E31F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诊断联动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3847D39-488A-4A8B-B09C-D4392979F5C6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批量送诊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1F79653B-5EFA-4A11-BCB8-7E51CD6DED60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5B766DE-6E29-4A75-A07E-D37EB2F9F4D7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40427BC-A0F6-47BC-823C-9CD337AA3C59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智能选股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796D87D7-E745-4ADD-A4E3-7937E1A85C91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03015BB6-FDEE-4894-B1E1-0FBF2A9ED6D0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5BE2F682-689C-4561-8179-DDFD6B8279FA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策略入口 · 因子筛选 · 候选清单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4A12F3CC-02EE-4AEF-B6C7-3E480E0F8545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7AEF344-50C7-4B54-8608-BBC4B9C913C9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3956607-C1DB-43D1-9C31-54D85E8399FE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42 只候选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D6DF9882-19F6-471C-A273-D63C71687596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3F7D85B-1B1F-4890-A7E9-CBDFB7FEA9D5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91D1750F-EED9-41C5-B728-D34EE06C22BF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选股服务延迟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02F02AED-6C94-4866-AA18-C469937375CC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16 · 智能选股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86574B0-0C8A-4619-8056-6BEF28626C1D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批量动作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422B16D-8223-41BA-82C3-8FBA638D841D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自选 / 下单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CBEBC2F9-6843-49C9-B77E-19778E8327D9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5E6FA340-B47F-4B43-9841-3195E16D51F9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5731FED3-DD30-4251-8D92-B27C396B5023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79B23693-8E2E-4885-8F24-66791AFE17DB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智能选股 / 批量动作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F642015F-249A-492F-AE11-6301562014FF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62230C50-ACBF-4934-BE29-FCE7D0C581B7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自选 / 下单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D0EA05E3-A58B-4071-83FF-C6FBE8885249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5CF86B12-C98E-4C2B-BD44-E6D9FDE6B388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承载本页签核心数据判断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30AC476E-13EA-4300-BAA5-27F87C8358C4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B83F959B-4FC4-4956-A782-75B449519622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1E2E1762-98E3-4895-87D8-A7726F261B4D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439551AC-693A-410C-BE2F-43A7B2837D6C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2C45176F-32EB-4B2B-890A-1FFB2604B9E7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D4960BEC-A031-419B-85B5-74D6B33FE000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批量动作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F4EEE314-8958-4C17-9697-C25CC9459460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747799D3-79C3-4B30-BBB8-96F3ABF1E564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状态摘要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CA91AEFB-31E7-4105-A15E-B91053B1BB1E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21D12460-BFD5-433F-BF01-3AE956A4D2C3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明细列表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72B6BC2D-4E6F-4E7C-BA7E-6E5FC217AF0A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F4FF86F9-CE1E-4FCD-948D-EBBE08FCE316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E85D750B-3642-4300-AD6E-B4BD17E11C1F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D39EFC8E-8A04-430F-BB8F-8D44EB934EA8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1D95E209-7631-4DF6-8AE5-31680EA290A5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70941E17-4EE2-423E-B6B4-7053175FDD4E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数据在线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8B5AE8B3-3247-4DE8-BF60-01C2F4286051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94379635-B8E1-4190-B0C0-BE106EBC4EBE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风险可复核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8109477C-71A1-48C2-A2F3-E8DBB7048F88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2A51AD13-A5D2-4EA7-849E-C7DA2CF46B6C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165723E7-B1DA-4724-B4C4-D287BF8A6A33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A9F6218E-E26A-4DC5-87BB-E7E66CB09B0C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5AD07002-8199-471B-A065-61868E29287E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13FE8E30-B0E5-4002-B1F8-8844E8BE48C7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1E69DC92-8D2B-424B-86E0-933E914EE3FE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04A12509-82D6-4AF5-9178-2B4871FA01AF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C91A2144-F0C0-434B-A3E0-78D58F28BF21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47071A96-2F35-487E-8FEA-6EE34ADD96A8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CBECDD69-9FE8-4AD8-A1C1-4869567F0F56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批量动作样本 1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AAFA6CD4-11DA-41FC-A53E-665028D66BE7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D5E15A3E-4434-4749-B9A0-AC0A20359598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加入自选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06C09441-3E37-4DB9-8685-031AB719C72D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105135EB-F422-418F-BBA4-B769B8FDDC55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批量动作样本 2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ED9D2623-EFB7-45C7-8FFC-44D824E66B3E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12745FFC-7D9C-4E44-BEA7-C277D9AB8CDD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批量下单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BC1140D6-9850-4FCF-8B54-A41BD2DC73EF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16A93A3E-1E55-4897-A145-E000AEEE825D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批量动作样本 3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376DC8D6-AE13-48B0-84AF-24FA402EF921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6BB49800-5997-4E3A-94CB-31AFC37FA6C5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取消选择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D2167F1A-BF05-4E75-832A-9E59F0E890EF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FC584D85-9B0B-4D5A-8A3D-1817FE14364C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614EB63D-77C5-4B1C-8D52-ED2910918C57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FAC1C248-10C8-454C-B506-6B3F5CEAA71B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加入自选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5AC51B11-C9B6-4D7F-B191-84E56F3F5F86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DB474007-E073-46D7-8D76-25009737D0C1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批量下单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989F7AD1-CAA7-4BCA-B82C-E8D2EAB92C59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24F5CE89-6DAF-4262-A723-40F029707A33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批量下单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5771C205-AB14-4ED1-B28D-E6FF639EB3E4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338385A6-5823-47D8-B5D5-3B6DA45A4D21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取消选择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38A90B7B-2738-41A1-BD88-395C16549DC4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CB0D7526-1EE8-4074-9E1C-0E73E8152938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取消选择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77368CD7-22DF-4008-A158-637ABC665B4C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8356CB2A-97D5-40BE-A2D7-C73F06E23BB2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保存快照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6198CF1E-770C-4E5C-AFA4-12A381916CAE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文件：screener.html#bulk-actions</a:t>
            </a:r>
          </a:p>
        </p:txBody>
      </p:sp>
    </p:spTree>
    <p:extLst>
      <p:ext uri="{BB962C8B-B14F-4D97-AF65-F5344CB8AC3E}">
        <p14:creationId xmlns:p14="http://schemas.microsoft.com/office/powerpoint/2010/main" val="944156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F3401099-C465-4026-9374-CFBB7BC918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B0C38012-823E-4351-A732-9468EE61012A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97EA16-7AFB-46C1-9D48-C1AD085C84DE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2478905-5F6F-4AD1-A3D1-D589F5AE5DB0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1A83F8B-0DFE-4395-A0CA-98FC029F5E33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55B66E-6ECF-42CE-BD18-0546B34D4AE9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F0A4E29-E79D-493F-9F35-16806DF1F031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CCEFCC-109C-4E35-9B67-0CEE5B6C4226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D326501-6EDD-4909-BE33-6024AD8A1280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AE6424EB-83FD-4061-868B-5F12C4618930}"/>
              </a:ext>
            </a:extLst>
          </p:cNvPr>
          <p:cNvSpPr>
            <a:spLocks noGrp="1"/>
          </p:cNvSpPr>
          <p:nvPr/>
        </p:nvSpPr>
        <p:spPr>
          <a:xfrm>
            <a:off x="133350" y="152400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D91990-A9C0-4AAC-BFE9-0F8CB252B546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智能选股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593EC6F2-9742-451E-BC21-CD4C79367D93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927CEC9-64A2-4190-934E-1BA4D8B3701A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A11E574C-CCD6-460A-9B35-1D4569B062DF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8B48D12-2740-42A8-9892-63D27A6EC813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67D44595-0E9E-4CDA-86E6-8B91A67AB835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1F88CD7-6AD1-4346-A2CD-A0549B1959F3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78112019-D59E-48A0-9727-D303F8893F6F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49CD61C-F64C-4022-8D73-41202EC88489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26269172-41D3-421C-8860-D0142BCAAC4B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62E6547-25AC-4071-9F7C-808914752FEF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46029BFE-0293-4F30-ABC2-C9C344DA88BC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6930B5B-2D09-47CE-A1FA-A22045B39619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5829C29-C2D8-487B-A384-353AA4F6926B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154AC045-B3B0-42C7-BBED-1036E6680BB0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9C365F1-BFD2-4204-9E3A-CEEBC4EE6F65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F8AE5D95-5A6A-491D-831D-4ABACE4F5E62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BAF1F30-12AF-47E5-B43E-5469FFBAEE0D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FCB24D19-F7D6-46B3-A7A2-08F92C899A3B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340D4C7-6BD2-46B2-8B66-B4E57F58BE79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29AA0A61-DE0D-416B-BD8A-39815C24464F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D20994C-834A-4253-940F-897E68C69870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B7D0003-2ADD-4A4B-8F2D-C00B40CB67EB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92DAAA44-6EA5-4A11-BE47-982E1D2532DD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3DDD048-A945-4CBF-831D-5FCFAEDE1DCA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B99FC85E-59B3-4834-B566-890E5E7DE434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56C1802-117C-454D-B823-51810D8468BB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8D8D6663-0EF1-45C1-ADE6-81626D1C2BC7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AAF75AA-953C-4D34-8227-5451D5583713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0E28804A-0B3A-45C6-AC49-E2A89265FBA2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540863B-1E5A-4219-A9EB-AFBF892776A8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智能选股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CF45962-C390-4C4C-A1E6-54B4CA39A4A2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63B3C921-01E6-40E2-83B2-17CF04C53FFD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BD8D703-B10C-423A-834E-E99BE2207589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E8968BBC-CB25-421C-81A0-BDC91BB702BA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250CE0F-B597-45DA-9916-A2BF106CF548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BA54BF72-9532-4075-805F-949967A9A101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30E2E8F-5371-4B4E-B3FA-17BF2B2F84F3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D8FFEB2-3932-4731-98F2-98BE5282256D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策略入口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AE4E210-410F-470A-B8B6-E0F942059359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12 套策略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E6D7A497-516A-46F2-A3A3-37768127CF0C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096AFD8-5348-4EEE-9AA3-0774AC6FE6C7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C90E22A-4C8F-4203-B3CB-0C68CBC49EBD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因子筛选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5128317-2B8F-46EC-A6E0-47BFADCB1677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过滤 / 排序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F69FC8D7-30E1-4E2D-9747-8E0E8DE803AF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788FC64-6877-4E79-A98D-A6821E444B21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1D68D30-E1AD-4746-99EF-CFA31FB56B31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候选清单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A11A489-E152-48E1-85B0-90CC0B5E4D9D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评分排序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0CDA9EE5-DDC8-4636-A7DB-215546C70AC1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CE2574C-A33C-4DC4-8F48-DD120259B00D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328A0F1-9D69-4961-B205-AAD8B2BAE599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批量动作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2F96C42-EB26-48D5-8AF5-B47D65888CF9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自选 / 下单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CCB6D942-8A22-4A5E-886B-B818E359D725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8E4F0467-5D8C-4809-8B8C-E69D4D34267D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752ADFF2-9305-4206-8418-50E88A134200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诊断联动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A2607DF-5098-4719-8325-4BEC13476A88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批量送诊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305DFC3F-EE08-49F9-80CF-599571ADDB40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E4FFA4E-4640-448D-8AD5-28968390CA34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A39DD11-99D2-4D52-884E-B4FC0A32E865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智能选股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685BF67F-6D84-465D-AF01-A7EDED92860C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D4238AF-A3DB-431F-9CA0-DA069C424B3F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04FCA44-4212-411D-8F6E-4BCEAEEA4943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策略入口 · 因子筛选 · 候选清单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ED40E53D-45A5-462B-B9D2-CEF073DE3DEA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E7D5D2E4-36F3-403C-A9C5-154CE8E6B2BC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1DAC64CE-66B5-49D8-BBA0-4FF552C49F83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42 只候选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E49C7674-4DC6-4C21-BC5B-D1119B157EB0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F4FF6CA9-D3E5-41C7-B1A0-A8B81DE2DF46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4840E40-F370-4DEE-BFA5-F8820DC66660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选股服务延迟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8232092-D690-4E6E-8ACB-86322305DC97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17 · 智能选股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059E60C9-600D-4ED9-8CE1-19FB8D32F3EC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诊断联动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4FFCD6DD-771C-46C2-8954-5F6C18AA49F2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批量送诊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B9FB16E0-F4BC-4A53-BF2B-409D94228855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F0E35282-6F1A-4411-9154-D75B374982FD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52CE5446-377D-4D76-8505-3AC917739B2C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5C490FF6-2152-4822-AE26-67570687CA1E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智能选股 / 诊断联动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79107F20-789E-4827-83A7-B3C687E7A246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146A5168-9B43-4823-A5A1-E7BCB805F45B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批量送诊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C31F4A8A-9B13-42F4-B8F2-FFD052460CDC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54412266-2089-40B1-BEFC-AE19B50C5BDD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候选诊断摘要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D28EE15B-37D4-4903-8B05-76AAAAAAA22A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CB84976F-1251-4D8B-9234-98D5110414CE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D931B9AB-0F5E-4119-B8EE-63C2E10D5E7C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0D40D7B4-9A45-4541-9002-525007F3A666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C53491D0-4BF1-4233-8A68-30880EFD5DE4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54EA94B7-488E-47A6-823B-512278DBC08D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诊断联动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DE63B690-E602-401A-9331-E59AFD81235C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65D7A5E9-1D44-4AF0-B31B-E489AEBD57A3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候选诊断摘要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DD7CC1E3-DC68-4055-986C-94098E14CFE5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5396ADE7-22AC-42ED-922D-041F96518F61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诊断回写规则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91490261-B06B-4DEF-A091-70C726E3C985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115E28CC-629E-4CFB-9950-9A6AA7604E65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可观察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B223AED0-ABCB-4CE8-980F-88D54B44A49F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FD3B780C-7C9A-42C7-A0C6-C19532871D41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5C7DA9BD-8C4C-49A4-9DB3-C3A760298FEE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CD8BCE5D-9DFF-446B-A330-039E03A6FAFE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选股结果先在本页做轻量诊断，再按需送入“个股诊断”深度页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197E267E-09EC-4756-BD13-820D4BB11D5E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6C5A3BDA-BFB7-47F2-92C8-7E49CA1D66FC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需复核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F2C884CE-A13D-419D-A71C-C902CB4E3E41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979E4CFE-20C4-45DB-A77E-DD071C9BE68A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可观察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8AED9806-C8DC-49A0-A353-3E7B12205442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09B7C65F-8314-4306-8936-771E989C358F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波段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F17C665F-54A4-4629-92E7-7E3ABAD65A17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1B474572-63B4-480F-81C9-F6F527254574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F47DF327-ECF8-453D-A033-50E61901AEC5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B8E25D98-4DAC-4CF8-A90A-C8FBF15FFF12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716EEB7A-1CEA-475D-8D5D-EF19F8157166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36FE721E-F10E-402F-AA5D-0FAE62D947E0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10AFC300-D0BB-4564-832D-AD35633D7BAF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选股结果先在本页做轻量诊断，再按需送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190C1150-96CF-4ABB-9F93-622E3D66A737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4B728C3E-B127-4454-9A24-33BC3E2FCAF2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批量送诊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8DF13C2A-DC03-4062-9D8A-2F05AE2ECE78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8341078D-2663-4218-B013-07AC7C0EF5B8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需复核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0AEC0716-1DF7-45FE-BE6E-C67D26504554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451CF22A-09CD-4BD5-A338-B49D34FC0EC4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打开个股诊断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3B12D5E0-575B-4E68-B737-36B9BC9308BF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2441C98E-D7E4-48D0-9C75-D82C2A51E205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可观察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C3DF81BE-FC8C-4B8D-975E-2ED4512E60FD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437AF7AD-B948-4930-A96C-114B8D6B3C90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仅回写风险标签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28D29868-74D9-4A61-8A16-F37469253E63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2511313F-A525-4790-9EEC-334887046276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50B9AFCD-F063-481F-8D08-101C1B45D790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E03E2E49-4AC4-4C44-8137-0A0489CE88BA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批量送诊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69D196A2-E30A-428B-91D9-BE715C0CDAFA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C1E7498A-03CF-47E3-AF0E-08CF06191969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打开个股诊断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69847F7D-02C2-49F2-8E2C-46154E091526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13010210-9A1B-42AA-8C75-A15E95855E14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打开个股诊断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52D05737-6AA8-4BD1-841A-AB813E5F9B48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60E9A825-8ECE-4A28-A055-7CDA2C75428D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仅回写风险标签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DDD587F1-41DF-4502-BF75-B595E8B79141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314740FB-9217-4E1A-B623-090F10BC83F4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仅回写风险标签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8A3BD015-56B6-4AEE-B3F9-724C32C9664C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1BEFA0C2-6847-4C5C-BCA9-A7C6DC0D1703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保存快照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A5F26B4E-7160-420D-8F21-3B5DC160F2F0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文件：screener.html#diagnosis-linkage</a:t>
            </a:r>
          </a:p>
        </p:txBody>
      </p:sp>
    </p:spTree>
    <p:extLst>
      <p:ext uri="{BB962C8B-B14F-4D97-AF65-F5344CB8AC3E}">
        <p14:creationId xmlns:p14="http://schemas.microsoft.com/office/powerpoint/2010/main" val="1899673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D4278E6B-3EF3-4754-8DC5-0288A3FF76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FD1CD637-3FFD-493D-8A1B-48876F8D7F0A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F2408AC-9A22-44A3-907A-F9A017F43F49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E50195-966B-4A57-9FD8-9E277F7E67DE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0ABC847-07E6-4B8E-8292-18625E9EAD99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5DC656-EB9E-4992-B4E3-A5336445791E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1071F57-3C2B-458C-8E94-8796550E879D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EB51FD-BFBA-4E97-A8FC-57D98B5CB096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5301405-BC31-4371-85F3-14C3B53B9991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F3A6A9-D2CA-44A9-9BDB-AA0766B4244C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17D90AD8-C2EA-44C5-8BB4-DA6503397E11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B0DC83-223D-4831-9BDA-6365293B8F06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8AF84E43-1609-453D-9261-25C40FF0C545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7CF871FD-6526-4526-BF64-BD5EC25E96CD}"/>
              </a:ext>
            </a:extLst>
          </p:cNvPr>
          <p:cNvSpPr>
            <a:spLocks noGrp="1"/>
          </p:cNvSpPr>
          <p:nvPr/>
        </p:nvSpPr>
        <p:spPr>
          <a:xfrm>
            <a:off x="133350" y="181927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DF9696-1B6D-4C3A-ACA9-1ADB795E2455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产业链拆解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59D6C7FE-908E-42AD-8AFF-8CD50C5F0B46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F9ED571-DFC5-4CAC-B86B-BE8F6006889B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82EC306E-4225-4ABB-ADCE-70AF847956DB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E21943E-F0C6-47AD-84C3-086646FC51BB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0D92140A-3A63-411E-91F1-677DF846EC47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0925897-7162-45C5-9D3B-E030B68B96BE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4247E292-FE8B-45A4-9985-18AE7DDEC4E7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BE77E08-7DAE-4D41-9CF7-FBEF822AA622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64360F1-3A66-4FCB-8CB3-C2825855510D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FD404A5A-2283-4345-AC95-1C8D94649339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0A93BDF-6324-46E3-B833-E63AE3EF8075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A3B6E244-45F3-42D6-90A0-576D8F7D3443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CF1D04-75BB-4B52-A89E-F3B85E06ACE2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95DBF212-D022-4EF6-8367-92F44432FC3A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3EF379B-4A64-4BFC-AFB0-4AC67833998E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D8071696-2648-40A5-B7D7-3ED0CBBD6D53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F11C186-EB6C-48EB-928B-4B28CB5A404E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E15B958-91F6-4460-89C1-F4C51F64CFFC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18F2D0FD-BF5A-40AB-8768-D078BE8950D3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E495D2D-83D6-46DE-AF0D-C1ACC6A56EBC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A241ABE8-001D-4E90-8543-A1C060BFF5F5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947100A-8A57-44FC-82CE-B557AB2B4AB0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3E2995DA-D44C-48C0-A1E0-E9DD03EF0E8E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F400615-93ED-468B-A3DB-AA9733EF36D9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9A2184D2-4F82-4475-BF10-F2C401C3CB70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EDFCD93-1F18-4667-8407-9EF409E0ED3A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产业链拆解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A84178D-6CD2-4349-9410-DC726FA72BC4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31E6D93F-6C0F-4A10-8418-B9E75DD10FA4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63CF05A-DDA8-4D01-BCBE-DCEB88919923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B88D2F95-4B43-463B-9CE3-3329546F0488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B5F1788-CCB9-4691-9021-EA539E5DD250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291D5A7D-AA46-48E9-875E-EA931AE6A22D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4E23CE7-1437-4EE6-A7C6-ECA5A3CCF741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BD1D805-402B-4907-BE7E-950FAE5196F3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产业图谱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39F0789-A00A-4DC7-9DCD-F1161B01D2AD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上下游关系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BDC2DC2E-38B5-4DA0-8648-0580AA54BD72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ED5BBD6-9E46-4915-9443-A8565F9E9001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EC81685-6F5A-4AB7-B87C-83CCBB21CDF3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链路证据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91EDB67-D7A5-46BF-9BF1-F7715CD25F4A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来源 / 影响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C186661C-3C35-4875-ACFA-A4775FB92AAA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EE68C56-7776-4249-87B6-6D4886CEF56D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350A3D9-99D8-4BD4-B6AF-02ADEAA7EE3D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核心公司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0AB1C4A-0A9D-4E2C-A6D6-0923E6588403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龙头 / 弹性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24ED5225-1DE5-442C-9EBF-A43D29A53805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805E6FB-3F3F-4219-91DB-F11C4614F4E4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9D631FB-EB95-486A-9AB0-9B00407CB205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风险传导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2730A46-B418-4678-BD86-B4155B4152BE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主题退潮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8CE117A3-FB6D-425B-9D90-2AB4ED1027A5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536E9D9-44B0-4079-87FB-54AFD9E666D3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2C8601C-DA94-4471-A440-7E0BDE6A5EBA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加入选股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C367E93-DD65-4C37-8B7A-734ABFCE3FCE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主题候选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980B0C65-A173-4D37-BDAC-9E0000F5A846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2CA759A-E22E-41F3-A12E-C61E96F242B4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FEA14A03-9715-4683-895A-7133B6210F23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产业链拆解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A47D6810-2887-4514-9B52-BB5A5BBC4D36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6E4EE031-1FA7-4071-B2FA-C936DEF36121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AAF19DE9-4979-4D6E-B8DB-19F20BAAD562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产业图谱 · 链路证据 · 风险传导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2B0E605C-FE66-4FEC-8795-AF709F245153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D4499F1-DB3A-499F-8A91-AB265E924EFA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5330CF77-B644-4C1F-A878-A981DB88D994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AI 算力主题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0A7CD77D-BA9F-4A90-9047-0CA7D411F138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45027C39-2C49-481E-BB5F-6078BF1C5CA8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5263B0BE-0CFA-4114-AB42-3EAD8071EDC0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证据链在线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07F7D2B-1F1C-464B-B013-7D8CAA9F0E2E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18 · 产业链拆解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9824900E-F8C8-4D18-9BE6-9D000F07EF40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产业图谱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07325682-9F96-4106-8F8B-FD1B3B4B154A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上下游关系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59BF0C94-2272-40E7-A63F-24C5857C2D49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D153E599-89D9-4C3E-A4F8-A27C9855677D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BE93819E-AD45-4E5C-94BE-072AB54B8D8C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BE2F65D6-C1D1-4E46-BBF8-064258B216DF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产业链拆解 / 产业图谱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9EC7818E-511B-432C-AB6D-B26E5C16E0E9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F4C9D10-7681-47CE-B1BF-E72A58502783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上下游关系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72C95E2A-269D-4330-93ED-F6EE7DE49E4C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269936A5-B40C-4C6C-88D1-56F2AD369ADA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id="chain-map"&gt; 上游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7664FF5A-6EAE-49CA-91C6-B226810B886A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E0F0FB04-C3B3-4AED-BE6C-C96DF03D5D76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C7366B59-89C0-4033-8333-94B2AD8404C5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66E7798B-1425-4BB7-A135-3185C8C89385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AAC6B5F3-D9FA-417C-BCAE-1822B12C2622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F54EC56B-C0AD-4D4D-9DC7-8A2E9154B636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产业图谱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7698F63D-7C0E-4312-998B-E2E355EACEB8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8F91F1A3-2302-4405-B4D1-D286D2C18D48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id="chain-map"&gt; 上游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D97DC0B8-0A23-4A86-9BA8-F6FC210318B7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0606BCE-9423-4F84-91AF-B2AF394BBA23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固定当前节点 生成主题候选池 保存证据链 &lt;div class="card"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2147DB06-E68E-44EC-852F-B61484CA8B08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C8BF6C67-417C-4028-8EB5-2E0AEE353E12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2F809949-2DC4-4765-89A1-8A5CE14C30DA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F8533220-C833-4087-9A27-BF82068810B4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6610CEC1-1384-472B-A1AF-D50660E3EE32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D043F5F9-EB6A-4E2D-83E3-52B47628F11D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id="chain-map"&gt; 上游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47B0DA01-1A87-4CC8-9878-8B0D43E70A0A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0C5C22A8-5498-44F5-92BB-4634A50C0F7F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固定当前节点 生成主题候选池 保存证据链 &lt;div class="card"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A57F00EF-A092-4011-AE73-304530FD9ABF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47C7FB99-008C-4926-8126-978AE01364D0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C932E10C-6F35-408D-9CB4-4EA88DB4D6AD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06B8878C-BC83-4590-809A-52DF43460FDC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BD60667F-7F70-4D80-8608-1983F923C1AD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7C63C501-5820-4153-B3EE-C1DB3386E122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5F741A35-B588-4FD4-B886-E334441B9923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2030C685-0506-46B9-B058-39AF79501053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72AB59A7-A2BC-4458-9C15-0F97AF7655E7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FBC60968-4CE0-4353-B9D9-259E28BB741D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964F7DEC-26CF-47B8-A3DA-7F88AAAC1DFF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id="chain-map"&gt; 上游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FC7361DF-F09C-4BC9-B4A2-9081A1B5180C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75E0C326-3508-4EC2-8D98-2497790AE64E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固定当前节点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0B156205-6D82-45D4-84D7-3E349A54B80C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C618921E-0015-4EFE-B170-D8BE896D689F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固定当前节点 生成主题候选池 保存证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1D24D611-04E5-46D5-8B6D-432A8F845A3E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1AF81D99-13D7-4C53-8436-BCA4E2A4DE03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生成主题候选池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916BB713-39CE-4225-97A0-779460D294AF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D1B169D0-DF46-4121-AB33-47DDBE113966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产业图谱样本 3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2E0246C6-58DB-47F2-8EDA-09A94EB46ED8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6A7D850E-0E9D-4482-A74F-ECE2A22CE1DD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保存证据链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7D6E87C9-3010-4CF9-9F7A-F3B9D5B47223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25CBAF43-B1A5-49AB-913A-16492AC4EDA9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6D1DC25B-CE14-4A75-B52F-A9293763143E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625EF83A-30C2-41D5-8074-6434D23305CC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固定当前节点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E9DDC253-A66D-4151-9A51-5114B9AF5873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70D86E5D-6633-48F4-B910-074F33B46F92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生成主题候选池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330C3FD7-BFBB-4CFB-9A26-F2E4F0A7E3DA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508C9E84-8708-4146-8BC6-D8C4EB92A65A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生成主题候选池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7CA90A72-923A-4E39-9027-94BF6B32D23F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0CDE1883-4261-499D-B25B-E5AB959275B5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保存证据链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275676F7-74F8-4CCB-9EB8-8108DE7A97B4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97915334-CC5F-4967-85B7-B26CA7BD1D34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保存证据链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E7514986-88ED-4869-B5B8-510C9923B0DB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3A3BB5BE-4E8B-4AD6-8F13-13E0C2746152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保存快照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6688A6B8-8944-4B94-B373-D40E63515DAA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文件：supply-chain.html#chain-map</a:t>
            </a:r>
          </a:p>
        </p:txBody>
      </p:sp>
    </p:spTree>
    <p:extLst>
      <p:ext uri="{BB962C8B-B14F-4D97-AF65-F5344CB8AC3E}">
        <p14:creationId xmlns:p14="http://schemas.microsoft.com/office/powerpoint/2010/main" val="1268471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FD41555D-8F72-4D42-A087-8EC4C649E6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072CC7A9-60BE-4C71-BACC-47E1AC8DC4B9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2C6170-8A7D-4E85-9BE2-2ACFFC50C301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DC4758-0FA5-4DFE-A699-94ABAE99F9CA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04300A3-9DA0-4ADA-865B-4D457F3FA4E3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7EEF76-5033-4D48-BD08-01F29E0B67C5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6C2951E9-1003-4D85-8E02-DE49CFBE4184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D2F603-B323-47CF-B027-21AFED67065A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353FA75-070C-49F5-B53F-FEBF7D7F8B61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E0FA88-9AD1-47BB-8716-17FD748978F2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8C3F89D5-DCDC-4A96-8FB5-A6B5E1D77F3A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6E8781E-E9B0-4DB2-A843-FCFBD55CE390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777965B-88A7-4929-9707-8AC10980FCF1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C5A06C7E-E629-4A4F-8112-8B63A5AD13C3}"/>
              </a:ext>
            </a:extLst>
          </p:cNvPr>
          <p:cNvSpPr>
            <a:spLocks noGrp="1"/>
          </p:cNvSpPr>
          <p:nvPr/>
        </p:nvSpPr>
        <p:spPr>
          <a:xfrm>
            <a:off x="133350" y="181927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145588-1D9C-4C11-B3B3-A91674F605FF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产业链拆解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B573C329-40E8-46BE-B99A-A50F4687A1D6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EECFC8D-A73B-436B-8C99-2E8E48C682B7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1FD17C81-4D55-476F-A2D4-04007B13F555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6665DB8-F3E8-4E2E-AE75-49CBC6C64BE0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319966EF-1DD9-4B6E-B1B2-898B2D40A2BC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AA66B9D-6634-4483-98F5-C51F6378A2A7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87D18F1E-3AB1-4A1A-9A47-5D75CCD34642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E5A37C9-75A7-48E0-9616-3B0DF1AE74D0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26DED7F-0178-48C8-A731-E1E92F1DB131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1F0C7142-4E21-462C-91C9-5DBA4E9C7099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B3C1200-3669-493D-885D-07964635F1AD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6C725EC4-015C-4D3B-9BA6-4579D1E5570E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0905C47-2CD5-40F5-A916-080F970900C4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DFF57169-3658-4BBB-9FE1-9B143998D372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A1BEFED-52AA-4637-84E4-283368885624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E93148C0-6496-41E4-962C-BD6420A37241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508CE02-53E9-4708-AE09-FBF152313451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A5C89A8-8A73-4133-961F-D80C68DAFB30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C9D15571-A6D0-4111-8AD9-1C173E8DDB55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6DF3C79-5218-4331-A1D6-336D9E7D3DA8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35166D93-4237-4970-948A-5FB13BE06A82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00FF2B1-9004-4E6D-BA64-D0DF038CBDD4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880ABA49-71B7-489C-9A04-3111CDB42901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C930143-E783-4C07-AE28-A27185347673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FF32AB3B-2BC7-4B6D-BF5C-60FE3A7DBCA8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922808F-4109-4C22-B4CF-3ED41229F940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产业链拆解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9BFC481-6E7B-46F8-BE5D-ACD731E030F6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9268FEC5-FB7B-4564-BCB5-05F236E38EE8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02C1F20-E3FC-46B9-BC51-7E09E57E7D47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A359F6F1-6125-407D-BF84-528C748BB966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3984310-95C3-44CB-99F6-06B4C78EE427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83607862-F675-463D-927F-2551908CC800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E77280F-8298-4A2A-B4A5-CFB94E8ED8F1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9576D6A-69A8-40CE-BE2F-247DB11BBA01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产业图谱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D8770F3-087C-4FA8-8A23-AD6FCF10211D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上下游关系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2EBB266E-F995-474A-9B4B-18C7B483563E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0DD58C7-42D5-476C-8463-BE6D51EC2FDB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7756475-56FA-449D-84BE-AF732DC7B951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链路证据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DF88B66-524F-4BD1-A387-BFBDCFF2E620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来源 / 影响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C78CD2A3-3E80-45ED-AAF7-1397F243AEA3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9017684-72E3-4FEF-A327-6A449451EBB5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894056E-04BA-4F58-A65C-9BD83E011A24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核心公司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F1B6F10-E84C-460C-8585-2A58466752FF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龙头 / 弹性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DD6AF729-BE80-4339-A6E0-B6274EB9D357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A9B06AF-2B4D-4705-9901-D3A9AFBAC414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4D84824-1D42-4490-A42F-57FE90DD457C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风险传导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05C7B4F-D15E-48B4-980E-27B57135CD06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主题退潮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F9D40599-CE01-4007-B561-1153E9C57DD9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8D3EEBE-137D-44D4-8CA3-C41F46A3E901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7AD5A67-A88C-47A6-81D5-E1C59D4E63AF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加入选股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212E68FC-B633-438B-8761-B886D92C01B6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主题候选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98E94F8E-D2CC-47EE-B6C5-B49AAD73AEE4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E402E05-B14D-49BD-9F65-60AB9B8094DC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3808E0E-C100-446B-9A5E-90A32DB45B45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产业链拆解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B672C7BD-5723-4E3C-A74B-ECF480675326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DD11C12-1D65-4317-9268-3109DDB3F9EA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D19ABC20-ECB0-41EC-A495-78AF1AAB9BEB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产业图谱 · 链路证据 · 风险传导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5B0396E6-89FA-4509-B5F5-1A8C8B62FDE2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472BA24-F49C-4EC6-82C4-5D862513E97B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2B054045-AD78-4013-856F-05CD77781744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AI 算力主题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BA6549B2-5EFE-4CFB-A8F1-DB97706521FD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586DB08-C8CF-42D1-BA0C-7286E1824CF9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21D2971-1B8A-4095-8136-000ECE468FB3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证据链在线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5570FD6E-029E-4638-810E-3B08F4663C7E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19 · 产业链拆解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A1DED6C-83BA-4C17-9EF8-D7FC02940650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链路证据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4A27C21F-A78D-4248-905F-109B24CE1F76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来源 / 影响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10A867FE-FEAA-4E35-9733-A288A85E813B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30C06D27-615E-4236-AC5C-4E013776E0D6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5C3F9084-1221-44AF-B367-BD7825C2BB86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61EB7561-4B5C-4F14-8513-DF76736F10A0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产业链拆解 / 链路证据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3E38E558-1CCD-467B-AFAB-4443CFC5FF93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4B63C82C-6FB2-46F7-8163-09A0BE6A5D6C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来源 / 影响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7DAA66B7-3E28-40C8-A1CF-F5168E04114A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E36385E9-C4C6-463F-8339-F456F1B80C04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证据链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FB886588-E526-4FBA-81FD-6174D9E8DDB7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1042A8A3-8778-43F2-A99E-0EE05DEA7B7D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A8924E62-3540-46BB-8B00-4C9321932D0F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08269A41-1AB9-4E7B-BE43-09ADF72B2910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F597FB59-F364-4F35-B576-DACF036C3652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9BF1CFB4-31F5-4C6B-8295-72189AB610EC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链路证据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9AFAC568-45E7-4D3E-8B71-7E78A886669A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2ED02137-A9CD-44C5-B277-EB738775675D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证据链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08D66515-F3F4-4FA6-B563-3880529932BB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553EC60-D2FD-4617-BE34-1DC339132EAE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年报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0978FB2C-83E9-4EE9-ADF0-F828CC524AC4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C435BA10-D2C7-41E8-A504-97883D9075C8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调研纪要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AB50125E-0954-4AB8-8AA0-A499923AAA7E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BD40C243-4A74-441C-AFAF-F256F4AC3A09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C619B220-8F00-4650-988A-93CA7C509DD8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40BCE54E-E64B-4F65-B34B-AE7304E1437C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3 条来源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2B9D5777-1A38-4C67-9744-EE08769E106D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0EA00E5-78FC-4760-A986-E1A76CD34DF2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年报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763125A7-4739-4906-BBD1-AEC0E7F7CA76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AA7E77A5-303D-4D07-9AD1-0F8AB5176616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调研纪要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D1B808C3-EB84-4468-B3FF-131599F7C1C3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5B0FE4DF-6BE3-414D-92AF-2378BAC1CE7A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推断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51FEF8A0-FA06-439A-9933-47FF3470FECF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1710A42C-BAC9-4013-A76F-7BF58BAE65CB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C3D51E07-3E57-4B51-A3B3-FC995085A73D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D4A5160F-38CC-4A2A-84AC-729C0912E246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D168E91A-846B-47D8-AE02-24C82A8784D9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E0EFBFD5-6F36-4FAB-8FFB-413755942890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4368524F-F167-4D5B-BF86-9656EC666A9F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3 条来源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0D4960AE-AC7F-4238-8D05-AB0FD4963EF4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943865A8-2B27-4017-B4F1-157C759D5AF9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0B4D6714-402B-42BE-8656-97B0ECBEE002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AEEC0590-09ED-497D-A94F-4247AFD56B62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年报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4C8816B9-F55A-433A-AFEA-B5F6720BE0A8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DE6ACA36-4BBC-4E98-9E8D-7756BCE91824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导出数据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B0E52870-ACDD-4E0C-8170-CA4C2B2468E9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2AB732E9-67AD-40AE-9DD8-BC8818B30E7D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调研纪要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18206208-7496-4D9D-9DBF-258122371D64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90712DDB-BEF5-42A0-A815-F5D28CD91A0A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刷新状态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CB3E4FCD-47CC-4EF4-9729-B8FD2D224B63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EE5DFE6F-5FF7-49E7-8517-283E52E2C5A0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B1BDC0C8-26A6-4077-B5EC-0B724F0A7AF9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04ED5C70-B0C0-4E90-99F8-55D7FE8305E9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保存快照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99A6B4CA-0934-45A6-A621-3CEA555A892B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84347B82-D101-4809-B9BF-31F17EF781B0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C31667C3-E7B3-4CC4-A6DA-553666DFD3B4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78509692-39B4-477B-8107-E5CB88AA9F63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315FF4A4-33A4-443D-AD13-5899AB30177F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DD4FD440-94C5-42B3-AF1B-67082863363E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刷新状态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27060457-4DAF-4CE9-9518-6EB4D22C57A6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8F7C3308-DA1E-46E2-90CA-0FD15B4E3D6E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刷新状态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0F4E6FED-A80A-4D6B-8156-D132FCEBBC24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246DAC4E-787F-440C-984D-4417D27056F8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写入审计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BE9B3008-1FEF-4A40-9A0F-0A208B54EE53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文件：supply-chain.html#risk-spread</a:t>
            </a:r>
          </a:p>
        </p:txBody>
      </p:sp>
    </p:spTree>
    <p:extLst>
      <p:ext uri="{BB962C8B-B14F-4D97-AF65-F5344CB8AC3E}">
        <p14:creationId xmlns:p14="http://schemas.microsoft.com/office/powerpoint/2010/main" val="963987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28DABFAB-0A9F-43C4-B60E-22B6C878DF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F8E8C61D-940E-4386-99CF-A2134067A0CB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54049C-1C3C-413B-A770-B31F6E0B154F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2D54A96-32BB-4AA1-9FF2-670812A16058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ED6EB9D-7C86-43B3-98F5-15A29CCEFF94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ECC702-1E44-4774-BDE7-CF762FDF532D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12DD1D4D-8A24-4F5C-B6B6-AD56FD766753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8B6F7FF-1141-4AAE-A2A0-A5CDFADB39FA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9E2EBD31-BF7C-4A0F-82B2-7A0F033C7BF4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E7875DA-D2C9-4D0A-8AE8-8FD02C6E4E54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623FCEEB-440C-4E12-A0B1-18D7C3A05F0F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9CE0245-1DEE-4D30-9405-02BEBEAD883A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E59D5D4-8E25-4A18-B9E1-3B5B837019FB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98931EFD-6C43-42AF-A91B-F716480803AB}"/>
              </a:ext>
            </a:extLst>
          </p:cNvPr>
          <p:cNvSpPr>
            <a:spLocks noGrp="1"/>
          </p:cNvSpPr>
          <p:nvPr/>
        </p:nvSpPr>
        <p:spPr>
          <a:xfrm>
            <a:off x="133350" y="181927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BB8AF51-5137-4E04-AB91-8542D91570B0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产业链拆解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2F2B2298-8943-4CA8-B00F-FADAC0C8ACB4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173D65B-02ED-47F6-B6E4-57E0B3274A97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D20E9A7-2C40-4BFE-A1E2-88461754A6FE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8DA53AB-13E0-4902-84B9-EEBE686B2DD6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B30634A1-2217-4570-8C23-5C804D69F67F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2DA9311-388C-4B64-ADA3-CC99ED54A95F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55799CDF-6855-42C5-A757-2E87ACDD2C14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2370188-240C-4934-8663-047A1FECCE3E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1641279-D1C7-46CC-9C97-9EB3FB3E8214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00026973-3088-4807-91FC-CFAA2CB1AAC6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89F5530-4FE4-4211-B7DF-6635CDDDEA13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8513FF2C-C5D4-462F-9FEC-F835841E090D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90778D3-68DB-40CA-8D3C-4921EA105EC5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7E3304AE-BCBC-41DC-B425-24112A64FF2C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13847E1-7D76-4C2E-A451-6EDFC4BA5D5F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39EDDCD8-FBF5-4518-9ECB-859ADACC9474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4EF5336-6923-4D62-A375-A4FC7527EDAC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853A779-5C36-4AF9-8F42-AD94C1C50C8E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2ED71FEA-5B10-4059-8A29-6C41D9B75EAD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9B1EC44-F71E-4A0D-8E45-DE943DAED267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7482076F-C5F8-47EB-8C68-7F62E635FE15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A535C6A-1023-4C6C-9B2C-5B398B214B47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D2B3EF0E-05C8-470B-967B-403C82686691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5405D29-015A-4386-99CF-7D458ADBDD23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E8894877-EFBD-4C55-9769-997E1E0E6CD2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34AAFE2-EF33-41EE-86B9-FC7131DB32AF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产业链拆解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AFEEEA1-335B-4C0F-9836-281857F3C1CC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7BAAA0B1-D139-4828-B49F-3C4681762088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4984F85-926B-4F11-AEF0-E9774FDCB044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43E985D7-6BB1-4B7C-A4FA-021E8D0D1898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66AE052-0E7F-4A1C-BCAB-A325CC35E17F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40972AF4-97F2-44E6-B5AE-9A60E4BCD45F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B3951CD-344D-4714-A279-CCF49A6F7ED7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4CE5B15-9E5C-435E-B993-6B8692FC49B0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产业图谱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77E8CFE-0F65-458E-8E26-53A125AFCD61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上下游关系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A218AC62-18A7-4299-B4C1-81543313E17B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1DEFEFD-F12A-4D89-B3F8-E41F81DBA5EB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3E97CA8-5D8F-45C5-858D-A56CBDE6E67D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链路证据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73BE516-18D9-403F-B2D0-6602261D08BB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来源 / 影响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B6A716CA-33D0-4F02-B429-AFC8E60C0959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FA141FD-C864-4DB6-9834-CE58B3BC480C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4A8479D-15BE-4190-A81B-4E8ACE334D29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核心公司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42FBF1F-A35C-4E5F-BA2B-BAAF6C3C75F6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龙头 / 弹性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9EDB9151-BC54-457E-A5D6-487FDA8A4B42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A2E9413-134F-4FB0-9D37-232BB61D8F42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A2558C7-BC86-40AE-B72A-D3358E11B4D5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风险传导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5F07B00-D203-4D06-B733-824C1FF4AF14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主题退潮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CE7DE377-F85E-4BEB-8CE8-2FD8822A22EA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A6F3D00-6E5E-4CA2-8983-34AFF735C805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E12BA62-688E-460A-9760-1D8405DF0AA5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加入选股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AE7E3C5-F47B-438B-9973-8ED7EFE7BCB9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主题候选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CE184A99-F298-4817-A125-C177C7187CB5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21A7978-FDDB-403B-98CA-7437660C9846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8B68D39-80A0-4DA5-8AAF-B1E83812C910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产业链拆解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0BEBB613-27AA-4CEF-9E87-7068337DCF95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AEBFA1E-0EB7-4B55-B59A-A94F852A3284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1D8B85CD-A344-43C7-B266-19D6C4965AA2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产业图谱 · 链路证据 · 风险传导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A1D5D56A-9314-4788-AAF6-55C0E867930F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F326C6E8-6394-4E07-819A-CE2286DCC882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887138D-38A4-4EEF-934C-A2D2E3EBCE42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AI 算力主题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98802BD2-EA54-419E-9DB6-7506D8313F8C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71DFB32-A085-46CB-BB8C-D2B413F7E6AC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CF67A093-11D1-40A1-BC9E-99EDE062F1B4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证据链在线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2130465-2AD8-4A79-8CEB-5D583DA705AB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20 · 产业链拆解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BF4206F6-FA7C-409E-BC53-D05FA7A19879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核心公司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13050C1-7BFA-49FA-9004-0CBCB122C72B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龙头 / 弹性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7C0423DD-DB51-4E49-9692-5EA176D6D86D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0F49F483-DA69-4F08-B401-2E2A386D4787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08EDF9A3-FB5E-495E-9A3C-1F09711B125A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149C39F5-258D-4B16-86B2-5B7800C9606F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产业链拆解 / 核心公司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BE891814-EB61-4DB7-97FA-A6A642F91A6E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06E23761-1F80-47E6-AE7B-706FBB1590DB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龙头 / 弹性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845D053D-501E-4467-BCB1-F73DC797C8E4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B667C27-6CDF-4302-A615-85F947AB6450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中际旭创 · 节点详情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907F379F-6DAD-4296-90CB-F32110489A5D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FEDCA4AF-1052-4D0A-85B5-57127E433A0E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81449E44-C534-429B-99FA-DC51545371E1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28C17547-38E9-40FF-B1AA-05AB8FC2DC60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82F5F08F-7232-4555-B378-0FCE359ACBF1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D2C43F5E-8316-44F8-9E28-44C73DC0DA33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核心公司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7250D1F6-426E-4680-8698-B5ECD8CA5FEF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C35983DD-AE9C-4D01-9B54-E62D39AD98DB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中际旭创 · 节点详情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D331D095-20A4-48CB-9DE8-46216C3F6D56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11DC5605-8884-4798-BEC9-A16941BCCE73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通信设备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654D8C7B-8602-4A54-88F2-7F45AE1F5686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0BB2168F-403B-4F72-B651-695FEE239F96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市值 1,842 亿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D3ECF5D6-5AC8-4587-ABE8-2E02F7248E69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3081844D-1DAA-45A1-9262-8574746291BC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14A2ABED-44C9-45F1-A140-EDE0A7A08BBC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BE0A4006-D167-44B0-827A-345A88E85469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核心受益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1F98CEF9-F38F-4ED7-B746-047CB943546D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B65CEC71-A8EF-452C-B9A6-B372F38CEC67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通信设备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AD04F827-A5EB-4638-AC03-1ED651F98C22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BBD4A9CD-9DC5-4A30-844B-DE9CA390D4EC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市值 1,842 亿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88763291-62F7-49E2-9803-129320465E1A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13494CD4-ED33-4000-990C-6D49DBE0BF7B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id="leader-board"&gt; 中际旭创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CD9C2FE2-CB2C-4D71-85BD-967BFDDB9E7D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B5BC7FF4-6A34-47A3-87CC-F23A2CA7877A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3A1476BB-B002-40F9-81C0-1E717C981693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3E7EF742-EE8D-4E73-A299-EC2ECCB6E7CF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1435B259-D0C5-4BD2-8D17-B6CB3EAE9396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3EA784AB-E681-43BA-9467-AF6D8A512986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337DF78B-FD96-4A41-96C1-ECF3851FCDC9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核心受益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FCAFD172-DD20-4FB4-A5E3-C9688D50EBA8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5443E352-13A8-4AEC-9366-0FDC30E6903D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查看个股诊断 →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F5630CF3-3EAA-4790-95F0-E428886B9BD2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46862CA-2161-42FB-ACD2-5CE40687ED0A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通信设备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AB7D3AB7-829C-4FAB-BDA0-57BDF15C01CF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659F4588-55AA-4908-8ABA-8402412DDF97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A3E2F80D-5261-49E2-AC11-A1BDE3D671F9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8EEB39E8-EF9F-45B1-9358-B0332D919D49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市值 1,842 亿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E843825A-F72B-48DD-B0F7-487F31545FFF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7841A7E4-87BC-4B2D-A0D0-E4A0E4433071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导出数据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2B509CD8-3A8E-460B-A1E6-3C666232E9E7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04D6291D-9AF0-4025-9167-D7E42226EA69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1EDDA7B0-9A5A-43DB-A74D-D309044DC1A5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13E2FAA4-D384-48A5-833C-BFF98D029F73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查看个股诊断 →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C0BABC75-431F-46E2-94AD-BCC3B198DCDA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08AABCCC-AE95-4C96-A9A8-55D219BD5DC8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A26A67A3-2D99-40C8-8C29-2FC469B9F3AC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B87B17FF-3CC8-41F9-8817-E28C2CF237F9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BBC1A08F-DB15-47CA-8C40-DCB9052F149E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C47A5E86-9F6E-462C-BF0C-4E219E1A3176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EE62A799-2960-4D16-8F5E-46FB67A174EC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C493BE13-123D-4FBF-B5C6-A621B37D7005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ACDAF2D0-B190-46A0-A6E9-B221122EDD40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2F6E41FC-7738-4D41-9A64-18E6A829E67C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刷新状态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7995E754-C752-451B-91E0-4B6B4DDBFE0D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文件：supply-chain.html#leader-board</a:t>
            </a:r>
          </a:p>
        </p:txBody>
      </p:sp>
    </p:spTree>
    <p:extLst>
      <p:ext uri="{BB962C8B-B14F-4D97-AF65-F5344CB8AC3E}">
        <p14:creationId xmlns:p14="http://schemas.microsoft.com/office/powerpoint/2010/main" val="1485893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5BB36E9E-108E-471F-A6CD-8A6DE044CC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5A7BF00B-22E8-42C4-8594-92DEB84B6E28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F4E142-09FF-49F0-A062-A479E43C7044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0F2D27-9A79-445C-99DA-2413FCA30777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C344165-AEAF-4C7E-9732-97D0F654A80E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C97DDD7-97D5-438C-98A0-997D1A42A12F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4360F94-3589-4BE4-B5D2-F1A7947C6BC8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7E3BF9-6767-4895-947E-0A0DB4CEE9E9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2DA7BEA1-9FCD-45AC-9728-46D6B40C15DB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077B4BA-6F2D-4F63-9D26-BEB1401C2FF9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B123CEDC-5E6B-49C8-BD6F-9F9A6901DA6F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95BC74A-0F0C-4B0B-9BDC-7F2C740851A7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7EA3D03C-A724-4917-8CCB-685A8CD0CAB1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3328E465-D4D8-43C1-9833-B9915BE7981C}"/>
              </a:ext>
            </a:extLst>
          </p:cNvPr>
          <p:cNvSpPr>
            <a:spLocks noGrp="1"/>
          </p:cNvSpPr>
          <p:nvPr/>
        </p:nvSpPr>
        <p:spPr>
          <a:xfrm>
            <a:off x="133350" y="181927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4463C31-0FC0-4F79-968D-5CBAFF7C1252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产业链拆解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D8BD74A3-645C-4841-B8EE-BD2D36A2D47F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B04741F-816A-45FE-9702-6FC324FC6059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03D16CAA-3025-45F4-9B89-EBA3015986F3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661CD7E-12B0-4CE2-9B15-9BD5FA009376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93ED4418-C103-4E45-B4CF-89F09BEF85C1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0E016BB-BE28-4CBF-A6BE-FE6BA8EA1CDA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5EC39B1A-0750-4F06-927D-B933B3641472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638D81A-23DF-4FBD-9987-399176AE428C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796B533-6078-47A1-A32A-104C1EAF880A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77108CF3-F507-444A-A381-F55CADEDB11B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70FDFA-E46D-4A70-9445-38C543494127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E7AFD909-9CB0-44B9-970E-17B3E79271C1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EF93B8D-D2BA-437C-B9AA-9B8BDE058BAE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4257F0B0-BC81-4413-B5A3-CFCBD4F766A5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81F9DBF-50CA-4421-810A-E24A858E8D87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4E4BDB7E-548B-4166-911A-CF42E3CF11A8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278F013-E1AC-421C-BA8B-05FEBC601DCF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3961CFC-6899-4010-BC3C-FECF2546C983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13E5A4BB-101D-4D60-8716-CC3A5EBE6B34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635BE75-E4C9-4FD6-AE67-419EA90291DE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996EE559-403A-435E-9BB7-B78E70E0D7F0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89E4882-66AC-4703-9625-915C2C8441DE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D9596A25-2277-427C-A61E-7D1E83CD963D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2FB7866-F542-46AD-BA32-164B6D1A0760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4EBFD159-DB26-42A9-B702-FDDF49152A0E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4D8B3E1-FF0A-4715-B709-29F1587DEF8D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产业链拆解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5578532-469A-40F5-A704-1427EE0312A7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95EA0F56-C349-4162-A884-D433BBBE6F2F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7AC9CE4-EC4D-4832-BE64-87AA0437FDC2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0679B523-B8CC-4970-82DF-566216B4325C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CEE9C4C-E696-448C-B1A9-BF053F11DB8D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60D96942-CDA5-4E4F-82B0-CF3A381E320F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8689658-80CC-457C-88B8-615152AB3A19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10070A2-42A7-4955-A565-C8FAB9A72AAC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产业图谱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73DF47A-38FE-4DC8-BF3D-6620FC0F4512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上下游关系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DC43AA3B-9137-4556-9BA8-E9F375930E46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43140A5-AAD1-4F89-8EDE-E9ED3165077A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AC913BD-8105-4A12-A3AB-0F26870FF8E6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链路证据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8484BF0-FB4C-49F4-89C9-A505493D58B8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来源 / 影响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87363136-A1F5-4774-902B-A2D5935B1E95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B4ED93D-3CA4-48EA-97DB-535E3F22F1A8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45962B2-51AA-4420-8BC4-69792ABF61FD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核心公司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76FCBBB-9E42-4286-9075-23213506BA16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龙头 / 弹性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DCC0C666-CE93-45C9-B8A4-A4EE65B6A4AA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5D76474-00FA-4F75-84C6-5F5BF5F31DA3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E09A1E1-0F7D-42AB-968B-FB0B6374E4AA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风险传导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6ED9B7C-640B-4C59-903E-A2DD8C869A39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主题退潮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CB496733-90CF-4D36-976E-1B34845D2823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75B5993-1B19-4BFC-B3C2-2ED14F73DB8C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3CC1F8E-9770-4FFC-88D2-8D209ABEED55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加入选股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9F8FD9D-CDC7-4C36-A881-5A2B5D1BCE8E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主题候选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05C1A051-8A4C-48A0-84F6-EF098F6BD53D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96BF3D4-195D-4F38-B478-1ED8353F0E14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3A9545B5-B482-44B2-881B-142E2D1441B4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产业链拆解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9C607788-97E9-43D4-B18C-CF8CA90C4FAE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6B0C8D5-5F2F-4759-A811-24FB353C6DF3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0CC230F-70A9-44C0-BCE2-DC43B22EEB81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产业图谱 · 链路证据 · 风险传导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35AD0344-916D-45DD-89D3-6B571C01598D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3AACA58A-E025-4469-9E54-A78D0B5C57D7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7FB9F9F7-1776-47AE-92BB-8A6521BD415F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AI 算力主题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BA1F4BC3-8785-43B0-8A5C-D18726288FBD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20B53B67-18DC-4E0B-B311-CFDA820EC266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3F207EA-042C-4E12-A33A-D95749B8DEC6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证据链在线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5FF71E8-5271-4A3C-A0DE-57B53093A443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21 · 产业链拆解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D836949-76F2-4F89-B681-2952EC192F48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风险传导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42FEC8E7-895D-46A6-92FC-56F50A75A045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主题退潮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D2A71F6F-EDB1-4B3E-8DAA-344216D55450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CB9117CE-F1FA-4D1C-9023-C35C6202FA63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02E81E0B-D887-44CB-B3B7-F0CECF2D622A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93ED4D87-9A97-45B0-A74F-39452B7E1183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产业链拆解 / 风险传导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4CC8D744-FBFB-4318-AF82-85B0682D48BD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1E40D181-AFFA-402D-BC04-63F3F2CD34AF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主题退潮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55D38BC2-7268-402D-AB7A-70898D2C5668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1C8BBF1-9BB5-47BA-8F46-A0AB0667F9A7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证据链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EDC9A3FF-5D77-4BAC-842D-E2C4C9F8D6C7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22783E31-D902-4D07-A361-2731B5D39C31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396FAA30-26F2-4BF5-BBC4-4A0124DEB54A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2CE27B39-F226-44C9-8B7E-97AF304EAF21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7B5EB5A-7AD8-483B-8FBC-73E23592539E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3815ED9E-B25D-496D-91D6-6DFDD10A8CFA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风险传导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6F531E9F-DEC5-4BD4-8DE8-866194E3ECF3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0F101ACB-258D-4048-B0F3-AFDF10D2031A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证据链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EB047DF3-C034-4DC8-B422-C5D437851795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A363B9D-00FA-4953-854A-A1F917744178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年报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5293D1AB-F8AB-4B91-A113-84406368A4EC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E9A382B7-B9C0-48C0-910C-0BED79063A34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调研纪要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C48F0FA2-FE7B-4010-83CE-EB64827B9C63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C4B2933E-1B18-47A9-A234-5F4C3EF4C0B7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7314DD1F-6F58-466A-AC35-C7BC9B73D663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9B35E035-C2B5-4906-A1E9-7D83F10552AF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3 条来源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C43FC1C6-5195-4E90-A7A4-22B8D8E219F8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B4730EAC-BD7A-41C7-BBA4-9A2278DB9E74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年报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FD44474A-2E2B-4A79-A668-221620C6B3D0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A34074AF-A43A-4E1B-BE96-91668D740E2F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调研纪要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25759FBD-C3DB-4023-AC0B-425E87D2CE65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B2503431-D10D-4169-9E0D-7CF08AF99896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推断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D87E81F5-620E-4F52-ADC5-2E3DD3D6FE04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906C8B58-372F-4E94-AE51-DD6B09FA941C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6E957D27-2537-4B6D-83C0-C2C6AF93BB0F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91C8BE07-9549-4E6C-8ABD-024A05FFC162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C71B2CE9-9D66-4CD9-B63C-DB53CD15244E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43CF52FD-3D6A-4F66-AE5E-137E87F936B3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60A6964E-6A63-49A2-9F85-6A2D94D84AC5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3 条来源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5E56F653-39D6-4E6F-AD8C-365D981A6CE4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CE07BDD2-91F4-46D9-A690-BED953688E51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提交复核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AC915415-75BC-4D46-A5AF-A9868B45A562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936309A8-F180-49AB-AFFF-AB16F7538334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年报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FD093359-A937-4EE6-B13A-CEDF19D45FF8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EA7AC286-7507-47E8-A12F-D93FC677B351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导出证据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F2C348B1-297D-4545-9577-048ACC4B0B17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7B24452C-3AC4-44C3-BD72-70C7C7D58070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调研纪要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6B00F0F1-E7EE-43DF-9077-6B3E48770555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BE817E77-3359-4172-9061-DF2A6B307E4D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重新检测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764E617B-A193-4063-B38E-D023FE5A0091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F4D5A82A-AF8A-4CA6-A175-DD91087A5105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1D19AEAF-58D8-41EC-B585-99D0147EF149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8E7BEE8A-885F-47CD-852A-F3218ACAAD85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提交复核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8B9C2700-7EE2-4D57-9D80-66C05F166302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031E2527-903F-4340-97CA-14D7A4DCE088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导出证据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A175D343-0CD9-4586-BAA5-AFDEC2E4E921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B1E6984E-5AE7-4E12-8A04-B33E61C294F1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导出证据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A980E5ED-035F-4A3E-A6FF-8E8870F1F370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5972ADAB-4F82-4E71-85F8-66FBB679A752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重新检测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253D44C7-8A80-4139-B86F-B490EBCA678E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EBB1402D-4713-4FDA-ABFF-94BDE167B8F1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重新检测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B4A6A355-F1AD-41B2-9701-08CB3A4CE7FE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901F0670-BBB0-4547-B396-8C23514C2E34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写入审计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4603F96D-8BE2-4B04-974E-C052CD95C2AC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文件：supply-chain.html#risk-spread</a:t>
            </a:r>
          </a:p>
        </p:txBody>
      </p:sp>
    </p:spTree>
    <p:extLst>
      <p:ext uri="{BB962C8B-B14F-4D97-AF65-F5344CB8AC3E}">
        <p14:creationId xmlns:p14="http://schemas.microsoft.com/office/powerpoint/2010/main" val="970012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8B45AE75-407D-44FF-A681-9ADA56C5A2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AE132A8E-F57D-4FAE-BBE9-825BCA5E3389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D9E0553-3B04-42C7-877A-DC91EC316193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2A0771-4C19-45DD-B9F3-EA30D19A0AD2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FD10814-F86D-4B59-80F5-7B80E5DA88BD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19FB0D-CEDC-4270-B152-22B2FB54E07F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1AFD545D-B25E-4F14-B29F-6DDE9B9C93ED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882705-954E-41E9-85B6-A20985B8FA5B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E58F5BC-2787-455C-AF34-FCD1012A124B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7DFF20-D03C-4783-BEF5-74913502BEF3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286DA9A-A15E-41CD-8498-E2CE0ADC875C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85ACDE-823E-44BE-B1CB-58D28DB1AE6E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4B4B3021-AA87-4BA6-9902-7A2447FBB365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2D3140F0-2F2E-4D27-B7CF-C8AB778E1F76}"/>
              </a:ext>
            </a:extLst>
          </p:cNvPr>
          <p:cNvSpPr>
            <a:spLocks noGrp="1"/>
          </p:cNvSpPr>
          <p:nvPr/>
        </p:nvSpPr>
        <p:spPr>
          <a:xfrm>
            <a:off x="133350" y="181927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7F3FA1C-5796-4E8F-AFE3-B935AD4C34EC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产业链拆解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28273BC1-FDD3-4664-9B07-64531299385A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8E90903-1A73-4DE2-957A-6CF15FD0FC62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EAC6B783-517A-4CA7-920D-95BEAE864627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058462E-5759-4861-9CAD-94D728EA46FE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17B169B7-F1A5-46CA-9FCF-1AB61B400F62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62D0588-5173-4966-89AD-E3B34FC53118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ABF33DC3-D5A2-416D-9307-18B3BF1641D5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DFC2534-16FE-400B-9149-FD47305D8FC3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60DD31B-8C19-440A-BCF7-FD5D6D6A1D48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CC30B38-B414-4299-855D-DEAF790EAA6B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47F0B5E-CD44-415E-8486-667490BBC4A5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ACC3DA9A-0FBE-4A45-AA94-02C37EE949CB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6BEAF65-ACDF-485C-A894-B64A8A8FFD5F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014BC2FA-A2DD-4871-8FD3-1275AF1C3C67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400EA2F-B4EB-45B6-B0A1-7FCE59211D7A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0FA726E6-F0FB-4416-A6C5-2E13D74B5CDB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916036B-0A18-49BB-B039-EE49C37E95DC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0871E9D-E1C5-4176-BD45-507FD2BE7E79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43C1498F-E875-4F8B-9E66-A648EE4C35E0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5A3BC3E-0B05-42D8-AFC8-D32D1C6AADC8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C6032A92-18B3-4DC1-A256-352F32FF0479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4321392-2935-489A-BC4B-345FB1050D1E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4FB01163-1494-4815-83C7-A6ACBFF7FCF7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A9145EF-E8ED-429C-B4E3-2AA1B6A61FB0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A0E1A336-6607-4F06-85B3-D07F3A2F5C7B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D377D04-134F-4732-B7DF-F6EB0526DAC9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产业链拆解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10DFEB5-98A8-4755-89A0-708BBE743D11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AC33DCF1-06E4-49B8-A188-299DEC0DB001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962CC00-9A97-48D5-B7A6-1EBE30AC3BEE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E5A8B21B-E0FB-4E0A-857C-DFA726144DA5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6D1266B-DDB0-41E7-B704-DA772C4B9426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F60979F1-9BE0-4D39-B388-5517C777E920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A891B2A-A146-4F81-95DE-FCD2CC186E7E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25D2AB7-6321-4AF3-ADCA-9C7E7FE0663A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产业图谱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1883186-0732-49D2-A868-C51A828F0681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上下游关系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F976B17D-9842-48A5-8910-F468FA08A93A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E31E2C7-9724-47C1-890B-28496D3E2FEF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C4B98CE-C55A-497F-90DA-66DD23B667B4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链路证据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9C1FFAA-5710-4BFB-AEFB-170F42AA0AA4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来源 / 影响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D6802364-DBC8-4CEE-8AF3-8F1D2A761430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805E657-EB2A-40F9-A5A8-84DFDD6035D1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CFFE81B-675A-4FC6-8F07-647F5A1B896A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核心公司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5DDE800-1750-473C-ADB8-E2E41CC12F0E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龙头 / 弹性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05972276-B76F-4971-A8B9-2EE0547762D5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F403503-C946-4619-9D74-A7289B5D5669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277924D-6A2A-454A-84FC-8CF84A4CACD3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风险传导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3CB2BBE-2591-4CBD-A330-ACD8207932B6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主题退潮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F8D56DBB-6D8D-4992-8506-2AB9F38D1C09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A2EF2A0-5EDB-4FA0-B4C5-4EF074448F38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BB990B3-C1F6-407D-9CB6-3CBC0EE9B4C1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加入选股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2FE579D-2C8A-4C8D-BDFD-6B3830ED10D2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主题候选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354BCD4D-8013-47CA-82DE-B65E7933444E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8DD351A-D1CA-4220-B440-2F95EE6DDBB1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FD7B7DCC-D5D6-45A8-8E1E-D3947CD480C3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产业链拆解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8DAB0EDA-D245-4BFC-B2D7-7965F4F76AC7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051D851-7FF1-4A8F-9107-D31FD2D822FE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DE4506A9-D793-4BBE-BDAE-773E5FFE9E26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产业图谱 · 链路证据 · 风险传导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019CC4BB-9593-49BB-B35B-C55E4FF655EA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AB2D86EB-492B-4501-8450-8C1640A2B5AC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1849767-6FE0-4914-99B7-A3CD38076416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AI 算力主题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2B862B83-D21A-4938-9DAA-BFA1AD9DACFB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D5D9A38-749B-4F51-8E23-2A217A5A69D6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C7C94B2B-3E85-4EBF-A170-4A0C4360C60E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证据链在线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B32D3ED1-39F3-415E-A88A-FA5C65D60136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22 · 产业链拆解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07361B98-B0D1-43A3-88FD-F3DB8DAA0E2B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加入选股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61EB369-4B62-4406-907F-B665DB96FA15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主题候选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D9BA8E3E-6E0B-4BD6-89E4-164F12379921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D1F3F0AF-E869-4152-B153-B68D7254127F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6069B21F-EDD6-454A-87FE-D5BB32E5305D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82BE2346-6A31-4579-8D0D-9983ED6B4DB4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产业链拆解 / 加入选股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033FC980-F368-4E71-A002-EA392DE6AEB9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3E4563C8-5EEE-4537-9978-DAE730D9F148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主题候选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1150CF50-DF39-4A31-A98B-ECDFE4EDF815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270AC96-BD4F-4A12-A843-CAE065F18E10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承载本页签核心数据判断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9FB54D81-8769-4291-A6A3-D5659E41B8D2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F54B94B2-FFE6-4522-B60F-A6F09A27148F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7A3B6335-3B0A-4B41-A282-BB37BDCFF913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0BA9A4EA-22E3-464D-BA56-439709FA717D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7CD07C3F-5FF9-45F8-A346-1F876D9A5767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7A089A4C-7D72-4522-9DB4-1E0407456FAB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加入选股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4F339ECE-0E77-4045-BD58-F8BFCA0BE2B6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CA230BF8-CF62-459D-82A9-DD30CEA2309E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产业链主题先沉淀为本页候选池，再由明确动作推送到智能选股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5FE9A17F-5F66-489E-9E74-A8FD14B6B772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C44EDC95-A169-4C73-9669-5F2E8D238BDA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算力 / 光模块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83F9A656-7E86-43B4-9235-2B3322F090FB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97F69D85-DF06-4D08-8CA2-8348F65EA99D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中际旭创 · 工业富联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1DCC9047-F40C-4B39-A044-3405A1EAEC2D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E107EBD8-B125-4636-A85E-4942ED26377E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D46474A6-ADE5-494B-9497-2357679E5D70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FDCCAC9B-9E81-4D3F-A716-D60178302CFE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产业链主题先沉淀为本页候选池，再由明确动作推送到智能选股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46931EC3-DBB6-4763-AB6E-40E89A04B0FF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3C41AEA5-C3B5-4864-AE31-34E395545F8F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算力 / 光模块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B5367951-5BEC-49BB-91B5-47F1AB25A582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8F732A9D-203F-47CD-9C8D-E093D7D4C69E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中际旭创 · 工业富联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E5385CDA-6846-41C8-8459-A963A3CF1A56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551E1A19-62A1-46F9-9B4F-BDD7689EF6B9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二线供应链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4793C30B-98E7-4701-9429-FDE8A0A06956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0AFF7B53-CBD1-4A66-8376-66F1A5E26E20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8C921BFB-4BB2-45F2-8D6C-006433D70B6B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230A4C2C-2BA2-4710-B02C-23BFD40DF0E1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BCC5DE51-C0DE-4DBF-B7E0-87A6B7354B10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58458FAD-73CB-4842-9C3B-24A3D93DC4AF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35936A7A-D855-4C29-A79A-C4D294E4B938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产业链主题先沉淀为本页候选池，再由明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3B569D9F-87F2-432C-B02B-D4E164A4F9A1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76A398BE-5775-40B8-A18F-08B8337A51AB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生成主题选股池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9688E8C3-948B-4677-8F29-E30346900284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2E5F183F-3EBC-4BCD-9422-E4F9DCF2F994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AI 算力 / 光模块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CAA09959-03D9-4EA8-9DEF-E691F9F19DC6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DE55149D-02C0-4944-9305-801A311CE3FD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打开智能选股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38692504-CC38-429C-8D8F-4CA65548B3F5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CF07E632-9713-4664-BF7F-65A3762B5972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中际旭创 · 工业富联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A6C642FB-8E2F-42D5-A09C-439D4EFC3B3A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39B6FE84-62B8-4271-8F47-7C90A46F799D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仅保存产业链名单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94DABF35-8464-42E5-A399-A27A5D7A6331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20D760C2-CB56-448C-A237-1D83A563F1C2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F154017C-C274-4F42-AF0C-FA50A3664B3C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E4DCDD53-963F-4F5E-85C7-B116076AA789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生成主题选股池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3FA6FB61-9700-4B21-922D-47015AA6D3B3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B8BDE91A-CD97-4DDE-BDED-13028999D0AB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打开智能选股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178A023E-3995-473E-BED5-E71CCDF4408E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34CF9A1A-93CF-4B7E-8D99-6F2262B3AFB2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打开智能选股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75D04BB3-17DA-4077-A966-09E282F27351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C013FB93-4DB6-465D-B9FE-63805D397AE9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仅保存产业链名单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BE66E8BB-1B1A-43E9-8329-0FA6F4A0B267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DC59DB1A-31BD-46EB-9D70-22D72EDA9234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仅保存产业链名单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180A2C57-869C-48D1-AE71-EB7F6E22AFDF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D52A936B-AD5D-4086-A155-CEF9D966A4CC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加入自选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8F7C65AF-FDAF-49E0-AE1E-00AFF880DC3B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文件：supply-chain.html#screener-bridge</a:t>
            </a:r>
          </a:p>
        </p:txBody>
      </p:sp>
    </p:spTree>
    <p:extLst>
      <p:ext uri="{BB962C8B-B14F-4D97-AF65-F5344CB8AC3E}">
        <p14:creationId xmlns:p14="http://schemas.microsoft.com/office/powerpoint/2010/main" val="2043245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A33E262A-EBB1-42DF-A757-F6A35AFAD5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05DD541D-F8BA-470D-89B2-91C1E1B6E68D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01D55D3-A0C4-4422-83DC-C5B12ED8A07D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893D7-EA14-47AF-84F6-414AA28F693A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210A725-C12D-4127-AFF1-607EA90B2C73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D54163A-F1CD-4BC2-9E11-B23BB32493E0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947CFAF5-C5C9-41AB-8F85-494B7F468036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5B127C-A34C-42B6-81D0-1CBE2A52D504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823603DC-2974-4A03-A1D9-819E2841232F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9F2DD6-A615-48B1-AA50-E0FA8E4E9B0E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6469540D-90C5-49F9-A3B1-B44BC5347357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F81B82-F637-40A0-A907-2A1AB66AE95F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AFF868E2-2C2B-45AD-8EAC-DAD03F64C591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CD34AC-7178-48B3-859B-6846CBAD01A6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DC97A73-5AB6-4B9E-B843-0CC23E6F241C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38023D73-5CF0-425C-BE64-A904ECAEAF68}"/>
              </a:ext>
            </a:extLst>
          </p:cNvPr>
          <p:cNvSpPr>
            <a:spLocks noGrp="1"/>
          </p:cNvSpPr>
          <p:nvPr/>
        </p:nvSpPr>
        <p:spPr>
          <a:xfrm>
            <a:off x="133350" y="211455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D352AC8-7914-4B0F-B5DA-9DA757237938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55555A2F-6B3C-434E-B161-DA22F2ABC05C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B627846-0FDC-446C-A1DD-428D8997B87F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09E4135A-C36E-4FE7-BF15-9F16F597FA5E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E7B9C81-5C5C-4848-98E1-F6AD549205A5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53983DCB-432B-4122-B68E-2446AD9A2BF1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BBD5A44-EAC0-4FFC-9FD0-A8CCF9AA55D7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75C178F-28A3-40F2-80D7-BFC7D583C804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1B7CD118-65AB-44E6-83BB-97E3AD31C219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7902541-23C0-43A5-AD60-2A5E43CC860C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C2D0F3A4-18F8-4CC3-AF9D-290DC6B13481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1A946F3-4DDD-43EB-8281-5C539BE10147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96FEF18D-63F6-40B5-8CA5-59E6CCA4AEE7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ACFEF3C-7E2C-4219-9BA1-9FD258D9FBF3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FB994D15-8455-4A81-86BD-07BEBF17C485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76E5C52-D097-4EC5-8D0C-B226B95932E1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7EB7D19-DABE-4DFE-88C8-0167CC3D3369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4056D61C-1297-4BFF-A572-8E9D5D9A236A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6FEA803-5328-4C2D-A1D4-5DAF762B07E0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83281E02-B6C7-49C1-8C10-5DA69180B65B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FE51E59-76DC-4A02-9C28-95549704DD22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94506197-E8B8-4330-BC87-2D91F244CBD0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F5ADA53-4E1E-450F-8E79-D1DAB1EF82E7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80E8D5DC-167C-4453-83DD-32C214DA93EE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9CDA179-7CBA-4E21-B9C8-5527BF65901A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K线预测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9D63353-2AF0-492A-9D06-D13259509C40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92772474-F4F7-4156-8786-41D7B939436D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7FF8233-0744-461F-B3B0-B4471C3D8F4A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99C41FE4-A165-46DC-A252-A8053B7EF790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E75FBA7-7F2E-4C94-AD87-C9D8F9B080EE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B06FB021-7CD5-4E71-AD3F-16BB51FA7D02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972B057-4BA3-4B16-BCE6-32B2D02AEA63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71814A6-974B-4B40-A889-063746484A51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标的选择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C95FC65-6E30-4575-AA2F-CB79C3A1B473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股票 / 模型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2D55E62C-46CA-4874-980B-714929DDAD12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8ADBFCF-FA6C-42EA-8D95-D36164ED8760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4E3C2FC-4D0B-4227-AF37-CB85D7D009F6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K线走势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B58BEB2-0D55-4092-9160-4E9ABF340D60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历史 / 预测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F3F20307-DB34-4623-97AC-1DF739F9D36B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DE067CC-89A0-43E7-BE1A-AE406DA4939B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DA13BF9-4AC6-4A95-B144-098B4375FC2B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概率路径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4AC403C-C5E7-41A4-BDCC-E50C466420D1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30 日区间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C2B0B8E8-D448-4E70-B68D-AA180A5395C9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D80813F-5A8F-40DF-BDAA-6B40A76C8506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099F9CF-2684-47F0-9532-56432AFF5B15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关键价位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AAAAD81-31E8-4910-8A4A-F20D1756BE56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支撑 / 阻力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ED3923FE-4D7D-4668-A497-33EAB940D8BD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6EBFBE5-2E49-442E-BD5E-D1B73EC9167B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1AE9B87D-82EB-46FD-AA68-A96A3ACBBAC6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生成信号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5DADCF6-D70D-4876-9704-39857A5C672D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执行触发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9D0C9A74-F623-4ABF-BF41-94DE95D3BECD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50E9D2D-9C86-479D-B5D1-CAA7BBE17873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3B5DA0A2-9167-45DA-AD35-86046B81A9AE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K线预测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D8E19E9E-82D9-41B7-BC90-7716BA2FF66C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F4B9ADF-6675-4BFD-A04D-B0D6F5FDCD19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7EC84E5C-D551-40E6-BD63-7BC888F411A1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标的选择 · K线走势 · 概率路径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B744FE30-E8AB-4ABE-86EF-02462CBB963D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5F1D5431-6991-46D1-9400-F86C2AA085E4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6CE67EF-FED2-41D2-A112-F4BC8181A104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30 日预测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D12E8249-0ED8-49B6-9EDC-FCFB30C31756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B40769D2-FCF9-4A99-88CE-3E4A61DCFCE9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128E0EBC-8DB5-41A5-8E1D-50360BD4324D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模型在线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51AA683-069E-4955-894F-E2B774C7D6C3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23 · K线预测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0FE592D8-0F90-43C5-A3EF-6D14A8A2C61C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标的选择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1AE35A9-15F2-4C94-8ADC-195209C31063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股票 / 模型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90DF5291-CB9E-460E-A265-C22519C6CD14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BFF93134-0BD8-46AF-885D-139AA4B6992C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67A70F80-C499-4AD3-9848-5A40D02D727C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147622F-1606-43D3-9B06-8E9F8B637CBA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K线预测 / 标的选择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B687997A-5985-4A7D-B459-8A021C0AB0E4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7CBF628F-2433-41D9-9142-4D1E92C57706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股票 / 模型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BC46A06D-106C-494A-9B16-C2CA4C6ED895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8265DB65-8C34-45E4-AA3C-8AAFB2E9F588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5A864382-5DF9-4B92-8B1D-2ED948B10031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2D8B7415-A47B-49BB-B1AC-215B1F7C7BCF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44DD8B07-2B48-4F1E-A1C7-8CC504A71171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54936259-9575-4B6C-B4AD-6ACA0F3DD169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D08B0ACB-BB3E-4657-B71D-C6E0804C1242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F93F5EF7-41CD-4F80-83F7-BE2A71DA5BFC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标的选择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1F1133F2-0C30-4AD8-BC53-69D08030D646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3901730F-50D9-4C4E-8EF5-F4E126B28F61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38DBA47D-765A-4A79-B989-DD5B7463B6B7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76F9A86C-A26A-4EED-AA6D-B2B632133049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 Kronos-base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25511615-B0BF-4110-B430-A5ADBBDE23FD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60520C28-E85A-4ABA-8556-CC618BC72382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96E99923-03D3-42D8-8778-CD5CFAF5F3C9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AC5E82E1-55C6-4C4C-B187-C94A747AA3DC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22F653FF-50A9-425D-8017-B02D915872E6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5105DDF3-B771-4E2E-8F77-DD2E6DDC886E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id="target-selector"&gt; K线预测 中际旭创 300308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11E36358-09D2-4849-98AA-DB8AF4379316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3FAD89CC-C2D7-4E13-82DE-A63E6E4228D6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 Kronos-base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8B7D3FCD-0F33-4A8A-BEB7-C4B24FEF1E88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28D8E4E7-5967-4657-883F-EC5DD53C9DA9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4AC18D25-A831-4D25-8EFE-9CCCE3203BC8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A80F725F-DAC4-410B-8ACE-9BB3A56D79F0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7C32834F-A383-43BA-8150-E874BD713664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491389FF-B198-4E45-B65E-8677160B2FC8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DC8E785C-2DA8-4FB1-AB89-E785BBE03AE3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6BFF6BCC-FA5D-4C0B-B13D-5FB9B908F676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B160D076-3B83-458F-8087-7E0951CC30DF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C5252D8F-5858-453F-9C0B-E2D42E565784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8999FAEC-7542-4173-B933-18944232F18C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id="target-selecto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1BD5D039-E2E8-4EC7-BE0D-75CCD57465A8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3661B44E-0DFD-4806-BA6E-2A3C7E56B80B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日线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8B2E7ECA-E264-4422-ADA4-BD7BA202A7EE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54EA5423-C209-4CEE-BDCC-2F630945C804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模型 Kronos-base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6138B985-249F-4E1A-A653-85EB824EC294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31C55E70-6B44-42B7-97E6-F22E0C3FC954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60分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ACCD9CA0-AD0D-45FE-A751-ADCF2F70B737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BF54ABF4-2343-41FE-A7CE-BE9754C368B3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标的选择样本 3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87F23925-8335-4638-899D-B50E4A26078A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311521CE-6A60-4DD8-A431-DB07A880034F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15分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DA6DE1AC-00DC-4025-B6A4-876530014604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B5110AE7-1F7D-4A3C-A6A6-16D1FF22EFC8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4635E8C1-DFD3-4C22-874D-64839E623A78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701FF93B-12C1-48DC-8FF9-3C630FF44139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日线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EDE274BD-349E-43D1-822D-F8508CFC7988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883B22AC-CA9D-4D4A-A176-687F033C6FD2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60分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9C4D69D7-7E50-458C-90E1-CC4459FF5C2F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D3C80969-547A-453B-A99F-A78413D41635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60分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F812554F-BAE6-4352-B7C9-3AE6B21C67FA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2002AB43-6B7B-4A44-A455-72A2AB4B12C0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15分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2FF582F3-486F-403B-924E-80D38D9A2A2E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A91B73FD-8743-41DB-903C-9A9652E73F0E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15分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E860BDB5-8600-4E75-81F7-BC209CBF88F4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0D20A08C-0C4E-4DB6-BC1E-9767E95A6F37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保存快照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DCEB8FA4-015D-4CF9-9015-092C30C5DBDC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文件：predictions.html#target-selector</a:t>
            </a:r>
          </a:p>
        </p:txBody>
      </p:sp>
    </p:spTree>
    <p:extLst>
      <p:ext uri="{BB962C8B-B14F-4D97-AF65-F5344CB8AC3E}">
        <p14:creationId xmlns:p14="http://schemas.microsoft.com/office/powerpoint/2010/main" val="58914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0635EEE8-D43F-46A0-98F9-983C03A713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556757A4-D1CE-4FE6-A471-F3360E8089A4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B5DA1F-7115-4C03-BF4B-986454056C8F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7EFB70-2AFB-4689-9612-3C938CD2DC35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8EAFAAE-B0D4-4851-908E-9CF2AA21ECC2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7FE171-D3C8-4C0C-874C-88BCBC80AD99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96E94CC-AE9F-4B61-8624-0279470B343E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8666C24-20D4-4461-94C6-6A42EE7C6EF1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7864DF9-2416-4543-ADA5-2917D57463CB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269EDE4-D1B4-436C-9EDE-2CF5374521EB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1611238A-43A2-4B15-9E4E-841CC84A9D98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34B168-280D-419F-BA42-7F311349ECC6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4F83B75-A39F-478F-8E64-5A8328BB95F9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91747F-1BA1-415E-B20A-193ECB3F2F72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E697DC7-506E-4019-992F-D2A46449E37C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5C0CC4DC-BD79-47BF-B256-7E9156C570EA}"/>
              </a:ext>
            </a:extLst>
          </p:cNvPr>
          <p:cNvSpPr>
            <a:spLocks noGrp="1"/>
          </p:cNvSpPr>
          <p:nvPr/>
        </p:nvSpPr>
        <p:spPr>
          <a:xfrm>
            <a:off x="133350" y="211455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C395D4-C805-4097-9B4F-089CD8C3B6F8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B6558249-D4D5-4FF7-9530-90CFAFD46F66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98F02EC-45C0-4870-A148-A8E3E8B94E9D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F323E7B4-5537-42E9-AB64-5646B89EB5C8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8591AFC-9D6B-40BF-A6D4-8C40870BEF72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AD9FE630-6607-47FA-8A08-13444CB922DB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ED1CF22-8B4B-419A-A51A-D9BE64D9BF9A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7A752DC-649F-44D2-AD00-CCFE00D93AA0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DC6C5EC1-747B-4E3C-B510-900345DE2804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0B5883F-F29B-48F8-AE36-4F1F568D81AA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C2C8E85E-3619-4F67-A2D6-A023EB13F931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B6B8985-DACC-4677-B953-048B482067FA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2EE1DC85-389C-403E-B1CF-4051583E161E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8644F66-6040-472B-ABFE-9EB8A6C229A0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CE412B57-736E-418A-84C0-7B5AE4931973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66178D7-E206-49C5-B6EE-2098CD3BD04F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5ADEDE1-30F3-4850-944C-8C7BF559CF0F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8FAD5472-29BE-44F7-B8E6-1F7ADB497EB7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9655AA4-C735-48A7-841D-D803B1C32E55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2A84308F-D879-4078-B39A-1F70BA72E67D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4E5545B-3BB8-4588-8C38-1BBF364D0A93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D4671151-7BD1-4827-BF41-43395B2865D0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687FF35-A2F5-40DA-9D10-C27586D459B4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9564FD56-C788-4226-A81C-88275CF94A31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14BB459-E0DA-4F40-9D47-3FAD06270E54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K线预测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80608D9-7044-4BBF-9ABC-F5D1D91596D8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A56BFD3A-D322-4B64-AD31-0284E7E49840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6710C7A-B6D7-482B-861E-BA0E1D6E37DF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1EE72D70-06A5-4E0B-8B56-E437E8C116F6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A0A2DC7-F16A-452E-BAF2-0D2A8BB26C75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63466F49-4E8B-4769-A131-12979D1479D8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18F64E2-651C-4DAF-8F70-F13EEC50D4ED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C946C5F-8F21-4BD7-BBB0-CF3C5EE4339B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标的选择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E30702E-A6B0-48C7-8DA0-60DEC95B98DE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股票 / 模型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AF84B62D-5C99-42F1-B5A7-DC8D4EDD9248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45E465F-AC62-4406-96A4-C8F59802E21F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DEE83A4-1C36-420D-83EC-428581358D5F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K线走势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6A829FD-D00C-4934-A294-511AD3AFF9F4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历史 / 预测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286BF630-8CC3-428F-B0B3-49DDFED80271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0F9B5A7-8933-4348-87C9-AD10DF7B0DA8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036AF65-9C8A-4348-8A73-15CB83968A09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概率路径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ACF144E-5EF0-4C07-BC66-00A557F706C4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30 日区间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DD66A5CA-CD01-40CB-A506-089894A3806C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88C2A20-BD72-44F7-BD33-7CE728461E20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9184A607-6CB3-499F-9154-AE58B0A1BC4C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关键价位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38BE7B0-4B11-46F4-94FD-88FAFD0DB07A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支撑 / 阻力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7365868E-E483-4893-9695-5301C52869A3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8000886A-1559-411C-B271-2DC1F0643F86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6811CB1-46B3-4011-A732-6A8DCDB7530C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生成信号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F6B1F93-81D6-45F6-8F30-0DF88395F4B6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执行触发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2C75385A-F65B-4304-9F8F-7C14DF7BD288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A6EB69B2-FBD5-45F6-9290-6B0467ABDBF1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00907105-530B-4BB7-953C-400471EE1344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K线预测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A679C5D7-4B3A-40E9-A235-5A48A54AE5C5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D5EE95F2-A675-447B-B347-5AB728892726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13F02594-74B8-485E-86A6-2B0BCA02CC24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标的选择 · K线走势 · 概率路径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90805ED4-E444-4C65-9E8F-C6B8973D1577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598EC11-D02A-43C3-8039-F732FA91628A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25AA9E61-F695-4B62-A7A7-66DFCD9FBB42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30 日预测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E46DF230-BE84-41E8-9D10-88939CBE4E5F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2338E0C3-E0D2-4B19-AC6E-D6187A8147FC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1D449ADA-2C5C-4F5E-AC35-CFE7F91959FB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模型在线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2160C2F8-4980-4271-9BE5-47D2D7B46041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24 · K线预测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33AC0FE7-4699-4A8D-B560-0DF06698C3E7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K线走势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B702D4C5-1C7D-492F-8D06-F06207E137C3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历史 / 预测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D78894EB-1DBE-4323-9033-91CC7C871877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0139CC8D-E03B-4493-BE16-AD7BEAE32889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BDC7ECCA-0D52-4FA5-83FD-FD63A046B776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20EDCAA8-7ECD-4C30-9AED-FEAD3375C281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K线预测 / K线走势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190552DB-6934-42A7-949F-64B5F350B5CF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595830B-8572-47C0-9DF7-141894F5E436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历史 / 预测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A5C510D3-5C2A-4CFF-B985-C45418E98736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A7BFF8F0-A153-4626-A329-257247CEB0D9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K线与预测区间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726AE8E2-B94A-45D8-827A-738003C90456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70F3D1F0-5952-44FC-A7F8-345073BF158D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C3E8EA5D-7C57-47A3-9003-10731E27DD17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9F03C66E-8ACA-4409-8F7D-EBEB3F5F233E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80B5C326-37EE-448D-94CC-4EE1533B40BB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2631FDF2-C51E-4609-8E02-91EDC008A927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K线走势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39C71981-2CBA-4EA2-A8D3-03773ADF5B2D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5BB047B8-8F47-49F2-A861-885F4C9D7A68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K线与预测区间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77700828-D210-477B-AB71-7B8D374B786A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897C806D-40FB-4E2E-8D17-16517987E27E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id="kline-view"&gt; K线与预测区间 实线=历史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28584B7B-39A8-4CA3-8915-9BF570EF60E6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66024059-71BD-4991-B920-9E5F2260F3A9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虚线=预测中枢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5CAF8052-AC2F-4E1F-B8F6-C7FE26EFDC5B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7C7F6639-1125-4522-BD4B-29117E818798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591B63A1-1C01-4FC7-A460-9B0C9357FD85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44A23C28-3AED-482B-9BA6-02EFDBBF53BF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实线=历史 · 虚线=预测中枢 · 阴影=80% 置信带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CC8439B2-AE28-4716-A228-2D4294D72660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4EA93437-FB85-45ED-8DD9-A37BD2591B65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id="kline-view"&gt; K线与预测区间 实线=历史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4BDDA2EC-F399-40E2-8B7D-E56C9A306F66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30FC7B44-9726-49CB-A3A6-DB15B5951F17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虚线=预测中枢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9DD8890B-04C8-4FEF-8E79-AB3DB9DE26FF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843D2D58-4C5B-4BE3-A3AA-843DA2A6DD6B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阴影=80% 置信带 预测图只生成条件草案，实际交易必须经过信号确认和交易票风控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B8AACEFB-F4DD-4B75-9061-EB9D9E89E46B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F32BEC5A-8FDC-44D9-93E0-2149D1A3F533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02431F84-EE9A-4771-B1DD-8A1F0FD904EF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EAB66E44-05B4-4CB2-8640-7F8D5B62BB70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B8A7DBE8-398E-4263-B9FE-6BF1F0D84B85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1D0FF21D-384D-4062-B11A-FDD79429AA10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F87B29D6-BC80-441A-AB6A-D24C69AAB4FA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实线=历史 · 虚线=预测中枢 · 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5BDBDA06-087C-4CAB-8773-29998F84544C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CFA57455-DEC6-4240-90ED-399D9A5D6A01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保存预测快照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DD5A07ED-84CF-4DE7-9DF5-748D413745B8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3672BE48-AB89-4E23-8C51-94F2072DCB1C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id="kline-view"&gt; K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9CE9FC67-BAEB-47FF-944C-D44497CD3CEE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588F94DA-CAE9-4875-8B17-CF60426D84B1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生成触发条件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0E1A515B-CCC9-4604-899F-0847E4E89811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50DAA9FE-E1D9-432E-A8C2-911953F18A53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虚线=预测中枢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3806F310-582E-4C98-9953-AC6702229333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C62899C4-695D-4A31-B2A1-69CA408021CF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578EF2FB-1512-4010-A6FB-53D7CF324DD5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A1AD8923-DCB9-46C5-8CD7-7C8ABDA23AD3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015F4805-05F9-4594-BF29-D7BEBC45A06F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878F8D77-5530-4F0B-8D21-66A92B502D69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保存预测快照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58BA6725-E021-4C9D-A1B3-2742CF601426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CB3753A4-DB84-4988-9021-B011E156DF34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生成触发条件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2037F78F-C753-4566-A53F-479A14B39812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55255233-E0AC-4A7A-B6D8-B2042533396C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生成触发条件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60032974-1BDD-4F01-B26C-42BA3E6FFE08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528D225A-D305-4DA4-952B-5A337EAFE927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EFE69FD0-5441-4CA4-AECB-6643C2F20276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A102D2FD-3B3D-44F1-8F42-E3AD98BD10EE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CB43385D-941F-4108-B0A3-6BBCF99E9A15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22484177-51B0-4C53-A5BF-7850C5179BC3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7C09A1E5-B1D8-4C8E-AB13-C5296952B43B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文件：predictions.html#kline-view</a:t>
            </a:r>
          </a:p>
        </p:txBody>
      </p:sp>
    </p:spTree>
    <p:extLst>
      <p:ext uri="{BB962C8B-B14F-4D97-AF65-F5344CB8AC3E}">
        <p14:creationId xmlns:p14="http://schemas.microsoft.com/office/powerpoint/2010/main" val="256650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17D3123B-86E8-4ECF-B285-2BB0862318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7A2C64F4-11D6-48FB-8C2D-4E8D9A35A508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12ADDD-889D-4EAB-9D29-AD691AD982EA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79D95E-3B66-40B5-9D52-BB394ED5194D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B19BD2BA-47B7-4913-AE94-9ED72CE6B8ED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EE1C02-366B-414E-A2F4-3F84C656B8F8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F6FD9C54-5634-43E4-840D-7E6D0A340366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191901-1D8B-4D8E-974A-C395BA9D1285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8AAAFE48-829B-4C67-9077-0656F40BBEAF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FF45C2-FF5E-41D4-B072-CF77AFBC5E5E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B161912-F1DD-46F4-B95D-0E6AA8E3CE77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0B8C7C8-37E6-4E4B-87A6-A90D2297C3EE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30962C38-26CF-4DE6-9311-9A2D856B0330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D8C957-44EC-4DD4-93AF-27E766E670B5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DBBF240-112B-4728-AE50-1EE67B5F36BD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7CAA91DE-C86B-42F3-8CB1-9F872A5B9468}"/>
              </a:ext>
            </a:extLst>
          </p:cNvPr>
          <p:cNvSpPr>
            <a:spLocks noGrp="1"/>
          </p:cNvSpPr>
          <p:nvPr/>
        </p:nvSpPr>
        <p:spPr>
          <a:xfrm>
            <a:off x="133350" y="211455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1025CCE-3B8F-4286-B3C2-0E628493A984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6A876A4-1CDC-4CEC-8464-5AE44FB85684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9CF1FB4-286E-4CCB-B3F6-314CE413991E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7D39C98E-833A-48A9-967F-EF2DEE7BDB32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421C547-F580-46A1-A2AC-D0ECED9942D6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C3A7FB8B-6C53-453C-B3A3-25B55975986A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4D82B49-FCE7-4625-BEC5-F4FF5349CBE4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ED25DE9-3848-4809-966F-3F73AE4BAE82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D9287327-1DAA-47ED-850A-41A804BCCE01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2655F5C-1340-49A9-9707-09C048DE2E39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5B203B6F-63ED-49B4-A706-DB60D1141605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76014E1-D222-4317-9E25-C735E1550622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198E409F-C81E-410A-A0E3-94431A737A5D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E138AB5-DC45-4E36-9923-EB7B680C05EA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81E4D9F3-BA18-4A13-AFCF-6D5937BBD073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8118071-C6A5-4A63-9B1B-5361492A9A0B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4FAEFAA-65CC-4F00-8687-A90E6DE83024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008FF4D8-7974-4FE0-97D4-7AD3FB3EB5E6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E58AE68-853C-46C4-881B-B5018666E9CE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A623FFBE-02FF-4FE0-B30C-56831071F00F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FEABC61-4909-4481-BFC9-A2E34F682762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F6625685-C6B1-4627-BB5A-F96BB4B99CF3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F0E7E23-B937-4182-BD19-EEF3B592EFD6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8FEEA7CE-B346-4AD0-9350-0A1CB5FADCBE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8AC0DD0-A3D8-453B-950B-AF7CEDC2B7F8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K线预测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1F9626F-801B-4DC6-BC15-6A58F9E7B9AF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35C501AD-504A-454D-AF39-95F6E9EDCBF6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F643CC-1A1A-48F7-A81E-9C431CCDE0C9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F464C531-53C4-4E59-895B-F5632F877454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0F2B460-7C3B-4917-974B-81D98FC0971E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1C0DDA8A-C8B4-4492-BF36-09050CDAD8E3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DAE3F76-2AF6-41AB-BF41-B070E1B3459B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5BFE7D8-7A09-4138-94D2-26AC9876D771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标的选择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4E48784-B4B8-4EAF-87A0-294DDE1D1C63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股票 / 模型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9447F064-A4F2-4491-9581-899B682E6876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5D7BDCD-10B1-4E73-95B3-14B3BF944CDF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A4E031C-364D-49F6-8958-854075A36D2B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K线走势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27851AB-FC99-4F4D-860D-6BC6481C4872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历史 / 预测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061F101E-FB63-4C63-A589-DD9E1F18CE17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937DE36-DC93-4F26-8F7A-496BA52D6940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824336C-153B-4308-AF13-0143F2F4CA82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概率路径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B9C0D35-4128-45D0-BBA0-2ED38D65563B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30 日区间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C61F80D8-E604-43B5-9011-4CC5C0B1D67D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CA2FAC9-E8C6-447E-9CB1-074A624495EB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7F64C5C-82DD-48E4-966B-056607EC4223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关键价位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483D4E15-A2BA-4EC8-A679-3EE9832FDE9A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支撑 / 阻力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D9D3595F-B9B0-47C1-B384-0ED8B0C96A11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6ACB76E-743F-4B5A-B468-6C182926B245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6D6317B-C202-4653-BCB8-C352094D0CDB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生成信号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982D914-E759-402B-B755-17B36C3717EB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执行触发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7833165C-B5BC-4976-8872-7F141DE9A5BB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158F488-8F6F-4717-BBD6-2BAE279827AF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078F7FC-3429-4510-AF2D-1BF8CDFC01EE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K线预测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F5935710-C61F-4A23-8829-E4CA442306FF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F5686E1-A8E5-4579-8F94-8D01C139B56D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9EC46FB3-B2E9-4B99-BA71-6190424D5B05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标的选择 · K线走势 · 概率路径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01055367-5BE2-42CB-B829-834C3C78DED2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F249093-B503-425B-8C52-8A263AE09052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868A5103-5201-46A7-8865-416777E27D26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30 日预测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AB88BA3F-CA10-48DA-AF8D-9F0177900A7D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B48DCFC-7CDC-4F5F-825A-923CA05E40E2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D80C571C-3DF4-469B-BED3-DB2C3707B1A1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模型在线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AB6F1E0-F413-4FC8-8E91-45E4F630FAA9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25 · K线预测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FF1BCEDD-B3D1-4C2A-A12F-E52B8B0273D7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概率路径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C1BE0C5-D1B3-4DB4-9244-9B803F8D7F6F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30 日区间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44D78350-7331-46EE-A7CF-924E4A94DFFC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D35D845-E74C-419C-A745-730316F2A0A9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1B0113DF-FD2A-4764-AECF-B4AE8D2DE758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977771E0-2181-41CC-AFFB-D7066D76C06D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K线预测 / 概率路径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9B3F423E-D10B-4DE9-982D-FE3E8E5521CB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AA2E4DF0-EBF6-4D33-A5E8-8ADF43655541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30 日区间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4987CC5C-5380-42C7-9B14-9E65AB68D207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6C5C5DE-88F9-4565-AC29-E110E4C8EF85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5 日预测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E459DBA3-E93B-4482-BE81-632EE1556190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3359358D-54B9-4898-951D-EA1C8A17EB07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ED128E68-A5B5-4FB0-991B-BF78C99FDA9E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FF6E105-C221-4214-988F-8805F89DB2AF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FE8B0DF1-5590-4A54-AAFB-7F9B2FBF6A27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7DA357EA-945E-4FAB-BCC8-5F3467025F3E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概率路径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3E4B0263-A64D-41C6-AE6A-658309F3940D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2C6B8B30-730C-4C36-B1E6-E14F3E49B470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5 日预测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3D5F76AD-5070-4F25-8FF8-221B15E12520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9687AE91-229E-4479-8632-6F06F0E88348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当前价 156.20 概率路径用于决定是否进入信号草案，不直接触发买入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4147DFA3-C680-485D-80E9-FE37813AEA51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A8755251-91DB-4259-9C1B-F0BACBC3ED37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保存阈值 加入跟踪 &lt;div class="card"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F71E03DF-28AC-410A-82B0-9C06AD6C447D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C8EB8907-D531-484E-8AAE-104A0634D500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0E9A1AB9-88E6-4909-A9C4-4FEC97E81886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C951898D-847D-4A01-B24D-FCD3188F4CFE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置信度 0.74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F72CACFA-1DAE-4AC0-9EB3-B9CF09DA2875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F3556BA-26DA-4556-A557-F622B54A3C2B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当前价 156.20 概率路径用于决定是否进入信号草案，不直接触发买入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1EC818B8-40F3-4FDB-ABDE-BFEFB59BC9BD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965075E9-DC12-4CCB-A17C-FDC8674ED79B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保存阈值 加入跟踪 &lt;div class="card"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E52E6649-827B-49F6-84E7-F1EB922FDFBF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9D88AB81-AA93-4342-AA3B-9E1670BCB269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C927B610-B656-4B46-A2B7-18E184A5DB23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728558A9-127E-4699-B602-5182AA87B9F3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DC9491E5-D179-405C-BA9B-55FB9A26A6D0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2F667A79-09C6-431A-878E-567025C38E3F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503F65EC-7CE9-41EC-B22B-454D7E26C6D7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1CE6EECD-7BD1-4B19-BB89-27EE1CE6BD62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015BD408-D27B-4450-9EEE-784EEB7F588B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置信度 0.74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F2C3418E-4D01-4604-BCB2-8A0766F5ED0F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34296EE2-39D1-478D-9D70-2C87A178A5FC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保存阈值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EFC59B2C-0798-46E9-9FD9-61ADB5304362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E5C4C55D-75B7-4A7D-9D6A-13328A125974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当前价 156.20 概率路径用于决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8F2AF699-BB8B-4286-9496-0B346226D922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AD066CAB-D6B6-4EEA-85B4-932554D54C54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加入跟踪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70AC6DDC-5AF9-4BDB-9384-ECCD72A5C44A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9C11200D-85A0-48B2-A150-3827EF045EAF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保存阈值 加入跟踪 &lt;div cla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1D699958-05ED-4737-BA6C-70E4BD7552C4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E94DE995-437D-4F64-867B-73D1EBECDCE2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4A6F9B7E-FE4D-4D84-A657-0F7017A6E5E1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2F738C70-EE92-48B2-B0FA-3B98C475A9BA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B182B672-5771-4847-9158-CB8DF8B54343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B98BB795-0FAF-4F71-954A-82D028B47099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保存阈值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BC4E61B5-48E5-4C3F-8771-E8F9D7B61566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065EDE49-5CA5-4397-9357-3C2431C31A24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加入跟踪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C5D7D959-4809-4F80-95BF-AF8121754C86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522C82A9-918A-47A3-83EB-48F107973FF9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加入跟踪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A02BC7FA-C33E-4FB0-9D78-447CCE416008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16395D1F-CC89-4EB0-B168-6624ED59FCE5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EB8C5C88-F35F-4023-9C6B-52821DA43B83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8762864E-1D19-43ED-9981-28B0AF2C65EB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A2B62515-6B0B-4FE0-A3BF-8EFF4F1D55BF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D9D768ED-08FB-4BE6-917D-DEBC532D607F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A39D671E-E59C-4D66-BDB8-7C4919F05F6E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文件：predictions.html#probability-path</a:t>
            </a:r>
          </a:p>
        </p:txBody>
      </p:sp>
    </p:spTree>
    <p:extLst>
      <p:ext uri="{BB962C8B-B14F-4D97-AF65-F5344CB8AC3E}">
        <p14:creationId xmlns:p14="http://schemas.microsoft.com/office/powerpoint/2010/main" val="1355848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D0ADA9F2-27E2-4E41-96BB-87DF898D25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5DB5917D-02B7-4D87-9936-73B2DF158ABB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10E466-0BD4-4DA3-A0D3-3552959D1CFC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A7D217-EB29-4504-AEEC-AEDEEA4EB4F0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228B11B8-9664-43D1-AA49-855E6E18DD25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7D15FC-B2D2-43BD-B3F5-4FE0D4F98273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A07094E-D22E-4B5C-AB00-3CD9781E2EDA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BD1543-3763-41AC-899C-D7573F2FCB80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D6B6CA3-B08A-4D9A-A24D-33E16EC6B8DB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CB4D0CE-C0E8-4C6B-9DA0-18A6C744FDEF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26DA5751-7F5F-4D48-9CA6-BE3D3D718DA0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4FCD53-12D0-46C6-BF39-66C1EE323F41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6E66B13-57C7-422A-9660-3DAFE09F2FD5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D4A07FB-89AF-4349-BE9D-0CA87E1DDD07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E6BBF86-8B70-4975-926D-90158DA766AD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0575A596-F8DD-45CD-A2A8-71F1B78D4ADC}"/>
              </a:ext>
            </a:extLst>
          </p:cNvPr>
          <p:cNvSpPr>
            <a:spLocks noGrp="1"/>
          </p:cNvSpPr>
          <p:nvPr/>
        </p:nvSpPr>
        <p:spPr>
          <a:xfrm>
            <a:off x="133350" y="211455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B21ABCE-41D2-4D97-A465-DF533BACACBE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AAABB810-4C5C-489F-881D-54E7A75DDB69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528B0A2-E153-4CD6-BB6F-C8FE14167CA4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F8E6F211-8B3C-4E90-91B0-BB6F998D6E74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BBBBCE-4DE1-4E8F-BDCA-BF2F884E57AE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794E4255-AB47-4F7D-AA13-1A2DEA6818AE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0DCB628-8D68-4C84-927B-40605BDD3AE5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20E7B2C-86E7-4695-868D-28B77888A87D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7942DC29-BA43-4DE2-9C70-DF6DC0324AAD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C646EDF-CB66-4834-A15C-82261E6D155B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1A890E05-E5A4-4777-9A17-AB76775ECA7D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A6A0F9E-591C-420B-9FB5-4F276A899285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3DDC2A38-E158-4569-AFBD-93B1A390DBD5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662C30-EED1-40F8-99F2-F9945AB08840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D4FD88B0-FD97-453D-A9B6-5E5A62CC8CA5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CB498A7-05E1-4290-8603-3B1273A40705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49A68C8-E824-4F6C-B98F-6AE5FED26C49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DEB0F2E7-7BE6-4D5C-BE0E-47882DBC31BD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9499F26-1D8A-42F5-9DE7-7458746EA2C4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6C194E7D-D027-4625-A87C-44C8B9ECF412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2BEFEA0-650D-48E7-8336-2810C2879F12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9516D05F-7A63-476F-A47F-18D0A029B18C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C198009-D673-4EC9-BFF8-EB84893D9593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B4D79DCB-7512-487B-8422-0EB7F2F618F4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2123A6-9C86-43AA-AA75-ACE9C0CAF38A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K线预测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3870EAE-C8F1-40D8-809D-957CED1D4D24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F6025FE5-F787-4FA9-8998-428A20CCA0D9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252F688-0365-4C01-A44B-4C894A1C33F4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F9D5F05B-3785-4D83-983E-270CC833E618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1F09358-7B09-4F55-996F-927244BE2EA6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99137FBC-3F3E-4127-BB82-3D0266320637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FEE95CE-B4D3-427B-85A6-126B63ACC244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B4497B7-8ABF-41EB-B008-B304425DF0B7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标的选择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203F19A-F900-4084-A1C0-724384C8EF94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股票 / 模型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FD1697B5-75E6-4CB5-AFE7-688E6BB1ED8C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E2B0A3C-DCB4-4CC9-BC68-71B47C079969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224F98C-03CA-4CD2-9B8F-A82023CCDDDD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K线走势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709F08C-3F8C-4197-896D-328E4BF0BCCA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历史 / 预测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9476B843-0E71-4FAA-BB49-2C14E016B905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AE54A54-10FC-4E7D-82E0-18EABF1C3D43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D34A19E-0682-4B01-A60D-8897AC1B1536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概率路径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E4FCFD7-C5A8-4DAE-91A4-3C50733432CB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30 日区间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8A11EFE8-A350-4F6A-8209-480589987A02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842416C-4306-4E6F-8EB3-C45AA3D8291B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143803E-91E1-4185-A33D-2423EB146AE2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关键价位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DD2CF82-E8D2-4DF7-8FFA-9DBFEBA1B58E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支撑 / 阻力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E1260FDC-B515-4545-B290-CC2C86D7F795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4AF1BF1-F2C7-4D3B-93CE-3CB0BFB32CE3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FD7871B-0B91-46C5-BBA3-6D8E6FD476AA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生成信号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4BCC804-556C-44FA-B807-E81FA2AD06C6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执行触发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0F4D87DB-6B1E-486E-BDCA-F7C3E122CF9A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C706DD7-307C-4CC4-866B-AA6AC355507A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0F57B8D-8344-4E82-AE22-6534D214646A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K线预测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494B69B4-9ACD-4494-B396-469FDCCBC475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D90E1E19-2DEF-4568-96B9-55BFB52A0C9B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1EC62714-EE3E-4C93-840D-9D7556C9A428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标的选择 · K线走势 · 概率路径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635FE1D1-D410-4335-884B-2C338BD35677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A32F1F3E-E171-49EB-AAB1-9EC7DDAADDC2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4A748F0D-AEA9-4934-93B6-E1FFD091D955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30 日预测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D8DC364C-9201-42EC-A803-97F359A0B498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2D3E5140-565B-4160-B9C9-12EA0A74552E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C69BA279-D7AE-47CD-B705-9FF059D703E8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模型在线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41B86A4-66AD-429D-BAB6-8400DDDD5E16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26 · K线预测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43C789D-5012-487C-A15B-03841F7B994A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关键价位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F4D2FA54-8ACD-4F4A-9A71-E92D543B266E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支撑 / 阻力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F111D1FB-F4F8-432D-9FF0-17E519B46516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CBF8039A-D9C0-46C4-9360-86DE6B5565FF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E480AF29-9447-499C-A88C-3AB5798177B4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96DAFF61-21FF-40BB-ADD4-E1EC4C66C6AE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K线预测 / 关键价位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6965D600-2DDC-4148-B1F1-B8B17890F9D7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AA2F0C25-6BDC-4FDF-B40F-EA7A69B11055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支撑 / 阻力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CB2173AD-F967-4E64-A4BB-A3117AD2F2C3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E1E1DB30-3AF4-413C-8AE5-6C411BA345A4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方向概率分布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1C78E38A-0E09-4F2B-8505-47F2DFD2DF95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4F9C9B6B-AF7C-4FE2-A38B-D081549BFC38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2D090118-07B7-479E-A22D-2865B268C1E3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46D9E121-7D6C-48CE-997A-31B5889AA0D5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6F60FB68-59B4-407C-9A3A-A2656E939171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29D1591C-1BEF-4BC7-9D93-BC06D6FB8F32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关键价位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8863D4B1-368E-4872-BB72-2B302C936D38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AEBCA398-62C1-441A-952D-3FE169072307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方向概率分布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60FA5090-B6D5-496B-80E5-363292548C0F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97B7EAEF-6240-4542-AEB1-0A5F6A5FBF27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多模型对比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981DD8B1-41F6-406E-81D0-B95B7AC3696E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8733F3B5-E819-4D1F-8E5F-29970F3F1233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中性偏多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AB7ADA25-BA8B-4388-9140-33BC658BBA70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13691B7A-9A66-4E78-B59B-3BB8A26D70DD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C561B482-AA71-4448-93A8-2B9177136FA4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29272A42-70AF-4ECB-9310-3156820AFCEE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同一标的 · 不同模型预测中枢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87D5AA86-E019-4574-9A60-DC9170A43497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6F1CBB86-77EA-4798-A547-50A8A9FCC2D1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看涨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88DABE4C-E026-401E-A2B1-D3F35A747510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AA9796AA-4CD6-4031-811F-5425DFF2D6F9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中性偏多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40249FD9-175A-475C-9E93-23584EB50296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FE7458FB-3F0B-4DDB-92ED-D99BFC7773C7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写入交易票 多模型对比 同一标的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B8A6A899-1D12-4027-BE76-18D6401E3611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7CB9C75D-522C-4EBD-BB38-6B83CB9DFE70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F44749FA-7E93-4462-8BF1-E95E56649CC7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B109568D-EB6B-4DA6-8A6B-D04D2F128C80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E434BDAE-7FCC-413E-9DC0-7B65310B5968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41ED33F5-5A46-43A8-94DD-1CCFFB118CD3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C8C81A49-8E1E-4DD8-9326-05467A76BA13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模型 类型 目标价 预期涨幅 置信度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4E58670E-DF5F-4739-A939-6DAF0686FAEC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6EA9213D-D89E-4C36-BFB8-7A34DEBCCDF6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写入交易票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220CD3BD-4FA5-4912-A967-7DCB668EF1F9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05AF66EB-5F0A-41FB-8259-862852C9BBA2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Kronos-base Transf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D4CBA099-6F2E-4D27-8244-953E2D67D371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2736E4B5-D2BE-4A34-A596-83B4569354B7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6D1956E2-535D-41E3-9D7A-75895F202ADC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C1C96294-19FD-431B-902A-3D7D9333C1CC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CatBoost-1440 梯度提升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90299B14-2B05-428E-AD7B-9BECF7C4DE77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F1A7E119-39C0-49C3-98E7-A706DA5E71C9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导出数据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0A7C9762-1AC5-4378-AE1D-FEEF2A3668CD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956C3CF0-7575-484A-AC7A-65CAB92DECDA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B200E2D5-D3C0-44A5-B760-2713B487CF59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6DD7A8ED-23B2-416E-BDE0-108B8CD63C2E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写入交易票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61E1AC2E-66EC-4CD1-8569-DE0F33CCE3D3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35927DF0-CAC3-4002-B757-4DF1330D9B02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B297D3E0-1808-435F-A673-6EBF90593105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59661847-2886-4BFD-BAE1-E2FC42774FE4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FBED7589-73C7-484F-8740-2020899C4254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12CA90FD-ADD6-428C-9ABB-7F1D35E9406B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643787CD-D602-43DD-BB7A-9E770A6BF063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DF76DC63-17AD-474A-8A79-792717AF87BE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C537192C-B59E-4B73-B23C-349DE43C9170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3DFBE552-51DD-4BE2-97A6-6BBF11278424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刷新状态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53078949-4827-48BB-8D0C-923E145C25AD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文件：predictions.html#price-levels</a:t>
            </a:r>
          </a:p>
        </p:txBody>
      </p:sp>
    </p:spTree>
    <p:extLst>
      <p:ext uri="{BB962C8B-B14F-4D97-AF65-F5344CB8AC3E}">
        <p14:creationId xmlns:p14="http://schemas.microsoft.com/office/powerpoint/2010/main" val="10310199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>
            <a:extLst>
              <a:ext uri="{FF2B5EF4-FFF2-40B4-BE49-F238E27FC236}">
                <a16:creationId xmlns:a16="http://schemas.microsoft.com/office/drawing/2014/main" id="{F95F512A-035C-4699-995E-1926A5D586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0A8E0CE4-41E2-4456-A65E-0202613C52FA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5D7387-A901-48F5-A5AF-5EC75A99251D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8B9DDCE-EBD4-4D6D-8D56-EB6B2F536E87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9A7D5DF-0654-44D5-A7B7-6E5FF8940CBF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577313D-93B2-4F64-801E-E7008DD35561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8DE2894F-E155-4707-891C-23E7A249DF90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A5D37D3-4984-4023-A6B4-7D9EF849FD27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D828B4B-E6C0-4862-B51F-94A50222E17B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2502B1-4A50-45E7-A773-C8B09C611426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F4E601A-1BB4-4805-B601-1E7B4DC2CE06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0F7618D-3873-424C-A34E-93D9A0D16530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588B4925-F266-42EF-A532-45D808415307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7AB1329-D417-4A89-BAD8-F05AFF73B82E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BB1EBF21-76D6-43C3-A915-10D53190E985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BDD2C634-22BA-4B5E-8DB4-85357BCC855B}"/>
              </a:ext>
            </a:extLst>
          </p:cNvPr>
          <p:cNvSpPr>
            <a:spLocks noGrp="1"/>
          </p:cNvSpPr>
          <p:nvPr/>
        </p:nvSpPr>
        <p:spPr>
          <a:xfrm>
            <a:off x="133350" y="211455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233ABCE-FD4F-40D1-9F75-B4EDA1C6C5FC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K线预测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A41D965-BE66-45DD-AAED-8A8639EB091C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0B3C72F-BD75-44C3-8633-DB947F2D510D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F7933884-8807-44F5-8D7F-D8CADCCFAFB9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C4BF036-D893-46D3-AF8D-62C8EFC2934E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9F578552-7692-4430-9597-A5F693C97C26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8034A52-3BB3-460D-B8C2-7AB298FA3D7B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84B0D0A-66FD-456C-B8F0-5505F47D875F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7A103883-F94B-4CCA-8098-E8C1B33BA528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754621C-5366-48BB-8DCB-5B5060369E22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271FD4A4-7D3B-48EB-B88D-7503023C440D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9A3A3BB-B874-4986-8B8A-9C7004C6D2EF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39B56453-A491-4EB5-A95E-4BA34AD079DB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2B57FB9-9AE9-48DE-AEED-3C582A9C53C0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36E1AA46-2D83-4324-BBEB-486C91FD3978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1003581-A114-4404-A7ED-229083F991DF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FC905E0-3AF7-40EB-9100-359AD236A568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4F015954-2D3F-43FF-972B-469E156AE72A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D0A812D-BBC2-4A94-BA71-4E9D6F35AD5B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73BA787F-CF03-4955-8E79-7348E83CF432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39F99FF-0B48-486C-B531-CAD5BDE58446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A6872AD3-9207-43C3-A268-47971FE1C11E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DECB619-B987-4324-85E9-6E0EA7A31877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B6E2009C-A711-413D-8EB0-0D8E89DCC58A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F45B6D5-C430-4B8D-9013-19C6D2D74513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K线预测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53BF9EB-F638-4322-A0E2-98612F3F6C28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77475C41-E8D0-4102-A44C-7DA6A261D237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68ABC13-ED40-4E00-BF12-5B49619224A9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B9E22149-D169-4AF1-BCD3-764AFC4C5BE9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2D19DFA-A30A-41E1-9ABC-41D5F0FE75B1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4CBF2552-9403-493A-91BF-B47C6753FE89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E291B06-87B1-4744-BB04-F5B910753783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4F0ECAF-A213-4CEF-AB70-A2873005AEA6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标的选择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752A22F-BEB5-4371-926A-F6E10671892E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股票 / 模型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D2A27873-A6B8-478E-BCD5-7708F8BA24CD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C5278B8-F83D-410D-A693-345F9F7F2758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058A6E0-A62E-440E-B120-0F60C48339F0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K线走势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25AB3E5-9FF5-4803-93D1-0D3A67234CB1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历史 / 预测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A4A4C408-D0C9-4BE6-A795-F4A571A5D012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7A6F5D4-C9F1-443D-9A32-B40E97DD3038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118186E-04BE-4C39-B337-0A320C9CAD30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概率路径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3C144B9-621B-4427-A341-0853E951752C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30 日区间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7723137E-5713-4FDE-A2C9-7C5A89F3897A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77FA18E-B3F6-454B-9655-39E1551AE7AB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EC93277-F80C-4250-820F-4C1CD5C63771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关键价位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EDB8639-5DAC-4AC3-830D-9B8F13E52D9F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支撑 / 阻力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175B54B6-13CB-4299-ADF4-E64D5A395F77}"/>
              </a:ext>
            </a:extLst>
          </p:cNvPr>
          <p:cNvSpPr>
            <a:spLocks noGrp="1"/>
          </p:cNvSpPr>
          <p:nvPr/>
        </p:nvSpPr>
        <p:spPr>
          <a:xfrm>
            <a:off x="84201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D0884A2-5099-4326-973D-8E3E44F2CFF6}"/>
              </a:ext>
            </a:extLst>
          </p:cNvPr>
          <p:cNvSpPr>
            <a:spLocks noGrp="1"/>
          </p:cNvSpPr>
          <p:nvPr/>
        </p:nvSpPr>
        <p:spPr>
          <a:xfrm>
            <a:off x="84867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79268CDE-2D30-424F-A9DC-27765AC05935}"/>
              </a:ext>
            </a:extLst>
          </p:cNvPr>
          <p:cNvSpPr>
            <a:spLocks noGrp="1"/>
          </p:cNvSpPr>
          <p:nvPr/>
        </p:nvSpPr>
        <p:spPr>
          <a:xfrm>
            <a:off x="88392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生成信号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5B60834-AF4B-4937-9243-1981FA7721A9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执行触发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0B6A6504-2820-46D9-9AA7-0E3F1E83C41A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F8D1603-9CA2-4207-BAFF-3CE4E7948251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C027B14-29F3-483A-97E2-5281F3DE9B19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K线预测</a:t>
            </a:r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D61C748A-C137-4DA0-AA6C-763574439184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C75250ED-2D1F-4D46-869B-63157E971D07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2431DCCD-4FBD-47E4-A753-951F5A003E5F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标的选择 · K线走势 · 概率路径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13FC346E-F215-462C-AB2C-D6BE984523AE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3DFEE4FA-D865-4FBC-A24E-1D3DD6EE8F63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079471E-9B6F-403A-B39C-9986CD06B5BF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30 日预测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581B7F2E-1517-410F-9855-018367EBCE9E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64C4CF2-D8B8-4FB1-B0BB-F2F0772796BC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14A29B4F-771B-4482-A674-15ADEE793D83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模型在线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B08FB54D-3FC8-483B-AE95-DD7ED71E44F7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27 · K线预测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CBB7259F-7833-4C52-B6B0-6A31894E6829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生成信号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263F627A-8CF2-4784-A3A5-C512C65624EA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执行触发 · 原型页内所有卡片、按钮、表格均为 PPT 可编辑对象</a:t>
            </a: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E3B1F255-8D82-46D9-B146-B692B197CA1A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8D55C2A3-C5E9-419D-A46F-BC1A8C79EFEA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3D12CCA5-0725-49E1-87C5-46EE432793E7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9FF0D45C-4D1E-4313-B898-0E143E022360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K线预测 / 生成信号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3C38BCE3-84DE-4178-B5B9-AA23095F93EB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FB9ADC75-29F3-40DC-848A-BD152A94B963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执行触发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D6036E00-0413-4315-B72A-66E43DF85EE3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9845375-15D7-4D6C-9739-332578D62A59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承载本页签核心数据判断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CE824768-9D05-45E0-9A6A-690D16226A22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09B6D640-D1B2-43FD-B5FB-187DE48C9F7B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E61B0398-28C7-42C5-8674-AA9E5C91D591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82FF09A9-C34E-46D9-90B9-0884CD666E99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A72D039B-81BB-4D99-A0FA-B2CA0F4489FC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D9BDAB53-76CA-46C8-B511-52638A031DC0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生成信号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FADEEB91-B723-41A3-80A6-668473923E72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9D39FA2D-3704-43D5-B5B9-927B59AA3672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把预测区间转换为交易信号草案，确认后再进入交易信号模块</a:t>
            </a: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4217BD29-351D-44DA-B17F-94EEA7A26CF0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784A30B0-26FC-4303-9852-4E2864D77EC8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突破 60 分钟压力位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69793948-72B1-4E7B-B212-3C89D6CA4F70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A0FF7574-11B0-44F7-9B64-D3FF9EEF7584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低于预测下沿撤销</a:t>
            </a: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60DDA1E7-4521-47D9-8EF1-5E18AB18385A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05D15365-9BC3-4DEA-95D3-D1C2EA3D181A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574C8228-C3C0-4E98-9A78-D663A740F4B5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817EDF21-D09E-4D89-9CD8-1F52CC86ACFA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把预测区间转换为交易信号草案，确认后再进入交易信号模块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24398BE3-CE40-4321-B601-CDCACC967E8B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B8D16509-7D02-4E01-8B44-3305D565A2D7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突破 60 分钟压力位</a:t>
            </a: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AFA906ED-CC34-4B9D-BECD-403624920566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BDFB6209-102F-49E0-A509-3FBEB81E042D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低于预测下沿撤销</a:t>
            </a: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04B0EE81-18D2-43E5-9B24-BCEE94130C18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144F9CB8-A316-4429-A25B-F17B022A9D58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单票风险预算</a:t>
            </a: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51F64429-E931-4F42-B0ED-6B5F79BBD980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320E905B-DE1F-4980-A78F-FF1BA63D5A6A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F57F01D7-C1D5-473B-975F-F9F615FA44D5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28F3777F-59D8-48CB-9154-BE67D512411B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4B31B69D-A1A4-4D7F-9554-D570F90031BC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30345202-A28D-4CE9-89EE-F82528B52364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0F2E580B-352D-4127-91FA-3037CB4D1F34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把预测区间转换为交易信号草案，确认后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6D4ACD2-B595-4484-85A3-05E5F979AC89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F9C652B0-AF23-4E84-9A26-F294860D7F03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保存信号草案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6D0E38B2-F8AD-432B-B1BC-9161057A16FC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ADB6AA7C-F0A8-4281-BB20-EE19D3F14DEC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突破 60 分钟压力位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9F26D6A2-36B7-4999-AB4C-4199F2976258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A019A1B5-39FF-4398-B496-E9A4D7296FC7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打开交易信号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17F07F05-7E1F-46C9-AC50-13C6FFC4CE8F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E95FA7AA-6EC7-4F84-924F-5504F3FDA5FE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低于预测下沿撤销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5A48E9CA-AE3F-40AF-9B54-E802D2BEAA1D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8741A933-14E6-4AE4-81C5-FEF5A5481C65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复制触发条件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4BA659F5-DD42-4B4B-A4E5-5EB57CD8F7BF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D49FC8D8-6671-4A65-8304-078141C06E3B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69BD8EDA-3891-4B48-A82B-5CD4D06CA9A0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1BCAC365-A6F2-43D0-91D8-7E20249644D4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保存信号草案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F59EB7B8-E54F-4747-B160-C223B3FD9D0D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CCB199A6-2952-4B12-B2AB-C898397AA062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打开交易信号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D585FE07-0B22-48BA-968B-65EC9F65AED6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0FBC65CA-0138-4EB9-A66D-D50AE344C3EB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打开交易信号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390B6E4E-2157-4DB8-904D-91201D68FBF2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5C135979-22C7-424D-999D-2F494927676D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复制触发条件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9BB59045-687B-4B38-8F92-72B359BFC8DB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E95FA590-098C-48F1-B40D-387400AEFFD9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复制触发条件</a:t>
            </a:r>
          </a:p>
        </p:txBody>
      </p:sp>
      <p:sp>
        <p:nvSpPr>
          <p:cNvPr id="141" name="圆角矩形 140">
            <a:extLst>
              <a:ext uri="{FF2B5EF4-FFF2-40B4-BE49-F238E27FC236}">
                <a16:creationId xmlns:a16="http://schemas.microsoft.com/office/drawing/2014/main" id="{14A6ECA2-B91C-4424-B2E0-609C080C6109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02F2DD51-0E69-42F2-82B2-2D53E481F6B2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生成草案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347B6ACC-760E-4D11-9A7B-FA7A8BCD7654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文件：predictions.html#signal-generation</a:t>
            </a:r>
          </a:p>
        </p:txBody>
      </p:sp>
    </p:spTree>
    <p:extLst>
      <p:ext uri="{BB962C8B-B14F-4D97-AF65-F5344CB8AC3E}">
        <p14:creationId xmlns:p14="http://schemas.microsoft.com/office/powerpoint/2010/main" val="497579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7D107C58-CBC5-4139-8BDF-5488B45579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63443F6B-B306-4E97-B39E-5FB85D8D32F9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4D5863-CC7A-4C36-ACDF-3E5B3175ABBA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C6D956-AFFA-4093-B7B9-10F61F9D366E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E97DEBE-FDE8-4101-B1D0-C1A9C634D7D0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982DC5-A180-4CCE-B833-88A6A5BC56C3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40C5A336-210E-4C7F-B092-D693C8B6F076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CA354B0-41A8-4E00-A454-F9A3CAC8F9D5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7579F8E-3870-45BA-8BAE-AF40C1EF7E59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4D93545-17A9-43E2-B496-CEA4D05A9F79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F00219E-6A28-42AA-8291-BCDDFF0DACF5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363429-366D-4082-A176-51697B93B568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6A9F2BAC-55A3-42C0-AA0D-DEB10866877A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282F4DA-1EF1-4F4A-B21C-41B10E6B0F8F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B07860E3-DACE-4793-BE5E-EAE585CBA364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19B2F1-DA73-40AD-A737-212381B02DE3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1AD5834A-3AD5-4879-B520-C7A4F0C472B9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DA323E62-DECC-4055-8FB1-C7F17BE2B577}"/>
              </a:ext>
            </a:extLst>
          </p:cNvPr>
          <p:cNvSpPr>
            <a:spLocks noGrp="1"/>
          </p:cNvSpPr>
          <p:nvPr/>
        </p:nvSpPr>
        <p:spPr>
          <a:xfrm>
            <a:off x="133350" y="240982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1D22EE2-0B59-47F2-89DC-2D62C7166AE3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15322783-893A-4C3E-8A6A-49C2A894EC45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E4454E8-49D4-4731-B628-A42358C201A3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87499911-CC67-47E1-8E03-DFF1B798C1F5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05AD373-DF64-4E7A-991B-A7809C4F8FF4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485F7DC-51F3-45C0-9F51-565E37D9E3CB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19F17F71-860A-4F5C-90DE-CB727C1B36A9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F59BCB7-58C2-4486-B609-BD9566AB1CE6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DB67ED82-106F-4C1D-9373-0E4AB115CABC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68DB405-12F5-48FB-838A-0840588EAAD1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0B0E177B-A7B9-4AAB-A042-14A3B9019C21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95C3277-31E8-428C-90D0-42CD46187775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8F193F5F-7438-4BD5-BD92-E913158E6F84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53F16A0-03E9-4DEF-91A4-3B00933B482B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166395A-2AAE-4254-B0D1-3D81D67389F3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8C763E26-8F5A-4CF5-B729-B4F4456E684B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EA8A684-EABA-4CC8-8816-B7BABAB51E31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1BD47E02-21FC-4717-9E51-8EF937FD190E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D33754D-52D0-4559-B256-756BBD5DD1BE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E576F859-F4EC-4D63-B03F-49D9A7BEF6F1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D7AC037-FDB4-4A08-9750-FA8856B08FF0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1005606C-E0BE-4A3E-8304-27CBAC596F72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B3E3FFB-A4DE-4D9C-8750-FF3374B06E36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方案管理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730E04F-8E0A-4AEC-9E41-66EFA25299EF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91D62DF8-4203-4730-A000-61F254A7BFE2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C6ADB70-7D8A-46A7-AA86-A931DA01B800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F0441FEC-5FDC-4E7A-BF22-88F16750761B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4580538-F695-4B9B-8E3B-96DDCE462D35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1837518C-C29A-45B0-BAFB-76496525F476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AF1074C-18E9-487A-9EA6-77ABBAC35BE3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2B7E707-67D6-4C80-840F-A8844E9576F9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方案列表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CB58438-2099-4C79-A499-601586AC6425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策略库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C24B0133-DE83-42F8-A591-12E04B0BA2F2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806C964-4320-4C60-8952-4463538983A9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9F47F4F-93B5-4E13-8FA3-EC5209E10C33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参数组合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AFC15A1-EADC-4992-B5AF-B44222BD65C6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仓位 / 止损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9B577D74-47B3-44A5-8137-B4AEEA42C2DC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5EF17E9-65DB-4D16-8E86-ADAEC419E784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757687B-109D-4F1D-BC4A-D078A749A479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执行计划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1A69888-E422-4690-8697-144F6CC7D257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交易约束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7518EFF6-C6C0-405F-AD69-1C9DB789E5B5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000B31F-A749-4D2A-A6DD-D5F75EC053B6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34DCF03-2D5D-4F2E-BF93-5477E10BC6F2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回测复核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019F2C3-DEE7-47ED-81D3-2726FBE58A56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收益 / 回撤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80DFA7A6-BA98-4103-9AA8-207565CF9967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B9B61F2-E780-4F83-84EF-90DA7E8E4DB8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90F6E340-243A-4C87-B855-2FE29CCDFDE2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方案管理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29DF7A59-621C-405D-BB84-793ADC8BBA73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C6FBBEB-B7A9-4FD3-B4A2-3CD1D56633B8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8CAB370B-19A8-4A05-A2AC-C1699F7C9895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方案列表 · 参数组合 · 执行计划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E995DAE3-ED57-4840-A952-4B96ABB625FA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8971F78-11EF-49DC-B859-D41896935ECE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784F69B7-C62C-4B31-85E0-3736151870F1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4 套运行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BFBF5349-1ECE-4CA1-94C0-143E45189429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BD9D2BE-FC45-4CA3-960F-142DFA391896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9BC54994-3B78-41FB-B93F-F2940089FAD8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策略库在线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77F2A25-8762-4FF3-9DEF-9C4B0DAC87FD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28 · 方案管理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45A3A0CD-7B54-4B6D-877C-002A9B9993FA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方案列表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6863D11D-75D0-4BF1-958D-7CE9886021BD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策略库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503E1810-82C0-460A-B91E-C60D274BC82A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777B67AF-FE4B-4970-9091-9A5CCAE34005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20E1028E-2E7B-4A31-9A23-FBF19E37A44E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3AACE5A-19A6-4806-B7B1-55A48BB5D557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方案管理 / 方案列表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4F002AAE-7047-461B-BC62-35DC67ED3777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243F1BE-2892-434A-B535-2E1DDB653EA3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策略库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5BC573DE-3509-41FC-94EA-495D0CBD826E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B0A59421-6365-4B8C-B694-0C67C2D09343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id="strategy-list"&gt; 当前策略库支持启停、回测、监控和编辑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196F81F2-F05C-4313-9F74-3E7CF573A48B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A5F87F33-2D1C-4DE5-B13D-8709068BBC1A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48731562-7353-4E69-81B4-3F40687EA8DC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8C21722-0032-47D1-9BB3-8A15F21C8B57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6CF8992D-FB96-4A97-913A-B54F609031C6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04C81F37-A934-4130-94B8-4F429C902376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方案列表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56135BFA-D66E-4D1B-AFD2-3D6B6038505B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08089AE-7BA3-492B-8959-AE5898A913B2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id="strategy-list"&gt; 当前策略库支持启停、回测、监控和编辑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C5747DD-0D70-4F5A-BD3B-04442CC00B01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CE9E85E1-9CEC-4474-BFC8-7DC5553961D7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批量上线前必须先通过参数组合与回测复核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4AB33337-098B-4825-8186-F72532D51CB4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242D9ADA-7108-497E-AE6C-588AE536DFD2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批量操作只修改方案状态，不直接进入自动交易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DFBCD3A7-EE66-4661-8123-831E89A1A25E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ECFD8CDB-186C-4487-AC00-45453FE0479B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A3FCA623-B9A5-49CB-B698-E6E0AF189D6B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269C0396-BC30-43FD-8F0F-F787782A4A6F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id="strategy-list"&gt; 当前策略库支持启停、回测、监控和编辑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BCD16818-B101-4689-97A4-1A6A76AB3108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968FE7AF-EC02-41F2-8F8E-655DD4A88EFE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批量上线前必须先通过参数组合与回测复核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783959F9-8622-4374-A92F-8B3B3DED5D03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2BBE6B04-C26D-4E13-A520-1F85B56ECB4E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批量操作只修改方案状态，不直接进入自动交易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D0AF2C37-806C-4EDF-89BA-9B231C67E923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60F298AA-057B-4A15-A8C1-D8572944E34E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批量复核 导出策略库 &lt;div class="scheme"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ED3A42AE-BF69-4550-8258-D308CA2C24F8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B000D25E-05B9-4D4D-BBA2-3539403F8DE9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35C86240-B261-4FBD-A134-0D64BD6167D9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0AE62960-1BF5-4581-8730-069CF05793A2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646F93DE-5463-4627-9590-19D65377022C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2D9B1A6D-FBA5-493D-AF02-660933DC4571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E6BD67D5-7B86-48E1-919E-3784B90197EE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id="strategy-list"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6E5B0EEE-D430-4A8D-AA3E-C6EBB6930A24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9D1D3B3F-3078-4C97-B9AF-4AD190A64FB0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批量复核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FAE6D3C5-26B7-43C4-BF94-FBDADBEC4812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323988A2-201D-4F14-9540-DA679D5E459F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批量上线前必须先通过参数组合与回测复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17FAD260-91FB-4472-A02B-AD34F59BEE26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FAF49AC2-EA1C-439C-95EB-39EEE2E2E303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导出策略库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EFD6B0D6-1CE9-4BC6-8355-4D1FF8D54405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FFD61055-A4C1-4234-A717-9EF11EC8A19C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批量操作只修改方案状态，不直接进入自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80C4BFF5-019C-496E-A4C4-FDB1F2768FD5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2A403F99-A37C-4AEF-B809-B5256780660D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3D5C507A-C72B-475C-8418-775D8F02D357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2DF0BE2B-CF91-42DD-835B-03470879874B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B1342FD6-D60C-4803-AA67-8A40364CCBE0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8BA0A8DE-8E4E-44B3-8638-0B2691572B98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批量复核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48FF3C03-0042-4D48-9A71-95B5780260A2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7AA1029A-0BE2-46F1-A72B-EE266374B5FB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导出策略库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5437826F-0935-4E6B-B317-085CB4046304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AE7A1871-3C50-418C-A7B9-7556F6369D0D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导出策略库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426341FC-BB9B-4561-BB5F-4E0CF57FAFCB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05352ED5-6D41-4100-B9A9-6A4B76DC62A7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C947B445-DF19-4734-873E-AC9FA21E6876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854A7D83-983B-4F34-9F2D-F948269AD3C7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5297215F-2915-42E1-B1DC-F7F6B98C663F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E8020151-09D0-42EC-B184-6E67CDBFCD50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FE8CD1D6-E166-4D8E-93B1-71D9561FD27F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文件：strategy.html#strategy-list</a:t>
            </a:r>
          </a:p>
        </p:txBody>
      </p:sp>
    </p:spTree>
    <p:extLst>
      <p:ext uri="{BB962C8B-B14F-4D97-AF65-F5344CB8AC3E}">
        <p14:creationId xmlns:p14="http://schemas.microsoft.com/office/powerpoint/2010/main" val="18140056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E753FCB1-9D0A-4BA8-8F2C-31158D8858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2BA84047-08C7-484D-87B1-2FF3C3263C94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5FBBCB-6DCD-400F-ABED-22768B3BCA3F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2BC648-AC93-4548-A996-1B6F79B6D829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87512E4-2B43-46B5-B314-5A42CC64E866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CF88A7-F129-47FA-B6F0-E2D9F90D3639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28E6D04-EE8C-49C0-B946-8A681EC4C294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A758998-6E66-4B8A-BDAE-72F9A127D7F5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81A92549-B673-4CBF-B08A-610467EC3F04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4123EC-73A2-48A3-9963-F1D7EA3A9234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2B0CA73-BBB2-4660-92B8-F58D8AE2CE82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5D719E-C8BD-4DFD-BC8A-0E7AD45B779F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841E588E-F6DC-4F2C-A823-668BF175F4CE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BBAACB0-A832-45AE-B781-25A0176D1394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CCB3C6DF-8C42-4FC7-8E1D-94F59EDD7E2E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773A76-ECB4-4B14-BB4C-27E83398C878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004C0A5E-562B-47A6-B3E4-789C79BECA63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F0253211-0087-495D-92EE-7A8D31DF56B3}"/>
              </a:ext>
            </a:extLst>
          </p:cNvPr>
          <p:cNvSpPr>
            <a:spLocks noGrp="1"/>
          </p:cNvSpPr>
          <p:nvPr/>
        </p:nvSpPr>
        <p:spPr>
          <a:xfrm>
            <a:off x="133350" y="240982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329B654-27B4-41C7-8F78-1779094E818F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84BEE740-C8C7-42AF-8C1E-0FD89CDF6A61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3D16989-976D-434C-9284-97AE17D273D9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2C8121BF-0D44-4C90-AB1C-6E56C5C1D88F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BF3DE4A-4B39-4A5C-9FB0-1A4C6F75897C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DC9CB9A-A9ED-4D68-8F55-2F2E98780CA8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2CCEE3A-1D6D-4630-87F4-CD3640586DA0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2448871-E5F5-416A-8AFD-80EE572FBF7D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BECF33AB-6995-4F13-8BAD-1286DC7816AC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5875CAE-8785-4572-820F-A59E8C11441A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EF582AF6-C3B9-40EC-A287-E8AAE267BF36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4C42309-E2EB-4F05-BBC9-04B965C3983D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4E1DA9E7-CD1D-466C-A77D-0DCFBDA5F638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2ECE020-438B-4CB5-AACC-0A8B4D29BCD6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4613122-C87E-4560-97FC-018AF231CE58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7BE7B26A-E376-4060-82F9-E4C128C3CAB2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FDF093B-A284-4A53-9D31-5C73215439A3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40C5EC9A-5C67-4402-AB43-F3FA068F9770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C8FB67C-4784-423B-AD10-A55A444CB03E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3F5200BE-E41E-4923-A8E2-59337DDB0CA0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4D752FA-337E-4470-B8EF-5A768FA5F5B6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E0B25965-1E72-402F-8827-4BFC34DC6EF7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EA4711D-A90F-40D6-A91D-8D1BEC162032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方案管理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17063A3-7832-454D-97D1-150E33B68DB3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27885941-3FB6-4521-89A0-C842ED7257B5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C939D13-B5C7-491B-BF7E-1A10D33769B1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D3564AEB-0A2A-42A9-9B88-C8ED0F247426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08F5D26-34CC-499F-B6BF-E97DCC4C0D14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523DE280-851E-4D82-BF82-595DA17D6522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8D679FF-131B-4EC6-9219-15D5FC95AA5F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C44871A-36CE-4B84-A2F9-3CA0CC646FA2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方案列表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DFF5BC5-C903-4CD2-A0FC-6D26A8944A89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策略库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BA70786D-367A-4C63-BE33-B794809C8841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84C0534-04E9-4C73-A6C9-75C5A45845C6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70DE88F-34D8-42FC-8734-D33B72F2CEDA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参数组合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78A35D0-6AAC-4703-924B-1AEBDDE0DCD0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仓位 / 止损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2C899BD4-9BBE-4E63-BF9F-7F6C378C6BBE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A6BD77A-7A8A-47C1-8BEF-D75B7161AF7E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5DDEEFA-511F-4FDF-9A99-AD51C812EF33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执行计划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C7EA0AA-3771-44E6-BCEF-9CD367A0FC5B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交易约束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3FBD737F-B71D-4973-8334-EDAC2FC8F592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2719F66-45E6-4903-A107-67AA66BD05CC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BD71C7B-D292-4935-AB70-4B75138AD658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回测复核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B0AD436-AB13-41E9-A362-F60145A53536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收益 / 回撤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44B8A05E-A085-4EEE-9DAF-54B4422AD0A9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7662250-00A5-4D1D-ACAA-6BB2CA80D0E0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6C0A66EE-CE8A-428F-AB5F-A94ACE49D8AC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方案管理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0D22BD1B-780A-40F5-8802-B60F9DB21B9A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E1BEA867-A011-4F1D-A313-30E1272D7029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A4E4B0E6-0281-4BD2-B64A-BE49F55544E9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方案列表 · 参数组合 · 执行计划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9309A4B2-982C-4DEF-8254-42D5980CFDEB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088DB36C-3E1F-4647-8ECF-F2D3930D6CF2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FCB7C0F7-5F8E-48BB-90E8-3FF353A5FCDD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4 套运行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8AECD362-5348-49DC-8E37-0D1795739AC5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663654BD-AAE3-40EE-8E20-AB934322E872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FF49F270-41D6-455F-B4E8-368F7F76CE6E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策略库在线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8EFD7104-507B-4D05-9429-66A1F1F3F42D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29 · 方案管理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7A6F410E-352D-4496-BA26-0AA7B3B9E3A9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参数组合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DA71E8A-3FBE-4110-ACE0-4766710F50A6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仓位 / 止损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2101C5C6-CFD2-4A11-8B32-A7EF9581FF87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FBDD5CE-DCCB-4B39-BA16-92F807622580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8974E8E3-7270-4E62-B3EF-A5E6B29332B1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09BBB60-89F5-4569-8259-E2972FE1C35A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方案管理 / 参数组合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7D655F27-BFFF-4EDE-A824-C8264B987BD8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C93F7DF2-7A46-46F2-A957-98A2A8B95AFA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仓位 / 止损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5BEEB2EE-FB04-4C10-991E-1413CE048912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C689DAC2-C155-4914-A67B-F4A353E1A4DE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卖出 3 当前策略库支持启停、回测、监控和编辑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1F232589-35C7-4BF2-91B2-04D4759C1947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F7D9B530-9188-44BA-9655-EE8B3EE5893B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DB5073DD-2246-4786-B0B3-3F2FD6AF8D35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02EED9B7-C187-451C-A787-B648C3DBA1AC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0D82E203-09A8-448F-BFD4-B9AF70DE8575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0FCF3DD-CDC7-4972-BBD9-B559D62ACDE8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参数组合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E487B2DE-2EDF-48F5-BB29-CFC12B03FB5A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99A85651-B04A-402F-81F7-01019BDDB047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卖出 3 当前策略库支持启停、回测、监控和编辑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92F92D94-02FB-42E5-A3FF-0BEC31EC99C1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42119B51-BFE6-45D0-AA5A-1608FCB4AE06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批量上线前必须先通过参数组合与回测复核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1F009587-DA0E-48DF-8A61-8E18E05619A3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28108BED-9CAE-4DEB-8FC3-FE9188D61055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批量操作只修改方案状态，不直接进入自动交易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AEBEBCB9-8985-4317-A71C-4565D149141B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FD6E24E9-8F83-4E83-95E6-B9ECE17EE67B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6CABFD3F-727E-4BAD-B237-027698762487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AA31AD3E-E4F0-4BC9-A818-46D341F08E53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共 7 套已保存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2319EF2D-72DF-4664-8630-491AB7E7249E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E751E64C-7191-4753-9CA0-FB138C182DF6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基准沪深300 +3.1%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B7FC654A-5D75-44C8-9D77-FDDCA7BDED58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FE0B65FC-C8D5-4B2D-8F51-69DC2928B0A4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分布于 4 套方案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7FE6CF95-4F81-4988-A9E4-EB7483830415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D6E0330D-1609-48F1-B1E9-3EC89808FECF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买入 6 · 卖出 3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E597D5C8-FA95-4435-9A30-C871C536171A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3193E025-FBD2-4172-912D-EE84F9DA2630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9A7E482B-29DD-4F0E-9CC8-679A690E6C19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B7D268E9-B6E1-47C6-A427-3D44BF123D9D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36C0B216-B0D1-47FB-9DD7-CC9D45FD5A0E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21F86E0B-1C02-408E-86C0-597346621E95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3A14B64E-4069-4FE7-9209-A7ABC3D10146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共 7 套已保存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E459D702-7216-421B-8D68-FCBBA88B85EB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108CAFCB-397B-4DF1-8D6E-D35A5A1377B6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批量复核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0EFDD177-8117-4F9E-A870-F52E22F900F7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4DEF278D-B9E6-4B86-ADB9-90AE04676E07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基准沪深300 +3.1%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3194E30B-2D8D-4757-AF96-9ED694415BA2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7520AA9D-FC1C-46C4-B7AB-9821AEBB80B0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导出策略库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FA4F5A8D-FD79-44E3-A4E0-F32DCE24863C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D6FAE9EC-972E-4F54-B185-13C54D61AF37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分布于 4 套方案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310491B1-4215-46EA-AA27-FBE97156CB70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321DF82E-FE43-4D05-A665-104B3722A9E8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1270ADAC-ED2D-4211-88E4-9E5FD1CA29A2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08C79A9A-6A27-4D52-8608-B90D344A1896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4D92804C-7FEA-40CB-9A64-A8F50F8D9110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BCB4DBDC-CE6E-4AB3-A3EA-C44A9E74ED0D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批量复核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3CE24603-5E4D-47DB-84ED-08153E9FE3A9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54B227B4-7416-48DD-9576-342B1E16B693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导出策略库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9D8F11B8-A890-4431-89E7-B88B4A42BEAF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14BC20C6-DCD6-4EAD-A733-5F3D727CFF0C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导出策略库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D4E0D716-B45B-4BD4-9147-7DBB99F6EA45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40A33B65-6B27-4C6D-8D72-09B31369D282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80C5C21D-03AC-418F-9CAB-7D1E6178FFAE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4AFE1DA5-4800-48E1-949A-2810FF7664FB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1EE2A99A-072C-4657-B8B9-DEC4AC0A894A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095A2B37-76DB-484D-A0F5-1B67CD3AACFF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6E72FF1A-82E1-4C42-8FAB-496F22E2F279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文件：strategy.html#parameter-set</a:t>
            </a:r>
          </a:p>
        </p:txBody>
      </p:sp>
    </p:spTree>
    <p:extLst>
      <p:ext uri="{BB962C8B-B14F-4D97-AF65-F5344CB8AC3E}">
        <p14:creationId xmlns:p14="http://schemas.microsoft.com/office/powerpoint/2010/main" val="11695414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A52CF69B-6940-48C9-ABAD-0EC7AF23F1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415BF780-B81E-460E-BD20-5D3555D6ACF0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13119B-436E-4A3F-A0F7-B24B9AD6CAEA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F17431-EBD0-4AE0-BAB3-163345445CD6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091EE46-22EA-4B2E-A32F-13B19373CA0D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1726DA-4FCB-44E6-88FB-FA1F3290E619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D8129E1-624E-48BB-B5BC-23653EAC07D7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DE54AD-156A-433E-9223-9C7DD149AD39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0EA0C93-3866-4337-AEFA-03F989104652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F5591B-4F31-401C-B5FA-74F93B8EA5D7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84342AA2-5038-48C9-8FD1-90213F4B2129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1F39F6-8134-45EB-BCEB-2EEEFBFFBBC8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12F037ED-C7FD-40A9-9406-43CC26D2478A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DBB32EA-5302-41BE-8623-B7F39E663497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02AAD357-5DB0-4ECD-99C1-5DE6B3FB78E3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66065B-EBBA-4F19-8BEE-B8C8B899EA47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88A12FBD-DC4B-4557-8B5D-EE133F82D112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0FEE4B7E-B0DB-4B11-B481-1CF5FC02B1C1}"/>
              </a:ext>
            </a:extLst>
          </p:cNvPr>
          <p:cNvSpPr>
            <a:spLocks noGrp="1"/>
          </p:cNvSpPr>
          <p:nvPr/>
        </p:nvSpPr>
        <p:spPr>
          <a:xfrm>
            <a:off x="133350" y="240982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223C2E-9E02-4115-B8C2-171076E5E62D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5AC7AE53-FEC8-4CD2-9B9A-9CD9A7FBB7E0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6EC36F4-E806-42A1-B17F-49308AB02759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EB0F343B-5EC5-463E-836F-883AEF01DC8E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DA17BBC-C575-41B7-88DC-E5712E875D61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02DE590-A761-4E2B-97A6-19BBD668338B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37EDD6B2-4DF0-4F12-8582-641E12262534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749D56A-3B65-4840-846D-2381B55C7710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F8FAEFE4-06DB-4ADC-9563-40D177AF0F6B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74AAF86-72D1-4003-9899-2F355F656EED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254E082B-051E-425C-90A3-6C6F0FF644BD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B45144A-22D5-49EF-B53B-A8C75EED3EC2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5E45E714-BCE9-495E-9D95-A727B3C66AD7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3C6256C-8C32-4A1D-9BD6-DF1051D5AA21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BC127D0-4361-451A-9AB3-833BFAA8A996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D607061F-5137-48A9-A298-03082EA53851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3C3EB8D-3C01-45F4-AC32-D57787D2B2F1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27A95592-4049-400E-8A19-67C120986E1E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26FA144-CF54-460B-BF1A-E06BB9CE34D9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DA22A3A5-AEA8-4924-969C-2C881DCA69FB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8C321C5-949A-4554-8CF2-A6062475F80A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FD1F957E-448F-428E-B0C4-BBEC6675FD53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1E311ED-CF09-47C7-9969-50116934AF99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方案管理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8433C60-BD92-4C15-A76A-9D7CDC9BEF79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98F690DB-A4FF-40F9-837B-3AE46731DB03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FA066E3-C900-4226-BB5B-EDF16534ED51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24B6EC7E-1981-4D23-95E4-F91D3CA962C8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C23B00D-A1B4-4D9B-99B9-13A6414BF02F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486D50BC-BC42-400B-A3F1-7A8DC96AEF9C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708821F-0692-440F-BAC1-75140222A5DE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0EEF413-1285-44D5-AC85-CABB5A9D7AFE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方案列表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B81B688-0BA5-4FB8-844C-DE37BFA804DC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策略库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8A8A447A-6E8F-45D4-8510-BC7665F90EA7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F29FB54-F4EC-4752-8CE9-E955AB56E650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58B1EA4-F7DF-459F-B85F-66D1A26F7DAA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参数组合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2D367D3-3DDC-4350-A0A1-38D1099B1869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仓位 / 止损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83114EE1-E11D-4F41-A623-5730B96C3C85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CD11E6F-8E72-450A-BE38-6C2B435BE5FD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2719377-0A73-461F-8493-B0200A5A7CE7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执行计划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358A88E-E0DA-4368-97FA-04A8EB4E620F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交易约束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2A6D19B3-8829-42F6-BB88-D7CED818FB78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3544569-95B4-4B41-B8C0-DE04EEAE9E78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D8FD9DF-9A71-4435-982A-537C8046F4AF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回测复核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6977F67-F5A8-46E6-8528-6B013608CB47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收益 / 回撤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310D19E1-5283-4FF7-9F0F-F4A1ABE306B0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58C7471-9F2B-4A3A-AAFA-80A4B1BA4319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3AFA080-C58E-4702-BFF6-65C319418496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方案管理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40F54C7B-187C-4A22-9F19-351AA4A9F604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AF849701-7E57-43D1-832A-8FC5D4AF013A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055F4E0B-7FDC-440B-B63A-A9B69B75BA9E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方案列表 · 参数组合 · 执行计划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362728EF-58FC-47A1-8933-3056BAC9797E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2F2BD6E-942D-4432-8BCE-8CECA3547F86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9A33003B-6987-464A-A20E-90A8E4C591C0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4 套运行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A471C114-49CE-44B5-BFE5-B474641831DA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1218D1EE-E7B2-4553-A485-499F0FDA3400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AD355F8F-B2B1-4D6C-A680-EB47A1ED336E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策略库在线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1C2B2665-1A86-4185-8536-06ABD32F2563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30 · 方案管理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E58BBFA-30E8-4C06-8FBA-B2D9E55ECBAE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执行计划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9E650C2D-E912-4B6C-A42B-01923BD3AE84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交易约束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2EFFEFEC-97AF-4633-8845-5DF31642801B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87025EA-1261-4D4C-8648-84BF1E0E96A7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15059B1E-A9C2-4ADC-8815-DF735673CB1B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4C5689D-3386-462E-8030-8CA4F40B69E2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方案管理 / 执行计划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B2C67D76-98FE-425C-835B-8EE5BA9CE91C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BC5F3C6-2D43-496C-BB18-1857F254C1B0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交易约束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0D755673-A28B-4C5E-BB00-3DAFDF6B5E86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91CF9BA2-B83F-411E-B4A0-81A69507736D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承载本页签核心数据判断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651E8BDD-3941-49D6-A469-2076F9CCDDF1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2B08AB89-E433-4DEE-83E9-8627EB7A7F93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D93D51D4-8FD4-4D8F-9D92-C15304877585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4450752D-809F-497B-B0A7-83850E142B89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F88EB50B-9E62-473C-A662-114BD67C51C5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251FC3A5-8CCA-4DA6-9A56-6BB9D765AD1F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执行计划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6CE14B93-1563-4E4E-B9FC-23B16A9B6F60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6A0C5346-59CD-4DA7-94FF-B09CC060570F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产业链共振 + 主升加速双因子，聚焦光模块 / 算力链龙头，日线持仓。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6D49E1C7-3C6A-4148-B3F6-EE528F59BE14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CCDA2706-3D14-4A02-8748-6F05B222D1C0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低吸潜伏，周线级别布局白酒 / 银行高股息标的，作为组合压舱石。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0873900A-4D89-4D59-AD1E-01B5F9E78362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676DB867-88E7-4FAF-8A63-C61B904FBC4A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竞价抢筹 + 连板高度，分时级别捕捉情绪龙头，T+1 快进快出。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EDDE6DFA-A9DA-4752-A725-D04BAC0D90AE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B325D220-0B77-4734-8EEA-A3E52C0FBB09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D9EB7180-0EB5-49CE-8D24-1A92D5A628F4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8D460BA4-DCBE-4E8E-BBF7-C667353583D2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产业链共振 + 主升加速双因子，聚焦光模块 / 算力链龙头，日线持仓。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71DC2B46-8B86-4FC5-8C15-217C6B838695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BE800094-1767-4559-B5FE-C42073A94273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低吸潜伏，周线级别布局白酒 / 银行高股息标的，作为组合压舱石。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F0017E0D-5855-4A32-9F5B-073B113F3236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6A1CC6B1-9C1B-4EB0-8D14-20B67BBD52AB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竞价抢筹 + 连板高度，分时级别捕捉情绪龙头，T+1 快进快出。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5D299156-46DE-4A89-AC3B-56CDA31E2642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8705EB8-EB1E-4760-B953-0E4CF8CDFF93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产业链共振，覆盖电池 / 电控 / 整车，趋势波段，已暂停运行。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C8C4C607-1CAC-404E-9B9E-866464BD6136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B187B619-FA79-4C5B-AF58-F8263920D31E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89058995-49A2-4C0F-8A71-E3CAECA95172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57DF6A67-C210-45F6-A35D-22E7B31F69A8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5CA8D942-9C4C-4960-B004-6E06D76B5979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A3C53244-5349-417C-AC80-63B80CDA3A21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A079E281-7667-4912-A108-7B0CC8CF2736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产业链共振 + 主升加速双因子，聚焦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28D9A28F-2BA6-42C1-9309-A9060CB1F42D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978AAF88-6FD7-4476-9330-400E11D005FD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回测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FD3E8A79-FC16-4FE6-B53E-FE137471F579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E3C99A32-A5E9-4EB6-BBD2-3A3672D5365E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低吸潜伏，周线级别布局白酒 / 银行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4B074776-ABB8-4386-B29E-DB7D38B50540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D205B3C4-8616-456A-BE7B-7D2DE1B6D2D4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监控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8D6E4E37-4415-4AFC-9CC0-79CC36A03801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CFF97DAD-21BB-4EFF-A5FB-AAFB4E0F17B4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竞价抢筹 + 连板高度，分时级别捕捉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C8A8C3FE-CAD5-427D-AD4B-3857F29D0D34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55834D29-306F-4235-A354-F4FDA55AC1CC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编辑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786E1C81-03FF-4216-8154-F3C951A31D27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B4085E8F-CADE-48E6-9FE0-B82DA1554488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BA98A2CE-9EC4-4AB4-A3EB-E3976D4D70B0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EF425BC7-F4B0-4E4E-9297-648DBBEF1141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回测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7C871A62-4B4D-4E7C-AF80-489257A8FE64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EEEBA838-4B77-429C-850A-0321129EB4A4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监控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03955B39-A223-45EA-8AA6-96F6469AFA4B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DBB6B051-0582-49E6-BAA5-A485C767E00B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监控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6836795F-268C-4B33-986D-A19E688B5232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B09EF528-A973-409D-9263-1B4CEC7071EB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编辑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A239EE0E-E866-4232-8C53-DC56F7F792F3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05BE22E8-6EC6-4CD1-B79B-AB6260E7F25F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编辑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B7AAD89B-99E9-4B7E-B038-9EC3B356360B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52E32DBC-4970-4594-9130-50E5A19DAEBF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生成草案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995DE806-E353-4B7A-8FD1-D788B764A4CA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文件：strategy.html#execution-plan</a:t>
            </a:r>
          </a:p>
        </p:txBody>
      </p:sp>
    </p:spTree>
    <p:extLst>
      <p:ext uri="{BB962C8B-B14F-4D97-AF65-F5344CB8AC3E}">
        <p14:creationId xmlns:p14="http://schemas.microsoft.com/office/powerpoint/2010/main" val="140457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A7AEFD7F-A7AC-4874-B356-007D565286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C8AE48E8-4646-46E7-8AE2-61980AF3CFE0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A4F13A-7461-4F15-9E01-B8E6C4E07C2B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09E1F21-F3C6-421F-9C74-93704D13CCE2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DF6E20B-DC67-461D-8C2A-A00A8CB886B6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A5B4A6-0CD3-406F-B940-C35439EC79AC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FA480D78-0601-43A6-AA4A-582F6A9E8CE9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FEF26D-0C73-42FA-B542-0FEE7FEF45BD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9546EC63-32F1-4D15-89E6-11035289756A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1C082D-6BAF-4F67-A747-8D83F021341F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147AB2CB-F573-431F-A733-921952F45A4F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A20ABAE-C0C0-4D06-A867-928680883819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8170FC82-F308-4A1F-B833-F64F3AF37DFD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0D3A908-B692-4A65-BE4F-89C7206288AC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AA13CA2-9587-47A6-BD3B-3CDCF1DAF804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8A7026-3148-435A-8F23-3C5CAC1B97B3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03A78762-1137-410B-B6D3-436F744B4773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0716DFB0-16CC-4EBF-BF27-5E770EFE0BEC}"/>
              </a:ext>
            </a:extLst>
          </p:cNvPr>
          <p:cNvSpPr>
            <a:spLocks noGrp="1"/>
          </p:cNvSpPr>
          <p:nvPr/>
        </p:nvSpPr>
        <p:spPr>
          <a:xfrm>
            <a:off x="133350" y="240982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9E8BAFF-E679-4848-A2D6-B57633D0D8C8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方案管理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437941E4-8F42-4860-95D9-4BA56B95D6CB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8E9BE47-AA17-409E-AA1C-97689028006A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6BF33C17-011B-443F-8E48-F1E130C39E6F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8D98773-27F5-4749-AEEB-24AF66E86D73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3773E90-4BAD-41E7-AD4C-210B936095D1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B43A102E-E169-49B1-8787-D8955FD8028F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8517F70-EC55-4850-8466-38C8DCB50308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93E2B0B1-E69B-414C-8BF3-9B846B54A4D6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DE249EA-52F4-4DD6-9FA8-A12FB5733FB0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CE5A225F-5B6C-4294-9E7D-23A65A8AF5CD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336CB43-4574-4DAB-BCFB-7EACD02354ED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4AE42476-2B10-4C72-A217-13B1E5E44DDF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45B8E34-022D-4725-88BA-47BBF7FC3E4E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3C317DF-BA88-4736-8166-79D157B63821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DAF36788-0209-4E9D-96BB-A6E609F82472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88175A8-D715-4FB0-A07F-CEEBF72D3CAB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EA59BB6D-C542-4643-8201-0C25D67DDD7F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37E8FB4-5CEF-4CE2-8CE2-87B3878E9528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A80C66F2-8A70-4A0C-A171-3B2452FC768D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C827021-1283-4212-95E0-229A73CBF305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A4D9D5AD-D620-428D-8CE5-7197B66D7419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89774F1-4C85-4B0E-B549-BCDEF79F59F2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方案管理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EC3957D-4CBB-49E4-96D5-A4CBC25189D5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ADD54671-5AC4-4BFB-80B4-F5C0E684D8B4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E61415A-0F84-4AB2-A785-78A7CB8A821F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01474EA0-339A-491C-BDC6-F70B1D7575AA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8DF1481-AA6C-4E9F-AF7F-52A7D277A414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3D4BB8A2-5D79-4C7F-B53F-C3BF0EA46FB4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D37672A-E54D-46C4-A36E-E062989E8FF5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B118C11-9313-42D2-872A-16D66217C26D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方案列表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5E5FB2A-B15F-40EC-BB41-EA71EE788143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策略库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1AE69A4B-B0D1-4F05-84EC-FC7B6564EA65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57CA3AB-31C0-4BC5-B885-C56B5E0B9B60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0049C59-7C35-4C4A-B7DD-9355C54F00A2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参数组合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FF54C67-6B54-45A8-A9BC-91A5FE39EF03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仓位 / 止损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D96C2C9F-65BA-4A08-9323-1A7F0619EB5B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A035E6C-FC87-49FF-8950-E3CF77F12435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95A840A-F973-418C-8F01-4F1F8E3EED45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执行计划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1D0C8FA-B6A0-4ABA-8A87-A8B9B403F8A3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交易约束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36CB6059-97CE-4457-9655-87ECC2EE8F0C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062DE4E-0E98-4E94-B92D-2F41652BEB53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CD560C8-925D-443D-B3BF-F258619151BB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回测复核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29FDD3D-F024-46B7-B359-A2DEE84A95DE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收益 / 回撤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82C3A37E-C7F8-46A9-822B-8222A1580B77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0DF5309-57CA-49A8-AE28-4D80832A3A93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1811D425-C703-4181-9C91-69EA9E9A9AD8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方案管理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9236C10E-2CD3-4A54-A7EF-8C87615DF17C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BB2B557-3837-4826-8819-B34D1FC531CE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88248EA3-7D1E-4DBE-8FF5-A251D45E4F8A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方案列表 · 参数组合 · 执行计划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0DCE57CD-7A0C-46BE-BA5C-40F7100725F5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A1F5888-B42E-480D-98C0-3F98C6E39848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D41ABC6A-87BB-4BF8-A368-576CA094EF99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4 套运行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4F3B8FB2-2CA2-4503-9427-A7A5B8090387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49861F0C-D628-41A5-8950-1B4C9C2232E4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33AF37C3-5D4F-4940-AD71-5CB842336A58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策略库在线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257D2C8-3805-4A8D-AB3B-C101BDBAD436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31 · 方案管理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63D18AF-14A4-4369-B7AF-1FAC021E5090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回测复核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288B19C-70DB-47CE-8D7B-A3BEB6B88946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收益 / 回撤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80A4A7B9-6FF5-4F9B-8F93-8A60087F06EE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C9434E3-F0CD-483B-B77F-6563C18C52EE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A70C6D3B-3C90-4050-B4CB-A84D05685D0B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7E2033A0-2512-4AA6-B764-AE4E5ECD8C30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方案管理 / 回测复核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92C040D9-9CB4-4138-B82A-1430CBB92594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325E7CD3-BE60-456C-AB56-E3254E6222FE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收益 / 回撤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C0CDAA06-C018-4179-B3CF-F868F45A8FD3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A48A1870-EF61-4C4E-A1E9-8DD6076D922C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承载本页签核心数据判断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CBE97203-CEDF-4017-8AA7-3D668B194A8E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0DA28AF-BFCC-438E-8E59-1131BE2522BD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19C66ABC-3ADA-4CAB-A7A4-E7A7BE35A790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D47865DB-E5E4-404D-86FD-D9A64D29904C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5CC700E4-8964-43AA-8954-6E31A399891B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C3AD61B-DE00-47C1-A4E4-60AD370A4107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回测复核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14094C26-B6C5-42CE-8D68-C0EC9D993D26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0886F8A3-2699-45C9-B5BF-443442EF5C6A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方案上线前的收益、回撤、交易样本准入检查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47713B66-E154-4E7C-8E98-77FD5EE67FCC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4E3F376F-9AD5-4C31-82A9-2F7DCC7D13CF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2024-01 至今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8FE4E640-5554-4A37-95EF-FD2AAC0266A3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02BCDCD4-A087-4AD7-BF53-C33BA9A67FFC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低于 12% 准入线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26FE4161-99B7-4B49-A299-7B0385E496A4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D4FB3638-000A-4DF2-8A8C-7DB0582D5ED5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056030FD-28AC-4632-B31F-6A423D81C66A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D330AD5D-FB60-4323-A6DB-3B59D4EAEDA8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方案上线前的收益、回撤、交易样本准入检查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82B4F779-18F8-4A1A-BF86-885791544424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4AA7FB9D-3E3A-4EF1-8452-8B8A1352462F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2024-01 至今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968A0AC9-A084-46FF-84D1-B4B81E22BB07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3EE90929-646A-4137-8B53-117F4160885F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低于 12% 准入线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5F9E95B3-473B-4AD1-BD1B-9B7EAE7AB794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D6A44E5F-F87A-494B-A082-33B494A40017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样本量通过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A67C390B-579F-4DE2-B755-40D31323EF16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9C2A9B60-E4AE-4A2B-9681-D88B4336A652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037B7025-393F-4F05-96EE-397D17A12466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1FEA4C6C-952C-41F6-8369-C1BA1541338A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99562815-0464-4889-9118-5D169787DB4A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015F751C-6996-4523-B2DC-6F42CCC6E164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583B6AD6-90D4-44AC-84EF-E217BBDEC68D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方案上线前的收益、回撤、交易样本准入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07F3B65B-668D-4DD5-948B-B22A84ACCDEB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4FD4074E-BEA0-4C06-808A-20A000509249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提交上线复核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7DCA1568-8577-4A8B-A5DE-C9C19441013F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8FB11BEF-C1B8-4EA9-BDF5-4A09420D9BF4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2024-01 至今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0DAD2326-AF42-435A-82F2-C1BA20BD1D32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100378A6-D2B3-43B9-BFF9-063BBCF0F1C1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打开回测分析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83259E73-6BA5-41B3-8613-73709AB6E047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1FB5C547-E1BC-4A01-830C-7EB11E3A201C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低于 12% 准入线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1F2D808A-2B3D-41E4-82CB-57E38875152B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C8C38632-A368-4B75-AD03-83A467D74780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保存为草案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4C0BA2E9-23AA-4BAA-BEA8-E18100A3A06E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6E25CB19-028C-4B6F-93B6-37B4944A2CAA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665E8856-1E07-45D1-ADA3-30ED2D1495A5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7099A599-9499-49C1-B97B-94813B06AF63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提交上线复核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FC959434-5068-415A-95B2-DB856BFF30D1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3EA31C7B-883C-45B9-AE2F-74ADD00FC670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打开回测分析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B53F4F83-6D53-40E3-9E9A-9B1B9D42E66E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96ABDF6B-F921-4F75-A81E-50DE65FB6FC5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打开回测分析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0CAE196E-1D0F-42D8-ADE7-54ABEBE30475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77E79FA8-B605-4A59-9318-CC1990E7E6A7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保存为草案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2E7359FE-1D7B-41FF-80CA-46D8DC8C143D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CE0866D9-66CF-454C-BAAA-B47B83170361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保存为草案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2B58282D-D100-42FA-BD1F-D130CB9C8D97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99B83C25-3939-46FB-A77D-722AF7081799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保存快照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40E3571C-1E49-4B92-B6FB-C0BB95B74BBC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文件：strategy.html#backtest-review</a:t>
            </a:r>
          </a:p>
        </p:txBody>
      </p:sp>
    </p:spTree>
    <p:extLst>
      <p:ext uri="{BB962C8B-B14F-4D97-AF65-F5344CB8AC3E}">
        <p14:creationId xmlns:p14="http://schemas.microsoft.com/office/powerpoint/2010/main" val="4747473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464B2B89-6401-4A7A-9611-24DD054C6B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DD186DA7-3B78-4527-9302-AC88530BABB7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6725B7-7FE2-45DF-8F6F-9741B1552FF6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3C6D19-BCB7-44A3-965A-A2BDB4A10A23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A794E9A-03C1-4921-AABE-DE4E4027AC6B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E1B9C5-32BD-49A2-BB5B-1529C28AF785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BD6A5C82-9BFE-4FCF-9185-5E7A98E9BF22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D815F8-CF06-40F6-868C-4861F4BB64E7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E93BD847-21F7-409C-A464-AC8745720ED6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2B6072-4EF8-4686-9B73-558583C5E55C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B0396EB2-0D2D-42C6-BC78-ED1BC700CE5C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982EB9-3232-403D-8378-EFCDECEE3A53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93E6D7FB-656F-4B30-AD5B-91CF54C4504F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766DAF1-6FDC-444E-BBFA-90B3F09E59CE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AF9F2E23-F6B1-4764-951E-0347B6576C74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5DDDEDA-CBB6-4351-BFE7-B4783C34F1AF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4844DF1-3725-4916-8777-BC0C0DF39B10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181D3E0-5CF0-4548-846A-C333084C67D3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F125E89D-7B44-4670-8F5F-83252DB5ED87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6EEE3271-AF4B-4D96-8071-3E8372011BF8}"/>
              </a:ext>
            </a:extLst>
          </p:cNvPr>
          <p:cNvSpPr>
            <a:spLocks noGrp="1"/>
          </p:cNvSpPr>
          <p:nvPr/>
        </p:nvSpPr>
        <p:spPr>
          <a:xfrm>
            <a:off x="133350" y="270510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297D39B-0D00-4ACF-9A20-CA7BF8047E80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84FF4B1-0639-4156-BF54-CCB41E97B293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8A97A44-85DA-4899-B4BF-FC8FF7FD1F68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8D72B8B-E0FA-45A5-BA6A-32E5D59E23E0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BE6C57A3-545F-48C7-A855-B8ECB3111ACE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C843304-1DD8-48FD-ABB9-A9A20D03508A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0E73B4FE-1DE4-4325-8973-A5DF71AF1A9D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EFCAC02-CC51-4137-AF99-13AF0091AB56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199CEDCE-8D4E-48B2-BEC4-C7F688481803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97056C-C787-4875-87AE-712F31A9B3FC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99551A2D-99F7-4CD7-8F16-9FF6F15F1F89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BC9F0EE-2120-4562-BDB1-122F553CCAFE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D9E5B6C-2E50-471A-BA40-CCE0B00CAC75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BB5ACFA1-B0E6-4465-9D1D-4E59BB7E1A19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6DE9365-A02A-436E-9B39-90649522B1D7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CD14E8AC-0FB9-46D4-AB26-258F47B83DC5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6F1EE5C-BC99-4361-B3FB-B10B145FFE17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0A551536-092C-4E35-81CB-3497E71BA7F1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C5764D9-A9A6-48C2-BBDE-8A177AA35255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AB4AF043-8BB6-4D79-B571-C914572ECD62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5788756-4F0D-40CE-9DAC-22EF78BE1E3D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交易信号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C1F5FF0-EAF8-4A9A-932A-AF8EC9227155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06DCAEB0-E819-4CD2-AD1B-651258B55C90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EA84C4B-7BEE-4615-94FE-5830BDA4AD05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897EF4BF-A314-4F5E-8F6B-38E78F243609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3E119E5-D14A-449C-AF72-425AB405FFD5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F5C50222-6211-42DF-B247-1F49F55BD421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877F3F2-0B09-4F72-8A01-219590EDC9DA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4B4DA88-A01B-418B-B670-4AF792161823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信号总览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D7E897D-11A2-431B-B725-3DC062C16C02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未读 / 已读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67E3173B-C5B7-4E29-A721-AF0DA3867746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C0ACCD1-0B81-49EE-B3A9-9EB4471F36F4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9B0810C-A199-460A-87AE-F1C4534A9462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买入触发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1E3E971-CA72-44A0-B8FF-14A2247CBC67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强弱分级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24557DB4-0D04-4840-BD1A-7B486ED21D77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A9D3030-7FB1-44CE-B1E9-162756EB62A8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34E531B-15EC-4389-9C01-68A9BD5F5C1F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风险提示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69870AA-BC5C-4096-930F-A27DA5449271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止损 / 止盈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DA0E1E15-E535-4E3F-B7D7-23E0EFA94CEC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E3BFFD0-30CA-4EFD-A693-75CE3EBBBA3D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951F7996-2E13-4AEF-B61B-1BDCDFFAD3F8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订阅策略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5F5A4DF-2A60-4B1B-9CAE-4B10B9B3AE51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策略开关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E308B69F-41EE-4DB0-B3C2-A8237E333809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B0BBF716-1E59-4473-81EC-A86AC5DF6D96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3687C50-60B6-4BEE-9A25-7CDC92AA8FC7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交易信号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24369574-7266-4A3A-8AD0-D9CA13F148AB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3F2C2EF4-53EC-4B89-958D-CEFEF7591359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2297A065-5CEF-4B0F-BB80-470C9C6067B6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信号总览 · 买入触发 · 风险提示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09DFD4EA-26AD-4C45-A9C4-381755A88067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CB59A3C1-357C-40DC-9C58-1070B2B2ECE4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E3FBA39-D7E8-4F6D-A9F0-DE567FA8495C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 条未读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3CBD1DFD-4264-486D-A586-3E42530BD7C4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213E79C6-569C-4B25-B0B5-9AA33DC89ABC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0A14DAA-4D37-4179-BBCE-9FB18E45DCD3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推送在线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826F0C6D-C3E5-4A1C-829F-511303335773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32 · 交易信号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B479584-9A96-4C3F-BC22-B909913F4FD6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信号总览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EA042FFB-7A6F-4751-8FAA-F4D138B68DF0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未读 / 已读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7767D524-2E5C-48EA-973B-896360A6309A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59C1B0FE-F20A-43A0-AC40-DCE056475198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5D8BEB83-91F6-43EC-8E51-4A64DD85D133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EF44110-B948-48C0-A551-64B504BE63BC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交易信号 / 信号总览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E168C8A1-3FB2-40A7-BB23-E41C0F23DE7A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1B8616DC-326A-4AC2-98CB-7D77AD7118A5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未读 / 已读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E3E64174-01E1-4DE5-AA37-7628D0E4A727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AEE16164-AD82-4850-B353-843186C0FEF4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今日信号流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E4B26564-D06F-45F2-A773-C5A8AE9F1282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89846040-3BD7-4348-B706-5EA8C8161494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23001027-4C06-48DF-9785-1EAA22D3EC15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8B44CC59-3F81-4805-8F64-33905655B79D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91F973D6-5F85-4C67-ACC8-7593FA1D43BA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3AA6EBBC-3F09-4328-B08B-A987411FD505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信号总览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9ECBE2F8-A763-495A-B9FE-50BA8A6CF77C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6C6E2409-D246-47C5-9B59-6BD30D3C1370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今日信号流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BD82B2F1-404A-4444-8748-62A4C33EAC7E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1885D6B3-6E84-4917-9065-61F9FCDA5AD9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id="signal-feed"&gt; 今日信号流 9 条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6EFEC759-2D55-46E6-9B15-54F6476774E8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0A3B43DD-5BEC-4175-9A51-B16AFECEA472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3 条未读 信号总览先处理未读、分级和归档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E739AD75-30DD-45EA-A5AB-E9B1C7AF21CB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9D7086E4-EF82-44A6-A68D-E982B96150D5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17AB0E92-845C-4A30-9160-0B7A855E286D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554C3E3C-F0E2-4841-A725-6BFAFF214587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9 条 · 3 条未读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341D2E9E-6E47-4216-9D76-088667D52226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0D8FB7E2-BF17-43A3-9E34-E0033DD81BC3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id="signal-feed"&gt; 今日信号流 9 条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9BED66CA-9645-400D-9637-64CAD585A861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65A80CD8-B544-4E78-8667-C83D310CA959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3 条未读 信号总览先处理未读、分级和归档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FFBDB727-59B1-4A51-988E-531DE9A15140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F02421F2-A6F1-459F-8AA1-809A56886B48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买入、卖出、风险提示再进入各自页签复核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13BD19B6-E1B2-4CD3-BA2F-C786E094D1AE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E7A5301B-CB42-4BDF-A662-1CA144E812CB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973F2BB9-0F3E-40B2-846B-778DA81E05BA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054EAB84-1AE9-4CE2-BEE7-04AEC0224448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AC358A57-A48B-4744-A859-F0EC0DCCE818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C54624A9-4268-4432-907D-6CEDF50C4786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0CC0956E-D46B-456A-93B5-A1D66CBEDF59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9 条 · 3 条未读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587D9123-3B24-430D-936C-C0DF09EBE257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E8BEC182-D711-482B-80D1-2F04B36ADB01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全部已读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36478B40-1F4A-48AB-9728-E57DC6226DD6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6415B0AE-45B4-4769-86A0-56340309C72F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id="signal-feed"&gt; 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412F0C03-9A85-4B6A-BAA4-EF9DF0B4E1DF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95E2A731-95B1-4604-9677-1DA8E4FAB453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导出信号流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A0BCD5C5-8BA2-4732-9ECC-032314E825CC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488DE5B4-8FBD-4512-B297-E54837507B50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3 条未读 信号总览先处理未读、分级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D32CD870-7D02-4390-AE4C-E0EB1BE93F29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15826C3C-9FB3-4748-9FDE-DF63CF31D2CB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生成草案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29102C16-544D-40CE-900A-06B75F65F4A1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BEFE6E08-0353-4D94-8BB3-B03CAAA753ED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239ADBA5-E1DE-4008-B899-F59321EAFA5F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BFF8D9AA-3716-4FD2-B14A-D5225FC3F2CE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全部已读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D43F6FF4-C489-4568-9ED2-F5EC69901641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DB6BA634-469D-4CA8-B936-5D56511286B6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导出信号流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389FD260-FB6E-44DE-B671-82912FB99AC7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809905E9-9B72-4D95-95E1-48CF0049FE78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导出信号流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F59B3C80-3108-4873-BD5D-E8EAE583B483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93578A8B-A828-4EB6-9AFF-A86BE501A234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生成草案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1F56D8C2-697E-41A5-A891-4A73A0CA883B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F2E5ED04-D4D6-4113-9B9C-002813653211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生成草案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1E93DD3E-A099-4D8C-B9AA-1C51F695666F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8AC5343F-E3F9-4EB6-97A9-B11B52DDC5DB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写入交易票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27D2F317-5063-49A6-BE65-662109803FE4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文件：signals.html#signal-feed</a:t>
            </a:r>
          </a:p>
        </p:txBody>
      </p:sp>
    </p:spTree>
    <p:extLst>
      <p:ext uri="{BB962C8B-B14F-4D97-AF65-F5344CB8AC3E}">
        <p14:creationId xmlns:p14="http://schemas.microsoft.com/office/powerpoint/2010/main" val="8181036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813EE081-BC0C-4BF5-8297-826E2B83C6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8AFC8FDB-BFEA-4A4C-85F2-DC25872F14BB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34B8AC-4D1F-4338-AC2C-2AC4D64E64A5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E5F148-50B5-475D-A3EF-A7BEDF8CF361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E14E6D5-3E40-4BF1-9BC3-80273ABC652F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B892B4-724A-4A0E-8156-DEE9DB85B62C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BD5C0ED9-67FB-4254-A8E2-C5178E1BFFA3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2744AA-7633-4A13-91A3-1CFBAD0E0291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3F4E75C-68D9-4F69-9F30-9991CAE2C705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AEF0D45-6E78-4639-AF91-F189731AF9F2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22923FBF-AD1A-4E41-B080-19327A3DA5D8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B4EC95-37AF-4108-AA77-15E4DEE563CE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FFCB39A-8090-4718-AE07-A7761F3921F9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1464C57-BA94-4FD4-9717-B5B341A004FF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75BE1F3B-8A12-4A1D-899C-9945639BB029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C42FAF6-D484-4BF0-8FAE-0B89B06AB4D3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3A9251FA-73E9-4ED7-8361-518D6EBF11C2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63E9858-34FE-4E57-BE52-78DE0188A56D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2BE28BD3-7853-4AC7-98B1-81807B36A36E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B69DB33B-9E82-4618-952A-373F3389B45C}"/>
              </a:ext>
            </a:extLst>
          </p:cNvPr>
          <p:cNvSpPr>
            <a:spLocks noGrp="1"/>
          </p:cNvSpPr>
          <p:nvPr/>
        </p:nvSpPr>
        <p:spPr>
          <a:xfrm>
            <a:off x="133350" y="270510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63BA23E-5CEF-49C7-BD3D-C47590E9BE92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EA992213-E621-430F-8C62-026DE9C17E6A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B3C0C3B-D4DB-49DD-A773-43737B8C6344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27D8498-C2A3-42AC-B134-2C3F63E384F6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F1EB35B8-075C-477C-9494-B74CBA5B175F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4DA10DF-C926-4682-AB8E-F58FA64EA116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4BC889BB-11AE-4F56-958D-7F8A119D1B4D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4F28488-38FE-453F-B2E8-A21AF97F1931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CBD07A83-AB68-4D49-B1BE-BABB03020942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9656538-81FD-4B97-843E-F3A6A9A6C7B8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9B833E20-4260-41BB-95AF-CDF0577E6ACD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CD35CDB-051A-449E-BE39-DA55A14DC673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D75B496-0757-4A5B-99FD-D3F4EF4F5DEF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0A89EFC6-DBC4-40E1-BB1F-8FAAF79EE7C7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278F87D-9655-49B9-B538-C3811704FBEA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286187FA-186C-44D2-80FA-FA33CECCF713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EE2B9DD-642C-44B4-941C-FC307C7EB4CC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6933FEF5-DE61-4263-AC72-4AF64217D9F2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7799651-A101-44BD-8F21-3DA16E760E0E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D25A748F-07A3-41DB-945C-EAF2B9A04E67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38833AA-749B-4B0E-8405-A45527CAF428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交易信号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615F09F-D6A2-4060-80FC-6B42A6E0FC45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A4BF8039-5920-4291-9D5B-FFD7EA81A3E4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5A17B34-F6D2-4FAC-A681-85CA9922F638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5023CBEB-8732-4149-B106-4A268BA4ECB7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EE437D4-47A3-4B68-A04F-1F18217190FF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1953A47E-0B1B-4FFB-A5AF-C020231D658F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0BC8EAB-AF37-4BDB-B26D-8202475AD84B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C48B525-1891-4456-B3DF-BA447DA3433B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信号总览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D312FEE-E6D1-442E-BE25-137AB410CD25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未读 / 已读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7A33EA26-F322-49E2-9DD3-21B50046E000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4B82855-2453-4462-AE19-3BF5D8686F53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7C08B1F-79DC-42D1-B9B0-6967D91A90D0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买入触发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F23ACC7-1A71-4D08-B74E-B5082671806A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强弱分级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D6125071-C301-4431-B32D-A282CE9CB595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BAF8FF6-9F41-4D2D-8D62-7F7292A09622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A18F60A-81EE-424C-92EE-EE26D4A8D76B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风险提示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8C2340E-20C3-48ED-B966-046B5E004D2E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止损 / 止盈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13CAF669-528E-40EB-9F95-811975BF5666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82C8296-BF83-46BE-B830-9B5BB59E9967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6FDBBD87-3234-4BA2-807C-6E137DF424F1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订阅策略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7871C63-713B-4DBD-9E70-6BD68AD845DE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策略开关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309DB1A7-D264-4B38-92EB-358013827CF3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AC26C96-D8AC-4090-8A29-C46795045DED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E70C70A-458F-49F4-B296-28631980B8FF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交易信号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55D09FAA-98CE-4AF1-9ECC-D9BE7FDFDAF8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A1EC63C3-E75F-48AC-A1F2-4F3AE0BFA4AC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43FF33B-4821-4AFB-AF9B-C7410A031294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信号总览 · 买入触发 · 风险提示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33E60BA4-3C5B-4144-ABE0-E2B98701FD63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5EF9B4F2-A2B0-4AEE-BFB7-05E7625CE1CC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AE3B7549-D8C5-449A-A003-32620F8B98E0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 条未读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05EF347B-F9B0-4E9A-9493-0B54A0876CED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876C8564-B0C7-45B1-B34A-CF2B58B58E9B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BD39259-C67B-4C5A-8F5E-52387EE5F9F3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推送在线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7BC6ECB3-F98C-4669-9878-EFE72D25644B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33 · 交易信号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870DE531-CCF9-44AC-9457-D44B63829BFD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买入触发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1F124FC-1E5E-4EEF-8ED6-6656A81C2CC0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强弱分级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53DCCC7A-EA72-40A6-B0A4-2F1A4CD8C88B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EF2D6C57-D302-46EF-B168-19AEC0041CF2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1B451A04-986F-4774-A1E5-2053D3FB21F7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7D98865-89C7-46A8-8F82-E1B2386FDAB3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交易信号 / 买入触发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DE26D024-47FB-4A68-B886-7E868FE98220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76128182-0593-4B61-95F6-B1D0F87449AF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强弱分级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7B78BB51-FBA0-45D4-84DD-E15AA15416EC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8AF04A5E-D096-43BD-8CE2-DEB04917981A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id="buy-signals"&gt; 买入信号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F22AAE92-235F-4BE9-B54C-9A2363D774E9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CA96D210-7D5B-4145-A729-0C553CD6ACFF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60E92AAE-CA17-497C-A0F2-38EC697E8484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B6C452A8-469E-4A3B-A28D-2FA7E84E13C5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2FA1E993-0A2A-4F7E-8B11-C12C5B205C75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7769356E-8C55-4151-BF39-AD48CC27D3D4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买入触发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657F1FFA-A816-4BFE-9E15-53B59970BD92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2252DB18-1E65-4FD9-A0F0-1F3DF7861CB1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id="buy-signals"&gt; 买入信号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815E1CE9-C691-4472-AE6B-44E5D5E7202E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8CEBB88E-F79B-4729-BBB7-E8D92E827F88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建议分批建仓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D2937817-AD89-4012-8043-0208DA515113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45F1C76D-A4F4-4F39-B9A4-E2F911BC69D7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立即买入 看预测 忽略 &lt;div class="sig-item unread"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99F766A8-52E4-4A0A-ADE5-4750B413FE44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C1BDC0DE-CB02-4C54-BE32-866F22EC2640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FC899DB7-CCAB-469D-AB36-BB4DD8EC69BE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EEE8690C-7C58-4321-B3D7-4E671C7345EE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id="buy-signals"&gt; 买入信号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30A7931E-3C33-48E7-9346-30BDC0791391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A14A11CE-13F5-4D9D-BE46-3BB0D92D18EC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建议分批建仓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479F00B3-53B2-4EDB-8C70-78490D7B95EA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B49FC5BC-9794-4D82-BA43-8D9CF5608616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立即买入 看预测 忽略 &lt;div class="sig-item unread"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BB5469AA-DC7F-45EF-9D0B-DC62ABC3F40A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9D3FA33F-422F-48F8-A47B-B87D21201817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A5BEB6B0-5E00-496F-82EC-76618B05C34C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8B507D7F-24F5-4079-AEE0-322B77F06177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6CEA4914-D1F6-4AFD-A853-5A047F7AD90C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BB32E6F5-5288-4B4E-B31C-0D7EDF5C96F9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79953A87-E0AA-4B68-A9D3-0B40B95DFDB3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EA1C4B81-DE77-4B89-9E76-3ACCCA254738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5865270E-A601-45BF-A184-C5FD2526C1A6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id="buy-signals"&gt; 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05F03B9A-E3E0-4BCC-ABC1-DA0FF2DADFC9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C356CACF-04D4-432B-9DE9-D679634D7428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立即买入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136F774A-2D62-485C-A9D3-5F521A8B79E1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BBA4B06B-22AE-48E8-B8F0-25E11BF06733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建议分批建仓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8E7D37B2-0A52-42C7-B080-9EAA59A6709E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F534AF24-0EA8-43D4-A87D-A08CCA394DF3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看预测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210CC6DC-25D3-44D8-9AF8-F0193621C678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840B037D-18FC-4ABD-B98E-6BF7ECA301C9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立即买入 看预测 忽略 &lt;div c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A79B9B93-C8A4-4C90-BB98-3E1AE089F433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80675B3C-CF23-4915-AE27-7048FD1C09A6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忽略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34A3FDAB-0B94-4E49-B8E9-097283A7C245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B66B6251-F9B5-4A02-ADFA-EF8691EB6BD6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FD286A67-72DE-458C-823D-D3F56EAC7089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B55981DE-C905-4E43-88A9-E998369E2A9B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立即买入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D0A3125D-199E-4467-B738-E4F883FCA89B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E4095B91-0544-4E3C-BA64-577C9F09EBD6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看预测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2AFB4E3C-CDC8-4BD9-B8E2-B947349C23E2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13914DC1-7968-473A-BC46-43A52E32CD3F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看预测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342B8BD6-B906-4572-9860-16823B6A3AA4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29DA4AF0-98DB-4117-A556-C2DA1AA36877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忽略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DF6DE866-38DD-4B96-8AF4-E5B3154DB050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F364F2FA-9235-4690-A74F-00AA292097D2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忽略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C5775F95-8954-4F0B-AE3F-6CC08CF130D5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24F61577-1287-4ADB-9FB9-62320EDD5E35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保存快照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EBE21618-C65C-49ED-826A-B60C87509132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文件：signals.html#buy-signals</a:t>
            </a:r>
          </a:p>
        </p:txBody>
      </p:sp>
    </p:spTree>
    <p:extLst>
      <p:ext uri="{BB962C8B-B14F-4D97-AF65-F5344CB8AC3E}">
        <p14:creationId xmlns:p14="http://schemas.microsoft.com/office/powerpoint/2010/main" val="20934826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836C03F2-5461-4A6C-94D0-15F291859B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A09D0CF0-EBA2-43F9-93FB-D3BA8BEEF486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3D6E7A-4429-41FE-8F53-BA90EE41FB35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EA006A-A3EE-4279-990A-EA6F64B24F15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A0208C8-4524-4895-9390-257A5233AF3B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D348BC-A3D7-4E26-929C-8B47BD9D160C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5558D995-A377-4D7F-BE25-5CF6706E6A20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27E606-A4E9-4DCA-BA65-11BB6B2D5E7E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0D66A90-62FA-4758-8F09-7EB58ED84E06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98936B-C0A4-4B80-A99C-5A7E54EDA780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07B5E1FF-3D17-4F9A-9D92-1C12D4BACF00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3AC8D2-F0A4-4F76-AAAD-B24FE3A041AE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D12C030D-FFF6-4744-A191-8223E4689E23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A80BF9-77D6-4070-82ED-AF9AE11EBE2A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B1DD7933-6123-445E-81E3-7B3DA3FC4488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50DD3EA-8F2F-4E87-BE1D-1EF981C833D7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2EF9D628-722B-4CAA-B860-A4F81C12E6B6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34284E5-DD56-4C06-9576-01CF802DE62B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F16FFF63-CDA8-4BC3-97A4-E1D5E0522489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20AFCCF6-6430-4818-AF6B-9F6946E68687}"/>
              </a:ext>
            </a:extLst>
          </p:cNvPr>
          <p:cNvSpPr>
            <a:spLocks noGrp="1"/>
          </p:cNvSpPr>
          <p:nvPr/>
        </p:nvSpPr>
        <p:spPr>
          <a:xfrm>
            <a:off x="133350" y="270510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FEAEE4A-F0F5-420F-9EC2-3C10F8628949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EBEBA21E-A918-42CC-A7F0-193A158D1995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43FFE66-2A24-4E52-911C-F35DEC7CB11B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47FAAFA-9610-4A90-B974-1A101FB1FDAD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6527AE74-6942-4118-AD64-5D1D47A8D380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BFA8068-1C4F-4770-9803-D05A805ED78F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656F7EAA-7E62-4C2D-9BAE-89A8526C93F6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8D3A313-9FE8-431F-A15C-36C442289F54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8357783E-E296-43FC-9926-DDC0107D0CAE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265C7A1-572F-45DF-80C7-72B03EAF9F18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431937A7-F146-4725-B5D0-FF84AA348999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A187912-76A2-4E3F-85D4-DC20D9C8C9E3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CAC41B7-EA53-4775-B8F5-AF2197379F70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7575232E-9311-4B04-9C87-25F324496C24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5A3EFA1-2981-43AF-AD80-EC522E4C1D5B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AFBCEC5E-C7B4-4A34-A522-EDFD9BA7EBE2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318780-D5E9-4948-9641-31E3EAD480B2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94231699-3055-475F-9423-A3F5EA83C4D7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51C5FC5-D0CF-4AA9-8AFD-F47013F3217C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64C99D0A-090A-492D-BAE4-30617FFDF800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BF94C57-77AA-4E6F-B072-23588472112F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交易信号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C844B0B-5C67-4656-80F8-507CF360C03B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BCB9B37A-C375-4CCD-A125-6B6684C17B9B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BA7F28D-DF29-47E8-B74E-D4F1D471C280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348BE8A4-BBBA-44DF-A20F-121E5DE6B937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965F93F-A854-4612-AFC3-C0A7092940B9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5283B752-339E-42D5-9CCF-A8BB0EA83A40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704F465-8983-4B9E-80CA-C4C1BF31F335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C9D46EC-856A-45C0-BC7E-A648008A7B98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信号总览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E03220D-2222-4686-8433-D2F9B31ECC1F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未读 / 已读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873099EF-3BD6-406C-8D28-7A3DFCDF38EF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4FADC31-AEFA-47E6-9190-25AA98B9D38A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F1F20E4-E319-48D2-B2B5-5664391A0FB2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买入触发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15A0BA9-4E34-491A-BE1D-57F26A2B0925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强弱分级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EBF91BE4-ADD2-45D3-8212-F4DF5CA67C46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2B3214D-C4F6-40EB-A172-3A933018710D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D8B677C-6109-4F12-A299-D370F9E5913D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风险提示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7E24339-91A4-44D9-B89F-B5D9B05583AA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止损 / 止盈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E4DB5DAB-8FDC-475C-86E4-96408E0A27BA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59A01A7-CFA4-4440-8981-37A93E2B61DA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DD8C130-E7C3-4B84-936F-D4A52B74DCFF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订阅策略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1F8CDAC-FD25-46D5-8537-BACFB49A6E76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策略开关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8D7892E2-A9E4-4C32-849A-7901ADF90B24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CF856AA-F0BE-4F2F-85F0-E87EB009AEDD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774CCEA-DA5A-4FB9-9377-054E38719898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交易信号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F58C9638-6F4A-4D52-AF34-0CB51B57A932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F719282-6CBD-4881-83E3-85EF61DED12A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6742580-1230-4157-A976-76B20B1A5DFF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信号总览 · 买入触发 · 风险提示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EE069B1C-E9B5-453C-A977-D8BBBC277D2A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DFB3F0C2-E2B1-4D4F-A4F7-FE6FA7F419F5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97A38503-9E18-4605-8CED-74DFFE958DAF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 条未读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C504A03C-0AE0-4792-AF56-D5A6B60A3064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1D39FA2C-39C7-4B62-9CCF-4F47C9F52FD2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57425B0-B7E1-48D3-982B-1515CFDE44B9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推送在线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9578B9E1-FDCD-4E57-8E81-A65979C8F3D6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34 · 交易信号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AFCDE90-FC3C-4039-859D-42983446D1DD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风险提示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1A2DDC98-3D7B-4B0A-A398-D63F99CDB937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止损 / 止盈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AD7F82A5-4305-4710-9011-5CE408512442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58857C44-A0F5-4989-9A0F-2C7129B3F8A7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D97EAA4A-660E-414C-81E7-B122D02AB64D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BA05F3D6-804C-4291-90E3-D38ADBFF76AE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交易信号 / 风险提示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F5CF9463-1FEC-4542-97D5-728C8FDB4C83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15C2A372-2163-4620-96BD-A89DAEE41721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止损 / 止盈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1D8E3237-FEF3-40B9-A68E-D0A1F3F3F05F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9D0F2F30-53AD-4F6B-A6FB-D682432ABAA8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id="risk-signals"&gt; 卖出信号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950E296F-91C0-4036-AFEC-C9BA6F0E029D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C86D1478-B436-4B54-A927-C82C58E037B8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C4E057D5-B365-4D03-AF9F-38804C42FADF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FD8676B7-BDE2-4A13-B580-E5B3286590FA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FBE57A05-F92A-431B-B8B3-AB79C4C4459C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0CA4DF09-FCB7-451B-8F75-E5212CEBF35F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风险提示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949D2F29-4659-4F3B-B5C9-C038AF7840A7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FC5187E7-0DD1-4888-9C8F-F8EEE6B8349F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id="risk-signals"&gt; 卖出信号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F653312-476E-4C20-8D3A-B5B386ABB066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0871EFAE-21E4-4D40-9CDD-AF79272DAA9D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建议清仓规避进一步下行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3DB9F915-80B7-4145-8224-090C38C3275B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780AAC77-ACC3-4827-AA9B-33A6DB849EBD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立即卖出 忽略 风险提示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56CE30B9-7369-4305-8B29-C8231B7EF104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B9A2A7C7-0DA4-4EA0-B3E5-10E32A35968A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DD0C09AF-F0F8-4EE0-85F5-548F7B1EC2F4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F21D6128-AD02-420C-B5FE-9EA61593A7CF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止损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3881E1E6-A91F-43F1-A36D-1848C77D181A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EC0FD60B-AF7C-43A6-BEC7-CAAE716B6BD9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高位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F6202E2E-CB1D-4010-B26E-BF0A964285F6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298C1EE4-03AC-4E65-907B-8C5F3B3D5DF8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id="risk-signals"&gt; 卖出信号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B42D139E-97D6-4DE3-87C7-A8297B5388E3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5BE53C78-3067-4E61-9CB2-1958782CEE3A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建议清仓规避进一步下行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B160D839-EB53-4BC4-94AC-C855F3A7C1DA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5C81DFDC-3F33-4F21-9EB7-DEBA7ED6EFED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E4473EC7-F583-4B03-93BE-4F4192F60B73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1776DB55-AF35-4960-9671-755EB2728576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E80686C3-7CA5-4297-9B4B-771A0151A6A8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E0164388-8099-454D-B9DA-FF22690C9D96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333C5054-740F-41DC-9AAF-9D8EBE47B113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止损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3D42557F-647F-4118-BADB-0B34E62C6D2B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E4B1BEE3-688B-441F-8E07-EB754C2AC031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立即卖出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1EA6F2F3-40AD-41D0-BFFC-4FDEA92911CB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C34A9205-BF99-42E1-9290-62595AAE45F7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高位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BC8AB161-4574-45B2-A47E-51BAE0E8DFE0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96C41EA1-EF69-4A01-81D2-ED1D001DB388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忽略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F91A9135-F971-48FE-A415-9D251C7648B0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F8AAF0A8-C7A1-438E-BF02-0DEE12ECC18A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id="risk-signals"&gt;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3A46E60E-D2F3-47B1-97CC-1655DC5DE5BE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934F2F41-8E1E-46DA-B398-E9186FA7A635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查看诊断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30EDE776-FE99-4DB4-8795-E0972B0D5C98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8F8381CE-D488-4246-B191-6783D1184E73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577F634A-D786-46C7-A828-042CE0A122C4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7D10AF6C-5036-4CDA-B161-35B79F46D738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立即卖出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12B495E7-7F1D-4CC8-8AD2-1CE585C6BD79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AFE3875E-1AD9-4FC0-9298-3E1FD0B72333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忽略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5AD448CC-BF41-4CC4-9C09-41495A904705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89790A40-97A0-4B20-865A-10919A9735BB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忽略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94871156-4BF9-4FA5-9120-69A03EDB225A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4B85D06C-1798-42CF-9074-BCD718CE2180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查看诊断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B4AE4FC6-C731-4370-9944-C6EDCBDA7A9F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D7F6533F-D628-453A-A306-6D9089D6C548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查看诊断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4F6E149E-FE06-4B6E-92BC-DA20CA651312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62D33EAA-671A-43EE-B428-60B18F390D5A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立即买入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E27D9C6C-FAA7-43A3-B08F-F9D99B63E3A3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文件：signals.html#risk-signals</a:t>
            </a:r>
          </a:p>
        </p:txBody>
      </p:sp>
    </p:spTree>
    <p:extLst>
      <p:ext uri="{BB962C8B-B14F-4D97-AF65-F5344CB8AC3E}">
        <p14:creationId xmlns:p14="http://schemas.microsoft.com/office/powerpoint/2010/main" val="9642849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354E4AFB-7B66-4EFA-82D8-D3F76D464B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0C79A4C9-52F0-4C33-9C70-B55F45C5099A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62306E-9C71-45D5-AA39-17D4E54219BB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449019-F37F-4236-BA22-5078FDE6C00A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1717547-FC05-4D75-853A-CB5D2C41D9B3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8B3982-C309-4A84-B04C-3738CEB62A09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47721D68-9911-4CB9-A130-8A674FF838BC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5DDECE-5779-4F2C-B6FB-4777F78D7ED7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1EC875A-8360-4004-89FA-4612434E160F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19A3D25-4DA7-4253-836F-E010AD82C3F1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6F6D7108-6FE1-4B17-B7F4-5059389BFF8D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1B0958A-ECF4-4D0D-A5F8-241A14387CE4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D4FCDBF0-578C-4000-BF62-A4714D60DD94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53CAFA0-5191-414F-923E-43C3A0729D9E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F991208-B5AA-4257-8A78-59882AC80475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7643602-6387-4B74-9AC7-AA6EDA18E4D5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C339B28-A26F-4E43-B37C-DC990C4A6C9D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473ED4-3BA2-403C-84DF-B2801FCABDDF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0DFEECC8-11EA-4AF8-81F7-9D886EB6499A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C82E9C6E-28F2-4EAA-AE26-D18BACB554CD}"/>
              </a:ext>
            </a:extLst>
          </p:cNvPr>
          <p:cNvSpPr>
            <a:spLocks noGrp="1"/>
          </p:cNvSpPr>
          <p:nvPr/>
        </p:nvSpPr>
        <p:spPr>
          <a:xfrm>
            <a:off x="133350" y="270510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FBB7F35-CD7C-4B65-96DC-E0B2A3C472E3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交易信号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8ABB4310-3D2A-496A-98A5-6B876B78BD21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1172D4D-A2CE-4F11-A051-B2F422E2534A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52B9CD1-E13D-4D78-A6BD-ED25C1D7DC41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81B398D2-B3B6-4059-A1AA-C870514C73C8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78EB64C-8D71-4711-BA5D-2C04B63FE6AC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37DEE852-6D34-463D-B836-0483C1DDC354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1A5D2EC-DB84-4284-9174-DA811D423A3C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6BAA3F0F-D62A-4F08-8967-1C136FD4125E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07FA64B-01EC-4261-B1C9-495E4C4BCD91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4DDCE469-30F6-4515-9EBE-25EE421DC973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BD26907-FD62-4F61-82ED-23C5FC6BBAE9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9B7F356-BBD6-416F-A104-53330FAFA898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79A27E26-7B5E-409A-B93F-D83A38D06359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CD11331-F460-4B33-B830-829FD892DB59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8C3D3910-634F-4B2A-94C7-1691CE1685C3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3B90197-0C07-473B-837D-1145791FAEF0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A36495E7-C887-499F-9BFA-76C70593F275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AD5C069-901B-4AE5-A56A-920E06947730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0B5877C5-F9C1-478C-9DF4-BDABD6E63569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25CDE09-82E9-42B1-B838-6C343FE6427B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交易信号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5457367-F6B6-4A10-9F41-A45F4C74F0C3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F2CC85B4-2EDC-4026-8924-0821E92F8233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E9B4A41-5F57-4200-9380-113B0D791D6C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4DCD0199-3D64-4862-9CFA-B7CD202DAC0E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39BEDD4-0BC0-4A26-ACDD-AF33F087A678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0D67D269-F986-4825-82C3-7D32343988E8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4CF0B52-34BA-45F9-A202-FD25D90A37A1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E794368-3680-4844-AA3A-1A646D300824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信号总览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48D29E9-010B-4123-9BEB-E66152180AE8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未读 / 已读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AEA8DB04-5E5B-442E-933A-11867A97D75D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AD03C7B-725C-4776-B863-5FC8A151EF45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0846DB7-0C49-489E-93F3-A479625C3783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买入触发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348445C-E2F8-4849-A3DC-B44E46117674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强弱分级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7B860540-81D9-4129-B598-9D0DEF12B83B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2AC97A7-DB5A-4C5E-9DB9-3EAFECF69B2A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4D6DA82-5CA8-4301-BCC2-CF1714A6298A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风险提示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796618A-1322-4074-956D-EE00F9EF9181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止损 / 止盈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CCFE5E1F-61D9-4AAB-BDA1-BB66BD6A9856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5BCDE26-5C4D-4023-B61B-7FE332A825A5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431AE59-83A2-4721-801A-5B0EF2EF7BF8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订阅策略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EC9E82E-3122-4F2B-819E-1358F32FED8F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策略开关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D9E96B3D-6DC9-489B-8500-D297820F0AA2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510CEED-B02F-4E76-92E4-9DBE7F405BD3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950A62D1-7788-44DD-AFC6-E5A5562D21A7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交易信号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FB99D9EC-0EE0-4CA8-B1FB-43247A25D881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E6F18DC-9D15-43B3-ACE1-BD9A979591A9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A0F3029D-8DBB-4CB9-B67F-C72C1C8EE779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信号总览 · 买入触发 · 风险提示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54F8DC13-ABA8-4DBD-A671-2A2A1B3038F9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6F522F8C-C9F3-4DE4-B0CC-6DEC096B2E5B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1F38D37-6AFE-4411-AC04-691FD59541D0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 条未读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03B49980-5FF5-479B-9F0D-9AD8733A44A4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7969F6E-733B-4505-8CE2-6692C53CC01A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66029CA-D1EB-4EA6-BE6D-15B1B9903D43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推送在线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21B810A9-9824-46EC-9A94-322924133F7D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35 · 交易信号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E72B1FAD-F3F2-441E-82F8-3DEA4B049706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订阅策略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A4A02AC4-864E-45A7-A94A-1E8F51D7195F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策略开关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A476CF12-525D-4657-BFE8-9C793DEF9AB1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EA996C4F-5ED9-4B1B-882B-B31DA4D65317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1C557374-D6B1-4A4A-AAC7-131876A3E0B9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77373BD-2C41-44E8-A02E-06C741BE9654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交易信号 / 订阅策略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C024E01F-8819-4B6D-BF9E-F04DCF91FE09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BF4A2750-93B9-4C49-BA4A-5F4441DA0429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策略开关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65AF4661-A96C-499F-A90F-9014B855E119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5904B9F2-CD9C-4D11-8D99-0CF79B4AD4D7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今日统计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20D78914-5B43-40FC-8DFA-5B64C0220F6F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CE6F1BE4-3740-4477-9DC2-97D34177A4C1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82CB544F-8F73-4449-BE43-4648CA451DD0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07BDE5F1-05BF-4327-B880-3AC9849FAA15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28B41F43-D803-4633-A40F-7EAFDDE2F73B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A5FA99B-5A60-4931-894D-063B8878397E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订阅策略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2D2A214E-BE0A-4046-A57D-ACF066CF8475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6211D5C-98D1-491D-8E26-C065902B3971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今日统计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D4EC3302-1823-433D-B44D-104DE02CA3C1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AEBD2CBB-7E41-4F70-A389-37F72983DA2C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信号订阅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ADB3EE0D-624D-4EFF-B82B-AFBA7F55DFB5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C95AF402-F409-4DBC-A5A6-C7E9040854E5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FF508F46-7494-4AE0-9992-751C67BD036C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E3ECA365-367F-4B89-A116-32575FA35305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125C4021-F805-4B66-9CCF-3B0A0707035A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FE1877FD-0229-48DF-9961-6A5BAF560173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保存订阅 恢复默认 © 2026 速赢AI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F4DFEBF0-7956-45FA-9443-D6C4E226334C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A729CB2B-55B3-4D2F-8677-E09732108173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信号由量化模型自动生成，请结合自身判断决策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B9E58EDC-B245-4BBB-B500-A8746C6AC481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6B265C4A-A120-47FE-8260-E9DCCAA00459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4B3E35E0-CA5B-44B0-AAB3-F1BA341BD998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0DC12620-3921-4999-9B05-02E346EB1FC8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50ED652A-3BD3-4DA7-BBE4-987AE1E0FEBE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C185CA4D-9731-4783-BDC5-D6B369A422B2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64BF23A2-FCA6-459E-A08F-0CFEFA62CA8C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540525D2-1BB2-4FA8-A105-8B13FE551D96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D5AF4DD5-5684-480B-B039-90CAD36155AC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E1C74D6E-DBDE-48B2-A8BA-C15AC40C9386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0D57E3EE-9C4B-41A5-BF05-98316AA5F736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保存订阅 恢复默认 © 2026 速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D7F5DEC9-4F25-4707-A198-38A81CB7306E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E91C99AB-8BFB-4D23-A4B3-59AD25BFD680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保存订阅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6759CFC6-7BEA-4645-B5E3-851A45A5E1F3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D4C897FA-D8C5-44B9-9D09-C2D015AD9251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信号由量化模型自动生成，请结合自身判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223B8B59-7377-4FB6-BBC2-659E44F9B6F6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6BC85D65-AC22-46C4-810D-8FF98A2FFC7D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恢复默认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85B173E3-46A9-4C73-BC69-BD4824EB4ACC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8965D741-6AE1-438A-AAD1-9AA7E7C0034D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订阅策略样本 3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EC0B3A81-1B3F-456C-9C8B-36A30FBC94F2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0FC5ED4C-2AC9-4FCF-AA5F-9B197405EC87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8A4CC4D3-35A8-4241-8B17-AC4C1491C249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C1CAB539-4214-4A77-9C15-BA8D3BBDA065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8CA97950-FD4E-451C-B3EC-F9091F8DAE0C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6960CA07-B7EB-496B-A7C4-8D92F9FA1B75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保存订阅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F04E8965-EDEA-4FF3-B804-6981AEE30FA9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EA5A060B-9C70-4426-BEEE-807A84CF5A56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恢复默认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DBDD6A5A-AB3C-4C2F-96F0-3A6EAED53B99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6E807E62-4370-4849-9A6D-6BF61AA2E54F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恢复默认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350EF6AA-BB5F-4184-8FA8-FCC6FD0CA53E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C629465F-2CAA-436E-A8AC-83212D5697C1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54F0AC24-4AB1-4576-908A-7108DE4C0A74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480D0CFC-0871-4A88-939C-B5FC46BB584E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3543C4A9-64E3-48A9-9F54-545F23C1E1C3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D905FF0E-6072-434B-8470-DC5DDCD4EF61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5FD2F949-B744-4E76-87DA-B7A9F26E15EB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文件：signals.html#subscriptions</a:t>
            </a:r>
          </a:p>
        </p:txBody>
      </p:sp>
    </p:spTree>
    <p:extLst>
      <p:ext uri="{BB962C8B-B14F-4D97-AF65-F5344CB8AC3E}">
        <p14:creationId xmlns:p14="http://schemas.microsoft.com/office/powerpoint/2010/main" val="1346756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BFCF51FB-3655-482C-A097-870A56F140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1B6E2199-C2A9-4B8E-9C6E-BA0C50A74055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90AA8C-D1A0-4329-8C0C-D2B57BCCD504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8E0A042-F969-4E14-A17C-1821361B9A7E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E478588-27D5-4EB3-A7B5-ED2093782FCC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C0D1D6-3479-4BFA-9BCE-071B2E3708C6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9FCCD63E-AF30-4AFA-BF05-9973B9038449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0BABA0-27E5-4281-A234-E11C9FC148EE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BD0F8D7-88E3-4B84-850C-9B189BBF21FE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3FB1AFB-C381-4AA9-815E-E7495FFB3376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027F46BE-1844-4BD1-99EB-E99E6C3A110B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2B714CD-2866-401D-A5CD-72C0956F056C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6EBFD142-2DFE-422B-929A-C08D3BE0F656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B1E76ED-2D5A-4284-A132-31ADCDEBFC3F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B9989410-5490-4321-AF5E-C616EFDA2D7A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6A8107D-9534-458B-B152-242738883B11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36B0028F-ED97-420B-A7F1-FD73B04E532F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432A6D-ABA7-441F-A560-DA76F41B301F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B602C4FF-9A02-42C0-BFF4-37F16707EDBA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9DE5E89-BEF8-4DD3-9D48-2C06EF8F1B11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81CF340-8B08-4E34-B4F4-7193037A8089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2813805-BCDE-49E8-B6F5-A4FA9495AF79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E76F890-B12B-4DD8-83FC-BCFA0267897B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5E5FDB52-C7F1-4474-A458-E36C88EB5B2E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86FFC5A9-AF4B-474F-B623-E3D4850D5B9F}"/>
              </a:ext>
            </a:extLst>
          </p:cNvPr>
          <p:cNvSpPr>
            <a:spLocks noGrp="1"/>
          </p:cNvSpPr>
          <p:nvPr/>
        </p:nvSpPr>
        <p:spPr>
          <a:xfrm>
            <a:off x="133350" y="320992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895423D-493A-453D-B9EF-27797A0EE4D6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6CE839DD-7686-4487-A853-E117A88FDE5D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4F629A4-E094-4052-A590-8F26BEFCBC41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D257CFE2-7024-4A67-BA67-4C0E716C8939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7327E7A-DD35-4C3A-AC37-80D931661B93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2A29826A-46A8-4139-B667-F5B13D3C2C60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25332DE-4C77-4B2C-8354-56095191E0DB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E26611D-DA39-45C1-8087-77FD7489A124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5007F148-A7FA-42DD-8634-6FC13CAC3956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51E4A08-29E2-4C45-B82F-1DA8D10793BC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CD61E4D9-B502-4203-8D8E-AA2C34EB9682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F260774-CDD1-4112-9B93-6ABBA5516334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080C4266-4387-473F-B681-BC8BC400C1D7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F54945A-AA65-4A4B-9F83-D3A342EF27BC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598BD70E-20A7-4F49-94AD-CF200C3BE0A4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C68C30D-1A80-4589-B5E9-2394D9E9B731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交易中心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F935320-97C4-40EA-B8DA-B27BE74C3598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2A3322B5-96FB-428C-96E3-1833F8CEBA48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92E12FF-7A36-4F95-A71D-1C53C68C6FC9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50A71719-2831-4D18-A3AF-58CB26C30840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76A716B-C2BF-4DD8-940D-821B6AE57496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CBF7559C-21C5-4BD5-B716-88A32C467B65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A1B1FA7-EA23-451F-A48F-543E3FAD48F4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265148D-7F35-4280-915F-D19288D030E1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交易票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134C734-1D77-456F-BF73-BA2C54C067DA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买卖委托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03CF564D-1D7B-44CF-96F2-37EB5B98D1E3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4768DC4-B491-4BEE-A7DB-289A6B1575A4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7B2B12F-2215-4E26-ACEF-068F7A0FFE78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风控校验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4C57F74-2413-4BC7-A7D4-5DA8299E754F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仓位 / 余额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206C8152-A663-4FDA-B78E-730FF11F7611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0DF2D92-513F-492B-871C-F4B87B9651A3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2A015FB-73E2-431F-BE0F-B437C172DDC6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持仓资金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0EB3156-7D84-494F-A910-9D11D2AA6A6D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可用 / 冻结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DD80E177-1762-4534-8252-2BC5E613AC7F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2291979-CA23-4E92-AEC7-B86182748541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980BBEE-EB5D-4273-A540-C201B2EB64BE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委托回报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58422FE-9D9D-4BE4-96B6-8AE098379A7F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状态跟踪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AAA9D5C1-F7FF-46C1-82A2-25A513C6DC4C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160B113-B1C2-4646-8EB5-28FA5AA87D30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7D44019-2EC2-4709-92C4-35F7D9552795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交易中心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FBC715F9-253F-4291-BF2D-22ABABE7EC7A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3F157003-3BAE-4DBF-9DD0-CABAC0CD81B3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8B74723A-22CC-4E6A-9F0F-1A7F12ABFD31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交易票 · 风控校验 · 委托回报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4EEA15B7-AF56-4656-A705-7A6F431BE26F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CEE77377-1B43-4F1D-8C7D-7FCE68C2C111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6D803E3-61A9-47AB-AB33-28EF1B6700DA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半自动复核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E3BD55BC-2FCF-4C5A-9C28-72E2B4CB7995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AE5C94DA-2B04-458F-9174-ED8BE9ED29B9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67B4AA2-6DE9-4B32-92A7-301D63A2F96A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交易网关在线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214518AD-08B3-4B84-A135-F1F4C1A2D320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36 · 交易中心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17A8755-116D-490C-A4F6-7A079B41A772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交易票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BEE2E059-B890-43C2-8494-A3FE11E1A569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买卖委托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B9AF61F8-863C-4240-AB79-0DE15AD77F5A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A43A5E8-29B8-43F0-BFD3-B09B7D54E517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2A217D7A-79A6-4254-AA9D-CD610C228F09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480A0AB-C88A-4001-8F5D-6A56D8CD5AE3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交易中心 / 交易票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84FBC639-86FC-42A6-AD48-D10691181687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794A90B3-FA37-4EEA-8D60-6A7091966F2B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买卖委托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56BA3C2A-FE71-433E-83D7-30C2BC440F6F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8316F010-1E7E-406E-8AFC-883F648F4EA1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快速下单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5BF3EA3F-F6DB-461F-B543-259F536D7F89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85CD5499-BBCD-4117-B198-8AC0BD83EB7B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B5E21A6E-1365-43E4-A6C6-DE360DE71B13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87997CA5-62AC-4749-B171-3785DC895F55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2B947782-BC5B-4F16-BDFF-898E55DB7AC9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53A4F1E5-E1E3-489B-BD8E-10AA03ABA9B6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交易票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5AC64160-3444-4419-BADD-2457096DE8C0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F370DE5D-AAE1-47CE-88A1-FB916FCEF4BA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快速下单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63266225-FB8E-416C-96C8-A0F898D5CB24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443397E2-A5EF-4F29-87A2-3FFB685D07CD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50%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481B3635-92EF-4F8D-B5AD-168DEA32EA09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5F67087F-8D8B-4259-AA0A-2D23F531B890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75%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E76F6279-6F4F-4361-9262-AF387C307ADB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8510CD7B-2606-4540-9760-9E33F52A518A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E3E3908B-90FF-4889-9960-888682929363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BC9E2501-0201-4048-9BDD-2FDF029DF5A1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25%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4BA2D4A8-84C7-42CF-A56C-1B60B798ED83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38A1552D-DD1A-4104-B797-A905D2E791DA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50%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7C00C620-C18C-4A60-A7DE-7478666BAEB6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8B393452-E82A-431D-9E83-E86B4B54765F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75%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9D2BE2E3-08D2-496A-B68F-F3EA0FC1717B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430652D1-DB8A-44A8-9B4F-D483155598F0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全仓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006FEE0F-0253-4603-A95B-7FCFE964159E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7F2CB871-6A33-4FFD-A2CC-84778647DB15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5254BF64-0FE0-4076-96AB-4BC20C8ADD1E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59A4DAB5-A3B8-4896-AB04-514205D9A3FE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D73FDE72-24C9-44CC-A6EF-FC1F08E38A12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A70730BC-D5E0-45EB-822C-6C9AC5F7CA01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EDEC1DA5-F0A5-421B-BB25-C965FBF5B6C7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25%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02CE4BE2-F95A-4DD2-9898-B5AA85B5F4A9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2A3E3CD4-7A59-4131-8669-5D4F272B92C8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买入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7D312330-77D3-48BB-AC33-552FF2797BF2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4B46031E-786D-4521-804E-66438EA0CBEC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50%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4D2C3C36-47D7-44BC-B551-341E5A5D4149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5A87FC16-9DA1-4E58-8DE0-7BDFFA3FA258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卖出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3A7EE5AB-63F2-48B4-9466-59E65AE3DEBD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E90A41BB-ADDB-4040-BBBB-F4F664F4AAC9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75%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E6CDC132-D640-48D8-ADE1-CB473D23AE8F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8C86C007-832A-41FF-BF60-EE878C925EBB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生成草案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45224617-74AE-42C8-9611-526ABA12EE8D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9AC1DFBA-535B-441B-98E2-F3B997D1E9E3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81CACFE1-9B31-4103-90A4-FB3A1A761064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CBC753A3-D9E9-4A54-9334-C9A7E1D17C75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买入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3D3DFE0D-5126-4D1B-AC9D-38660A808143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24021FB8-D0CB-4816-9E55-5B4274B4D4A8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卖出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71261FA7-740D-425B-9DC2-5BA3CFB28778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B5D98709-F651-446F-89C0-D418775447FB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卖出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B0FC575D-6BDD-4D49-A1E1-5C1774AEBADE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82E854DD-C209-4FC3-8366-4E46E28B3694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生成草案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E7336646-59BA-453F-BD4D-0C70E8533483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1B91B15F-BE18-44D7-866B-3CA883E6F496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生成草案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30EF5952-CC29-4C57-86BF-2B7FA53D05F0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66C6F9CF-82C1-4B31-A275-585D958C4A2E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写入交易票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7FF303B7-17FD-4C1D-8943-519E0E5F64E6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文件：trade.html#trade-ticket</a:t>
            </a:r>
          </a:p>
        </p:txBody>
      </p:sp>
    </p:spTree>
    <p:extLst>
      <p:ext uri="{BB962C8B-B14F-4D97-AF65-F5344CB8AC3E}">
        <p14:creationId xmlns:p14="http://schemas.microsoft.com/office/powerpoint/2010/main" val="4567542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8CFF221F-61A0-4AAD-931E-7B2D0D26AC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5AFB92B8-272F-4D41-94CF-C0C26A00E698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D44FB7-848D-4E43-9799-A8EFA91A6B09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3A1E5A-0403-469B-97D6-6C7EE92B76E8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F847856-82E2-46B5-A513-8864773B48C6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D50CC1-671F-41C4-9824-05A43342EC72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DB9B9DF-87E8-4B2C-8016-E23C84E78F6E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2A2542-7D5D-479E-A6A5-B1AF6E03790E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B455CC6E-6178-4948-B3B0-E71FF315DB6E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A683BE9-17FC-4FB9-9876-59EF6EBEB2C6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5359B33F-5919-4DA7-982F-B015B5E9C240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8F8520-E3C3-40C1-98E0-A5FDBD61A914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9B385C1F-7CCA-40AB-8B46-358F0E096162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CACCE3C-69DA-4149-884B-C20264AA7F48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DD4A4651-455F-4FF6-9577-CF3A115ACFD7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91FD54B-A0DB-45DB-870E-A7CF21ADCFA2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2FEAFCE5-C787-4C71-9A67-5BD8FECDEBFF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0A4B9B1-6409-4CD1-87A8-6B8CB7EA0020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2E814461-35E1-4F53-86E1-4496E328C405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861E309-C3FE-41F9-9FA1-505DC174E921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7B5D154B-05CB-4F85-B562-3842FAEF4241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5A339AF-2C86-424F-963E-AD128177B5CA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160A65B-3B10-4827-83A8-B83FE62A84E8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E112C8D2-BB09-4D97-9A11-C9D54C06E98D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7A191DD6-2E29-4573-999E-55CA2418B13A}"/>
              </a:ext>
            </a:extLst>
          </p:cNvPr>
          <p:cNvSpPr>
            <a:spLocks noGrp="1"/>
          </p:cNvSpPr>
          <p:nvPr/>
        </p:nvSpPr>
        <p:spPr>
          <a:xfrm>
            <a:off x="133350" y="320992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ACF8AAB-9652-4BA7-AE41-39EE24DF04CF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021461DC-3086-4710-A74A-1BF52C75F782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B409573-32C5-494F-A129-06EBCCCAFA12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CE7C6CAC-D55A-4A71-AB86-010D7F3F27F6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660C4EC-D578-4451-8432-E60CACDD5860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D416901F-768B-476D-999D-CD9EF3AC4EEF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38ACE70-9F7E-44C8-8871-8DF9BD4F26EA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1ADE963-AF12-4C3F-ACA9-EC0CCD404EA1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FD96AD33-FA61-4239-8173-AB4B6FE9D2FA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975DFB0-ED32-428A-A215-B54DBBA9D342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B6695192-DB69-46BB-9D9F-E9F2E984D6F3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54E2C36-B15D-45B2-951E-2F21AC37CCB8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34761BDE-51C0-45BC-BF32-35A684D6CE3D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FE1EAFA-68B7-411A-AFE6-01E007B6606A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6AA278C2-2FF4-4932-93F4-CB5AF86CF821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903EFAF-1212-43B2-9EA8-044B4E955D87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交易中心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B726291-798C-46A2-88A2-5F0712C3AC3E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029517C1-4AC4-4017-8811-AA70FEFBF3FD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85C26F7-60F0-43EE-A538-AF9130BDF27E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6B612988-9EFA-478C-BAEA-BEE9B9EB44A6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C08AFF6-683C-43EF-8A5A-7231A8318659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82357D61-29C0-4977-9060-7DBC99BA1142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94276D1-4AC7-48CA-A241-01FCB1327A44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4630A24-82AF-476F-A265-7F038A7BF8CE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交易票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9002D38-D618-48C0-BFA4-81CDDA7115C7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买卖委托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97E2E019-42EF-4C50-B449-8E90940EC247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F55D1F8-0786-4987-A883-8414B552CD48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0931C73-2D76-4ED6-97E7-F0E571A998BB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风控校验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7913C8E-F055-4C0A-8B22-D4286BAF6C44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仓位 / 余额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2DEF64AF-2900-46BA-8C1C-A1E73449A2E0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3BA9413-F02A-4AE9-B142-1463F6159C20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4ED3C68-4889-40DC-8618-104E89DB8590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持仓资金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0CB38BD-A798-4B2D-9AB7-C1BF08C4657F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可用 / 冻结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C14EA3AD-6DD1-4ABA-97E1-D138D042AA53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B9AFAF6-5A6A-47FF-96A1-AE19A5ABD3C7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AB93FAE-2524-4F44-8BCC-F84D24AF18E4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委托回报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0E5AFB7-E871-4D7B-9F28-E6055860B84D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状态跟踪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93AFEB8B-737B-49CF-9899-934232D6D9AF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38438E8-FCE4-4E60-8A2A-08C36EBCE9DB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3024363B-25FF-4789-8684-15321944A716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交易中心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6DD06ED2-5103-4765-9564-A100E6EFB2F8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32A62D6-DD54-466D-92A8-DB7979398E2B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A6ACAEA8-CF0E-40CC-A1FA-E899E56916B1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交易票 · 风控校验 · 委托回报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0DE81AE9-DC41-4DDC-8873-F1A3F29B868A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D7942DB-8083-41BD-85FB-ED7236C6AB4A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6798187A-4A09-4CD1-969C-236FB5DD7901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半自动复核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D4ECCC0C-3F71-43A4-B5B5-5D847DD814C4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74874CBB-2FAA-4DC0-BDB5-93930E482650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6781AC1-B8C7-4BA5-990E-BECA93236CC3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交易网关在线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5E9F413-E928-4083-9C08-5FFE4B3950DE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37 · 交易中心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AFC2CFA-7201-476F-9852-E0A2A2D037E5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风控校验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A7D5C35-EB8D-456B-91B9-08E7DFBE93C8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仓位 / 余额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D8EA1138-DCF7-4606-8FD8-CEB063BAD771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6BF6FA65-FA88-4952-ABDD-6F3E2754E223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230680A1-E4B0-4B3E-8359-E8539A107A55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A3E1F5F-0FD8-42C7-B462-C2A689429751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交易中心 / 风控校验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34E3BA8E-1DA1-40B9-BF41-9DF8FCB10DD0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C8523606-9965-45D4-B5E6-BA3A96EF6255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仓位 / 余额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925A25FD-307E-43E5-9941-F080C094D3AF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BFD7590E-13C5-4431-95DB-5D8FDB453E1D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承载本页签核心数据判断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12B7C4CB-66A8-4A32-B41C-8721E41A33F3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4F3A1568-082E-4E34-93EC-98B380BBF731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3C826894-B21D-41EF-9F24-6A9F34BC84FC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AED28FCD-197D-4BD6-BC7E-09C409D198A7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A639C9AF-E94C-4E04-8559-1B33B5FEAAE3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AB434919-B971-48F7-84DF-23A8CB4A1F76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风控校验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5F2A05E6-FB8A-4554-A1BB-6949601AECF9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8946C176-AFA7-4054-BF7C-AA86C6F7E3C9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状态摘要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6C14C59-9FF2-412B-BA99-7FAE05B23E55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DF5DFAE2-7CA8-499D-B439-58352DCDAA25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明细列表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260BAA59-73B6-4BB7-94E6-D478642D5B38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5AF8AC80-E933-4A18-93CD-DF40B8035F07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4BF53B3F-CA0D-4A80-AEEA-BF0DC6E71644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A742B39-9904-4C81-B7A3-A7210DEB3A07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6BBF634A-2298-4659-903F-AB0C3ABFC8E8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BBACEFD0-35D0-4E41-8324-F9FDCBBD92FB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数据在线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A9AD06A2-A0CF-43D5-82CD-FA2E302BAAC0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F51B741C-13ED-4170-914C-5BD053D10D33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风险可复核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A8BB5179-C4E3-4703-9ED8-397C71232775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7BFB16B3-7A75-451C-9E71-76E046E36A3C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835C4CDB-CEDA-44C3-BAD1-32E4AADBD71A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9218DF57-5E25-49A8-B0A6-8A638351D78E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9C819089-0552-4B4D-8992-EAD9692D341E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CCCFD323-458F-4689-9496-8AAA3ED43143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3E0DB494-1AC1-4998-A7C6-B2C0E43BD54D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F730EBB3-A75C-4E14-B4BD-E0ED9071AF98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3A67FC61-4859-456B-94A3-F003B29B14E7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F7FD891E-A90D-4E76-BCD8-648162E13581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6CEABF2B-5192-438D-8E57-706A433913DE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风控校验样本 1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F2811CE8-4194-46E1-860B-3642F6929422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BA46C19F-AEB9-4882-9FB8-E031E34B34E9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确认买入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66C64B5B-11A6-477C-9E24-4ED29B56F31A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3D4CAEEC-A7D0-4E4B-BC7F-58B67899CFAF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风控校验样本 2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17861733-BC74-40AB-A877-BABDC214B750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630EA911-C830-4984-B56F-FCA2DECD8BCA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提交复核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9F09CB2E-9FB7-43A6-9660-93253365C973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F212D8B5-CE0E-44F8-A1AA-AF260A7092CC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风控校验样本 3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D6CFF09F-7DD8-4DD5-B6D7-37AE2662D98B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7FE5BA2A-6280-4CC3-8DBE-38B4A52202A1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导出证据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1B6B1C42-1399-4650-AD11-25545C2B3774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188ADE3B-13CE-4127-A8B9-04F286A6156C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BBA13210-9857-4956-A9D4-682E0F3B75DC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48A13991-6812-4274-8594-756231DE5AEB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确认买入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C5BEDF76-DED3-481E-9F6C-C76D89E786C3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ACC0711D-66E8-4BCF-8D5D-C4D928F25D0D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A2785BBE-D28D-4840-9126-769EBE54BF68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49C0842B-6CD9-46C9-B5DD-0FC5F22F6758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B7728ABF-B74B-47A2-8819-6E3B469330C1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83E4FE7B-AABA-4BE9-9986-4AF6AF511E4E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导出证据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8925540B-6136-4E1D-95CD-412881FE5744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3037E957-757A-48E3-B208-99D8A6304EC3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导出证据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D89759D6-38BC-4818-826E-1AEC8D69332A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0D0D215F-DAC5-467C-ACBF-DC76B226970B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重新检测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DE69A4BF-D571-4C97-BE83-AFE1B224407E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文件：trade.html#risk-check</a:t>
            </a:r>
          </a:p>
        </p:txBody>
      </p:sp>
    </p:spTree>
    <p:extLst>
      <p:ext uri="{BB962C8B-B14F-4D97-AF65-F5344CB8AC3E}">
        <p14:creationId xmlns:p14="http://schemas.microsoft.com/office/powerpoint/2010/main" val="16119257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9999BDA6-CD0A-468B-BCA0-1067D1D972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59AFD88C-07A4-45C0-9529-E62B6CBF3EC4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6F4B80D-674D-4A7B-98FA-310005BA21A3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C4D89C-181D-4876-B92D-6275BF693AEF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FD3E44F-D862-4D01-9CD8-9AEDD4631DFF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7E5494-215D-4496-8581-FBDF5771E043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E8FF771-5F03-444D-8448-B80387ADDDE7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CB2648-B925-4BD8-8D8E-957322CEEED9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E8866B8-63D1-4BD3-9B19-2D858A0B74DB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A821C1-1A88-4A70-99B7-BC45A0F8EC2A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905205EC-6203-4E38-B47E-F0FA70E2D2F3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7147B7-0816-4A02-B23F-0361CA5A86F2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ABEFE6E-DEC0-47A7-9DC3-B66B3B2A462F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0896ED-06D3-4651-8A24-DECA751E190D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3E56FEF-962B-4428-B046-D8D0CB0D4BF3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A6A0283-8E10-4B96-8FD6-B2A89E1149E9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FFA00D92-BB4F-486C-B1F4-49DCE751E420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244701-3093-4F2C-871B-E87428EA9AC9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32379B58-DE07-4A27-86CB-1AC58E753915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D20C74-8E90-4FCD-9298-8C012F3EF637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7922ADD-AB61-4A74-A1CC-2BE1C3C7C74F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646141B-1898-4F15-987D-52E8039B9329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274F25-253C-4B5B-B376-0501167B1973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4C621F71-3862-4262-922F-D4B18078CB07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8E15EDF5-9A00-48BB-8B4C-76D6E93AA167}"/>
              </a:ext>
            </a:extLst>
          </p:cNvPr>
          <p:cNvSpPr>
            <a:spLocks noGrp="1"/>
          </p:cNvSpPr>
          <p:nvPr/>
        </p:nvSpPr>
        <p:spPr>
          <a:xfrm>
            <a:off x="133350" y="320992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52F248F-6EE1-4AA1-953E-BFE1EE97E0C5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77614436-F376-483F-89AE-9D79F7F6192E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E87FA69-23AF-43AE-9C59-18A19A6A90BA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24C61186-835A-49CE-92CC-961227F18B19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4595834-7B51-4A4D-8949-3ED71DD01DA7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BA22D83D-E906-42E5-8D82-69DD8F907845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E7EBC4A-FFE8-421A-AE0F-32DD43E9D2B6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E9E5506-F766-41FA-A971-894B325BAB69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67BAA980-1151-49DF-9F84-B7ED602A8814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43C418E-AC8D-4D0C-B874-FCB02860D7A7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932DAC65-256B-4031-9B6A-CED2000A6D36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015D30E-D85C-4948-8B77-4890E3C0504A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5D04D23D-9F4A-44C6-ADE9-867722FE60E4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CF28239-7C76-4E86-BB72-9657DDF25D73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4129E787-596F-48C6-8F66-FEB40F079A38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A2082EA-2939-4C8E-9C34-ADB48E085BDE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交易中心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05C2B8F-84D6-430B-92CF-8D48AE704CC2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097E4366-D304-4D78-8962-B66DB70E597E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3717247-544B-4015-B039-B91D2C006053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8DB79AB4-A34F-4D32-9ACC-DA4E81C4B007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A7D0ECF-A98E-400A-8535-E22C68FDADEC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4D5810BA-18A8-4F2C-A9C0-FF454CD48D06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67E1B7D-866B-40D1-BC5A-B3B88A2530A3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106989A-182B-4C7F-97C8-8B1B02C83A28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交易票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8714487-A117-4232-A734-63693A163503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买卖委托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5374FDB4-8AD1-4CC2-B453-A73323282963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176B47B-3694-490D-B9E1-584F39D540FB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CE64E1B-52B8-4D67-A1F2-B1EB4255E215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风控校验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08EA715-B1F2-4B2A-A0B7-64C15E27D173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仓位 / 余额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76C5FBCC-3A9A-44C2-A4D8-8238DEDA71D5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2CF5FF1-E40C-4CD0-8B05-BCC97FA3EED7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7754B03-2AA9-43F9-8D13-4A384432C2D4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持仓资金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9BD84DD-D7B6-4B30-88CD-EB860D1B1200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可用 / 冻结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5AD711F4-530D-4DD6-B2A0-EFD1A2021592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B9E76DB-777B-410D-9A36-B5B83E692CA8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0415E70-96D1-467F-9A13-B285FB150F28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委托回报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35E059F-C0BC-4D7D-945E-8C38A23655DD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状态跟踪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FC009563-BF6F-47A2-928A-9BF35369A9D0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6047FE2-B309-4131-A316-B83125F0EC81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71CE436-76B2-49BF-9FF3-320F0A59DDAC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交易中心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1725AB42-865E-4859-B6A1-0767D85C0B6D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AF2F4F7-4A48-44CF-BF84-21E1276281E1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5156961-ED73-4163-AA42-15B8E44906D5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交易票 · 风控校验 · 委托回报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5C7D96EE-8894-45E7-A365-1D65606DB791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A9E3207-30C5-444D-88DF-2D1A27BB60C9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A38AB16-4CF2-413E-956E-9BCBE2BB87B9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半自动复核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945C3DFF-A103-4F72-B508-EAE5985BC725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7FCE98E5-D8EB-4856-B1B8-CF783EF49CB8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8D38ADB1-4A1A-4F3C-9024-4D9ADCC74691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交易网关在线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2E20DAE-77CF-4287-A434-B24AC2F7C89B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38 · 交易中心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A92E417B-249C-4CC0-9ABA-00ED897F55DB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持仓资金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FD49B6DD-F206-43A3-A572-2DE271A6898B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可用 / 冻结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D864D6B8-911C-477E-948D-E968CCDD5C2B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6222D7DF-DDAC-474A-A70C-96EF28D711DB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25659014-2871-4B15-BCD0-C88A40CB1FA3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8E707FC-4F09-4A7E-97D0-4A7BA94B348C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交易中心 / 持仓资金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3A9718DC-018A-466A-983A-3FE72C294260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24BE5CB2-F000-4514-B69D-93B06B13B8CF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可用 / 冻结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1AB63527-5460-4F74-86CC-B0A41F1EFF7C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A9399A7D-F946-4F7B-AA8F-2C2B86746167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当前持仓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5AF38150-A78F-47C0-BDC1-ADA692D692B1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42E318E3-77F1-4B5B-A81E-965F700E37AC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A7898AB1-DEDB-4CF0-B5D6-51D72EE47091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DDB3604-6608-4F8B-BD13-222D2799F88B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CF3080EF-FFBC-4F68-B336-43C29964DBF1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FBC1B1BD-CAFA-479E-897E-709798C8AE36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持仓资金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3A638420-E32E-4D01-974F-D46AA56E06CF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972A31AD-6AAD-4ED4-9195-4C33B1483322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当前持仓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4EB949BE-6BEE-4882-846C-B3FBB3B842C7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1A30909F-3F97-4B72-91BC-3544E879A808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id="position-view"&gt; 当前持仓 5 只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9284FA4E-E02C-4B79-903F-A6905BBC1959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709E3B62-7A27-4406-9C06-9300FC1111C9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8A035325-6139-4F62-9149-DAC696429F19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BFCD6FA5-9A7B-43A3-AC17-72C645C49D51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FA1623CA-AC8A-46AE-939D-7F6D279CE5D9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EB1A33B1-426C-4D47-8FF4-AFC89FB77BEF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5 只 · 总浮盈 +86,240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0158ECCF-3ADF-4B11-93AF-AC630B73C30B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DFB42DE7-D83B-4B7C-8A2F-488F26796ED0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id="position-view"&gt; 当前持仓 5 只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77318FA5-A4EE-4A74-B4E3-38B039098A3D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0654ECB4-87C6-4618-A85B-81BBD8C467BF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DA368B9A-1B2E-4FB6-9004-E48CA442FFAC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F7A4FF11-4052-4F1A-9C7A-81774D3A2CE1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A827A184-19F5-43DA-9DA4-806E3F015180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102FAB97-728E-44F1-8CD3-7AAA23BA6A00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5938425B-EFE5-4295-A0F4-42BEDAEC40BE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181D9829-D682-4857-B12F-7FE77CE9989B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D95EF850-59A4-4832-97A5-344C61E26824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3E9DEB5C-5500-4985-9C8D-A449505D8058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B421E306-3268-4584-8877-42A1B4BAD3B9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代码 / 名称 持仓 成本 现价 市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26DC819A-5466-4481-9F7C-588B9846AC10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74D68C35-F13C-4DDA-8F34-C80EA499E26B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卖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C16BB273-8EFE-4B41-B221-7BC163CF066E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886E614A-F0EC-4786-A8ED-216EEFF436BE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300308 中际旭创 2,000 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3C43D519-EC97-456C-A6D7-8BC9F6F16411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67DEE3F7-D838-403F-B070-800B68F95B90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727A0620-3527-4E2F-8737-832A5B4B4D40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5EC32E49-474C-4ED0-9D25-956201F789FA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300750 宁德时代 800 23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6A48CFA7-C17D-437A-AC80-35E0C5A7A74F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A37D8D8C-F443-41C4-BB55-C0918BC14CB8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导出数据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A463A74F-B5B3-401D-8ED7-663FFE8B238A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17F8390B-0336-4551-871A-83615AE6A380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D4306D1C-6167-4EA1-846F-47FEA468066C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B2EEB1B5-1BD4-448E-87E4-C1DE9F45062E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卖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5E8E8B2E-2C92-4D4F-BEC8-847FC0224912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B20E2497-A582-42FC-BB19-44F26B0DE05E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C6C68E56-568F-42F8-A1BB-2336F100E7CC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F59DF524-5DF3-414D-A9D1-6EBEB535C950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7C4C6735-789F-44D4-B0A4-939CC5E3416F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EC17DA0D-1284-4989-AFD6-11D357364401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24267F8A-2AED-433A-B3F9-EE5DC7DF120C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8E081E31-0EC5-41CB-B5D7-029952BFB5FC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97DEFA29-8A85-49EE-9172-DFC57491CF61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5E134A92-4566-4804-87CA-B4337F2B239A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刷新状态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0506E0B4-EE7B-4EA0-B8AE-6D5ED663DDF7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文件：trade.html#position-view</a:t>
            </a:r>
          </a:p>
        </p:txBody>
      </p:sp>
    </p:spTree>
    <p:extLst>
      <p:ext uri="{BB962C8B-B14F-4D97-AF65-F5344CB8AC3E}">
        <p14:creationId xmlns:p14="http://schemas.microsoft.com/office/powerpoint/2010/main" val="21415421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C1FD5BF5-2BE8-42A7-A739-282A1E1ED6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F6530A05-48EB-444E-B246-13476B04F645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EF5BBB-3330-49B3-95A1-221B157AA55B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1BDA0F-CFFE-4E8F-B93A-D1EE7010C11F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B83F4C3C-23A5-447D-895D-E59EA40629E4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4559A2-BB30-454F-BA38-3E8E73B5C446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856C7D1C-68B2-4394-BA00-209CF39896A4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151D2C9-25AF-4A40-AC58-64F86967B1ED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2935B69-CB19-4C48-B426-0BE5C2136AD7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BC4250C-AF43-497B-B078-8C6C6B8017E9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4BBB5166-A51D-4904-A732-CD11F18F74E0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0F0C0F-FC57-4A02-84E0-C23D7CF567A1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9AEF151E-269F-4823-B02D-2FDAE16C2BE4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8CFEA03-96AC-412C-86F3-8D64CEB418DC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52E70C6-B799-4775-9205-FF3CC54C757A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F62FE11-6AE4-44FE-90FF-4740841C82D4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FEC9C65E-A7B3-4A3D-BAD4-A0E3CC4B7A21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FF6803-F50F-4539-9357-1043BAA27076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79E09449-99B1-4DF7-B9E3-BE542861AFBC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1A63583-1007-44B8-99E2-B6C4A4718415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868A3D02-33C4-489B-BF64-86FAB70C40A5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FB9F936-AF3B-4B88-A24E-8FBC7DAC83D9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7FA50A5-08D4-4D9B-AA73-A58757742028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4A75FABC-2275-4236-AE6D-B0226FB01EC7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D9BCC98-B8FB-4AE2-A659-528BBEB29E8F}"/>
              </a:ext>
            </a:extLst>
          </p:cNvPr>
          <p:cNvSpPr>
            <a:spLocks noGrp="1"/>
          </p:cNvSpPr>
          <p:nvPr/>
        </p:nvSpPr>
        <p:spPr>
          <a:xfrm>
            <a:off x="133350" y="320992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86A0C69-F3EE-478A-9CA2-0BC6F29B5A2C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交易中心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ED94C7C8-E991-4270-95D8-DAF6D8A7AB89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072A130-295A-4B87-A871-1071E7E6BF07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05C1B63F-96FE-4086-A283-631B425F9A31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438ED74-1653-4217-B95A-608F24BA18AE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A459D783-B8D8-47D2-9EB3-E496A2D4DE08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1468FE8-4D5E-4063-A761-1DEF60BCAA6F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7978428-E4F3-453D-9C3F-A97281E2C0E6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B1403C35-3C60-4DB9-9BDA-37CB33D99483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E681BB1-9178-4E46-97F4-8ED84C31145C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6E787095-6789-43A6-AEAF-7B5FD8EC4365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F627C8B-8767-445B-9C20-5316B5084776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6C268AE6-802F-46F1-B6BA-B42AF67E8776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358696F-5B5B-4F76-9FCD-57C0A55BC4C8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72F91BC4-3B31-444E-B31B-2CD27BECAA47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761F206-32DF-4B5D-AA67-1071C1D13C6F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交易中心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75252D6-E6D5-4E4F-A9B3-5757A3CF3977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94137D41-DA15-43B1-86A8-B5CC9BFCD90D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5D7D77F-EE33-4FEF-B89B-350A5FCB8C7A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9C06B661-3B4A-47D9-A8A2-04F62DE7FB79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5DD5C79-E25A-40B3-AA45-CC0930367326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684372AD-C2D3-4658-9EB9-C74E61F59B7B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25DF1A5-C88D-443E-A004-6FB4A519D047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AE517BD-0120-4547-ACD9-328ACD41F011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交易票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8B7486D-1DB0-4B0A-9AD9-EA51ADF646C4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买卖委托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86C7FBAB-24FA-4B27-8742-CE54901BE1D5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DCB0C5E-A928-4AFF-936F-6359274897C4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7821069-1ECF-449A-8E00-6B3E03F86C86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风控校验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AA0FBED-2841-4AB8-B023-170D6A4A3C87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仓位 / 余额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AEAB25BA-6E73-4213-9699-EE29BAF61CBF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B19C532-E332-4E48-BCCD-64E1D587296A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5985F12-CC6F-4FF9-9352-F427ED245134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持仓资金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62F4BC8-1FEC-4B7B-889B-72CCA038FF57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可用 / 冻结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C7843FD3-5D23-4091-8BAA-8AC22B40E0DD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7EC76E4-1461-4920-BE01-E85AC68E242E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40B4C8A-CCCF-4514-BC15-7F5290242268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委托回报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8BA1039-4C3D-4BCF-A3E7-96DBC454CA9D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状态跟踪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6EB4E8C3-78DD-4CAE-9460-E977BC1ED2C2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AAAF498-E74D-4658-83CC-3BEC27C80F3D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5898232-2523-443C-8136-C8D95D9B70BB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交易中心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5021E30A-4DE8-4207-B641-7A8ECB2DB34B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1CAE3D9-8DC0-4A6C-BE4B-D206D96B1351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2ECD67DA-0955-42E7-8BAF-8A0C153EB6D2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交易票 · 风控校验 · 委托回报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35EA1B93-BDE4-4DA7-8F1B-A81DC77E7323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09B34164-9FBA-4803-B641-796CBBF016C2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A98B0828-EC36-4265-872A-385EFDA2B4BB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半自动复核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33B622B3-2DA1-4B21-AD5D-CD9C6541B000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0F039CE2-62EB-4BC2-96DB-BEFEB8ECFA13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7774DD19-9134-411F-BD7B-03B57F15BEFD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交易网关在线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82E9F0FE-2EBD-4732-9927-7828B8475C42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39 · 交易中心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44598473-1805-4709-B8F4-8E08B418833A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委托回报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29203C42-589F-41BD-A003-C400FAFEE5D4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状态跟踪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72D556A4-E0BA-4249-8A81-18CFDB1E7BFF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D042751-18E2-4AC6-B5C5-D805F6A4C57D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088BB193-4386-43B4-8C70-BAD1F0A69109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64F5015-2266-4269-B58C-FA2A37FE84B0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交易中心 / 委托回报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60D3CBAF-28E6-459F-A552-03C010892F77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788D6FE4-C271-45EC-B2A3-C35397DBD3F2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状态跟踪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C46F9D9C-CEA1-45B3-B722-53940243FD6A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65896139-E401-4A10-A984-DF34442EF7BF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今日委托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C6AA40EB-6C37-4888-8EA4-E107B1FEDCC8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4CC8247D-05AE-4B95-856C-7CD9AC8803CF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7F4258F0-E576-412A-90DD-EF6A2E1A39E5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23F1BB2-F831-42BB-A5E9-E765BAEFD045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366D0E59-846A-4785-9862-CF20A40B4814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940DE032-A5F5-41BE-874C-98A5D0095825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委托回报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3F744DB8-17DE-4D2C-8596-4EA3832453A3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4C773BD1-BCCE-485D-8CFE-C6194EB93F29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今日委托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A15674FF-C7A0-46C0-ABF2-7518B8277E36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371CE94B-46C1-454E-AE0F-6439C5A5446A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买入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094AAE10-9083-4C35-831C-AE74004B6F7F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22143163-D25B-4C83-BB72-5EEB3ED0649B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全部成交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426C8F88-92B8-455F-912D-A383AA826592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E1C72DFD-AD11-44DD-9F36-70EE15C2F8A1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65A7FB71-C911-41A4-B593-D11C0FA42808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A525F8AB-4665-41BB-8C2E-B601710F2622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4 笔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D98E228E-460D-407C-83D0-395FF5B27D8C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5BFB4422-AF38-4D0E-835F-F0244E634102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买入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471EF40B-B6BD-49D6-B640-C474A235BADB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FD4608D2-B798-4734-9CA0-48DA1CF003B8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全部成交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94CC310E-2ED7-4C45-B5DE-5F220C97060E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F28577B0-05DB-4E3C-8B92-D81F846EABFF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卖出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C2C31C16-F86A-4B4B-8B26-7C5324424685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5E475BBC-14E6-4E27-B394-F92A46F34866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A20C1C95-CA8B-45F1-8CDE-8F55587EADC9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E3F48C0E-E09A-4E78-99EE-B9286307FF3B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D8DA061F-0222-4477-BD2C-326767325090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E1B8FA48-0158-464B-95E2-31CCDDC8353F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8DBB110C-B6A9-47DC-A19D-4BF9836639CE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时间 代码 / 名称 方向 委托价 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76F5047B-7053-4A3E-B308-9E56BFCBC29C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CDCC0554-0721-45EE-A2E5-6D51478D79A4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生成草案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716A5FB0-6641-4F5A-9B83-9651B6BB9157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08850922-5CA4-445D-9647-44FA79C371B5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14:32:40 300308 中际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255FC480-D816-46C8-8046-D05DE3277A13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EE36B044-5984-4B92-867F-8A60C4C5BB90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写入交易票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BBF7D60C-3272-47D4-AF4F-784FA0184565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28612793-E8D1-4D87-91A3-97F634E13CB8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11:21:03 000858 五粮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2D7F2632-8121-4C99-9BDF-06CB0030C003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9F202E52-67E4-44A8-A8AC-87EEC9A7A71D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提交复核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A00871C7-BCEB-48D6-9D97-F507A67DCB8A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B23AF7AD-E513-4060-ACDE-A00748CD8D70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1808F75E-1874-4E1F-A4CC-578915721762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5564FA4B-5DDC-4866-A55D-E995E0A8CD35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生成草案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F6FBB260-30DD-4BF5-87A7-59131432E5B0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E8B7DFE3-56FD-439E-A525-51A8ED4EF010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写入交易票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EFE38AD8-3A1A-4AC1-9BB7-5289E9A6A151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258493A1-4CB5-4423-BB75-366DBD5CB1BE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写入交易票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A478785D-5C9B-4277-B7EB-A07B002AF397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8516F0A3-FFDF-4357-99FE-0AED1E5D7826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8AAFB414-5FAE-46DE-A581-0DEB4BEAD93D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E303F5A-0F6E-4F28-B20C-3460752596BF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24972371-BEDA-491B-8D26-F4206FB893E3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E4DF78C9-5213-41BB-8EC9-3D2CF3037DD0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写入审计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8181194B-00A1-4721-8112-F3185CB10BF4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文件：trade.html#order-feed</a:t>
            </a:r>
          </a:p>
        </p:txBody>
      </p:sp>
    </p:spTree>
    <p:extLst>
      <p:ext uri="{BB962C8B-B14F-4D97-AF65-F5344CB8AC3E}">
        <p14:creationId xmlns:p14="http://schemas.microsoft.com/office/powerpoint/2010/main" val="9567557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BCBB862B-C166-47D0-9102-A7D35E9C9D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AB04216C-1BDD-4945-BDA6-0DC829FB98C2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37E96F-6DB8-407A-BF06-315047F46312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D99DE9-745B-408B-836A-3E56A1944697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215C9C63-097C-4AB4-B555-62B31E88FA33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5726F9-A389-4BEC-AE59-6EB5E59112AA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E73D9EFA-7ED0-4B6E-85F5-40ADBA7065D4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7BEED6-6FC2-4AE7-93D2-33091E3A0677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26D5957A-DDB7-4C68-8F59-B2E34663806D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338793-57F2-42A9-9851-31ECF74BB2EB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A5E1A63-083E-465E-AA1A-72B2E906AC6C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59A7867-09D4-4669-AAEA-7F00E746BCD2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722F7298-A7DB-45C3-B885-8A2974A7519B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C6302C2-E09A-4A8B-B19D-B0761F4A384C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0202FA68-84B1-4A69-9AC8-398026003BA4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C58984A-056B-46CE-9308-CE0AC6B8CE35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C012001A-C3E9-41A7-AED0-4B5A02B29698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BD511A3-059F-4760-B06E-86A6F0CE0D25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09BE4BD0-3D1E-41BC-8FBA-84D68BFE5EC4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6F23E7E-F635-4814-819B-9D073A19DB91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C15E6269-0F72-46B5-AB33-95340DFC7FE2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AEA47CE-43C0-47F1-9B60-3AC4F10C6398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E042A64-E656-4374-B5DB-74A0A9667DD6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51190044-4223-4DAB-BB8D-8C831CD970E0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CA0472E-06BD-49ED-9F75-2442BA7A012E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A9743310-7AE1-479C-9D67-A6BB325DEE2B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29D11B61-5761-4F2C-BE31-0E0F9B522728}"/>
              </a:ext>
            </a:extLst>
          </p:cNvPr>
          <p:cNvSpPr>
            <a:spLocks noGrp="1"/>
          </p:cNvSpPr>
          <p:nvPr/>
        </p:nvSpPr>
        <p:spPr>
          <a:xfrm>
            <a:off x="133350" y="350520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C7B07E9-FAD8-4601-BFBC-E130BE493A3F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13FCE1BF-D8E6-4305-BB92-A74E7FDA973E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6762BE6-4B7F-446C-8116-DDFAFCC8FE5D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A624FB35-B90A-4841-BE08-FEA7D6BAB7BB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9379AE7-DFD4-4022-9EA4-85556D044CE9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19F2375-78A5-493B-B106-9EA6786ABD81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B66D177B-5A89-4F96-9E30-709DB37DCC88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E6B99B8-E840-4272-AFF5-648FE2333E83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8DCAC248-A328-4190-A65F-21C9966D4F1F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52DD434-E879-460F-BA81-80D7D9489C85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2A555F04-B4AF-4755-824A-ABABB6F4B834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7D9EFA9-441E-4520-ACDD-C12C62ACCD46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7233E0A1-5E65-4392-A7E7-E22902FC3ED9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351F1CB-886D-49AA-A1B1-B7F243EF7228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量化交易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07C025F-4C31-4725-BD5D-79F27FE51D5C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F21FA1B2-48A0-4F1F-A38F-6274C9D66C5C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87800E8-88D2-45FE-8CDF-5E47752AC5F4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C456D903-BF6C-40E6-BEFF-767DA2FD1D1B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0EA4DF-2DB2-4E8F-97F5-53344D97D234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0BD16C6D-3616-4C1C-8F0F-F77E661F786E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1BCF580-B740-4E14-9CE2-CB6D3CAC4673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340E996-17C3-497C-9A1F-BE41E9C4F25F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策略实例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49603CD-E31A-47B1-AAD2-A050F4A30316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运行策略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77BF03FD-C9BF-4D77-BAB8-2B54A290C1AF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B35B5D0-1A81-41C9-9560-E68123BD4FF1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B01A7E1-4274-4894-9B6F-99F4EA967E16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运行监控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B791CFA-E4B1-4F2C-8117-7793ACBCC5E3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成交 / 延迟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98A60452-0407-45FC-91A2-ED98FAA2B00B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6D615AC-7ADD-4DD1-B1D3-F2AB4E45A008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1C56206-8B0B-4EAB-B870-889DF0EED900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风控开关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34B2420-E027-44EA-B715-576941724E7B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人工闸门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E1C8CB96-EB91-4D80-850D-286C4320D469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3F980BA-36FA-42E8-9FAC-766E67EC13D5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4C74C6A-6C23-42DC-A7CA-B416F56C21FA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执行日志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9105534-837F-431E-AFF2-CBF6E728AB18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审计记录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11125ADB-1749-4281-9651-B60331C39FC6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7D38C1F-9D1C-47B4-BE69-DDCD04BE64ED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51CFC017-9C6F-4723-93C0-FABA3C773730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量化交易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591DAAF0-649E-46C6-A15F-83711EAD8890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3382A6E-143A-443B-A81A-E044FA5ED3D5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DAA929A-B58E-4487-9C29-80B095BE4297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策略实例 · 运行监控 · 风控开关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04C17BB3-207F-442B-95AA-58E80460E58A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823494F-E146-499C-9126-86E26CAE80B0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E2E247B-2356-45CE-B43F-D3F068A4AEDB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 运行 / 2 暂停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F085AE41-A838-441E-856D-32E4544564A9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1A0EAB43-F3A4-485D-AA24-8908A5E22C33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EB92269B-7E35-4609-A6D6-6B47A6ED5A59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执行链路在线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97622D9-7B72-4034-9762-9890340218AF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40 · 量化交易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832A8C92-D88A-4BC5-8EEE-98B36E42B2CF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策略实例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EF2881CC-C0A9-4159-BD75-DC21FC09AB7D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运行策略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14E9F3F4-1786-4B77-A02E-21A00047EC84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4CEA957-7C8A-48C0-98BB-DF2417AD162B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6A7B73D3-D5EC-4366-935A-5E7621C5FA73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BF75822B-C3B9-4A5F-A1E7-64738013B4C8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量化交易 / 策略实例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7ADE1E31-4A10-41FF-AF03-FB2EEDE3282F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03D5BF0D-C710-4225-8F0A-03B53D05C20F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运行策略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FCE6ECE6-37FE-40E1-908E-256FEAC9D59D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0C4BC9E2-E4C1-49BE-A999-D1F165981D32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运行中的策略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8A796EBF-4568-4805-8319-8D25424D1DE5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50F0847E-0483-498E-915B-3B9E89395AD2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41B941B1-B4C6-415C-9E4C-77BE60D858CD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50E2FCBF-5FFA-4DE7-A2AF-3828C0957472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CE446AB9-47E3-48A4-BCA3-E2F517031125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541A1614-262E-4F9E-8FA4-63BD35D5CF4D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策略实例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FB3B5FA9-E9AB-41C0-A666-58CDF81DBB65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AD4EBAEA-57E8-4D3C-A1FF-A78A13ED5051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运行中的策略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D11E104F-09B9-4AD5-9B98-7D1A03689A5A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BC1F241D-45FB-4494-BB9D-1A48388FE504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运行中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CF9FE60A-CD11-4EC9-B278-EA93F2AA1E37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49A22A8D-C6BF-4F4E-98C9-E6FB1F83BC76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已暂停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8B46E976-8929-49D8-BCFA-0E32DC228EAC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B543E5F1-D045-4A4C-9E46-1F4FEC923922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B69479FA-BF9A-46BE-9298-448517516FEC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77FE3794-ABB7-4A3E-AAB7-B94B90DAF724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5 个 · 3 运行 / 2 暂停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5693973D-A502-4830-A55E-BDE9C3741BCF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ABC09CA9-1011-45A7-B7D3-53F274A0C1B2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运行中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A8E21B43-858F-431A-A9F0-CFDBB1A409C0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A2B10964-CF5E-416C-9D40-9CA6E4CBF2E3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已暂停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DDDCE2D8-CC36-459E-97C4-BAFD4F872438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635B6C41-FCF4-4E9F-82F0-FE55B20CCA13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id="strategy-instance"&gt; 运行中的策略 5 个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9578CE04-33E9-4C58-9FBB-F45BF58FAB8C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E881D1B5-CB04-4F14-8F32-D5C785E89109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B0429233-9620-456D-9BBC-1B615D7BF0DC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DA5E55F1-47E5-41BA-860C-92A77EB12FC5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74573B80-0A01-40AC-A7B1-082E37F4B1A9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6FB5110D-4A73-4236-B7FC-7F9860ACBD99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343CF9EA-BFF5-4362-AF61-140B68752A5B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5 个 · 3 运行 / 2 暂停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2E9FCA6B-75EA-441E-BF70-46FCE7610828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A48839AD-4432-42F6-B11C-99A8316A4A35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克隆实例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7218503C-3CAA-4E53-80E2-A03162661A55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55AFD700-4488-4DAD-AD46-FDEDD295949F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运行中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92104065-45A5-41E0-9C3E-32A252177B94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2D5A2F0D-935D-43B5-99D4-FBCD04689972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暂停选中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7EA95956-11E8-46FF-88AF-E8A285679099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9998C6D4-D1B4-4AF8-97FE-E9D452E00EA0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已暂停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AAE8BBF6-6185-4F35-B27F-9E0F66636150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5DAB7427-F3D5-4AC5-98A7-4AA962E2A2A2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FED320BD-503D-45B3-A308-362F20198532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9D17E79A-F95A-4669-BEEC-B36643F6D15C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8F49FB52-7BA2-435B-B946-C0D9C4557946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38E4C71F-9425-48AF-9F5A-81B6105A638B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克隆实例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E913FC5A-3552-46AC-9BDB-CDA5F5D74DBC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2EB258E6-1E25-4832-B8A6-43613EA122BA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暂停选中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471E3EFA-1575-45E0-B7BE-605C2338DAA6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5E702D07-B30A-4243-A3B8-7BB26B60E64B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暂停选中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F111E723-648D-4458-AFEC-E0A084F6F49E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3FA59B47-49A5-4DB7-B425-0BB0EDB29585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0985BC8E-3123-485B-83D9-D077BF3FC8C8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1B3A9EE0-C88F-4E55-9203-DE773BB3C560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12B9C947-23F5-4401-8E32-8DBEDDB1E50C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42A3EA78-17C0-478C-8CDF-71027B43338E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A3148FFD-0359-45B6-BE27-AB9F6037FDB4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文件：auto-trade.html#strategy-instance</a:t>
            </a:r>
          </a:p>
        </p:txBody>
      </p:sp>
    </p:spTree>
    <p:extLst>
      <p:ext uri="{BB962C8B-B14F-4D97-AF65-F5344CB8AC3E}">
        <p14:creationId xmlns:p14="http://schemas.microsoft.com/office/powerpoint/2010/main" val="17765399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32FDDB21-405F-4F37-ADCF-26E2B07BA8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FE5976BB-56D2-4155-AD33-6FABBBF1AB1B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F32FCB-89A4-4F80-8B1B-FD0CA6F8ADB7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6F1FC8-1673-4291-8E55-F1E5681F44DD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F97CD92-2AD4-4678-9EC9-A5D9D3DCA37B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25E5DFA-AC87-4A00-B9D3-BCE92761240E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1FB9A4B0-F5EB-4607-BF72-8FF8DAE3C90C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044A96-1DA8-434D-A185-7B08DE458F6C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16CCB3B-8EAE-493C-B224-7A8C3DCFE72F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8789F4D-BC13-4A99-A939-420DF2BFA7FA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184A9E90-1A0B-46A1-B414-8386A41B34E4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1C5F97-3A8C-40F3-AF2F-D0124A5B7D33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18295068-24BD-4DC4-AA14-497157237CA0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8C29F3B-2BAC-4F07-94C3-111D543C1CD5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89256B75-AFB0-4A98-9391-40D3F0B4B3A6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8737F27-D5C9-4041-8F33-104BF37D1C98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C84E59B5-1956-41F1-BF9A-D7563B07A4CD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81931D9-0842-475B-977C-F2B460CCA510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4F76E323-1DD1-4785-8D42-CB925BB9AFBF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CFA2AE6-4595-47A8-B3AB-7BF88F7E8BFD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A26F1129-BFD7-4D31-9BCD-AB1B04EFAC43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A9F5A71-EA2F-47BF-8C5A-9403D9C1825D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1234E2-AFA6-4E7F-8FAA-67D5ABA7F4A2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B826D77F-FB3C-4A2F-9906-36A61E88861F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5E1F5C7-302D-44B1-A351-88FCA90F3295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BACCF9B7-1D41-4CBB-B9D7-67AEBE1AFB8A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491DAA32-12FF-4F26-928B-36E38E872EA3}"/>
              </a:ext>
            </a:extLst>
          </p:cNvPr>
          <p:cNvSpPr>
            <a:spLocks noGrp="1"/>
          </p:cNvSpPr>
          <p:nvPr/>
        </p:nvSpPr>
        <p:spPr>
          <a:xfrm>
            <a:off x="133350" y="350520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FDD9540-6007-4276-B727-D37EF6B79D4E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4BBFD464-D0B7-497E-889A-B4489C22AB8C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AF6D7BF-94B8-44F8-8E81-BE32943A56CF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568992C9-08CC-45DC-9AD5-0514A1CC54A1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7AA66E5-19F2-415D-AAAB-20256B040239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05FF32E-B4D4-4DDC-B76D-BABD506E20EB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42E6F250-78B4-4A4A-929B-30BD6B24A554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68EC922-4E10-4223-A661-92DA10020095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EC1BCD5C-2232-4346-BFF5-9D061AB46FD2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8646A68-DAC7-4202-85B9-57B39A44DC4F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39FE112A-D815-42DC-A2DF-6F8C5BE839D4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D6BECC0-1629-4F45-8156-BFD480E21A15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ADAF25BC-7A83-4EBF-BE2B-B89E832E15B1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9BE1058-68A5-4743-9479-0B933252AC8C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量化交易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C7EFE3B-09CB-4269-BACF-A456449F6FBA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CB1BEFE2-4B83-4530-9785-89F2ACC8B990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3ABBA2C-851C-41D5-B52F-0BA80F156721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C2A16836-6879-45FD-B9CF-43B8CFE26AE2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FA8879D-23F4-4DEC-9551-55BE2EA7C90A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43CDEB22-338C-4715-AD7E-FE2B289280B7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E69DF64-21DC-4A52-ACEB-DC9ED14ADE3D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865B9F4-4F38-49B2-9A97-8FF38B6B6E46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策略实例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B81EB5E-CC7A-40BC-8120-C45524137458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运行策略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21968649-89AA-4F7E-878D-BBCFFD3FC3F9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604EAD6-D2D5-46F9-A1E6-FD55F5B10E05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32279EE-6AAD-4458-B832-086D6BEF95A6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运行监控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84FE2D0-0E6B-4155-AEDD-6CD1C0A668BA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成交 / 延迟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00C17311-C5D0-4EB7-A8E4-86E619FD687E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5841C84-144C-404A-B697-6516F47086B0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9D0272C-468A-450D-A596-EFC768C13223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风控开关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D1946CA-38E4-4724-AF18-07B2D11A330A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人工闸门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8F3E1318-DCC6-4D38-9C47-B9E69F7EB055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1C34C29-60AB-4187-90D9-981E49C505C9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D1D0949-01C1-4827-87A2-FB5D8A23DD78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执行日志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F1D83F1-4CA8-4996-8D7C-6CD2E6953A6F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审计记录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B126BA36-20AE-40A1-A3F6-B0351B4E6E43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17E0072-7634-4BCC-9455-2286946E6194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51AB8711-7BE7-4FEC-8C69-0D3DFE8994CD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量化交易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04392841-73A0-46EB-9E4F-D0285D0D8F90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FBD2E5C-BD1B-445F-A163-B00F15267B45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D696C92-9FC2-4142-9ED0-0EFFDE8CBBC0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策略实例 · 运行监控 · 风控开关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96350DCD-D140-40ED-A196-67F1A517E1A2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5C561D0-B973-4FF5-B52E-20DDFAB9B969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55366B3-A3ED-4119-A547-D75DAAD6F21A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 运行 / 2 暂停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B94212C2-8002-4790-938B-01858DD334AE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0A68A67-547B-4727-96B3-4ADFA1215E70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ADDA6D3D-A4F4-4EDF-A601-EC75A0E7C62C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执行链路在线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7B1FC1E5-F780-4D5C-96DA-562E6DA2B43F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41 · 量化交易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E04B163A-248E-46EB-BE3A-E737286F8815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运行监控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C5E87DE0-DC3D-42E7-8DE7-807168FED707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成交 / 延迟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81304085-6229-46F6-BB70-315C4A10CCA7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C6986575-2EFD-4F0C-93E2-BC0AA6BD17BD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0E0DC829-C608-47EC-9133-428026FDFC16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9248227-6C5E-4050-82E0-0E4D5870DA29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量化交易 / 运行监控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0A2435CC-2F33-4A5B-8CE9-1362BB43D331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0BB322C4-DC6A-4D46-83EB-CD0927728B26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成交 / 延迟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1E5941BE-2F2E-4954-81F4-5FD8FA9C59E5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137DB5EA-FD2F-4DBA-9136-DE88006E754D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策略净值曲线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1D86D719-8718-44C7-9875-7E6FE9165CB0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C6A4217F-F831-4745-80BF-EA935B55524D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8A157E75-145F-40E9-90AA-B732C9C85ECA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797B7084-2F93-4876-9ABF-5791DB386F70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B438B492-94C4-4A88-BDFE-547348DF3F6C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AF7F445-5D0C-4CFF-AC15-9D034126FDBB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运行监控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0E551C80-66F9-49B5-846A-49A84909886D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93AED4F1-1032-47D8-9207-707C82A7C39A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策略净值曲线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1CAFBFA6-5E62-44A3-89D1-B93D0DDEAA1D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1A87078E-B08A-4A5C-8638-E474E7F87A22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id="runtime-monitor"&gt; 策略净值曲线 近 90 个交易日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DF7242C7-8F0E-4BA6-9D97-8D853195763D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1DE0E5ED-ABD0-452A-A889-7BB475BC296A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对比沪深300 运行监控只允许暂停、降级和导出，参数修改必须回到策略实例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F1D43357-6D46-4FE8-A535-B0BFF1691113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F420D80F-BD7C-4E5B-9D61-85517D829287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E2A93192-EBD0-427C-B3CA-004FA9BD6510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8582F0F1-1F0F-43E9-8C54-8E64EC02F141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近 90 个交易日 · 对比沪深300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1FE7867E-EAFB-42F9-BAD7-C38378D01E77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65A459CA-C1CA-4118-9DBB-7E338807A717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id="runtime-monitor"&gt; 策略净值曲线 近 90 个交易日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B1DBFAFD-48A0-4B1F-983D-B1B814493569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0BB3FFFC-0883-489D-90F7-1768050A624E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对比沪深300 运行监控只允许暂停、降级和导出，参数修改必须回到策略实例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50AA974A-FD81-4ED0-A56D-D8E49BB72085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4B5BBED0-E6E3-4D2B-83BB-455084372449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暂停策略 导出监控快照 &lt;div class="card"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884FDE13-A417-4D93-A369-54ED6BCCA617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522FA731-0A8C-437E-BBBB-8280C4726A93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52DB7AAF-667F-4227-A471-DE2015E59727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CED6CFF0-9C26-488F-83AF-BC8B59184443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3E90E1A6-C3F9-4FD0-AF72-6F4D814C4414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9FF352A2-7E1B-4EEA-9433-F347EB9BD394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A1853188-08B5-49DF-AA62-C3EB4FE7AB90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近 90 个交易日 · 对比沪深30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B23C776B-DA53-4FD4-9C40-F567A968B795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357AC968-34E1-4635-B6AF-5623C099D0DB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暂停策略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A0F93404-2C1E-4304-9B93-BC13E3A77C43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6B21E3EB-8A20-4B95-8D24-959A47D878AD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id="runtime-monito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5C4C3584-61AE-4CD1-8730-210A17B835CC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94808692-79B7-4B6C-B124-42797EBB561E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导出监控快照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B6E2BFCC-8E23-42E1-A400-EDEF55B9818B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C694610D-DE51-41EC-B284-E4C7FED53276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对比沪深300 运行监控只允许暂停、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59BC590C-7060-4614-94BA-73595DE95480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5E36809A-A599-4256-9CDC-AB19970EA853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8B7C4926-5998-43C5-9F3A-6FBF1F8B38B3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BF9E1BA3-AE9E-4D73-B363-B738F4FD4C12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424DF0E5-5938-4B59-92E1-4C2AEAD431C7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6282A555-53E0-482D-B386-2BC597588F39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暂停策略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FE0EEC91-0D10-46B5-B489-D2D47C8E9ED9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23C875F1-EE8C-4D35-A6A8-127DEB60C3AB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导出监控快照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F9AE01FA-68C3-4E04-BE94-BE3F1CA3D366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78E0B27F-716A-4174-BF6E-9FCF3890A680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导出监控快照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87F95E63-2109-41EC-97A2-5369B0B83CB1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1B4CDCB8-FCDE-47AE-89B8-59699B37BE24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8CF4AFF0-F506-49D1-8E38-847670FD3E17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4E28A7A0-3C4C-47E7-8932-C362189D70E2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17597C50-2F55-471C-9370-04CAAC504011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21752528-DEB1-4617-A733-C114C7F37DB8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60D36436-4647-493E-B823-47980F8A3C88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文件：auto-trade.html#runtime-monitor</a:t>
            </a:r>
          </a:p>
        </p:txBody>
      </p:sp>
    </p:spTree>
    <p:extLst>
      <p:ext uri="{BB962C8B-B14F-4D97-AF65-F5344CB8AC3E}">
        <p14:creationId xmlns:p14="http://schemas.microsoft.com/office/powerpoint/2010/main" val="1936360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D0DEF24C-F84C-4736-8577-622FC323B0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D2110724-8EF6-4ECE-B240-967EDC961B82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EBB1733-D6B4-4D76-952E-E7ADCA1770AB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3490A6-463A-43D4-9B82-DDD7651D5920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38C1157C-1050-466A-90FD-DBC06025FF00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AA8281-F791-49DD-AB95-A9B35B5E6EEA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5A752AD-0EEA-45D3-A875-9C4B71447147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38CE0D-8438-4B39-A39D-A034E9694D48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9CBB619-689A-4732-BD80-5C165DC8AECE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D113DCA-EB59-4144-BD93-8A98E714D8A0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4F51AB69-6145-451C-9F2D-D650DACC9E81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48D007A-2CD0-4510-A1EE-B4B84A5D337F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8C9D242A-8478-4BE5-B090-020B82D9A298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BEB50D-A4B5-4C4C-B532-EA87D095B97F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896144B6-C085-419B-A5C4-6169E60DFE3B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21435F5-2B20-4380-8C1C-FC0FB4B2556C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C348426-1A35-4530-841D-DD7F2A941968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DB3F6AC-E9D8-4725-BBC1-28A629BB485A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B6930123-2BDC-4B2E-BAC9-D6E8A61C9568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373FE2B-E3B1-4254-BB22-385D89FAE051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EFEB9E5-3670-4184-8A2F-7BD37728348E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2D5B9A1-4398-44D8-9BF8-0FDDF33CF2D2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9352A7A-B18D-4A2D-BC46-7E31B7268406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19BC8997-8C4D-4F1E-8F0C-248FDE14E652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4FD208B-8D1C-47C9-9413-EC8C52BC3A5D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E3DD4CBF-A77F-4626-AEAC-936C85816378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13781B67-95C2-4675-8364-BFC65AA74FE3}"/>
              </a:ext>
            </a:extLst>
          </p:cNvPr>
          <p:cNvSpPr>
            <a:spLocks noGrp="1"/>
          </p:cNvSpPr>
          <p:nvPr/>
        </p:nvSpPr>
        <p:spPr>
          <a:xfrm>
            <a:off x="133350" y="350520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A697D77-0B68-4687-A566-A6EAA7B44039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C8C783D5-EC2E-4BAC-979C-BCD3E2A88F00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CA940F4-2EE9-45C5-8497-375ED6DD5002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E3A32FDB-0D51-47E7-B7E7-3ECDC3B9E686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9FF7C81-8F64-4E5E-ACB3-7701DAAF4403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8CEA20B-6693-4565-9018-FA3EF14EEF4F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7EFADA1D-5C00-4CDB-BFBF-1A1CBAF460B6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9F7721B-CCA8-4FE5-94E6-5AC7942AA6AD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23F7B922-C182-41F3-BEC5-39789FEFE7D8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B7224E2-00F5-467B-8B41-03AF23DAAD9E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CB0EB8A3-B16E-4792-9698-7E9525B83759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DF1C52C-B19A-4886-AAA8-70F115D38D07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050322F4-C037-4E07-8C89-234AC9026290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1898092-1A83-4327-AC9A-0DA78D3F3040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量化交易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CED9B30-F7EA-4493-B598-91D899D1F800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C301F920-C6A4-43F2-AC3D-70C69461D32C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4F95BA3-1097-4732-969D-E81CD963DACB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D6FD38B5-8EEA-4D95-A52C-367A8F662817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90FA1DB-C61D-4429-B125-CE44CC90FE74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BB60C7EF-89BA-438F-8096-CFF3E03B47BC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15D89F1-9727-40A0-A268-07C9F2B45A1B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2B7F216-1666-4E63-8149-E0B22A620BD2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策略实例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3AA1B86-7D05-4C63-8D67-46EEEB17FC2C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运行策略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C5C44245-89EF-4DFA-9688-7499B390C0FF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AEBFD33-8071-4382-87F6-C354AEDA9D58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332DA4C-3C6D-4896-BB95-8C205EA281D9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运行监控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76531FD-2F05-484D-8B64-26A62A7FE7DA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成交 / 延迟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BEC57C14-338E-48E1-BD79-97C339771167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2FA442C-4B88-4A29-8A66-B4D1A597F533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9185BCD-D49B-4010-92F6-633CA2FD7862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风控开关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F23CA85-810C-4760-94CD-A86D45E45858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人工闸门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096ECA0E-D765-458B-A56C-003473564C68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46A15A3-546A-4283-8EE9-AF6D3E0AF2CD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609D3209-562B-45A9-B270-A6C7A0079B99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执行日志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8402100-D4B2-4BAE-8D75-2BD61D974C11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审计记录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DCA46F9D-D766-435C-A31F-3610F4ACF413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3772BD1-8CC1-4ED7-B0D0-AA5AA94AF320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1A6CFE3-20A9-4E5C-B877-D718B3209EF0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量化交易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E992505F-AB76-46D9-B4C4-1E12EF6DF86A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B2894E0-556A-45E7-A553-FC9E2FDAEF1E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9DCC696-F971-44A0-89CA-C17AA2836275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策略实例 · 运行监控 · 风控开关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BC2DBC7C-EAEA-4C1D-8379-5A88FD22C657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8B21EAE1-2124-49FA-8FB8-9E0F2D702E0D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CE83DBE8-D9FF-453B-BBC2-56FB5BD46BA0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 运行 / 2 暂停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8B28CF2F-3A6D-49DC-9187-27154D20C6F4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FE0C96F0-B24A-47F8-83B6-933C545EDC74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D27EA63-2F29-4EE3-8858-509BF2056AA5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执行链路在线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ACA5019-87A7-46A5-AEAC-BF796247E457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42 · 量化交易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B2802CE-7ABA-47FE-9FB4-32FFFDCAA1C3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风控开关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BAF89FC-27AF-4E16-898E-FDBB1AAB4AA5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人工闸门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45B31987-6D2F-4E33-A99F-D0B40640E618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2A1CAC5B-391E-4FB2-8500-B15728F3B383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00A3438E-521C-4339-A038-AC0FECD11FB9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27E29727-1F40-4E4C-AE8D-D3C660A668F4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量化交易 / 风控开关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6E939B64-D224-4A4F-A2FA-C7267A0FD490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7A589573-4919-41FA-BC6D-B43353BEFD86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人工闸门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5075A56E-B890-41C5-A251-878B79040779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FA18CB5E-D0E1-42BE-B5BE-F4EC13CBF95E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策略净值曲线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71D19235-532A-4A45-8E7A-255130BA9623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737D1E37-8EF5-4FAB-8EDD-08B502031878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9519169E-87E4-4AA7-987C-ABD50D2A4D01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F08B1ABD-FD31-46EA-AAE1-7C2F57F8BB7B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3F04E35F-1671-4607-85AA-6F301B2AE592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1DEA86A0-167A-4469-9EAB-C103BAD41C2D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风控开关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A143054F-1F77-4D69-BCCE-5380A302B8EC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E00AFD12-4491-48F7-AAE5-BE96EB47CD21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策略净值曲线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7C74321D-33DD-4B91-AAAD-9269261AFE7A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249304FD-61B1-4ABC-A117-22A368A2C0B0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+¥23,640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0C311FA3-CE9F-4A1D-9787-FF59FCFD7216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D8D0F6E2-679D-45AB-9C7B-3CF25FDA4B9E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夏普 1.86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1F4402EA-23E5-4146-8215-C3DBF07BDBB6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D280EBB1-8C6F-46CD-8E97-ADD0B7D5359E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7DEBF6A3-2E8A-4B2D-98D3-E1CD8C17C5DB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388A3F81-8AED-4FFD-A662-3E56B68B701C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累计 +28.6%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3F3053E0-1B8D-4CCF-9DD7-6FF469BB1A65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963F3E56-6F12-4A1C-A1C5-F4D5BC06FA97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+¥23,640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D7BAC427-FCFF-4921-AB52-A70C0FB3C83B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BCFFACE8-0271-4A08-8DC1-93582BD902DE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夏普 1.86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ED8BA44D-B0AF-4E8A-918B-10AC7EAAF658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E9BB7622-F83D-4EE9-B239-82B3B8374300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今日 · 胜率 64.7%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F518FF37-B6C4-4576-AA68-80337C5BE63E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CBAA79EB-A474-42EA-9002-FA689F1D1E5D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FE350019-EFAD-4227-89A0-C7F81780DE68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485645A3-9C80-40BF-8CE4-D74494AAD49C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BD9AA2D7-2B8C-459C-991E-944108547B88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380D69CB-01DE-4EB0-9B78-901C6C7FBB61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71B4529A-2525-4A14-BDAB-416DE4F23A80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累计 +28.6%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F12E9A5C-5A51-479E-9052-D19FF62A367C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B8E5BCD6-0148-485E-9E1C-11304756FA53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暂停策略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5CA4D645-4217-485C-9E51-E53A34CC0FB2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F38593DE-8616-486C-9B9D-E9A6E161A1C9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+¥23,640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41006A74-38AB-4789-8F30-7D7310CFB66D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9CBBB037-85A7-47A6-988E-3FC417EBC718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导出监控快照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01BB4331-5418-41D1-90F6-76B0A25F4855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52BDC3DB-B20B-40FC-8F6B-C9D939387B63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夏普 1.86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438DCC1B-6C66-48C0-BD6B-B15C9963C833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05741288-52F5-40E8-94C5-591212AAA886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CED8779B-9FD4-42BA-829D-FE9585A54842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8FF458F7-43C2-488F-89E5-8CAD5ACA5CC9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4EFD90D3-82F1-4D17-B064-716BEC8BBF5E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5018106D-BED9-493E-9AEB-1F954B7B4A18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暂停策略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2192128C-29F4-4480-94A2-696C359D94AF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A0D5E5DF-9179-4DA8-B44D-F1AB216024F8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导出监控快照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538026B9-6579-42A0-B038-A62202E8C98D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B33786E3-C469-44C4-982D-E1F1F372BC3E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导出监控快照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51847D67-CD5A-4B05-BEDD-FE57515B952A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71A30670-4A28-4054-BEA5-7C970193CE63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2E7F054B-6D31-4371-B466-D1C56ACDEE81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CC864ED4-94FE-4655-9F61-18A91D9F15C7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3C4F21BE-EC45-47CB-B1A1-B3DD7FBBCC52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CBC8871F-F552-493A-B7E3-73CAAB1C8E7B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46ED101E-41E4-4296-93B2-409EEEB8BA8B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文件：auto-trade.html#risk-switches</a:t>
            </a:r>
          </a:p>
        </p:txBody>
      </p:sp>
    </p:spTree>
    <p:extLst>
      <p:ext uri="{BB962C8B-B14F-4D97-AF65-F5344CB8AC3E}">
        <p14:creationId xmlns:p14="http://schemas.microsoft.com/office/powerpoint/2010/main" val="16287966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F918030F-8DDB-49E7-910A-46306604E1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F275E07C-EB60-4209-98DC-92BE30011CB9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C68308-2477-4623-AC6F-78B14E6FA8F0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75EE55-7EE7-4596-B6B9-8E21B1A82659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CF7C1DE-DC54-43F7-ABCC-6628A9ACB509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285372-282E-44DC-BE4F-49FD942E2B61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4C5A4B82-63CB-4E3F-ABC0-B781A38BBAC9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DD4947-602F-480D-A6F2-5C20FCD5F395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E57EB2D-0E65-4641-B94B-445115871022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54578E8-07C6-4AE8-A546-02502ADE5ECB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42D61FC9-C57A-4D26-A2D0-F45CF1BCE038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A56402-60E5-474B-8797-4560D02916A0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6D1244B7-08CE-4967-AE88-71622162FFDC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42E0D06-74E3-4E8A-A6F0-070B8A32C9E8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0085FBD-BB0C-4304-BE88-CFF5AAF0DB3C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5A99A5D-54A8-4043-9E3E-891F050BCC28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478290E-6540-46DA-9EBF-C3AAB9042E61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FF470D8-B386-43CA-8491-805CFA01C47E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682DB336-A571-414E-8FBB-22865B5CE084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91A4DDD-D5B2-42B5-884F-196A3AF94709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D69623B3-55FE-4C15-9996-866B57818DCB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65176F8-3A55-4496-A153-0141603F23B6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C2C60EF-FBC8-45C2-86FA-BBA11A0BF1BF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26AF6D58-33A8-4AFC-9923-CA7F7B4E91E8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A8FC8A8-12FF-416A-9832-D9B18CC96C9A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33F06F4D-8F41-4D2A-AE28-BAB4B34F8B9B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A8CA1CC3-5542-462E-B3C0-D6E9B8C989DF}"/>
              </a:ext>
            </a:extLst>
          </p:cNvPr>
          <p:cNvSpPr>
            <a:spLocks noGrp="1"/>
          </p:cNvSpPr>
          <p:nvPr/>
        </p:nvSpPr>
        <p:spPr>
          <a:xfrm>
            <a:off x="133350" y="350520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D58023B-6776-4E37-AE8A-A5147B2DCDCD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量化交易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7AAD3BB3-0E15-432D-8288-8FDA486E3D17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5B7090D-E6D6-4160-8C45-1F87BF3D1A09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0A5FF32B-9340-4B32-8F8A-289D29C3054C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F303831-D410-4277-87F9-E73D660135DF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A2B1C3F-1B1A-43CD-8006-5B43ED7B4ED2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05D77170-A9AA-4F23-BFCE-CF8AE49F283D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1F550CA-458C-4836-A360-9DE540EE1D23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9B05308C-C7EF-415E-BA04-30AFAEDB14CA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B279FF9-EE24-4FF2-BF71-297F905F0600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B5F18AB0-B278-42F3-A321-A4031D15EA06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21F8A14-CBC0-4A82-919E-95CD12F08F76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44767C2C-745B-4440-A63F-145B6EF9E4D6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DE5D1C0-9A10-4D83-87A3-CE8751B2280B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量化交易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A31AC0E-7236-4904-80A6-80C81C19FCFD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20374712-0C96-4944-A35A-A9DAAD371977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C711AC4-E35D-4318-AB13-44EF5C2CDBE8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0D762619-7872-4B64-BBBF-2624A0044415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738E169-2CEC-49B6-88A3-53E639C599A0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C9233B1D-AC8C-445E-9B8B-291EBD7D653A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3B49FEE-A704-445E-979F-9AB2F9812BD2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DBAE1C5-F7D7-4DB3-9F7B-3A82985DBB92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策略实例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0718334-1296-4718-9343-EE56EA055598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运行策略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3F9AA6D8-D551-498B-8061-39B86A2E47B8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E560081-0F0D-4F81-A154-BF1B907E3FBE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F27B113-9BA8-47E4-A496-410153DDB694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运行监控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375DE2D-7904-4EFD-9E6F-9EF8BD217ED8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成交 / 延迟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53E3B54F-83C9-46D7-84E1-2F9F34EE9C58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BB9A9AD-6603-40FF-8E18-0A27787E74AD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78D071B-0BBD-4D07-A8CD-81469F09F746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风控开关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2B9E5A3-2625-4FFB-A376-2520864D9388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人工闸门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DC4EC754-340E-47E0-89D6-414D821320E9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B3A2B53-4613-43F1-B587-823CE0C2B438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B44F9F3-6512-43AD-ADE2-A82AF3C7DFD1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执行日志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A50BDB7-2BE8-405C-9A7B-7F20DE0AF4EF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审计记录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CD69B947-C3B5-4206-90E8-9EE799FD6D75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E33C8F8-9E22-41CC-94A7-092B9DB9FA3C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FA623D3-B6B3-4030-9AC0-87FC235B93C3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量化交易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86AEB0CA-2BD4-4B96-A94B-D79DF39F2A5B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8844640-BD31-422F-A212-710C7FA7BE17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62D34EB-B306-48F9-B869-CAF883CC8053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策略实例 · 运行监控 · 风控开关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FB24C47E-7882-4F7C-B3B2-364F1C43E1AF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B3098B25-E8F3-4B56-B43B-DBBAD5B3C63D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0B35B08-35A9-4886-94D0-35D2EDA3AD72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 运行 / 2 暂停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67B5F021-F1D4-4BAD-BFF1-4F55CC09908A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0FBFC9A9-2326-42F1-BDAF-80744A3860BF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F7036BA-06AC-4CC8-96A6-7B8B29FE85AE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执行链路在线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AD9BA704-FEE1-4E50-95C0-15CADE1DBDFB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43 · 量化交易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87D3BDB0-2327-46A7-919A-0CCB8B08D6EB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执行日志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0306ABCD-11FF-4E4D-B001-2C5C45D781C5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审计记录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82235ACC-8823-43DA-B0E2-56BDE8E5CB64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700C345D-B6FE-4F24-B0EC-E8EEC9474DEF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E6007E8E-7A5C-4169-8AB5-01EFC28F635F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1A9B51A-A474-4D41-8EF6-58776686BDAF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量化交易 / 执行日志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4472FA83-9348-44C3-8792-97D6A0CB40B7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5DB8CDE2-A3F8-4B3A-BB52-A627251FBB6D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审计记录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427E400F-D801-40C4-B163-122338D97600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9A6B5F50-093D-483B-8179-A8A7365C5687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实时执行日志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FE217D85-4C48-4850-BF70-7285F04F83D7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37FF508-6AA0-42AF-B2BF-B985FB176A61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0904F743-8720-408D-8C90-C088C9ADF3C2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ECBF05CF-074D-46F2-922B-94B9F733D416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FE95C143-282A-4CE1-B10C-0444453B88DF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F75F0E7D-99CF-4CCF-A713-2AD027A3AE43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执行日志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80C7222E-CCB5-4C0E-A04F-3E75B3B5C7F5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B01C2BF9-BEF0-4D0E-A76C-AA9D782AD4F9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实时执行日志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23F544C-1978-4C01-9249-86E8F8B36CF1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1B940C92-DB87-4293-B553-ACD115BB7957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运行中的策略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04AD1DEA-3187-401C-A817-D129242674C7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CB77009B-B5BB-48DA-9248-A3F9C2F7948B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运行中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96AE77BE-0FAB-492E-9069-04BE10478E20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C25DA342-3414-4EEC-94F2-EAF192B844F6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75C777B7-EF46-4014-BAC1-BB48A0D42EA7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F13DFA95-373F-4327-A397-7C97880EE625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自动刷新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60A92AD2-27A4-4E0F-ABB9-01EBF14621B4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AEE0B618-9397-4345-8BE2-B059A357AFD2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5 个 · 3 运行 / 2 暂停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07BE0A7D-18A5-43CB-A6FC-64205778858C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360176BA-72B3-4555-8AED-343361DAE665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运行中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A191CF30-40DA-4B2F-8F1C-BE791215DD28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68E9900B-A2F3-45EC-8BD1-1706A395A9E9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已暂停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B530A81E-E5D0-4B92-AB0E-2A17BB514838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6FDBA6C9-FBDB-4ACF-AEA1-1793FAC59F8D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889B3E95-8954-47C7-983A-77BF33B6B65D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228604CA-909D-4BC5-A995-39AD5944F17C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E5964835-7D30-4D55-B9A9-573059575497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1733D462-472D-4AAD-A083-669325CC4C58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D2809ABD-85F6-4ACB-94C8-416C0F620306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自动刷新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29ACF5F6-0E6C-466C-B2CB-0A439E3C6A3E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81D4DF08-4096-4B1C-A3D3-F28E07A6EFF7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标记异常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290549EB-4140-47DA-99DA-A869BA5042B1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42BE090E-EA78-402C-97AC-8C70B31B4236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5 个 · 3 运行 / 2 暂停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F56C6B33-15BD-4A80-BCE0-883A7EC3A353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314C6E52-131B-4DC7-BEB2-ED80A8F82968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导出日志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3FAC2D72-018D-479C-B330-B9AF5FF4F8D6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230CF876-0B99-4E61-96B4-2D9796763D49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运行中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0CE94473-DA93-49D6-9798-14C0D9A4C09A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D4484E7C-9540-4420-B061-33AB71BF2BB2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克隆实例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F3E6DEA3-FEB8-47FE-BE17-2C520AA865FF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D0C145CB-11A6-46B7-A70F-C9EC8F1694FB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94CA9490-5673-48B8-A12C-020EE7A91D79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41CDCD3A-D310-469C-9BAF-E381BBF74EE9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标记异常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05427F3C-56A1-42EA-95B8-0B08CCF6308C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17A0B4F2-B22F-4067-9D58-BE760146B720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导出日志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27048A43-9345-477F-8333-59030342E7E8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E6FF4C98-CBF0-4482-B1E3-F59B6255E777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导出日志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1BB73083-7F80-45BE-94E6-D9808A0F513F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A22CB863-D120-45F1-BB15-57EBDE9EFE50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克隆实例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509E090F-0C0C-491C-868A-F259625387D0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A0ECE60B-4030-4EDE-8ECB-16BF0985B6E6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克隆实例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1C7DCC58-15BE-4F58-BF08-A9613F9429D8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A0601275-9B21-47E2-A002-5B38DBF65F87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暂停选中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7A12FEAE-2144-4230-B29F-DABA9C3AB407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文件：auto-trade.html#execution-log</a:t>
            </a:r>
          </a:p>
        </p:txBody>
      </p:sp>
    </p:spTree>
    <p:extLst>
      <p:ext uri="{BB962C8B-B14F-4D97-AF65-F5344CB8AC3E}">
        <p14:creationId xmlns:p14="http://schemas.microsoft.com/office/powerpoint/2010/main" val="2967109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A4109861-B58D-40B8-807B-BC61234EE7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883FF5A5-7CEE-430E-8162-921733620EF4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ACEE59-EE38-41F5-9CE8-4261191BE24B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3BE39D-113E-4FB3-9DA2-65079FB3A141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F4147A5-1498-4891-9DB2-21D13953B683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2E4D61-7FC1-4196-A3F3-BE5B549E70B3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8A9603A-9656-4632-8462-4BA23B37DE2E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6D36FA-4135-4D18-9E2B-CA31D39B821F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349AF2E-C55A-4BA4-8942-E780DBBE1AD4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D806BF2-E430-462E-9F80-CF3898AB7F56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904C27F6-3FD2-4F0F-8011-8EC93C0DF3FF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A2A656-846E-4550-821C-A3CEB6B2DA8B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955E59C1-8DBD-466F-A35A-BCF511CD24F4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34DC2EA-692F-4B0C-A997-42C529D12695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AB356CAF-54A6-4BD4-B697-3CA3C4BDF21C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F3170F-6589-4820-97D2-F61BB08894B2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E1D2B5CC-A387-491B-B316-7AC4BE6521DD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72F9B9-4757-427C-915E-706DFB5AB5A4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88DDF628-4652-44D2-84A3-0B2835BCCF7D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FBCC36-73B9-4BC2-B817-0C4455CDA17B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712AF5D-6D51-4D03-A209-3F5916583A1B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D3D7318-B850-412D-B602-6D0B79C009A6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52FC9DD-C29C-448A-A360-7D7F5EA933F3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0719E33A-9877-467C-B4B3-ED077FB03728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19299B-FC31-4AE2-92FF-8D666B6AF766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519B2FD3-87DD-4870-9190-6B95F706BD05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8132DCD-CF59-425C-97C4-40A8A7C8DE16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996DDA8A-3241-4E1E-82D2-CDE41AEDE1E9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039721FF-D0B7-4058-91EF-C6DE6D7F312F}"/>
              </a:ext>
            </a:extLst>
          </p:cNvPr>
          <p:cNvSpPr>
            <a:spLocks noGrp="1"/>
          </p:cNvSpPr>
          <p:nvPr/>
        </p:nvSpPr>
        <p:spPr>
          <a:xfrm>
            <a:off x="133350" y="380047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259E899-5154-4459-9FE7-FFD21962CC06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2AB51C16-A9BF-475A-88FB-BEF7066593B8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E33AA77-04FC-4A80-92AD-015B0B6248AE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0F61A99-03A3-459B-83EA-8C55F2479114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AA462955-72F1-4ACF-B845-7BE21CFA7F5D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64EC0DA-683D-4058-AD1E-8A3B86E8C28C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F4C3BD9F-FFCB-42B6-BD25-BD4191E2E84F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86C2078-6E45-40C5-A3A7-9705AA777DEC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D63EB319-F820-4567-853E-8DE820CB0859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4F451E3-74F3-4749-8F4E-582AE417942A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D66AEB4B-D78A-480D-AEEC-4D3100112CB7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3EFACAD-28C0-48D5-8027-A4BF5CAA1CE6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回测分析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9AB78C4-A65C-4122-A26B-8070D8B5F5BC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AF4915EC-5C4B-4251-AB32-8FB6DF993EA9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301A9A2-75D3-4F03-9432-6EF9143E0572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1EFB3919-5787-43BE-9FE5-1341CB824552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A587EB0-F99D-4898-B4CC-56DF5D26F69F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076286B6-87CE-4AE6-9A75-9095CABA921E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9489254-8B30-44D9-93B4-401D78358661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C83F62A-9CFA-438F-A91C-97369C1ED66A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回测参数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7294285-3B20-425B-878E-CD6A17782EBD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区间 / 资金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501B51C8-10CB-4D89-9791-FFF9F8E06F83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57CF878-E25E-4A88-8D3C-3EDB5FE99E72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E3C1EAB-6969-4E8E-A173-1A65327F37B8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收益曲线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DBA4ECC-0C78-4860-B24C-B85348A29529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净值 / 回撤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A8ECBD63-5D1A-4712-92D0-E98EC75158DB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5FF640A-2B9C-4643-874E-0BA1B707E14F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A50CA07-6EDA-477D-86EF-295D9FB4B0E8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交易拆解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47B9D60-70F2-485B-8E19-54F6180FAB51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胜率 / 盈亏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B63BBDBF-BF47-4C9E-A0CE-42F09A2AF0E5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A58EE96-832A-40E1-BD63-5009EBE27CC9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CF43980-0B2B-4BCB-A6E6-35936C79BC14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失败样本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8241DAA-67B2-47F0-A8E1-180435711700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风险解释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9EA75F9E-41D0-49B5-885B-0A72C0188A2C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1FD5D45-B9B0-4FC2-9D2F-11BDE422C6ED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C79397A-0F3E-4876-8FCC-518079824658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回测分析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29D5E13A-06CC-4CC7-A468-C1C3CD007952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71D69B7-57D5-45FB-B2D4-CE09504DB807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FBFFC3B-95B2-4630-BE3F-6EE304C7FB80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收益曲线 · 交易拆解 · 参数复核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D6E592F3-67D5-42EC-8EBD-9D65EDB427E3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71DB87C-0CFB-4CAF-B3BE-FAE129139873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665EC36-FB68-4E4F-8D9C-06F762254F42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策略复核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B606FD43-46C7-4BEE-98B5-BDA25CCCFCE3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E0993F8-E42F-4586-BD06-9D5C28091310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0D3E0C37-CFC7-4061-A6FD-0C0C8ADBFD63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回测引擎在线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4DAB298D-D940-4DD2-BE47-49439835BAB7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44 · 回测分析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EBFABC30-1E6B-4623-B309-FCEDCC9D9D00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回测参数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9634CCA0-D4ED-468F-9B14-6A715B319E8B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区间 / 资金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84D2F02F-E96A-4DBA-A534-5A6977D99BB2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2FC5E1F9-D4E3-4C46-A205-ADADA221F7F7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9A16864E-ED3F-46F2-8AD4-1D10299AF3AE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649BE91-4034-4066-AA35-50E2AF1C0691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回测分析 / 回测参数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D70DFE8E-5FF4-4BB1-A1C5-2869CB58F902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FB29FDEC-BE3C-4972-A945-EFE4B6D7C584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区间 / 资金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577CCBD2-2366-4C4B-A93C-66652AB78C87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D5FE8AA5-ECCD-41AC-89FC-287E37CF7236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承载本页签核心数据判断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EFBB6D48-86A9-4ACB-84C3-3E8B4AF4E784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7CE4CA3F-8E56-482F-8BE3-E6E2DB3D2B1F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95B194CE-28FD-4777-A484-8200BD0FEA42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BA7E7E45-8DB8-4F11-BF45-988A565F87DA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DA64BCE9-2D88-4F6C-9233-B92384C0FE4A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EFA61D5-6DD5-48DB-9C2D-7DAA8C3F48D9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回测参数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B523905B-963E-434D-A4EA-C09831378895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BD086EA7-C390-4305-82A2-0C53C4CF35C9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状态摘要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C1FB9BF-8FE7-488B-AE94-3BB4DDC1A5F0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5668C63B-1D68-49CE-9DCB-0D2F759A4CEF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明细列表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85F2F9E9-A6E1-493F-9432-3974667C44EE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A84A5863-05EC-415C-A662-5E61C817C061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749BA8A6-501B-46F6-AF86-A8E401B0C231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FBEAF47C-0F29-4F20-8432-52B9B1B47EF1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8938CCAB-BCFD-44B9-A2F8-116C2098409D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5E8F06FD-0032-4500-A868-77D1A9B85138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数据在线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B2C25487-EB32-4ED7-8263-B16B9D6D9AA9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387C5AD2-51D7-44D6-87FD-C01FC1DCEBCA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风险可复核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49751867-AF2E-4601-A0CA-199D9340B387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3EC75303-F9C7-430E-9084-8C119CF274CF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277CE286-86A4-4BA2-9CBB-61A2BC1B1A10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1C40E5F-DE62-4286-9DC7-82961DA130ED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C9BB1B82-C435-469C-A5E8-767EF103C237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894C169F-08BD-4F0F-A00C-EDF1BC7F14F7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982AC7A7-2161-42FA-9624-56D2DD783257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136121CE-DADB-4E33-908F-D81B4E188436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74C0C159-0BDA-490F-A82F-761E22FFD8AC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2D5BFD17-356C-4C99-BD04-561DE358AF24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4B50BE45-43D6-4281-B8C0-C63DACEFB2E6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回测参数样本 1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5D0229F7-583C-4C5F-A357-5004ED94E3A8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7F07CEE0-16D6-4212-AE9F-98C53F315C86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01B3F5F8-412F-492D-AC22-AFA71C2CF581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6A3276AE-C43A-41E9-B8DF-CA65AD190232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回测参数样本 2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38D4FF-F998-418F-9AD8-E61BDD6C3070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79D9AB80-9110-4AE0-8622-9DEB354B0BBC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导出数据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3A7C9725-F560-4DAB-9C2B-44A97E926CF4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1BA01217-EAA5-4D18-8130-46204ED0430F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回测参数样本 3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44BE64D0-4A16-48EC-A402-7237B68CEF7B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2FD12A64-1C2F-4FAB-8D83-066D11E1649D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刷新状态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0EA80BB4-1BA3-4E69-A6B5-D6ADA5C43A00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295D50A9-C497-44D4-B65D-7AFF60B8F6B9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B4641190-649C-4DAB-B40A-091417F975F7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92B42EF8-ABEA-45CB-A240-58742B299123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保存快照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7F2060DD-DAD0-4813-A165-A17204550AE0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464974B5-087F-4E43-B0DF-2935073CCD28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2E038489-E26B-4A77-931A-2B930EAE40B3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799B1B43-A9F1-4DAA-8973-B0DF3E9AB2E0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CF9B4B02-B9DC-409F-B671-85A405ECE084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7F17E1AC-57BF-42CA-BBE9-7FC1D05D39B1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刷新状态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DFB990FF-1D77-42E8-9DF1-6DCA2A8B1A3C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CA39EBC4-0615-4BC1-9F22-21DA10A516D8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刷新状态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C0BE90BF-98B9-4852-B125-41236A330F01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88A2544E-A04B-4388-A867-A204F8937BC9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写入审计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928F4D28-9728-44F2-A0D1-197ECA45198B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文件：backtest.html#parameter-review</a:t>
            </a:r>
          </a:p>
        </p:txBody>
      </p:sp>
    </p:spTree>
    <p:extLst>
      <p:ext uri="{BB962C8B-B14F-4D97-AF65-F5344CB8AC3E}">
        <p14:creationId xmlns:p14="http://schemas.microsoft.com/office/powerpoint/2010/main" val="13784407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2C71FBBB-1173-46FD-AF79-AB171EC1ED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0E1502DF-8EB3-4153-8D86-03A968B1FE06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15C51B-5C83-4F28-99A2-22B3DDBECA5F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E5D0DA-EF5C-4564-A204-7431291D4B0F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14DF4ACA-CF90-4A69-B602-B34931AB3330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7F81B3-9F61-4B16-9311-FD15F114A2CA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0745BD3-2540-4D30-9CD8-D6994E4BE609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DE08FB-15DF-4A6C-9A02-DADD108DDDEA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FF9912B-B1D9-4920-BBE6-F27A2D64C6C0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860ADF-B8EC-4276-86F9-E7DA22610BDD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7D1250B-752E-4FCF-ADA5-5763EB9C7817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8E0A8B-BBB2-40C7-9F21-283F92A3BFE7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6D710EBD-32A6-4128-BCE3-DB2D37C87DE9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957FBF8-B8E3-4030-A5A4-F9C016DC1A03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D20C3471-1303-445A-95E5-43476F139C97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17AF17-E6BF-408C-AB72-8DDB1635DE84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37509FD-2E3F-4157-B633-31E2A0826497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8B79242-824A-4BBF-96D1-3C3FF00BAE2F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7EB17A3F-42DE-4786-B679-A1FD500376CD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89A71D-1E50-4F6E-A6F3-7AB4A089A3C7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DD0E6994-D907-4051-9FE9-A0EF29082159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5D0C400-E6E1-493E-95A2-51871A0AC0D1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A2B25F-2BD7-46F7-89FD-B9F2175BA880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61999550-0865-4BBC-9599-6F6047DE8B64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0B8EE10-AAE8-4762-9EA2-1A97AD743424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D3DBAC5D-5946-4467-B02F-345F5CC4AA2E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17E136F-9B8C-4D31-B2FB-848CE73F59C2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6870A858-598F-4A70-89B8-71365A0C6E86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44A0ED2D-553E-4E43-84E7-B0C58A68FF75}"/>
              </a:ext>
            </a:extLst>
          </p:cNvPr>
          <p:cNvSpPr>
            <a:spLocks noGrp="1"/>
          </p:cNvSpPr>
          <p:nvPr/>
        </p:nvSpPr>
        <p:spPr>
          <a:xfrm>
            <a:off x="133350" y="380047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AD5900C-F908-4F23-8CD9-B2BDB81F0441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79284FFB-D29B-4CD0-8028-5A73B7E11587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294A714-28BF-4C69-9949-888C28770231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17FBC69-D7E4-4F82-BB5D-6259721D9456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164C7D28-BFA8-41C4-B368-34E5CE20149D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B8D3D6F-63E1-4A2D-A451-0F4490E12526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D63221E1-4328-4ADC-9844-C3BC061AA035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858CF83-38D7-4D3F-A175-B0ECB778644E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FB2A3E60-DF06-47B6-9B0B-DC188141A187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ACB5067-E028-4FFE-9356-B698A53A70C8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D80562F9-6AC8-4694-A547-9409CF307523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4A6DF63-1661-4893-A1B6-E8993A35F8EA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回测分析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2C3FCB6-A9AB-4BED-9F6E-99EB2C8ACC1A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7C106CB5-EC68-4779-BE8F-8FEB36013AA5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593BF30-3ECA-43B3-8B58-E68916D6746E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F4CFF154-D8DD-4B55-B21F-CD6ED747D4B9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F3C55B3-E327-4B0A-AACE-4D255EA456CA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A0055A58-D91D-4E3A-85B2-7BDD26828B59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428E3EF-683C-415A-B223-8DDB890A4E2F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A36C2E4-AC13-4962-8147-45C6A9D6D7AB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回测参数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8EC5BC3-247B-45E9-924F-57A0F4DC6026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区间 / 资金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EE815470-40F5-45E0-A812-1A5D3EC6DEFF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2982DBB-095B-44B0-9980-EB3E16E69D6B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677425D-7501-4262-96A8-848EB3E33B1D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收益曲线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60548A0-F70D-4DFC-9BFB-21DABCDC90E1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净值 / 回撤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1F86F986-F1E8-4452-86F3-A24F0F23C2BB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1E7F4BC-52C9-4E7D-AF76-1128D8B15B95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73F2F64-5C9F-4B1D-B55D-4823EACD3843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交易拆解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E1B77A1-F4AE-47AD-8518-BB1734FEFBAD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胜率 / 盈亏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21544460-9388-4AA7-9C9F-52CA7689475D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4BF5422-C437-4FDF-A84F-918C10173657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4044D06-ECF3-4F58-84AE-AD4FB73665D9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失败样本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C76FA7F-C4B6-4395-BC49-1AB07926BA02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风险解释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F4D22E54-D32A-4623-A565-48E34FD42B0E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1DF97C7-7F75-468D-9082-B5BF589E46B1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2A01DF9-297B-4C04-9969-BB108264742B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回测分析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30601B62-E19D-4EA9-B4F5-1BAF28189A50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331BBD68-FC48-4D9E-87A9-755C154B4FA7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98E50A0-A552-4849-A9B4-6B3FCAA24C04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收益曲线 · 交易拆解 · 参数复核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809F7783-604E-451F-B681-3C52D216EFDB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A34DBC0-10E6-41D7-8B29-027E48B086BF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F6AB821D-2338-4296-B49B-E9AB4E5AA410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策略复核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FD391538-A651-4652-A2A3-1588385E9009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1B65EE3B-70B2-4050-BD3B-A32E3FCCBFCE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5C76B33-872A-482C-9CBE-A62CCEC71E0B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回测引擎在线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3206F82-0E17-4932-8E5F-DF2CC5606EAE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45 · 回测分析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EB7C8D61-0B3C-4C87-AB99-A418F4D684A9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收益曲线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FF4B8A2-4A26-41EA-87F3-DC9D99BA0613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净值 / 回撤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1F3EDF75-5979-466F-B2BB-6D2AC15056AB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7C8E9EBA-BA2D-4ED7-B6A2-98D6F4AEC706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35ABE245-6FA7-4CF2-8C0E-A33283A864E3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778AEEEF-745D-4F2A-A1C9-C99A1CBC904C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回测分析 / 收益曲线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D698A51A-8F53-413F-9883-54BB166D4B33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7730EFC6-0191-472A-9FC2-4D3808ACEC38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净值 / 回撤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88892AEB-B2E1-407E-8514-DD0D014287B9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02EEC25F-A489-4993-8DF8-9031D2B21C9F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净值曲线与回撤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66D396F7-5544-476A-940F-09D6922DD76F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F406D9A-54E4-4288-9B23-0987C9C6778F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BF10419B-71D5-41E4-902D-72817735AA00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16EA0F8-D5C3-408D-9993-EF368D2AF18C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1ACCB5D7-17F2-42D8-9FD0-246392569263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38244025-43F8-41D8-A950-58C1F95F1745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收益曲线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02BD3555-FE5F-4286-90C3-CAE1F4A871E1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CA680906-9190-4743-B91B-184DAD5106D7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净值曲线与回撤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9A95DCB-019E-42E2-96E9-D648ED706E9D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50D92CBB-0AB9-4DDC-9C76-04CB317B65CA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生成复核摘要 导出曲线数据 &lt;div class="card"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8FCCD838-8DEA-4D69-BBEF-A3088E70D3C4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EA8BEA92-B029-4493-ABED-53E8A3EBD127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A35DA3CA-1D0A-496C-A391-420FC5B98873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E6D8A036-593C-476C-AD8A-BC49011A238B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4581DF22-ECF7-4CDC-AF9B-117A8A987894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6390472A-86A7-434B-AF8E-193D33E28B53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策略 vs 沪深300 基准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1D563A49-7B05-4D5F-A219-1E5A084B1ECA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6F1DBE71-152F-4F91-86A9-7A3A8497E596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生成复核摘要 导出曲线数据 &lt;div class="card"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E68184BA-7987-461B-9A12-79271E1F26E4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54247730-12B1-44C3-8E7E-9CEA1C68F6F8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CEB68119-58C1-4697-A1F0-59220C50D133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693F9D9B-164B-4481-AAFF-DFCB8ECD04F7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FBBDC966-0608-4DCB-90FF-C1750E6A4F3B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3ED9926B-C8AD-4E54-B9BF-69387BD563A1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EACCD6F3-6D0C-46A0-B996-409AF19A878A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A8B6AF26-5192-479C-8B7B-BB2FAD24D565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570517DE-BB76-4E5C-9742-FEC89EEEAA49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FED301E7-358E-4822-B4E3-CECF1615E604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84457E02-7AEA-4EE2-86F2-B77E9897490D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策略 vs 沪深300 基准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2167F0C2-5233-4AA5-B57E-36EDCA9E6CCD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D7EE388D-A615-4784-B38A-8E50D67F5DAB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生成复核摘要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F9AE4D6C-CCB1-4E4E-BCF3-91CBD22F9908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DE15704A-A187-4C70-9104-5D0AFECAF271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生成复核摘要 导出曲线数据 &lt;div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812EC7C8-FFD9-425A-8937-CA39D25F4A0C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2969CF4D-9843-42FF-BA36-371382D1DF67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导出曲线数据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1C1C0105-9966-441F-BAC8-2744BA5DAD11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18ED720F-AA67-49D8-89B8-99C89ED8DBB6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收益曲线样本 3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B2EDE0CD-9383-414F-871E-8D817FC30193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03092195-E2E4-4099-9A7A-5D8D88BD2F0B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78D93145-A130-452B-A6E2-482007057B08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CA655B80-2653-4D95-8305-5FEDB40368C1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78AF9612-A084-46E3-A1ED-152AC36D4928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AC8C6542-C037-4FE0-9085-40AD6C5A7216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生成复核摘要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C74DD0C1-81A1-4DA8-B764-5F528A8E653A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7F4D00F5-E5B3-496C-A37A-B56511C5780A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导出曲线数据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C20E5F85-339C-442B-8AEF-15FF9078526C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ECDCBC92-029C-4F18-97FD-29A6E7D2A986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导出曲线数据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7B476BEA-3D0B-4831-93E4-F28AB19A7FCB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0923F958-D550-402B-BC4B-D4F5402C49B0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31F8C0AA-A3D8-4640-B955-B172B4951BBE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B97089C2-84CD-4CEF-B458-0F92103F06AC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CFBB1E5E-A606-4D8A-A1B7-1113DFB8397E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1C307101-6A96-4755-94B1-72270FFEA332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26C6268B-42D7-4EB0-A8D4-75F65404EE3B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文件：backtest.html#equity-curve</a:t>
            </a:r>
          </a:p>
        </p:txBody>
      </p:sp>
    </p:spTree>
    <p:extLst>
      <p:ext uri="{BB962C8B-B14F-4D97-AF65-F5344CB8AC3E}">
        <p14:creationId xmlns:p14="http://schemas.microsoft.com/office/powerpoint/2010/main" val="19260813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29673900-7109-4FB5-A8C3-5D89E50DA6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A0564360-8884-48CD-BE7C-3A4202A1A48D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CE100C-535E-480E-89AD-05663CD9EEC0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F7DF94-89E6-434D-A964-8E0F3D1E0A6E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3DC70D27-336D-4284-A5E9-F71566DCC17A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C40B3A-169B-4F90-9936-F84D352DE52B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A70B4CDD-42C1-45C6-979B-BE1799D5AF87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307424-B1CD-4639-B2F9-E84593234D41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B8B49ED5-76CB-4A38-8B7C-BE8B098E246A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43E564-5D97-4EAC-82F2-3B14A5983CDB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A6B4F95F-1890-4BEF-BD81-E7CA32D53230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70A3AAE-F276-40F4-BED0-9BB01CF6DDAC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B7F6E9CB-501B-4B03-8263-39D7536E02E7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DBE4F7F-1515-4583-BCBA-DEF68FF4ADA2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A5BCC02D-8CA6-4B1A-AA07-74F3056B61D9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EC6D702-7684-41FB-8C63-D700E50640C2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DB76DE5C-9F08-4EC3-9374-7B92D1F3D99B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63D671-FE02-4456-B646-96136797F532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F2ADFB87-5C78-4A81-9737-9B064D143C72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F15939E-F5EC-483A-8782-FE1A3BCA53E8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ADDCCC0-EE68-4AFC-9AE5-3D2DDDB9499F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96116C5-41BD-4109-99BA-6079F246B7F0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15C147A-BEF4-4F8B-AD82-48755955ADA5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939067F4-8CAE-493D-9660-B3C8962DDA0D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3B392A7-690D-452D-8ADD-BA6211EE97C8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D8ABE7BB-A532-40C5-AD2B-3F0854199763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9B8D7E0-7F96-4262-B0C8-CE8920CF389B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48C61A9C-84CA-4A78-96B9-8DACAC381E61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39A2E57E-0FDA-4EC6-AF9C-E751E04F5EA4}"/>
              </a:ext>
            </a:extLst>
          </p:cNvPr>
          <p:cNvSpPr>
            <a:spLocks noGrp="1"/>
          </p:cNvSpPr>
          <p:nvPr/>
        </p:nvSpPr>
        <p:spPr>
          <a:xfrm>
            <a:off x="133350" y="380047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2175B1F-F051-469A-B771-67BDBADCB341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79CF926F-230E-4064-B75F-E984B117A66D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CD2A6C6-4FAF-4F94-AF5C-1E33565403B7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74C6921-4501-4279-A029-919EA325C83E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7ADA0C6F-EECA-4374-8B5E-8BE43B901851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9A1431E-5602-48E8-BEEC-11B33D15123B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ED8886B5-BAA7-4395-9B72-11D09375F106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DAA970A-5874-4779-8A2B-2DA92139FF3D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51D75621-D08A-41C7-BC0C-105DC91DA9FF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9B405D8-AC1D-4988-9C22-230C0A8ED78B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FB73B1E9-5684-486C-994E-4035CF10B897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2449449-21A5-4C20-AB73-C9DEB86D24C9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回测分析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8C0318B-5D20-432F-8031-E00A5F4E5BA2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4B203256-343C-458F-B07D-6047A09241DA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FF66E50-1A46-42F1-9C30-84835C81879B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2489B652-5C62-402C-A24C-F6EA54260511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F043FA7-CA88-48A1-9986-4D872D994008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78BD38C7-0C06-44FE-9E55-695B9D07A50E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126E923-FC00-44F1-BA4C-732510AC139D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9FFE25E-829F-4F28-BDFA-361737F21F4A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回测参数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7CA6003-2B24-4054-9F6C-FE5154A1D3BB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区间 / 资金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2333F166-2D2C-4A32-A1DE-580D11189685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B9EA517-B65E-417E-B6A3-07673F120FC0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3FB7132-3151-454D-B04F-561CCD924E46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收益曲线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F85278A-4E62-478C-826B-EF05617E120A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净值 / 回撤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9522484B-26E4-4649-AE41-5E1FC686DC4A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9ECFCF6-6EF3-4A14-8E5F-CCAD538DD76B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DE65DD0-0C7A-4CDB-8655-9C95B025F5B6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交易拆解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B52A51A-FC87-40C4-9AD5-BBA50C5F052D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胜率 / 盈亏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765A77F5-1BA3-47CB-884A-F58012F87361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EDDC8AD-F7D0-406A-BD79-F6C5C3381AF7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218CE5E-CA36-46D6-ABD0-322FEA4904DC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失败样本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44A90DC0-60F5-4911-8E69-9949BFE292E9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风险解释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FBCC4705-AD4A-4EAA-A17C-14F3107DBE66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6792BE1-3325-4635-BF62-C05BE076A25A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5B66813-4757-4E1F-83D8-F817F97064A9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回测分析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F7DB4B8E-5A1E-4CB0-9F95-3700AEAA21A1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9DE19BE-5F4C-4310-9BE2-5F08855DF58D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2F0CB159-9A3F-4DB3-8033-7F755A243783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收益曲线 · 交易拆解 · 参数复核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EEA6D99C-7F51-41B5-9BCC-5398F3ED0966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75E975A8-36A7-465B-AF29-8334F65AA83F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57BE636-06BA-49F1-A302-C5E3FF9E2C65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策略复核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DDBDA55C-CC06-436A-BF6B-FE972DA68105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69A9EE9D-3929-4915-A39E-0965FA521044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80E9033-C8A3-4087-94C6-D95FC7B74575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回测引擎在线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84FECB55-2039-4FF5-9F53-8FCB44C58846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46 · 回测分析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357D7905-0084-427E-836A-9B08FB00ECB4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交易拆解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F12B4853-6F8F-41D9-80B0-A94287C66A33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胜率 / 盈亏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D453E81D-967F-4D36-B06C-79248D447169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74B25D60-6A4B-43EB-9967-10F908A7516F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E4AD5120-8F39-4B2E-A859-69AD278BDD9C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E848CEA-3BE6-45DC-9732-271AC2C297C5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回测分析 / 交易拆解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E312D172-0599-4504-8F67-C423C2C1008A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BF79B53B-5975-4665-A318-3831F97933B5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胜率 / 盈亏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C2870AD2-E28F-4FFA-8E29-489F63B74FB0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374C2BFE-518C-4579-A99A-338F7BCD6A5C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交易统计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82C40313-A9C6-420A-8B3E-C7C3B8AFEAB7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867F81FE-EE2C-4D7A-B2EE-B489AD24A09D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733C348F-46F7-462C-A79B-03E928381FA9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34B9F7FA-6F20-4B9D-BEC8-959FC30CD3CD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7CD073B7-575D-4287-B855-8742A920F41F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9998A628-7FF7-4011-A2C9-1A495317028D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交易拆解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E039B5E0-58F2-418A-9BC4-53799FF839EA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6DC6D816-A6DB-4228-8EF4-0629647B512C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交易统计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C1B79997-BACA-4454-8BFE-9687A089242C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B58DAD66-789E-4290-9F04-41AA92C52BEE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明细列表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6661C53F-F690-4C62-8E59-05BB15E29840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758A4EF5-E2C9-4722-92EC-17E5B6B92A96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8E0CCCF0-CAA3-47CC-A273-F24E6574E1AE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064B738E-01F3-4835-B6C0-973FF38B1B4F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A399D3E4-A15A-41BD-A6D7-751DEBD396EF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C3A844F1-4361-4C60-B105-C360F28AFA75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加入复盘队列 &lt;div class="card"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3B4BA079-31AB-4D23-B447-B0CC4E184DFB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6F9E7894-79D4-43FA-9636-4A633FB4A63B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风险可复核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C39F8FB8-CCDA-49F5-BF85-212128BFC4AF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CA2C2FBA-55DD-488D-809F-2DB2BF49CD3B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1B00178F-247A-4699-8BAC-7EB7C4924ECC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879B2EA-7F2E-41BC-A5E3-D94BF4602C1D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2F20A19C-6FD5-46BD-88B2-1B3A38519079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12276818-0956-4E84-8118-71D29E6C4B39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77A6D5D8-868A-454C-96B8-5C31C7D343C4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EBDCE625-15A1-45F7-960E-B60EAFB334FF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BC505554-E189-4BDF-AC3B-C0778EC44879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1E56AEE6-B860-499D-96F8-02AD1740EBB6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991C3AF0-CDE0-4759-8E44-1682910ED54A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加入复盘队列 &lt;div class=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C0B4F86E-D877-4C63-B031-2049170509FC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A513A1C3-EBE8-473E-BA6E-060D3CF0F889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加入复盘队列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C0A4E45D-E840-4C83-8539-F923E984E435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C320A4F2-A833-4911-B990-2925107D3876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交易拆解样本 2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BDFDFD36-A8CF-4D1F-AE2F-923986E5BF8C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DCC8EB87-9D9D-49FF-B246-FCB7FAD50D95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生成草案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03EF0294-6414-4520-910D-56B398E657DC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501DA36-222E-4567-930E-63AA6DCB4D18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交易拆解样本 3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875114BF-FE60-418E-9780-7CD94DEFC3C3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551CDBC5-D79B-45A1-9648-F35A35F58D53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写入交易票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1A3013A7-F09A-46C1-B268-F49BC1F1D9BF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22E5BB06-E30F-403D-B7DC-C84A6DE5247D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6552744B-F078-405A-BBDF-B7ABCF63A371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5359E2C3-4725-4746-90A6-1C70E01E8193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加入复盘队列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35549E60-5F3B-4ED9-94F0-C96703D04459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29258087-C68C-4DD4-B516-F2FB1172DDC9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生成草案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67FCCB4B-CB5E-4ABA-A89D-55DCEE17CD49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25EDE01A-1AD2-46D4-BD40-DABB1E9EA3FE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生成草案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255F44E2-2EE8-4941-8FB9-28C8008CD815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1FD96DB1-AC6F-491A-A014-3BBAE61E081D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写入交易票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E340F91D-67E7-4CCE-AC24-63CC4654CA4B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04194CAC-B385-4DEB-8434-2325C99C043D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写入交易票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318A685C-67CB-41DF-8427-FE62A07304A4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940623BA-EC89-4DDF-A67E-D90A08667017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提交复核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A71B954F-7F1D-406A-9FCC-3C4BD898CB5F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文件：backtest.html#trade-breakdown</a:t>
            </a:r>
          </a:p>
        </p:txBody>
      </p:sp>
    </p:spTree>
    <p:extLst>
      <p:ext uri="{BB962C8B-B14F-4D97-AF65-F5344CB8AC3E}">
        <p14:creationId xmlns:p14="http://schemas.microsoft.com/office/powerpoint/2010/main" val="17735637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2DB334CF-421B-4641-AA25-E5F9AE906A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4585B14A-3DCA-47EB-8D46-0AE43769432D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8D5D43-C794-4316-B815-CF71E1A40DD4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0E455D-54B4-48A5-8705-ADFE23428BFB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A57B2CB-AE50-408A-A62E-08167101B4DE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9B4D56-46B7-468F-BF21-F476A8ECE20C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43B663AC-9B08-4E54-8EF2-353BCED43EFB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2BB64D-E290-4839-A0A2-110BF425AC42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7F33E297-2FA0-4997-940E-2C8ECAD19660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1EA336-07F5-4846-88FE-81A2304B5E6D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9897D38A-07CC-4A10-9D92-BAAFBBBC118E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3E0AAA5-6690-467E-B85C-C6F5FC367A7B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9E2E8EBA-577C-4B94-9AC6-461D6F16E1EF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0B8F10-51CF-40CE-A637-E0BFB7F16838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07FF7FFC-C599-4B55-A016-9B8E6C9E2D4D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A0B9A5-31FA-4064-8831-7284B1B425ED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B1F9929B-2509-494D-9C4E-D1E123A7A7D2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DF59F06-7CD9-4127-9160-44C13660885F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0996E7B6-A161-49C6-840C-5AA0D0CD0C41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0AAB6E7-F163-41AD-AA48-099C66CAE152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A62F0B7C-34B3-4169-B569-5357840385E5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30ED65E-D1DE-4DAA-838C-108B257448D9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396002E-4D37-456E-AE42-1BCC6D638A5C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298462A3-756F-417D-9559-196808D02D94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328AC67-C207-4A73-A28B-4050255608CE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CD4ADC56-9B7D-4D37-A349-782FB7BE029F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59EED17-1800-4642-8195-EAC09E56A750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E0F0F8E3-FE9D-43AA-9B29-0F57C832E742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592C3CED-6FDB-4125-8854-9CB497977CB8}"/>
              </a:ext>
            </a:extLst>
          </p:cNvPr>
          <p:cNvSpPr>
            <a:spLocks noGrp="1"/>
          </p:cNvSpPr>
          <p:nvPr/>
        </p:nvSpPr>
        <p:spPr>
          <a:xfrm>
            <a:off x="133350" y="380047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ADAA1FA-3510-4EB1-B753-27731EBE0709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回测分析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ACA9DCAC-7AAA-4BAD-B91F-FABD6C71637E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4039131-F822-4F97-89FD-79E1942235BA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53BD231-378B-4D1C-ABF6-D0B95918E87B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2988A4A9-7DF0-4FE2-AD04-4006C07755F7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B18CD89-A32A-4C24-ACE3-BC805A7C1A6D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D858DC6F-6539-44E5-BFF1-AE90E16ED3FF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D399748-F9BA-4743-82E0-7C1CE75AF5CD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B0DFED98-4684-4F0A-93CA-66F285C74161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71CEAA4-3E44-4E57-9EE2-7EED08B1F44F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8C77D53E-D44D-4C8C-B079-1D1605DD7E99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CD8150B-79F5-41BB-B63C-1B551D5355AC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回测分析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38D8EE5-27E3-4734-84F8-D3BECB67E57D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B5ACC50B-E92C-409E-B92F-FF9432417E5A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2873A11-68F3-4BD5-8BDF-833A0FFD798D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7F2B5916-A49B-4DFD-A680-5DAD463134BF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195D347-4D53-4FC1-9683-FB6DD71E1D27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070304A5-D385-4E1E-A850-A01A5AA6337A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F7348E0-2D2D-4488-A421-BEE51CD2FA54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11C5434-6037-4985-A697-3EC0D56B0FE6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回测参数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27E8CC4-9480-455E-9B57-E2A7A660490F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区间 / 资金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3BA81523-2142-4EFD-A102-74B9D60DF616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B94A5D4-D3BA-47A9-8909-F8D5896ACA90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DDCC72F-E368-49C5-A286-715E0D9F171A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收益曲线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5A96613-168C-4FE3-85A0-7858B8BFE295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净值 / 回撤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2DAB5B25-A390-4E37-99D0-3BBDC0A33EF7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EDBB747-8334-43D7-9AD1-7C892FFC2CD2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37C2A4E-C03A-4576-9E5E-FB7942861979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交易拆解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FCC686D-FA6F-44C8-BFA4-A2E482E77FA4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胜率 / 盈亏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83328972-73D0-4857-9C2A-A037B0293739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23F00A7-795B-4BF3-B396-DE5678B5E733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4C2E488-8021-4140-9B8C-FD3853FB1BDB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失败样本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EEE10A1-99DF-494D-9CD3-C22CF0EC528F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风险解释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C67B4273-E5D0-4A91-8459-01EFF9C2DF07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F589BA7-7A4E-4049-9ABC-41672D383692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DC39E04-2A6F-48A3-9951-39A382C98204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回测分析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EF7DDE8F-50FA-4288-8C47-3515F756D4BE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70079538-1AD7-4518-B95E-D6C55760F9E0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8A0C95EC-E2D9-4F03-B143-A3B6A7CB24E8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收益曲线 · 交易拆解 · 参数复核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8D610517-8616-4278-B3DB-077AFCDD18F5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25E3125-D9F8-415B-B21D-54CA1EC0D37F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FAE76DEA-C1DE-4A6C-93E9-5489C7437B39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策略复核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E0651F64-3E53-4E99-AD8E-1AF06D79E598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FBD492D8-0C6C-4690-BA7C-31B0C2F100FA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38CB8AD-F73B-4349-BF32-E1770AF64497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回测引擎在线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AEE26BA4-7DE3-48C0-9370-76E4602BAF15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47 · 回测分析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F24E27F-778A-4D9C-AEC8-473535AD1FD0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失败样本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22D92183-434A-4B8E-B230-55686CA38DF0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风险解释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672F8DA3-05F2-4A97-861E-F8BADD6CDD5C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79239ED9-B81B-40A3-8B33-BBB55C87F7C9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1EA1D106-FDB6-41EC-9161-AA0DA9BF4DAD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2F565ED0-826D-4D5B-A4B3-9B27F5C68F76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回测分析 / 失败样本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5AACA9F3-18A8-42F2-975C-18F9CC5C8C62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CF439418-C63C-43F1-A79A-211C3417FB07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风险解释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6231937-A2CB-4419-AFB6-7A2B2B7B7E66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CD5132A0-18C4-4794-A418-A8CB850EE1A8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月度收益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95D2B443-32CF-4FB6-903B-BAA8D1E7DF75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64F02BF8-BA0B-4AA7-9F42-866DE31628D1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86BA9E23-D975-4A1D-AAB0-473CA214F3EE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C6A90F9-1C9C-4E7D-B8E1-A519A798A79D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E82CC47D-46E6-4600-83E0-793F2785893D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935B76AF-8D35-4168-907D-C49600784C05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失败样本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10CAA7A0-355F-4DCD-8E21-4EF4E170628D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423DB86-9F68-4355-8B84-DF4CBE9E44EE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月度收益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20378789-E0B5-411F-B6EC-D56638CB9FEE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99CD618F-A9AE-4729-A699-B2509E8FEEAE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生成失败样本 导出月度收益 © 2026 速赢AI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95712AD4-01F1-4BA3-B5F9-9301035CC9F8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641BD0F5-51F7-4ADC-B8D2-6A36BA81B479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回测结果基于历史数据，存在过拟合风险，不代表未来表现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C4EE00A6-4883-49CC-B206-6FFDB167B554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877CCB21-6DE0-4EDB-9D67-1997573ED04C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8D04F9A0-1CA2-4C10-B8A4-C8A01C94765A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3F40F980-B519-4ACA-AA2A-D71E8AA72486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近 12 个月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AEBD52AF-46DD-4299-A65C-2A3FDBE3AD59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7D5ECA34-7B82-4A8D-8097-8FF1EBBFD534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生成失败样本 导出月度收益 © 2026 速赢AI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3FC3F141-4CC7-49D2-B427-53E1925AAFFF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14233AA9-6914-47D4-897D-C6F7DDCEDEE4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回测结果基于历史数据，存在过拟合风险，不代表未来表现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F21D3DBD-8B50-4B2B-8946-04FE140C5CC8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AA7C537D-2002-45D4-8188-37CEE755CE53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B8E22813-8AD3-4D0A-8D3C-55B66B2EE608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CF66914B-D55F-4B10-9920-D9363DF568C8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EF47D98D-5367-443E-9C41-76183EA88CD6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132628AF-225D-4E7D-9211-C31F44B748FB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8F91AE71-8C07-4975-A7EC-E74C989BC246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1710017D-4D3E-4AA4-802D-5DF1B745C569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186C8052-A6D7-4DA1-9EB8-BE92B69ED7EE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月份 策略 基准 超额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E05C65CD-AB58-47E5-9913-C83CBCBA0616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B94F6030-D440-45C1-85ED-03E6C0868147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生成失败样本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F9691C7D-977E-4F0E-9966-BEE09DAD8607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B5940A58-3068-42D7-AACF-896F6CC9A83A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2026-06 +6.2% +1.4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C4C9F14B-54DA-4A42-9A91-983A55217009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12999898-AAF9-49C7-B62B-8A8E4FA866D0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导出月度收益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B0C8CBA5-D193-471B-B9E7-53BC67FBC279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9900778D-0AEC-45C9-9C5D-1D2DDD1C9F5F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2026-05 +3.8% −0.6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754C464F-ABC9-4167-A1C3-AC12755A9099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2F14815D-AF16-4E62-A695-F63342891899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提交复核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01A1E0F8-1228-46A7-854E-9724814D4BDF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BDC13B57-31BA-4BE8-BD7F-B1148E004404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3229E944-3753-49AF-9827-40B1CE15A2E5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13EDFC0A-E3AB-4167-AF53-C0FED3EB3369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生成失败样本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D70405BF-9AB7-4006-866A-1B4FFE412115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8B35CADF-E18C-4764-B4B9-5A48419A4EB7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导出月度收益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18D06CB2-1B2D-4D47-80C8-182BB301F3F1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0CF115A1-7BB1-49DA-8001-A90CB313B316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导出月度收益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C2465491-175F-4204-A784-A314D0CA05F5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0982C023-39B3-4F58-9F88-9837ECFBFE15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84A58661-148C-412D-977C-DFB61E21BD07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747A6B26-FBC6-4317-9B04-6CEE5ED72C92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DAE9F0C6-0B04-4858-A2FA-3EB2401E4F2D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A68F0335-7FCE-4C83-84EA-6D4553738C8F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导出证据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FC1F5FE0-06E2-455B-B625-A5499847EE29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文件：backtest.html#failure-cases</a:t>
            </a:r>
          </a:p>
        </p:txBody>
      </p:sp>
    </p:spTree>
    <p:extLst>
      <p:ext uri="{BB962C8B-B14F-4D97-AF65-F5344CB8AC3E}">
        <p14:creationId xmlns:p14="http://schemas.microsoft.com/office/powerpoint/2010/main" val="13446424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54741351-2C9F-45C0-B9D3-A8352FACFB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B4B28CAF-C774-4DFF-AA86-09B84B5ADF76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FC5416-D764-4FD7-875F-985873039B9B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18D5FB-5623-43FD-BA86-5154F8919EC4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2D47BB61-A204-4A58-94C3-7B67DC470E39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A3D541-2B1E-414A-B9B6-EB1AE376F145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8703A5C-82D3-4C42-97C3-8B5D3BDCE5E9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8B22C7-773F-4DAB-9E09-5F4BCDE36362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6546D7E-2EA1-45E1-A306-41314E78B8E0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C23D68-E5AB-4EB8-A1D9-27CEFD0799B1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0A0AE37D-9174-47D0-AA82-37B36611627E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D43AB8-014C-454A-B8DC-6772624F0053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D1576AF-F4EA-4413-AE16-7406E1A1A797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5DA76A3-250F-489B-B529-0633E97377F9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EBA2CFC-9BE7-4588-8037-AE501DECEAAB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BA42E16-4CB0-4C74-8533-D6C1B4778902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F69D8EFB-6FCB-45E7-AFF5-BD7DD32C6E3D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7E59F29-4E92-4803-817B-684C331C37C8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7C34A3DC-6A13-469E-BC1E-518E6AAC8B29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5970394-B823-48E6-942F-1B9E6B6A9F02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97EABC22-AB74-4D44-B80D-773670FEDDDC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BC1E778-E2BB-4D44-8B8E-2348CC249344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DD9A7D5-D5E9-4042-B8F1-F727B873BC8F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7FDCCF1C-3F09-44D7-9DD4-D07C5D3B5E86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697F2C4-11DB-4E4A-98A1-8580436D7E83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5A9A2381-FAD9-4EB1-AC8B-B8CCBFD86E41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9A0EF11-1A1A-4F9B-8EB6-86A5CA1FB9A9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24F7CE15-F233-4782-8367-2B6AEAD74B48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B223B25-E4F6-4B43-8F93-BE235C714DC5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FA931056-9E5A-47A7-86F6-B3782CA5D3D5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9DA6F748-4579-4BF1-A2E6-789D693B2BE8}"/>
              </a:ext>
            </a:extLst>
          </p:cNvPr>
          <p:cNvSpPr>
            <a:spLocks noGrp="1"/>
          </p:cNvSpPr>
          <p:nvPr/>
        </p:nvSpPr>
        <p:spPr>
          <a:xfrm>
            <a:off x="133350" y="409575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C02B369-E03D-4AA5-89F6-D539656FAD1C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000282C-4C05-442C-ACE8-F51258DEE6AD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1A1274BE-9D9E-4FD1-866C-1D1B1387104B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39A862D-03C6-400F-BDDB-F46D5FB0C7C6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491F6017-2071-4393-86D1-76D4F0223026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CFB8F35-F01C-44D2-8CAF-31049921C4A3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2254F090-FD69-431B-A627-9FC1B0DF3FBE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E64B313-5224-45E2-A95A-1C84F4D61A03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821092A3-DB72-43C1-B408-AF6B6E3BD7E3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A1E5A2D-2CDF-4D1C-9B43-02D3352656EE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个股诊断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5D95583-D8EB-45A8-86B1-2DE62276D454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028A3091-679B-4180-82CA-5BBBA4845E52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61EEAE8-4E6C-48E9-B71C-5C42856FF4B0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E074FF1C-67D5-4634-836E-B7865A044144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968408B-4925-42CA-A24C-E0C422890488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FF79F248-09A2-4392-8940-735143B264E2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CE299B2-21C5-4C5F-83E9-6DE148638059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E12BB43-388B-4E8C-845F-E71B435F287A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个股画像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7D4A2DD-9037-4170-A742-0BD9A0A9C8A6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基本面 / 资金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F8A6CADA-02D0-4907-8C06-C9ED246BEBD5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A873758-F74A-4598-B482-D2092F1B5819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2F1C775-4140-4646-BD19-93D5E9390036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风险雷达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3B14F44-C26F-4FAB-9E04-B99233EC4A3D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多因子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0DED29F9-0E35-4044-8077-18FAEC673666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A5C39AF-AF8D-45D2-8C54-A14AF435E11F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D4C5CBC-8FAB-4D4B-8949-1BBCDC675EBD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历史信号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B051B36-9AF9-45C6-8DB2-7C5E7890C8BB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触发记录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D22DDFC4-F460-45BD-A177-45D65F961ACF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6311EE1-4412-4097-967A-08064A370342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D8A9F73-3D67-49C5-92D6-5A9E7B05B94C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操作建议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308CBB9-F798-485D-87BA-8260A43F36A2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观察 / 执行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B82E1CD2-45BA-4A5C-BE8C-6052034AB07A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A95560F-B12D-4297-AA45-65572D4C8AF2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1EDF961-5B7D-4348-B693-E06A4F850698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个股诊断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8BB47197-856E-4D69-95C0-975B3452B9D6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31CB22C-4E27-46FF-8E02-FC538A6707C7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C9C9A03A-E4E5-4CA7-834A-40A79EA3E45C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个股画像 · 风险雷达 · 操作建议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297F5B90-A829-4036-84B1-F4C759EB832E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D4A223AC-7438-483E-BFD9-F04CE9F574C5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73D2958-282A-43E8-AC2A-191159B0B90B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中际旭创 300308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61041230-EA5C-45D9-8CA2-83E2E58E3C23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C6BCA4B3-6847-4029-9BD2-59B13922BE62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B239550-CDA2-43A8-977C-6134E66FD46A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诊断模型在线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D9A416E-EA04-4FFB-A8BA-CE53073AAE60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48 · 个股诊断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92BAE802-91C6-49FD-A278-828EEF5533E8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个股画像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2DC1A926-89DA-462B-A328-5C6A59569C63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基本面 / 资金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70A53AEC-0BC0-4E62-A36A-39FD8E49393A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0F76FB6-EB3F-4B3B-B273-4C327BED7E16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52FE8EE4-6CE4-4D99-B661-4A5D463216A5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2FAEDB73-E3A6-4A71-A85C-3A066980308B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个股诊断 / 个股画像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6C510201-DBA3-4A92-AE7D-29A364E6C634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39B92DCE-BD31-4CBE-8943-D26EC4E8E96C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基本面 / 资金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04F250B1-FC97-4398-9E9F-BF61E5BB0B99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8E95DD0B-4174-43EA-8860-343D7A91B520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综合诊断评分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75C17468-B1D8-4BC7-97D9-8BE92B714E8E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835B53EA-CD91-4B68-94DC-51F755A8CCAC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322B35A1-F4B6-4E09-BA0D-B32FCEC24C77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3A3B86D-1E3B-4E14-A1B6-D16C812AA509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7078E3DA-9416-4357-AB0C-9D708D63BA2E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5FC77F1B-CD32-4966-BDE2-172105C2C70F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个股画像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54B84AF4-143E-4DFD-B3DB-27780FAC665E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715BBB8A-1A0D-4D48-8FDE-F6B0A029C14B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综合诊断评分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13D08893-6D4D-4CE0-B99A-640EE31ABC20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E9E2F024-D5DC-4163-937A-B80E362F954C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强烈关注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E7CA79E7-51FA-4DC8-80AE-A93D2CECF5CB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5EF4824F-08ED-4745-A5BE-23CC2228D867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回写选股标签 查看诊断联动 &lt;div class="card"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3C454F81-D16A-4BC3-B7E8-B053E34A694C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0C50B2AB-A437-4A97-B698-2EDFE8C732E3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982EEB58-BC61-4E7B-9BCF-B4B114B1C6C5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35355FB1-8383-40DF-8462-BEF9B49E5445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 diag-v2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73FFAA6D-1C2C-425B-BFFD-3E69219ED839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560A8426-5194-4B8B-B07B-E8F402873191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强烈关注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B7888121-4ACF-43B1-9C0E-7838FDC36F06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9C698ED0-3CBF-4A72-94E8-D6D039D5C6A0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回写选股标签 查看诊断联动 &lt;div class="card"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D1DFCACD-9CE6-49B4-A63C-8B6B028DDB88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983BD8A9-8E85-42B1-B642-8BDAF9E035D0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60746CEA-9C49-4160-ADFE-B510BEB6EDDF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7FE93A50-2559-486A-960B-E7F75A330E94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7F803BDF-4918-4878-8866-4BF1BA81E88C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C918D5FD-ABC3-4B2E-B364-BE8EA1AE7187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B230E418-A281-4B7D-896B-50353072101D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B37E1F72-8111-4994-ABD4-308764DBFC84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5C8A390C-0563-4427-8EB9-ADA9F2BC2CAC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模型 diag-v2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08BCF4A5-BD09-4BEB-A1C1-2079A09C6010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7C6291E9-3A81-4E05-831A-5FCB52B33BE9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回写选股标签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E7D1FBFF-716A-4AE5-9534-C78E62F5DD7E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40FD91E4-9AB7-47DE-AE52-C8A7E0912FD4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强烈关注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9C08394F-289B-4526-84DF-EC44E31FB1C0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C2385C7A-12E0-4BAF-AB01-79D64FB1C62F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查看诊断联动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1D3255B2-B83D-4D03-895F-2515349ECBDE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E512D386-7833-44C5-9855-34BBF927350D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回写选股标签 查看诊断联动 &lt;div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7FB2C1E5-4BE4-47B4-B64A-40B9668DFD4A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D3A4FE77-13BE-482F-A79E-616FA0CD4A04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3E446967-79A0-4DAF-8B14-25C4B6489791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4862E9B7-5F5B-4CC6-8481-58FBE9C1E35F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9EA8F748-1C17-4003-9961-2AAC16987683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420E28D4-6994-43E8-8350-4F5751873B78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回写选股标签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73856F4D-6850-4F08-BCF7-0F63B7E9E65C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297465B9-F790-4354-9D39-0B554DD8C552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查看诊断联动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21EE0E21-786B-4C10-B7CD-E66CF304DBCC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7F1DD3A9-C809-4EAC-B551-A82DBF1558A7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查看诊断联动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EC2B485B-403E-4939-B54F-8EE05AD84457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D714ADC7-7B13-46DA-B507-E9756DC65A3F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2C846D31-D041-415A-AF74-729AA8BA1706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2CE93401-553E-41A5-BAC1-866AD589C091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E24A2227-29CD-4677-9FFF-6F48E7BD7BAC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7304555C-68D5-4A3B-BCD6-1F249DBB81AA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E764C7F8-E32B-4CD2-8251-5E8A0D34F56D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文件：diagnosis.html#stock-profile</a:t>
            </a:r>
          </a:p>
        </p:txBody>
      </p:sp>
    </p:spTree>
    <p:extLst>
      <p:ext uri="{BB962C8B-B14F-4D97-AF65-F5344CB8AC3E}">
        <p14:creationId xmlns:p14="http://schemas.microsoft.com/office/powerpoint/2010/main" val="10331333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B51C87BF-0966-4D01-BD86-1793A0909C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3D014CB2-0B7B-4E4C-BF9F-5C13A37785CE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9140D3-0094-4CBE-937B-64EC344703AC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8A4525-462E-432B-8F54-D0B116D62292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1D1E842C-B245-479B-82BB-80DACB523B8C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55C2AC-22E2-407B-9A84-4DA5CB442F13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BC462E7-6226-4FB3-99AE-99558244883F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3E4332-9E07-4F64-922B-12A274358CCA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15DC124-0DB5-45ED-B2E1-C157B0974734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6A0156-E454-454C-A048-A6EDF588CB61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9628F7B7-1E78-44DB-80D2-A9A139AA933F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3554F7-DBBD-469F-95A5-9F525FC10CE3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ADC5CD25-2185-4035-87EA-14C3CBE3405E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031C83-05DB-4598-A304-2A8AD39AA61B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3EBB780-215E-42B5-A2A6-F416F2D2B260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D33EA20-A9E2-4B1C-98D7-918FFB742891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CCC46DE2-D2CD-4987-9344-03F4FE4CFB63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BDE0FE0-20BF-4E61-97FE-39C5BEF1EFB3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682A4432-A6A3-438C-91CD-29DE4BC856C0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6EB6FE2-F3FA-4A42-82CF-62E8D833D2B2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17245B3-542A-4690-9BD4-BC8470D3CDD0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E4264D7-0E36-4D6E-BA88-21A06434D5C7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8CA20BD-D549-44DA-9052-CA12E0B51A58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A961944F-BA9A-435B-B78F-FF8FD1CA0B21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10BAE1C-A32F-4766-BC09-F30C371BF605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F2BB6E8A-F4B2-4320-9E49-C47B2B98B4A1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3A003C2-D59A-499D-8622-6517381DDD4F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30CDA883-7780-40BC-A338-DB4C8B655253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4B68DD-6724-48F2-A579-59B2E855AC5C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0A78655C-968B-4790-9F54-9AC48F898C3D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A77792BC-6B63-4D26-ADB6-3EAD0CA88C5F}"/>
              </a:ext>
            </a:extLst>
          </p:cNvPr>
          <p:cNvSpPr>
            <a:spLocks noGrp="1"/>
          </p:cNvSpPr>
          <p:nvPr/>
        </p:nvSpPr>
        <p:spPr>
          <a:xfrm>
            <a:off x="133350" y="409575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147CE97-8D1A-4D84-AE0E-4425F0EE330E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CCAC89A-5A22-49D0-9949-CD4AEF586CB3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66AF6174-E0F6-4D96-8F05-D8F17BD7F61A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18D2CBC-E557-442F-9AF8-21A032642FEB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42CEA21F-2F0D-4B7B-A684-6E71ADD1F13A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E71061E-AD43-4012-AFD6-888A542320EE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BFED77ED-E31F-4A15-A91C-A45F3E18020A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B0D4EF7-8B9D-41C6-A25C-4AF5168CE57C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E4011613-AACE-44D5-939F-559518BFB84E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CFAA527-4ED7-4D31-AA2C-0E2DD778C5B1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个股诊断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8AC7E70-98D8-4206-B0DE-EB8A836D59A7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14C46700-E6D3-4944-8B62-0558101E66E4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88E5A6D-3033-4894-B954-77E0115C716D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6A657159-5E33-41B0-A4E5-9A43E7437735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52638F6-DDFF-4E30-86B0-222654B9381F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E3C71037-A88B-43F4-B74F-0596E6F3CB28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304062C-1CE4-400D-B1DD-DFEFC5EC8F7E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8DC0AB4-581C-4247-B72E-2FD33097AAD3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个股画像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D474327-09E3-483D-9DE7-7205FC0450D8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基本面 / 资金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62872AFF-9FF8-42D9-BE93-DFC7F4C113C9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DCA4A2A-802B-4506-A501-76F0BB0B48E4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45D7E68-DCE5-44A9-AB08-DBABB8CB4FCC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风险雷达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1CE7E2E-A2A2-47AF-B081-E8619149CDFB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多因子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8DBE60E6-680E-4CC8-8206-4A43E65411CC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A9347C2-553C-4C85-BAC3-C0347BF3E468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6977995-95B9-42E5-8470-1A72FDFA6D3A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历史信号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8488505-412F-48AD-A3CC-35869AF14B0E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触发记录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053F60FC-B040-43EF-9DCE-C01ABC52993A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A469E32-4903-492B-A427-E055D7C45376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4609DF1-5184-4177-A05C-1C496E22D764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操作建议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0AC6966-4F7C-4C12-95BA-6E723BD72FED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观察 / 执行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D355CCFB-7000-4996-97F3-609FEB3D4937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932CB2C-1F2E-45E4-B966-7BFF638596B3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196FCD88-CDB2-48B7-8F9B-ACC3241380C0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个股诊断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66C3171F-7FC2-4859-A032-5DFE2581BDB0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7EB7A2C-64B6-4542-873B-490890B9103D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A72045A-7089-4E52-A926-CF91DB4EB2CB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个股画像 · 风险雷达 · 操作建议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601C5FCF-F903-4945-A6DA-5475ACFA70FD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E9050E77-0375-46A7-8918-584A0AC39165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6B057FA-1C67-4EB7-B826-59BD3C244AAD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中际旭创 300308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44C06016-87A0-4ED5-92B5-CA9E6F74F566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AFF9E39B-3B1D-4D57-913E-17AA3BC64B19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EA369FE-E7E3-4472-8A07-7E72E2DFBD57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诊断模型在线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6FC6A1E-97A7-4AD5-A2CD-DE366F9C12C1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49 · 个股诊断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DB4B4CD9-9757-4052-9E3C-FBBB6DB87D6A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风险雷达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766B4DB3-9DC6-48A3-9DD4-AE5B5322F115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多因子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7910D522-4824-44EB-8654-1F292B9F67B1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818DD35-341D-47D5-8294-50438EB6A769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DE8DB45F-63B4-4F54-AFFC-5842969AC6A5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331B739-E49E-47E9-943F-D501A2C69665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个股诊断 / 风险雷达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B84A4760-CB07-4707-A3BA-3EFC9870121A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0A694D9D-5B20-46DE-A24A-EFC9B88EE0F8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多因子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558ACE1-B0D8-40B9-BBE7-B3281EFCE26A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0ACE5705-63E2-4644-86B6-F32E09A91B16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六维雷达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7B403337-71BB-4638-84B8-BD9D0AC0047D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7A3AF84F-3011-48C7-BFEB-1A483D36A13A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B12077CD-029F-49E6-B9FC-81C05DF0D8F4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AEFB3FBC-E9F6-40E3-B920-BC8A5E8858AC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369C3CAE-0BD2-44C9-824E-D2A0DB406178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A7254B45-BD02-4B1D-A933-38E0244B3B5D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风险雷达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3B1A8127-3F27-447B-8D2A-E06BB1480A51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ABBD1C50-C63B-4B7E-BB64-91779C60BBAA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六维雷达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4815E8C7-B49F-4039-A9E1-15668A56D8EB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2E429579-E683-478F-ACB5-7BC64C242F6C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明细列表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4EE57991-9F8C-4846-ABF2-A912D21D91EA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69ABAC99-D368-4C89-AA5C-6CA718280F4E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854BE195-E650-4EB8-B0D2-667658A70F46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CFECF7C-E222-4FE6-B46C-382BC8105AD7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BB0F9910-BECE-4428-A6A2-4BB25C482D68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BD42A582-B8DA-4F97-B5E6-DB662CBE0651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生成处置建议 &lt;div class="card"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DAE5BB67-3DF1-44B5-8FCC-43E9B35020C7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A4E534D9-CBAE-4BB6-9AD1-25F90F897757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风险可复核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BE916DE8-A058-4B2D-B16E-B97520A033A3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735BE96E-5AE8-4A8C-A0B8-12752E3FB264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D0E82972-B7EA-4D1A-848F-7938FC8366BD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5CC335A9-E743-4B2E-A11F-B52F1391A66F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63A2F144-93BC-4760-85CA-38874DACA7E2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6CBEDE90-1D80-4009-A611-A7340CA1D24E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605E24F2-11E4-4559-968D-3EF9731DF84D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9CC53186-5D05-4015-8491-365D14A68ACC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3ABDC366-C34D-4D07-B5E1-ADA889BBFD8D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C5DA9E69-2E57-4CA9-9A9F-983B54CA4407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26A17497-9ABB-4967-BF70-52705D277203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生成处置建议 &lt;div class=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8EED7895-FB3D-40D0-B6B7-B16601B1B0C9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C87C1565-6160-4D29-BD00-5E0AC9D0B29F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生成处置建议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55BCC4D2-533F-4816-8144-5D57DC1BE7E1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2159AF34-7D41-4254-80D1-31B250C37708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风险雷达样本 2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F8203623-CE80-4857-AF27-50E46DE7825E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628EF39E-6BC5-44F8-9446-555F918B90E2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提交复核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CBFE377A-CC65-4420-8827-4881F0DF9A3B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EFF88C8-AB32-431B-B8EB-D3B3529559A9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风险雷达样本 3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FC891342-2FE1-4362-8BE9-0931DE55CDC7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CFF6C461-7155-4B38-B7CC-CAE2741C2E73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导出证据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495544E6-6D37-4366-980C-68E8B2DAA647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3903CF3C-FBCC-4FBF-92CC-44CB91C7E0C5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8C401B2D-A6FF-4120-8CCE-9EC54F6E810D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8CFBA104-CB92-49F0-9BD6-550ADF6448BF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生成处置建议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D32960EA-3DCD-4297-8D45-1A4EA3532A4E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B61FD1BC-F342-4F83-BA5D-64329DE5BDBD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4433FE88-5EB6-4E68-B09C-2AF443272A17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4B146D40-FE0E-45EA-9161-6DF72469749E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8805B107-0714-4455-A34F-88AED093D4EB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915CAFAF-D465-45A1-92B4-2E2A91F9B33A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导出证据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54875CDA-1100-434B-907F-5724FEC94598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4F090556-F646-48C3-8600-B759CF0D3AA1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导出证据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03390A7E-D057-4A56-B0D6-717A1CC6334B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24290C08-7A59-4547-84A6-C0CCAB7079E2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重新检测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9BADA2F0-F86E-4BC0-989A-C7B022AED4E0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文件：diagnosis.html#risk-radar</a:t>
            </a:r>
          </a:p>
        </p:txBody>
      </p:sp>
    </p:spTree>
    <p:extLst>
      <p:ext uri="{BB962C8B-B14F-4D97-AF65-F5344CB8AC3E}">
        <p14:creationId xmlns:p14="http://schemas.microsoft.com/office/powerpoint/2010/main" val="8797411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C1843E10-58E6-4042-B540-555A152CFD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9C55ABCB-30AA-4404-AA28-35E26CB884C3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C7CFF4-E88F-4A35-A982-BD83741A3379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049682-0E99-4602-8959-67200E179203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30B388A-F9F4-4C8A-B646-97A4F1C9C0A9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245A3A-C398-4544-9D03-7B721ED75193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F3C42601-3D61-41F9-9F86-A6227F7B6EF9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DE60AA-ACF7-4369-8ACB-79ED2908C059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8C9BFAC3-293E-4A3F-9AC6-301BC845FC46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BFAE890-4B4A-4FDF-BA92-22FC5A60311C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677B06C-856C-4DFE-8AD8-7B94B3B72A28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28F354-1CA1-4ECE-B386-11E1A512C39B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C2A4725-A3B4-4965-B7C4-50B042B4E419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9F7E5E-A23D-4D02-9A07-029577DD70E2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2F78608-F3AE-4B22-BB08-A704238C69FC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FA6A44-8C4A-46B3-963D-D6B64F757AC6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0FAD344E-071F-4CC1-8BE4-4DF6B1B379F4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2E3F60E-BCEC-4EA9-B851-6F317FD7ADC4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BE4744A0-F9EE-474F-B0D5-10769A46592F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6A2D967-EAAC-46F1-864F-9388E049E01E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6304E161-D30E-4C53-9C71-C277E46EBC4B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61B3616-2D16-41E6-8CF7-77595C58EE17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74B0383-E8E5-422A-8F0F-CFE2CE6B89CA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F8DEC782-6264-4990-9F8E-3AA79158B87C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1BF4AB0-2DEB-4513-BB2C-B4D685F08775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91CA0C52-D7E2-44B6-BB76-BB88EFB62A91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EFE3090-6A7A-4528-86A4-7F9B6EE677A1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87737372-B7A3-4199-B3AC-842F3F6097E9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3729D6-7CF8-49DF-B6A8-5A65B8D1D329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22C00D22-F8CE-4DD0-A224-8D306718FDF5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49802556-E839-4051-BE26-37E93A7801EE}"/>
              </a:ext>
            </a:extLst>
          </p:cNvPr>
          <p:cNvSpPr>
            <a:spLocks noGrp="1"/>
          </p:cNvSpPr>
          <p:nvPr/>
        </p:nvSpPr>
        <p:spPr>
          <a:xfrm>
            <a:off x="133350" y="409575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653FEA5-5BFD-42AD-98AB-0D650B7DADF4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F49DF72-19F9-41B3-8E30-80652A4A9ED8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34CC4948-F501-446A-B909-E350BAA41E3D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4DE2ED1-7A74-4B26-9D08-68A0275A82D3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A24CCD45-08D3-4C1E-86CF-39B0B7826382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2E3AD8B-D787-4444-A11E-00B219A5C133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B528D688-9718-4B47-BB6D-AF719663662C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CAB7C3F-3CF9-4B76-809E-3DF931D5F330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7DEF84AC-B822-4380-8D17-3530B5EE0DBF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518A867-4307-4DF5-B8CD-BC47FBDE239A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个股诊断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0E3960B-31D2-46BF-B0E3-FA5DB6BBFB6A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F0409E48-3A6C-4B9B-B2E1-5C86763B8F6E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9343AB0-6767-449B-A63F-3C675B686C0A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8A49A6F5-9FE5-4501-8CEF-E69012AA0087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16EB4B7-149A-49B4-A883-AD617D7C6A4D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90EF1A10-A646-413A-88FA-97F2A94B3B71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F4C0CA7-8E5E-4AC2-86D0-ADA25068D09B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C7DBFB2-0F9A-4476-AFBA-C2CA5DBC2A8E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个股画像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4EC02DE-6F85-4624-A1A9-6180EED1EEC9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基本面 / 资金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C24D05EC-A9CB-4401-AEDB-BC6651965781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82516CF-8196-4C6A-A2B3-4DEA33C28731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E8AB553-F6A7-4DEA-A00D-FFFD9F39375C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风险雷达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C571F25-3D1A-4BCE-958D-0742B91CB60A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多因子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D8C760C5-E9DD-4C31-A9CD-28FB9A053E34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7D9BC29-8E5E-4DCD-869C-22D6C013710B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35020D8-7047-48A7-BF34-9CC703964816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历史信号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F39589F-A591-443C-B444-F2855D01F4F0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触发记录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64F22342-5990-42BD-AFF6-6FC923AE77E3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D8B800F-715F-47FA-AF5B-836E7581B73E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EEE6C6C-22F6-4ECF-ABE7-37E9F5DDA807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操作建议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B90148C-1673-454C-B8B6-59C6218AE082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观察 / 执行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FBC1E0D8-0CC9-4440-BE89-1E60715C8C39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F946B07-FDC2-4B7A-91E2-EE12C30C5CEB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19BDC7D-7415-4DFC-B49A-996B0754E7F7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个股诊断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0EAB9499-5959-4484-B765-B281067D278E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3F40CE6-05E6-4DD3-969F-AFDE176527AD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F5D4918-BDC9-4498-B48C-AD2B0182DC9B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个股画像 · 风险雷达 · 操作建议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BA0AD6C0-A9E0-4483-B76E-75BE2C8EAEDE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50A81240-B0F7-4094-951C-28B31FE4CD42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5FE5B5CD-9106-4996-9972-102D59A0E310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中际旭创 300308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52A7618B-0015-4D6F-B011-7D986668926A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21FD40EC-D86C-4915-B96A-05F572CE4886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5D033BAC-A341-4E93-BE47-5C3C7A7BEEC7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诊断模型在线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89E029B0-D2D8-4409-98C7-EE18C3B6A5C4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50 · 个股诊断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6F131B3-AB9A-47CA-A39C-94F7A532E15D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历史信号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76E17C3-C95F-4160-8BE2-82DB2CFB799C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触发记录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F733A301-1FA3-4D9A-85FF-DF7D9AFA8E64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74B7E6FD-17D8-4F24-A7C8-62000A226994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F0E83C91-5B2F-4ED5-A10D-9B7510668E05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D66FCD4-3D76-4F00-9634-4092860D2FF9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个股诊断 / 历史信号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127E42B4-1E84-4ADF-9BB7-43899630973E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23B8F458-8CB0-4317-902A-C080529AF4D0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触发记录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F9534A7C-E81E-468A-9CDA-DF8DFD5107E9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18CD35F4-DC21-4FC3-AF0F-3B546EFA8548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关键指标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CBE9313D-6676-4044-B612-011367202736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4886514C-0ACD-4120-96FA-AE3CB25E4E89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AEF8FA00-31AA-47D3-9F8E-F595662E4805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479FD88F-1851-42B5-A98A-9045BBA1F56D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7DA37ECF-D1C3-47F5-BF39-9C881FEB31D2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28BE16E6-C040-4071-A070-C488D36277E6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历史信号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754B71CB-47B7-4F28-B9D9-BC9A295EBA4F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EAE39385-DE62-499C-B262-752EB1B4DDD4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关键指标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68B9727A-1C79-4986-A8E3-91FC639A47C4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F2FD5AF2-F740-4B25-8E8C-4EBC1EF9FB02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明细列表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5A7E7657-D14A-4DD3-83F0-E5C1D5EEA013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A960BDF5-FD1E-4FA7-8590-B158E46F522D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5134C484-D78D-4928-8BAA-0EF84E2F4B33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B805A82E-ED8D-4F22-A5C1-C6DCA0CAC5E6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9EB3D5EC-C5D6-47AA-A860-88D67F670C2F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D6B2DE99-325E-4514-A04F-5604FF8F9599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拉取 90 日历史 &lt;div class="card"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8B9C1C93-28C8-437F-BAE9-DFB3432260A1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F78FABE0-C838-4651-8EBD-E977EC8F5F10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风险可复核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0EDD6767-B456-425B-9021-E0C32B074BB4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B24BA0D8-F417-415C-B363-315A21D0B420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9A5C5DA4-0C9F-49F2-AA19-03A0BA0CE127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DA2B2322-68F7-49ED-B3B3-787183D03501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EE1B8B4F-3E8D-4CE4-8B60-4E102FE0B740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48A8B3EB-05D9-427D-AD06-9D36DFF4B8AB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837233C6-6737-4E01-A495-D6354CC8EFE8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09FFC18E-50B9-4AC8-9A12-DCC8B097EB52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CAA54102-0AFF-4E91-AE45-3B2EB6EB16B4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E913C94A-6536-4FFB-9167-231B2ED1E066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7AAAD111-93C4-4C46-B879-6F880AB93C93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拉取 90 日历史 &lt;div cla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F2C70409-5A16-4323-B299-1FEA8134668D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E39E2F4E-433C-40FE-9CD5-08BEF76B4659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拉取 90 日历史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2E8D39A9-7357-4DB6-BC1A-995F1DE8409C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D24D7050-8AC3-48C2-A64E-61064DBD577B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历史信号样本 2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649F2140-DF80-4FC7-A00C-D146DC98BAA2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1D684E0E-68A4-402D-8562-55F2A866E02C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生成草案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86427B66-4CF4-4FBD-912D-CADA9ECAC8F8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092CCB99-E5C4-47CD-A34D-F44269FA4BDB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历史信号样本 3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DE6F8F80-8612-4606-9DCA-D6691A5C3BBE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27D38DE4-4F04-4976-A970-95F3D8BFC8F6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写入交易票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4AB411A4-C374-4228-97A9-AA93C8BD2830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D238D453-3A10-42DE-B655-11E60FD6A3AD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D0CE90E2-0518-4149-992F-B463A4D0FBD0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FBC9FAFC-0891-4527-B7E7-7A5CC8668600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拉取 90 日历史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D405A76B-2C5A-4914-8D36-A922E6F66725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C86C2ED2-F763-40D9-A2D4-E82CBD87DB09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生成草案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F09A03DE-53C1-499E-90F8-8A662889DF83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A1BBEDD5-22D4-4071-A5E6-F2E7A9ABD1C4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生成草案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1D004027-4DB2-4561-9169-96D2E7C8BD1E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D1DA3267-1E92-41BA-8465-84D82F99C6F7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写入交易票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65E776F0-963F-4696-B6F3-08C7803CEEBF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EC60D29B-6685-4CAB-85C9-1FA67598AF5F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写入交易票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411C8C9B-2C26-419D-823E-284AD473C13A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BF731872-5DE9-491F-8865-9104063178C1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提交复核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528F7516-C7D6-48AF-AC6C-BA0002D2E2FC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文件：diagnosis.html#signal-history</a:t>
            </a:r>
          </a:p>
        </p:txBody>
      </p:sp>
    </p:spTree>
    <p:extLst>
      <p:ext uri="{BB962C8B-B14F-4D97-AF65-F5344CB8AC3E}">
        <p14:creationId xmlns:p14="http://schemas.microsoft.com/office/powerpoint/2010/main" val="15899995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C6AFAB59-8014-478D-9093-E0E1EBB303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14E8D84C-E316-44A2-88F7-AAB228EDAE00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32631E-80D8-4A28-BCD5-A5FDF27D5A78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0CAF18-6560-4C2B-B378-5825915B9884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0A14BE4-FD10-4744-A1F5-1F48C9F317DB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3DEB7A-2FC8-4AFC-B5C4-33F9A14919F2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B593076F-43EC-4C08-95FC-3A085FB11BA5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1B0A1B-07BC-40D2-9B96-6A6145328AA2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DFAA3A8-112F-4E8D-B195-59E14CFD1AF0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2CC5DF-80C2-4E0F-BF5C-062C33105844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1C74860E-B02C-496C-832C-7030279D33D4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FA19190-AC73-4906-A0DB-CC3A5EA1A8E7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85395040-0A26-425C-81E0-A9CFE4C50679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E1EE7AF-FCEE-43E7-9196-F1D0714A0F5B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CD7E8DF6-0250-4FCF-B131-8F399B6377FC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D558727-0831-4291-86DA-B9B6E5F6F8F3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9AB46D8-CEFF-458A-A27A-C90536A01DA9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051F224-1BC6-4984-AC4D-4D0233345CA9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457BE917-3ED5-43E6-966C-61A2FC839D00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070F3C9-9CE0-4238-9FBF-5653D811F14B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6E02E35F-2734-4F01-8DCD-F37D3007885C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FC9630B-1121-4339-8658-B0AF2B2B9A92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05805A2-68BD-4E5C-BC10-F89AA28938BA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1662EE47-B032-4331-A910-D9FAFC54B242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433E064-C083-4947-968D-0B6DFAFDC23A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3EDA02F9-3BCC-45DD-B4C4-7EE2DBEA7EE6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7177EA9-7BAF-45B0-AEA9-8B3F1D45DA87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CA30614D-E86F-4883-A9DA-F02888B9FEA3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E9F9C4B-837B-4242-8ABA-E00876F8AA2E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5389D026-D4B3-4A3B-998F-1BD06E6684FE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08CCDB64-6AAE-4B58-8E25-D40FFFAC78CC}"/>
              </a:ext>
            </a:extLst>
          </p:cNvPr>
          <p:cNvSpPr>
            <a:spLocks noGrp="1"/>
          </p:cNvSpPr>
          <p:nvPr/>
        </p:nvSpPr>
        <p:spPr>
          <a:xfrm>
            <a:off x="133350" y="409575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ECD08BD-622E-4D99-B07E-C4F86C64E963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个股诊断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43C0012-4802-4B1A-8D6D-7CCC0FE43BA8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31CC78D5-301D-4FCD-966B-8910A191ACE6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46003DB-B8F6-41C8-8DAE-EF71101EA304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D6550099-0105-4DF7-936E-297BADA5E262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E58F568-F60A-45A2-9D7E-024EBFB544FE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34937D28-DB48-49B1-ADA3-B7F54FF94C45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4D06CF6-92C4-44EF-B1E4-8ECC83D79F85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CA1CB622-3675-43B5-9BB7-B7B8093919C8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DCDFDA0-D17C-421B-B90B-05D92B7ABCB2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个股诊断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8A25421-BE29-4470-9547-423CD0AC6B73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3C7CF6D6-20DB-4942-A1C7-164E9451114D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901FE28-57DF-4360-9AE5-742663002F09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A3E724FF-29E7-4F89-AB17-2EBB848B5C57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F5AC082-3540-4C2A-9893-13B91A631DDE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9427E71C-0C37-48D1-B91F-7E249D781A69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A08AD88-56E7-4BB8-A892-06049164415B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7845A0B-34EC-425D-9327-2D8C699326E2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个股画像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2AC74F3-1BCB-4EB3-BC09-951ECC4A9D4F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基本面 / 资金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1FC97FCA-A1A3-4A39-92A5-770BD02CF276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2C97C35-1EDA-4A1E-9C31-2DF59DA6C81A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174D6EE-DFF6-4B6A-A09C-EC63DAC3B98E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风险雷达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B46F530-BB6A-4E6A-A3D0-F1672D42FAA7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多因子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CC212991-1E61-4E22-BF03-AF4A15B2945D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24E1066-AA1E-4C4B-9A9E-AD9BCFD4CBDA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3FBA9D9-321E-4C2C-9ED4-8E788E56C791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历史信号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0ED6181-799B-4F46-AFA9-FABC4DEFDA50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触发记录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6F5D211E-8DEA-410C-BAC2-37FAD6417EE4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8C562B2-ECD1-4334-B467-8BBD6A62FC7C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2BA6165-0C04-424E-A556-0DBAECE81A53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操作建议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7F002BB-86B2-40EF-98AE-0F4B3F7170CC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观察 / 执行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08DE1494-46EC-49CA-9400-F1869D4F396A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7293639-4396-4122-A7AF-15AE65D60014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7DA8154-F9AB-4587-A438-C5AE385D8B23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个股诊断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2780E383-80CD-4DFE-8D85-14E42C51444F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5978551-D330-4D72-B046-2E6B6B424DF6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A01D338-B112-4BFF-8FA3-8114C5E324B8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个股画像 · 风险雷达 · 操作建议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AB3B2071-4203-48C9-9085-178F3B1AB24D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55C8A638-9977-42EE-8D29-40FA0BF0AA18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55DA3B7-9BD7-4144-B620-24A4BD58EE8F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中际旭创 300308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A4A294F2-0990-4607-A21E-F1DBDB5CA9B9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C7F939AA-634F-4849-BE0D-3F5D284609DA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3D42F0C-6EF5-4098-B157-D3E65AC51570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诊断模型在线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417498B-0D0D-401D-8C8C-69D1C856AD1A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51 · 个股诊断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83B0A9A8-B761-4D9B-B652-46EE37A6777C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操作建议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C9F76F1-BFD4-49A3-BD62-1ABF00349F63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观察 / 执行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F396A869-3F53-4F3A-9469-2567A128C080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1FBA45E-5F54-4478-9E22-6894106F228C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4A3237FC-5CC1-48F3-9AE0-2EDEBCBAA920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66E6583F-E65E-41DB-9380-5C17D707B2A4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个股诊断 / 操作建议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EAD05C34-D565-4025-AAAC-FDA289649874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D3C88859-999D-4462-86C0-FCDFF01AD649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观察 / 执行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97F6EF51-A729-4D75-8CA4-4539EFBDA7C2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0AF6F134-6179-498E-81B9-0279AE536F1C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技术信号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4F1BD6EA-00C5-43A4-B489-EA128FF0DE0D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A3E2D211-C5D6-42D8-B101-B8C6B55304C6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E2AC577F-FAE6-4DA8-9BA1-39CFB17DA1CE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2F63C91C-5E76-4282-9D0E-54ECBF606993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A19DEC4D-BB5F-4CCA-8145-4735A7A040E9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6DD01453-E417-4972-A3A1-BC5227FF10BB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操作建议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9D6726F1-26D8-4A08-B35F-5EEFE95FFFD0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9FFBB4DC-E19D-4244-83D6-5378CC2D706B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技术信号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38EA516F-75F1-481D-A7F1-E85D96FADF1B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A7DB2FAD-C763-44B6-90F3-3A1DA2652EEE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诊断结论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B60A1F04-36AF-406B-B033-E050359BCE57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32EB7CE4-5055-46DE-97CD-7A4A56011A84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多头排列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33D07893-C2FB-40F2-AFAB-FAEA0CF5D7DD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B65CC992-6361-4BBC-BB80-6B4356C3E14A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39102DAE-A745-45E3-84E9-5B114CDAD004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F749814C-61C2-4D04-9849-0B8B5320E4FC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金叉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9A00B671-DB2D-4B24-B281-730F30D35B3E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1F508237-B4C7-4619-8AAD-0D1206BB694E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多头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DD2EA875-B809-4C28-9A3D-5DF847EC0F3F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8C17FAB6-6576-4279-A6C8-523614AFAF53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多头排列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36478FBF-8320-412C-9BE8-E908F25249E1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6946D855-9742-45CC-9574-A18032FCC8A7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偏高 71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64895665-8F89-43D5-B843-AD9E918BF58B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84CA0416-91BD-428D-AE4E-6C7803C42C23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0E622710-0F43-41AA-8A80-55E4A2BC9C1B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493AC686-3872-44D8-964E-E3D600501417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BCE39077-A7E0-4417-B948-A4F268BE757B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EF29BEFD-8991-44FD-98DC-7485606AF2D6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0503C70C-6F34-43D4-8AE8-F17D55713134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金叉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34AB149F-37A5-4D25-9606-08BDD4B5D9C8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79EE812D-403B-47AE-B176-2FDCD3596324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前往交易 →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D3F0AC79-4979-4214-9328-2180A56EDBE5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030BBBF0-4B2B-443C-BC1B-F52EB5F7EADE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多头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B2898025-A013-4BF9-A9C3-6EC6D301CD39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9E993A1D-6861-47CA-81EF-A490DD0B6F73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9C73316B-FCF7-4CCE-AB0D-02BBF3839DDD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955321C8-6BAB-4487-B323-13F639379704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多头排列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BFD463A3-299F-4725-BB2F-5001C68DA3FF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92622F51-5A92-4381-9DD5-65C9249EFB02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导出数据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19E00BC0-529A-4D08-8F6B-A2DF5C446AB0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3CED8744-9BCC-4311-AC29-4AD8760015A5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894D55FB-3BFD-4451-8FC9-2EE0184C02AB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96FEC14B-B816-43B9-A277-C4208B7ADEA6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前往交易 →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1EB998EF-8DA1-43C2-B4AD-1418F77D5B18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2D59317E-70F3-467E-BDD0-00639FED8830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09824EF5-55EE-4131-AB2D-3D880CED2BC7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70DDD7D4-3181-4DC7-939B-B5801DEDE11C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91B96E61-0AA3-4A08-B9A3-AE01D4C213EF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1D69C29D-3296-4C35-A07F-5751121867B8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09F20A4E-02A7-4E31-A1C6-ED2C1EEECAFD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1AE1F35F-B545-485C-A5F4-37B9E89AC81D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8AC8DDF8-1698-436A-AED8-D698A717717B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1103BC49-E02B-4458-BCBE-D220A452008C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刷新状态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0E53E670-ECE5-4BCA-9E95-7FF73B3AC410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文件：diagnosis.html#action-plan</a:t>
            </a:r>
          </a:p>
        </p:txBody>
      </p:sp>
    </p:spTree>
    <p:extLst>
      <p:ext uri="{BB962C8B-B14F-4D97-AF65-F5344CB8AC3E}">
        <p14:creationId xmlns:p14="http://schemas.microsoft.com/office/powerpoint/2010/main" val="14539764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07ADAF03-D1CE-41A1-972A-6BEC523041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07F8C6A4-3458-4FA9-83A4-FCAF8D217155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2D433C-9ADF-45BA-9C21-BFEE7CD250FF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A1884-DA28-4BA1-8F3D-1EB6E1335B33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05A3871-F872-4455-A8E7-2329239C021D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D941D9-E1DD-4423-896F-C8CCFF9BDFB3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5EDE739A-D42A-432F-91EE-9AD370621E47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238959-1A76-4603-B4A8-EDA5FFBD9C4E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F376C01-4A52-432D-BDAE-A48F35970867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05ADF0-F4F5-4D9B-B6DD-380077D93621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6245B61-6C4F-4216-93BF-B9F7C87CB1F3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67804A7-D12C-41CB-BA3A-7C99B02E99A9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94EBC416-EDB5-4F72-A2D1-8D2A83802D52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F74363B-086E-48DC-BF34-8E5AA4D14D0C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935EB7EF-1ECE-48EE-AFAB-B1E083017D8A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393FDC-8433-4A0A-B9AA-A99F1671EAA1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EB78A385-1AB4-4BA0-A44E-BE14C867DD5D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515FF11-BE05-4EC0-A84E-FF4F280C76C5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856F5236-FD19-4E3D-82E5-FA88914132EB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EADD490-8A7F-4A6D-B543-286295E9B3E2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92452005-4592-47CC-9501-0C0FA24A633B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560DB9-F2D1-4CB7-BE8B-74B322861C8A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1477CFF-4B49-4670-8805-01D7700849F6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90FBC31E-E04A-4C7B-BDF5-1AC0E97C935D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3505303-A8C0-468D-BDF5-5FE4E518EC0A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AE925536-9EC5-4FF9-9364-9B7AE1265D90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F71290A-2ED1-4DCE-9121-E94A87DC0AF8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3AAFC45B-D167-40AD-A50E-1A3CA16153A5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558ED06-96A8-4D6A-8F1C-978370AF9446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1197EE6C-2FDC-4213-A331-FC3FFEF7DAC7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F47CD26-44FD-45E1-A54D-8B354D8A3BFC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ED8A0FD-E7F2-481F-A4B1-B7257200969F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46BA46F6-06C8-4452-965D-325E7062C0A9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8C1AD4D3-407D-4A89-8D5E-29A670DF7ABC}"/>
              </a:ext>
            </a:extLst>
          </p:cNvPr>
          <p:cNvSpPr>
            <a:spLocks noGrp="1"/>
          </p:cNvSpPr>
          <p:nvPr/>
        </p:nvSpPr>
        <p:spPr>
          <a:xfrm>
            <a:off x="133350" y="460057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DF2FD9F-115D-4F38-81D7-788D5A224CF5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A576D6AA-3ED8-4AA3-A8C6-0EB0DD7D2462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CBC4B6C-9AD6-43CF-B108-45746BD8DD8E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E81A09BE-532E-46AC-AED9-BE36C2D1E074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0BA85A5-9573-4241-8157-4E74353AA672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34C5B0D6-669B-4D76-894D-9F0046BFD324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506DF24-0E01-4A0E-8F4C-15B265AEBEEF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模型训练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A42DBA3-D90C-428B-9DC4-7DCAD1C7080A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13C953B0-3562-43A3-B605-9686A6D2A429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8D8B2F9-7D88-4366-889F-788ACF7316B1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01DC4147-61AB-44B0-A428-C22AD7192531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ED78E24-772A-4DA4-B6CA-1C0C57EAD4B9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F6CF5254-B364-45EA-A748-3464EEB54B05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B5D0D8E-97A7-4B93-B1A0-2241A7D4961F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13E5FFC-E39B-4929-B50C-CD9C2E618ADB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训练任务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0479B36-4BEC-4057-9FF8-6036792B87E7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队列状态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8D63BFCF-33A6-4809-B9A8-E01A8DDFAF4C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F1BCFF3-B12E-4297-8367-9F8C7189C694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745728B-2F21-4309-8339-5104BF59D7F9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损失曲线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08C863F-C8DF-45BF-95C6-7541F8D3B1EF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训练质量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F35FCC36-D9D9-410D-A3DC-699391561DC7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0F9AD64-2713-491F-971B-22E4189200D9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0996098-515B-4682-8E4E-5ABEA3CD54B9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数据校验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C99B44E-BB8D-4719-8741-2CE2114CCEB4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缺失 / 偏移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C0B1016E-318D-44A5-ACE3-76192784902E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0CC4562-01D5-40BB-84CE-B4B2663B92EA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B452CDC-0767-424E-AB44-30E084625CEA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发布闸门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14FF431-A3DD-4251-91E5-FD153913C5C3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准入检查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588ED028-FD97-45DF-B8E7-92E87FF93EED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90226D5-2888-4244-B1F5-E2AE7FF8DCF6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CC55E50-BF59-4296-ADB7-A2DAC032E555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模型训练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31A800D2-E874-4472-BE40-076CADE7F58C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36BA52C-21F3-4D16-A97A-99CA5BF47ACE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33D5F90-3F6F-4300-9A05-8CD4E24DA1CB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训练任务 · 损失曲线 · 数据校验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3D322B02-E720-4C38-86A9-A80728A5A76C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8172E952-45B7-4DE8-B0BE-81D0A3A8AF78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5594101F-4673-4073-A404-78E932905283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1 个任务训练中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47584077-E74E-4961-9915-F92E979A07BE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EF706029-0342-4FD8-B3B6-36558DBB26CF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E8AB9469-EADD-4597-992C-9155622ACD5B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训练集可用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A11173FC-2094-41DB-A9F0-950B3016EBF6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52 · 模型训练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ADAEF74E-3736-4F55-A47A-ED633DFC00BD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训练任务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91814FF5-26DB-49D6-8EF9-FD10DA27B3DD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队列状态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B23B256B-34A3-4A6C-9DD5-A84029466CCD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3CEBAC2-7D66-4AC3-9C12-0B65F2CBB52B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29ABC4FE-8072-40C2-897A-EA896C540808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3804416A-2D2F-4E31-BE19-8F30DA513AA7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模型训练 / 训练任务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F0F4B509-5D87-4F34-964B-6E34BC305DA8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13164F8D-51B0-4817-B23C-FD311DAD0A0A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队列状态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EA107357-7F62-4897-A74B-621B149B70D1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15BA78D4-1EAC-4321-9A73-D5A9C44CBD40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当前任务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37830E74-9190-4ECC-82CF-C9E3019323CB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0B8D6F6C-E672-4D05-98A6-3E2CC0713D6A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B6217437-D71E-49BF-A967-28E39F5BD06B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133555D0-3E44-40ED-A518-EA8982A26548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1914B9DF-73B0-4049-8470-D25FF222E246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CA99A4A1-22BE-4A99-91D0-0961BB73AD09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训练任务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49357FAF-E2FC-43BB-9011-A70212B58709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89264725-F4FA-408E-B8F7-E9124EABCFC7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当前任务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614AADB1-99A9-4141-815D-937365A2693A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5256E730-CAC7-4215-A2FC-58B6B195E4D2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batch 256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52FA6E0E-AFF7-44E6-890B-2F2C69E2E414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72411093-56C6-4967-94F6-933AFC7FB229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depth 8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EC49842B-A3C1-4282-A5E6-3057712DF1F7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715EEEE8-9321-40FD-A273-E713D174A911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1B65A7A7-7728-4B0D-80F9-5247E4E9094A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2C2C4F67-E5FE-4486-A1AB-30422E1D2BFC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排队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7F7F6B0B-00F1-4C35-B6D7-8E063C43E504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1A6153F3-FE65-4C6F-B1A1-EFE8F621A56A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batch 256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2C7AF049-A6BB-4903-A2D8-CAE5F6B068FA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13D132AF-5851-4314-A633-AC0C726310AF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depth 8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924AC54F-749C-4239-93C7-6E3195291458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5A80A57D-E94B-4F0E-B5AF-9EF52A0A7717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等待 GPU 排队 训练任务可调整优先级，但发布必须经过数据校验和发布闸门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36435456-0A1D-495B-B316-E01F5D72D095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DD8BE384-E82D-47D2-BF35-9C0A521EC5FE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15EA2C9A-07EF-46E5-8844-0862F104AA85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CE8B64EA-851D-4772-878D-8E7EC66F2B0F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AA601503-00CA-4E76-BC2F-44CB3E1EA8D0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BEFEE29B-BE8D-42E2-981D-92DAF91FAED8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A59AB130-189D-4413-B20B-5E417CD80E17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排队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BD1B6634-D382-44E6-AD81-0BE6B96D3583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2CE9F35E-60AE-4115-A0D6-911537B75984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调整优先级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195D225A-BB4D-44A4-A0DD-BCAB4B10F752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97619D8D-10F0-49A8-9A88-E90F6F9141A9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batch 256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A69441CC-CCA3-4E6B-80BA-727245219C90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46DF32A3-DA32-42BB-AE94-8B0001420A03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刷新资源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FE9A2491-D8CD-4DAE-9470-842915802D2A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DA732D87-6127-424E-8C19-623757F83B29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depth 8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2AF2695D-4596-44F5-B8CA-C049875ACBDC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7BFAA0EF-EA57-40F0-B2B7-038C760C5772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提交校验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0F52D2A5-18C6-4EB6-A891-724C790393AB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FED48495-8726-48FD-9718-EFF7FD9437E0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13E9778C-4CFB-4DF2-8FAE-C3996A6FF0FC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FEC4EF73-5952-4809-AA91-DE5478DBD146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调整优先级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D7F93C1E-C9CD-4B9C-AE8A-D97A18CB0461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93A3E8DD-24B9-4C74-AEE7-5E8ED4C9794C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刷新资源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46BA6DD0-1E94-42FC-B899-EBD72283A0C5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6197171B-845F-461C-AC5B-174A17A01642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刷新资源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4A5CE036-A00E-4A2B-BCE0-4581CFB01813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77E56736-EE61-457E-A4D8-C88284979441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提交校验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87160908-A9A0-4155-BFD3-4FF1273E7E4A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F534BE96-4EAA-42D1-B2CA-166A73F48602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提交校验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46E75006-DA9B-428A-BC89-89FEBDD7F1FA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4E9F4189-913C-4CC5-9ADF-A7DF6ADBE624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进入发布闸门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C1E477CA-7DD4-492E-B24F-5326D724F1EF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文件：training.html#training-jobs</a:t>
            </a:r>
          </a:p>
        </p:txBody>
      </p:sp>
    </p:spTree>
    <p:extLst>
      <p:ext uri="{BB962C8B-B14F-4D97-AF65-F5344CB8AC3E}">
        <p14:creationId xmlns:p14="http://schemas.microsoft.com/office/powerpoint/2010/main" val="3956324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CE400C92-B37F-4FDD-B52D-8A1636DE8D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52F34126-5048-498E-B107-55A16616D753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ED8C465-E93D-477E-A896-376F1B2BBDC6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B51647-38C1-434A-9F55-1D858E7C9471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1980EC0-2230-40D9-BED2-8DC5AF9BB66B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8C7A24-1788-4F4B-AC09-FCE5AB771208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C182527-4B61-420F-ABA7-328E8E428BFF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9C4872-83EA-476E-A782-6521E88E8046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E3A35B7-9B01-4C5A-B80D-C7E478073FB0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4ADEBE-5E28-429D-A62F-8D37D18A3907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52DB87F-FF64-43E1-B645-D7C84E8B08B0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3789B2-22FF-4D5C-882C-1BA17F7D1BAF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5B5CB619-A6C6-4E07-8B6C-3313F779C27B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AA0DC1-1F2A-4636-A032-B91166E0C210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404CA4C-9187-4CEE-B116-BBB9C165B441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ED3EF8E-93B6-4628-B8A7-F413946FACA9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9BB7604A-486C-443B-8805-E73C3DE5AEF7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BBEE9B7-4007-4897-9C9B-0339DD997550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64431F3F-ADEE-4DEB-B7A3-15826C86C66B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1430DD2-345B-4CE9-A365-BBCB53A7D866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23652F1B-8B6D-4289-8F1E-EAEC05527811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0003E7F-6C5B-40BE-87E3-C40E44EF5265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1FF9144-EBCF-42EB-A06A-7BB9725795B7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0103E9F9-6281-49EC-AAF0-3FF6145A3362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1D364B2-D6BE-435B-AE87-77FA61DE7A66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71467993-4FD3-4055-92CD-0CD498A0C439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88C3E4B-AD00-41B1-B3D0-5C2E316B6138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552306B3-FFB2-4F45-8B90-DE43C94666FA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FB426EB-1C1D-4ACB-83B5-1F34C19E5ACB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44A50560-A7ED-4708-BCAC-CDFD3A1A1921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813C479-DE46-4FEF-806C-2B41553266B1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605E65-EBA9-46A1-8749-560F61EDBB4E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483E7C7D-CFEA-4EBF-B206-4D77277CC0EC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DB6DD082-DBF6-4B8C-A52B-30BAFDCED6B4}"/>
              </a:ext>
            </a:extLst>
          </p:cNvPr>
          <p:cNvSpPr>
            <a:spLocks noGrp="1"/>
          </p:cNvSpPr>
          <p:nvPr/>
        </p:nvSpPr>
        <p:spPr>
          <a:xfrm>
            <a:off x="133350" y="460057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23CDB19-A052-4A70-9AB6-555D6CE8AD57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AABD9BFD-3427-4644-BC9C-CB80FC46A17D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A1BDC2F-4889-41BF-A073-5B5FBFC70E59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16266C58-5724-4687-894E-4A1D2FDCA101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851DBB9-4B0A-4188-9DC3-3C75930698E6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3C8CB849-5083-4FED-B8D5-03C00A092928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BB26448-FE29-4C3A-AF79-A05E2FB43CD8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模型训练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43602E1-5154-4397-9425-BCF82204DC98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8B2B941B-37FB-4970-B0F4-903BBD4AA5D2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83AEEA0-EC59-476F-B3D3-34A809AC9900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8BE6E27B-FDF8-4BB3-A030-F28EE644002E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1938014-4F62-4AC7-8241-3769C17D3A2C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1CBA00B3-C9B2-46D9-B5E2-CA94CEB24043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4A92C4F-11F4-4EBF-935A-F7D94B0902DF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01E34F4-4218-4462-8164-24AD760D2923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训练任务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D8130E9-FDB7-4C09-909C-D22649417DDF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队列状态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A569C0DE-11A3-47B9-9E8A-3E37DA1F1797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31F545D-B671-4C98-A2E2-A0E0097E0765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7E0F605-9FF9-4EC8-B36A-8C4EFF3D9989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损失曲线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7D0B8FB-4337-44E0-85CB-49F71BA9BC95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训练质量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2677FE0C-E577-4A34-A117-0E50BDA17C9B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C6BDD3F-8E06-4122-99CE-29A681694D45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573E5CA-57F6-4236-8DBA-6F208A216398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数据校验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FE15792-F2CC-4E2D-A6CA-582EE2DFD5CC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缺失 / 偏移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8FD606A0-4F0F-4C5C-BBE0-D3CF329F638C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65C3A36-5B0A-4435-B9CC-C543773A399E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3B8C6BD-6016-4893-A6CC-A5E5EF1E4B2B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发布闸门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3BDDD92-87B6-4284-93BB-DE949E4592C4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准入检查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D2E34F4A-EFB6-4CB9-A5F0-A647B67EA2FC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0E4B682-1A71-432B-8EAC-6D6AFB26603B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7300C884-904C-4FD8-A8F0-A38570CEDCA5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模型训练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EC23E68B-AFE4-4E38-ACD0-84FD739D6594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99A9C69-56F3-4EFD-8EDD-B39EB3524405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CCB8371F-AFFD-43CB-8823-C0F822BBBFE4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训练任务 · 损失曲线 · 数据校验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888D3C1A-1CF7-4E96-BC45-7BFFDAACA7BB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69814C03-0978-4754-8FEB-64442B9A5E4F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50EF0FFF-25A8-4D7C-BCF4-C4162E6C8CB7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1 个任务训练中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E01E0EBA-6FCD-476C-8DE4-631A07346EAD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4B73D6EF-213D-4CE9-8087-3BF18AA7560F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06840FDB-189D-45AF-95F1-5916FB3F8054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训练集可用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4BB96BF-2C58-4AC5-A0D5-C128E3F2A6A8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53 · 模型训练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A93FE5F-BB18-43BC-942E-19E4D880439F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损失曲线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F6320FF0-BE3E-4AF0-8B7C-E96DC2441778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训练质量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092727F2-75BE-441A-A4F0-546604BEB3B2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8C0FDB8-BBDD-4785-AFEB-7D47CD76026C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94EC33AE-DD1E-46B3-BADA-1F047BABDAD7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64351C0-E327-4D02-934F-625FF5BABFF1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模型训练 / 损失曲线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3D99CA90-4A5B-4495-B290-4569D48EACDC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A23641AC-9ADC-4CD5-8D77-6E85BEC561A0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训练质量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4D311ECD-8047-4312-BA25-74E5267BABD3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37221D66-A91C-4232-AF89-3FFC3A65B01E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训练损失曲线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49DD8895-B6E7-4B57-AFE5-EA9D0116892E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303D2D47-61E2-4020-B464-8BDDF7F400A0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DF4B784E-89A3-4EF4-952F-4137A47DA931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19434F13-14A5-4C2E-A739-A68556AE8A3B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56589AA7-44A8-4693-9D16-D8B8B8E02A85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070C727D-89B7-45CE-AC91-D1131FADFF2A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损失曲线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2BA7DF51-FE51-48D6-8F9C-1F3C7D1538A4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C8F0D55E-D432-453A-9E39-2BC9F1441951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训练损失曲线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7A55234F-CB23-4D15-8EEE-C45E1CB10A9D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2436392A-A2A4-4D26-AA56-82797A5432AF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当前任务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65805D96-9858-443D-A47D-E63A39383891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65EF2F8C-4C1A-4483-85FD-585CEF445460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id="loss-monitor"&gt; 训练损失曲线 Kronos-base v4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2A919337-9A78-44E8-BA8B-118CC0806A75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1BF69684-7882-419C-BBC7-61A996F3E531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0D86BD87-6C0F-4F7F-BF2A-21BCF38468ED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E47EF554-4A89-4E00-851A-84C64C6D5044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Kronos-base v4 · 进行中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133D36F8-2B38-414E-9425-92098E73F7A7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1F656416-76F7-4DC9-9321-01697FF21CCB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排队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17DA5CD0-8783-49C1-9E28-AE5830BC72B4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FABD6BEC-C8E3-4364-8E5A-34ADAAB29767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id="loss-monitor"&gt; 训练损失曲线 Kronos-base v4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31005962-AECD-48F8-99C1-908168214ACB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3DE9425F-BAD6-4B69-82E2-8547D1863B8F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进行中 损失曲线异常时只能暂停训练或标记复核，不能直接发布模型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54509024-9296-40BC-9D3B-AB22C7B7CB0F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2A90A1E1-FF7A-4B3D-8EE8-578C92FC3964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CBD4FA9A-CA5D-4DE1-B3B9-4BF9E09861F0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5B27F7DF-C149-4AD7-8955-10F836F9694D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436B2E06-9744-4138-824C-CFA701E2544B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A6335DFF-AFAD-4D7F-8C9D-2556FBB77059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014F01D0-F35F-4820-A722-8D64BAD6EA9A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Kronos-base v4 · 进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479D0C71-09B4-4B76-9E1D-846F1AB06DDD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700B72BF-AAC1-43CB-8E2E-AB54612513F7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暂停训练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ED700776-80B1-4F0F-8C2F-DA71B3BF39B7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5C7EB1EC-9751-4264-906A-D95DD9754E3A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排队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4579295C-EEE6-4300-84FD-0B11F405DF62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E67A8506-1B6F-49C4-8EAB-E4F6A879E33A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标记复核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FEA79BD5-C584-4021-A5F4-CE8AB194D784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4F745965-30BA-433A-A751-0E0A5C95FFC3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id="loss-monitor"&gt;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308CABC3-A5D5-4DCF-9C77-6F833951DCB0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8A3E220F-9850-4045-8738-5603E276BE30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调整优先级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50D7EDE7-BF0F-48C0-8D09-6902BF068F63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465F544E-5466-489C-9B0F-A0B241B0DB1F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C08CF499-555C-4055-9C94-002ECCEF8445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98D23D1A-C926-49C4-85DD-B465CD53A255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暂停训练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76DEF29B-0C03-4D39-BB75-3A1D5722D2CD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ECE41EFA-6DD2-4E2D-82D1-EEF1A9481284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标记复核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E140FD99-D8AF-46A8-B4B8-773ADAE8C3C8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3928F282-BC37-4D7C-8EF4-5BD27896D80D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标记复核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4DA88B51-9CE6-4A16-B137-0652A2613E87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1D55060C-A9AD-4889-BB8E-6B5EE9837D0C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调整优先级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8AFA3902-6B7C-4756-B4A5-6FCFE882E29E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F0176FE6-5FA2-409B-A66D-1EE54B40EA30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调整优先级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E303FF27-63C2-4BB5-90C3-56F838981539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4CFA81E6-28D1-4187-B612-22E7D8F57A11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刷新资源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1D241068-5AB4-4972-8556-0BB70BFDFC75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文件：training.html#loss-monitor</a:t>
            </a:r>
          </a:p>
        </p:txBody>
      </p:sp>
    </p:spTree>
    <p:extLst>
      <p:ext uri="{BB962C8B-B14F-4D97-AF65-F5344CB8AC3E}">
        <p14:creationId xmlns:p14="http://schemas.microsoft.com/office/powerpoint/2010/main" val="9565222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EA4B614C-DC4F-4218-AA40-E9759FA697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AAFCEDBE-08C7-4937-B8D2-E62AC8C51904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5BECDB-14F4-43DA-A5AC-3AAAE65382DE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3183AA-4EC8-4BA1-B377-BDBA647E79B8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FC6212D-3E7C-429D-92E2-FB1481BFD152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7516BC-AD6F-4B92-8421-6DDDB46E66D4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82FC5D55-E037-4E37-B91C-AA9DD7F6B96A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A8B2B4-4E14-4CC8-8371-1B761F78CCD5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2F42C7A-B198-4E6B-A270-040A9D4CADDC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E88C25-6A1C-4280-AD03-2EA2A5326122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B3AAF078-12D5-4D78-BAD8-FCF7631B5934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0669CCA-1C98-44B9-AC68-E66BE4FBD396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5F5235DA-2762-4C3F-BE09-AC1DA3C6C7FF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949243-B8E8-438E-9779-208A3F999BD4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373A03B-06E7-4F04-A752-18738806A2AA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530D69-0746-409F-A4F2-AB5301A1C198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FABF9628-C005-4084-B146-A090CFF04ADB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EDAE54-ECFE-409E-9CC1-C369751C9DDA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0634764B-A799-4761-9C82-F0021FBF60BE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211A511-05D0-4ECD-9BCD-B2D310E07090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802A020-3027-4E15-8577-DB38A5757D89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53CF71-6471-45CA-90F0-231B30844D5A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3D40EBD-B750-4196-8F47-E915239B2D92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DDB22E46-275B-4609-8616-61CF4AE900D7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D009EB8-9EC6-4FE0-8C13-BD92CA172E58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1D62B366-7D12-4D51-95E6-85702E0F62B4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D1968DB-22AF-4461-806F-7503B0599E0C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523853A4-08FB-4DFF-92C9-D23A6306F301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BE16C69-3E59-4053-8AA9-E5B740F4D8B8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DB8EB419-DA55-44AC-BD7D-08F18FE7A94D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35A52AD-8F2D-4693-91CC-95F51E64C343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46CB5EC-258C-4DF1-A81C-433895A0A99C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2EA8330E-FC53-4D7E-8E09-8B6FC2D59E9F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CDEB757F-14F7-4FF9-9EE4-5E21A40B6848}"/>
              </a:ext>
            </a:extLst>
          </p:cNvPr>
          <p:cNvSpPr>
            <a:spLocks noGrp="1"/>
          </p:cNvSpPr>
          <p:nvPr/>
        </p:nvSpPr>
        <p:spPr>
          <a:xfrm>
            <a:off x="133350" y="460057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82D030D-D6CB-41FD-AB7A-8899D6C0A035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EA5AC171-2C7C-42A1-B7C9-1A4438BA129D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C3E88F0-E82E-49AE-8D63-12E620D39877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B2EC7E3A-E028-4D94-834B-98CD40B0ABE2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1A714D1-4C7E-4E0E-A4AB-D3B6F1C771AE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24344550-0477-49AB-AC1F-2A5B5E3BFED4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717C22F-3FE9-41C6-9001-8A1A8C76C340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模型训练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15F2A8D-F7ED-4E7A-9546-7B207A983C9F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687ADECD-069A-49CF-A43A-08092E906346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8F5FF46-042D-4CAB-9FFC-23C21CE34916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66ADD522-254A-45C7-84C0-328E590FF87F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8D8B10E-E5B2-44ED-8D7F-6453392DE2B4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FF51D59F-04B0-4E0D-A3A1-F2078D419312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F07A90D-9CFB-4C44-B7BA-0888005D8C2B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CC5D1A1-EB06-4C40-90BC-2284F0ABA372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训练任务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9831367-C8E6-4FD8-BDBA-D89D19560EC4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队列状态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3EA03470-B6A8-4786-B264-9179500C367C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06A8DDC-CEAA-4602-9468-6B08D465D72B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CFD8A86-1B4A-45AB-B0DF-9DC03E65E208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损失曲线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113230B-8ECB-4552-94F9-A02D8BAF4336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训练质量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9D1A1EF9-B009-478F-B3BD-0E7066C45ED9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B227176-1613-45A3-ABC2-90473EB1677C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F307790-D824-4DEA-848F-B34F63E10917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数据校验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A87BED8-6A4D-4036-9766-34471CA9F83D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缺失 / 偏移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A5F50F60-19B2-4DF8-817C-579D7AD1DB75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32F78E2-3752-4410-9D46-254C6779C744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4F4C563-AC29-4D82-AF7C-073313DE6866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发布闸门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F435BE7-A7BE-4260-A761-1BD5F7D05260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准入检查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4D2CD622-B020-4EB9-B98D-036E92BF75B7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0863E07-CBDF-4B8A-92D4-0B6F9BCB0C2A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3ADB281-05A9-4417-93BB-9895B4E69A98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模型训练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C3FF4EDA-D202-40EA-9786-4F538E604075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7CD6AF7-2FDC-4A80-99BD-A1115480B04F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E841FE6-F833-4308-86F0-FC2AA97E9EA0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训练任务 · 损失曲线 · 数据校验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567EDFF2-F665-4D43-B41D-0BC00CFE8791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E4F9B56D-B5AA-4BB4-BC36-D9D799032212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77C2E89-B2B9-4FC4-86F0-EB7DD4F8008E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1 个任务训练中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04A2F1A8-87B1-4E94-9384-14DE39A3ED9B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C1E3330-3041-4FBB-90B7-DA8538E0B3AE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7F85635E-E239-40DE-B819-66DAC363ED4E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训练集可用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38897ED5-1F37-4965-A953-8976B8FB3993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54 · 模型训练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2C8B0610-711C-443C-A6AB-38D1CDD3D67D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数据校验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4E48B4AF-5E99-44D9-95AD-97FC3C8706EC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缺失 / 偏移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FAD5692F-8A37-4246-9071-7DD5282F6A65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0012DBA-B906-40BA-9499-D9646079B7A2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435BB206-8404-44BA-8B71-287BD1F54184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0237F1F2-FB5D-482E-9CEE-F9355D5DBA4E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模型训练 / 数据校验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3B816ED2-BA34-4F95-9C7F-6836C311BEEA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B0C56105-6566-43C3-8198-EE0D95FBED8E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缺失 / 偏移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B4CCB777-7391-4AFD-9C98-C637BAFC105B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BDBA84F0-E13F-4C28-8AF2-65FE7B2C6696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校验失败会阻止模型进入注册流程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EBE67138-96CB-4604-A9C2-D416950FD86A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80484CBB-97B0-44C8-AC80-566648FE3C41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725D8E85-83CD-4137-A93D-BD2BC0911CDB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23755F4A-AF30-4667-8681-A19866EA8D49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24813BB2-9065-404A-81A6-1BDDEEB3318F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81509A3-8849-4116-8CB9-EB0B45F5E0DD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数据校验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64D7C968-A099-47DE-8806-FF6299B00239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AC7CE88B-FAAF-4C94-B740-3490A4C6EF0E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校验失败会阻止模型进入注册流程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43B56346-F731-4FEE-8118-6BA87A37B2F1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C550102F-0E87-4456-8D7F-CB81B90F196C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重新校验数据 导出校验报告 &lt;div class="card-h"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5B28491D-F5C2-4DF0-A364-F867B2EDC51D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A88CE09E-C504-45D4-9233-27B0913B6DEC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FDCBB08F-8451-4CB7-8552-879E6EFE1AC1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1A4ACDC7-7FC8-449D-9E10-0B0FC9AAEB53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89571C8A-CD32-431B-8169-A5891026A45F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326B28AA-4D19-4FC6-BFAB-2DCC5C2AFE1C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校验失败会阻止模型进入注册流程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7C0C9C1C-A31F-44BB-88BC-AF2614A6CB50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DEC34534-DF27-4A04-A37A-4C99FA92BFA2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重新校验数据 导出校验报告 &lt;div class="card-h"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F8C5A9FC-B0D8-4DDA-A8F3-F0D453E3D853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006F31B3-05FC-43DF-83E6-A871E0569129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E2180498-5490-41EA-9F8E-CBCE8D195C1A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D9F4ADC1-E9D5-4334-A2F6-076CBEE15944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A9AC9BCC-669E-481A-B622-ACE449CAA3B4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1EBDADA8-AC5D-4D60-A1A6-310E4AEFCD28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0E10C7D0-847F-43D4-AD85-9899585B03D1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7930BD2D-8E82-4634-B81D-42756F418601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DC2FBE68-2FE1-430D-95C9-C9E550BC4516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DE23CA5A-2B5A-4CE1-991E-6F6E647914F6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9FB4B8CC-53DB-4F0D-8110-2D471247D7FD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校验失败会阻止模型进入注册流程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BE35C1CE-ED7D-45FC-94C6-234B5072F9D0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49ACAC6C-E798-4421-ADC2-AAA33FB6A292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重新校验数据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46E9123B-1D16-43EC-BF9F-D22973B84147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15105FCC-33F1-4481-9BA9-8570481F6569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重新校验数据 导出校验报告 &lt;div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E9526349-055F-40B7-A12D-A774A872CC03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D157C86F-8312-448A-843F-76E9F3209F60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导出校验报告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815122DB-EAD0-4888-8C97-8D92DF5E4C98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F713133B-8FD8-4BB2-A129-B84D9A29CF0E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数据校验样本 3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E8257685-3340-46BD-B398-1E58D4301713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21C93B0D-E926-4AC3-A5D3-8A247344EB82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提交复核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CE244DC1-87A3-41EE-A9C3-954FDF691826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0B8864D2-21B0-4DDB-866F-CDB1D8B32C73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12A1F471-873D-43C1-96F8-232C9D362FFB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915674A2-A390-495B-98ED-DE7725C19271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重新校验数据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1C89500F-40B2-4BC9-81D5-5A909B43976C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60B2E483-6A51-4F3B-9D3A-F33EA516D352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导出校验报告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09C53EF4-C713-46A4-8A29-015995EAF000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AFE22F67-76A4-4D24-844D-80F382E3EDD1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导出校验报告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0CB240BC-36C3-4716-A3F1-752C9FE4F85B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A2A945D6-76D4-406C-93BA-B263369FE1A4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0C70649F-C5A5-4612-9AE3-A6CD44ECC903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EE68D789-C624-40EC-A3B5-710BB2B72825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0372CA28-A75E-4AC9-A4C2-75BA046266D7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FA2BC6F4-EA3F-4319-AB09-909B7C3490D1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导出证据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C6BF962A-3297-451C-B37F-3C5F10BF072D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文件：training.html#dataset-check</a:t>
            </a:r>
          </a:p>
        </p:txBody>
      </p:sp>
    </p:spTree>
    <p:extLst>
      <p:ext uri="{BB962C8B-B14F-4D97-AF65-F5344CB8AC3E}">
        <p14:creationId xmlns:p14="http://schemas.microsoft.com/office/powerpoint/2010/main" val="9252828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B966055D-6B6F-4E15-85F3-4BCDBD8C1B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B3658972-57A5-408E-AD78-61F9CBC3201E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3887DA-1CF5-420C-8EB1-639DAC11AD74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7D0369-E239-4B94-96DF-D33EB32AB819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B998709-E33E-423F-BED6-06F08F222B50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7C169A-C4CD-4CA6-8387-6C9C8A92DEE3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1B372F5A-CBE0-4B77-B60D-414C592125F5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10EDB6-8CB1-4035-9DF8-B3149600D1B9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2C037209-F7D6-4986-B043-7E94282A0941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F04E0E5-7C32-4DB8-8280-B6598D83057B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46600303-0A9D-4CE1-989F-47A215E81968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A5EB8C-50CE-40CD-97CB-BC1A36E6995A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BA629323-0ADD-4D7A-98C3-0F324A7F7E68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633572-2EB8-4001-890A-03A88E02A208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9EE92962-8FC7-4FAD-9DE1-60D489C5BFC4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9973F81-83DB-4784-BBC8-BFD27AB408E9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F8CD6BB0-26C1-4B44-9AC9-32283DDD9251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52BE944-67D8-43CB-85B2-014C269681DE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ECDA2E44-3C55-4614-BD93-EB061CC588F0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BFFF31-75C9-43BB-AC29-BE0FFB8AC8D5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CC76D888-6786-4E12-84B9-3AB99A974D65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93EC99F-4596-452B-A58E-500973D016D3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8C564C2-1841-48FF-9153-CC949CED4A78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2D108A1B-43A7-4EA1-8264-820490AFD429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3507A7-8DF7-4107-9257-4495A6073B9C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3C6A2A37-E9D1-4EA4-8A85-01E3ECEF3BE2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5CA6A1E-26A4-40F9-98D8-7FEF2B1C0E53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A5DF616C-1537-4661-B3E2-34AE03FDA7F0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9C6C474-5ECC-4BA1-BBC7-2AB58D6C7C83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76219797-95B5-4997-9555-D00C401E7D4D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7C90AA9-8678-4BD8-B9A2-E2EB54E6236F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33C103F-F3AF-462D-B107-242CF4B8773D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8CCF8FC6-B398-4FB6-91FB-87D3795F4FF5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67F3CA52-3680-444F-A07E-5A23E674109A}"/>
              </a:ext>
            </a:extLst>
          </p:cNvPr>
          <p:cNvSpPr>
            <a:spLocks noGrp="1"/>
          </p:cNvSpPr>
          <p:nvPr/>
        </p:nvSpPr>
        <p:spPr>
          <a:xfrm>
            <a:off x="133350" y="460057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BBE96C6-88A7-4969-B4C7-E69CBF93AB87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模型训练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051DB591-8506-467C-B108-34336E749B45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20AAC83-83C2-442F-87D4-CBE25D59B21B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808EEEA6-14DD-4836-9628-76FB92E63227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265680E-BF5F-4902-B044-38E4BF3AF976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77D05757-BA35-4610-B3D3-D4C5AED6858C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9B8FACA-72D6-462A-B91B-57B8B74882EF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模型训练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FDDBEE0-30A1-4E2A-870E-A969900F3F76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E1F1E2EC-8326-4097-9E8E-A6961D7D69AB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A858513-48DA-48E5-922F-D889DD0FE712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3DC73D76-CB8A-4ED5-8C97-1C1341F43A48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5C598F2-FFEB-4AC1-9DB1-D901C1B30229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D2848087-33A5-4FA5-95DF-623ABDF01EF7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E33FEAC-3A2C-41E2-B3C0-E27EEE761838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F5560F1-0758-487C-BE47-19BB05128215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训练任务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555E005-59CA-4047-8D37-5E3525C74F07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队列状态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52377B29-2F3B-4D1C-923F-554D1E4AC5B4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4D95E48-45D4-498E-B80E-565535F8FC03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E9A0436-FE09-451B-8820-6EFFDA9EEE7E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损失曲线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8879353-5DD2-4AC3-930D-58E2E572B78E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训练质量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3C6118CC-6F92-4A70-9CF4-2AC5315FFD2F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149B88F-083A-4B07-972A-5741970AD0F0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0EE5E36-E6DC-4426-A2F4-FF0C39203B7A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数据校验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3BF4073-1886-4C88-B156-88E963214A7D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缺失 / 偏移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9CC27898-4282-4A70-B5C3-F4713562008C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30D6A70-ACF4-4419-8062-9083C991171B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59157B4-E2A7-4BCD-A87E-280367CF9051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发布闸门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31947FB-D75D-4DDD-8423-3A5320E35526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准入检查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878E9896-A912-477F-A0E4-B9BA382D5105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F93619D-CE4E-4089-9DA0-2D7D0E62B540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C27746A-ABDD-4DB7-969D-34D39D0FEE75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模型训练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DF954027-9AFA-4278-8246-FC084E22E82C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A3AE8ABB-9A1F-42D7-ACDC-272A5AC2C506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42FF3A6-0983-48F1-886A-DD2880D2E87C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训练任务 · 损失曲线 · 数据校验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B75CCD9E-F407-4324-A0BD-921C04850D13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B8ED739-6EFC-4409-B8E4-27661B49F716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FAF2579E-CDD0-4C28-87B5-95F28B7C69A3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1 个任务训练中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3A2BAD9B-FE42-4078-92B8-D793F5B042C1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C8E948B9-E860-43C3-A747-A77B1D6B1A43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EC559AF-4473-4645-BAA0-48B229D09864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训练集可用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10AD0612-9425-458A-9C16-C341497C02E6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55 · 模型训练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3E83129-4323-4FB2-BB09-171BB411981F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发布闸门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6FFD1209-EB78-4DDD-9360-B2589484284F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准入检查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7883BAA6-A297-4233-ADE9-4E5864F007D2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04E1B8DA-3606-46C6-B0EF-31F739748D8F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89321A25-3206-4D35-8B9A-9E33F58E05BA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70AA5F87-94E7-4B1A-A5A6-FD65DA0F1135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模型训练 / 发布闸门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9198BF55-F76F-4AB6-83DB-4B07FD5D536D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A5301D55-CD53-4F26-B21F-0480C978BED4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准入检查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E95F7404-08AE-4CD8-A83D-3C4028F07CC8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89A283CB-6538-4F3D-97F6-B552342B0CFF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训练历史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BAEF732E-FEA5-4C32-8689-02EFCBA76D49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1FFC3BEE-7EFD-4BDB-9439-CBFC8EADD189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3BEA325F-0EED-40A6-86EB-9C504242EF6A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1CF850CB-6C71-49A4-B893-2A732445481B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BDDAAC7D-D207-4B11-BCAC-DA170CDA1CC2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C7647B3C-04A5-406F-A1BD-20BF80450F5E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发布闸门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4AE02A69-2B3A-487D-8220-ACC1FC2AE169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976A14EA-31AB-42ED-804F-6BB455636498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训练历史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67499B80-D79C-48D6-92A3-78C9F69692AA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32C10D17-2BC6-4A6E-AA4E-CA4934BB2E3D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已上线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4BA9E589-B81B-4301-B5B7-DE500E443E8C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230593F1-9B68-4239-B970-8745548318D9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已归档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3735C684-E9ED-49A1-9FFE-776D4848D168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7E4DC04D-3497-4E7D-AEDF-E772C04AD80F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A04E20CA-50B3-46FD-8DB9-D5B4D093684E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43FADE7E-1D35-456F-81AF-306769FC83DD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最近 6 次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F9FB01B0-59FD-483D-9919-439F866F1DB2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12E8A085-2E3E-4699-ADE1-39027D071EC5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已上线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99CB69F4-9567-4D94-89B5-D675E398B207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7B50555B-0DE7-48ED-B148-4892511487B7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已归档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2AAA8E72-244A-4B38-9B85-13FAAEEB7AE0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0D94027-95D1-4229-9CB9-9758E078F6C0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已废弃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F17A3F95-1721-474A-9EE5-258006FCE056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42310DBA-CBA7-4CFD-A3D8-BC7D79D31D1F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62A572AA-0AB2-4063-9F04-EF15AA2B3D7C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14124FE5-5676-4EED-86AE-F5882A92E908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665241A6-7254-4717-9BEA-A830A51B2466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3AF69F5A-B31B-438F-A184-E0BA51539C42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896AEACC-179B-4BD9-ADBB-85D396680239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模型 类型 验证 IC AUC 训练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65B9EB3B-FBE0-4758-9E62-90ACEB0EE904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5EA968CD-5FC4-4A3F-B8C4-362E99A91951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提交发布闸门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A652AC29-78F0-47A8-907C-95F49A9544D5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B6460973-93CD-4046-A97D-78766384B748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Kronos-base v3 Tra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B5A6BE85-BEA6-4719-9A30-C29D564C351D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7D922964-F6EB-4658-80AC-5D12AD8498B3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查看部署阶段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7FD6AACC-6EF6-4FC2-B37C-0E2385AD1FF4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3ABCC74A-D9C3-4425-8045-CEB468952462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CatBoost-1440 v1 梯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37E12074-CD86-4D9C-8108-59EABF1407DD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A19B3BEA-C6C6-49CD-9AC7-9C282E8FEB6F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提交复核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658A3C4F-2E41-44FC-B57B-74AAC2ADCC29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998340AE-9E4E-4263-B983-84904E28FA0D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8BC0AC04-7C6A-471C-A380-226B039401AD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C25DBCE4-0F5C-4450-B83A-3C3D4AE6044C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提交发布闸门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C09F6475-AA4A-48FC-B685-1CCD7CA1837B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EE88D09A-4A7B-4170-8789-30606C317EBA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查看部署阶段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55B3E8A2-6F67-4AB0-9BB2-3F41F642A89F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A550543F-23A1-4DD0-9A11-0515D7F14D2D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查看部署阶段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4E7A4032-7239-4AF9-B234-B2B75697BAA4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F292B5BE-C0EF-44BB-B44A-AFA5F5F7214A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808672DF-12F2-4C68-805E-334AA9E5EBAC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A08D4695-C685-43E0-9C32-C6182F4B5663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21814468-17DD-4DF2-963B-C1868A8163C2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6042681E-B20C-4CD3-8F1D-8FEC5F3FBD78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导出证据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230E67CC-FE48-4BC2-B1AC-A5011368B984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文件：training.html#release-gate</a:t>
            </a:r>
          </a:p>
        </p:txBody>
      </p:sp>
    </p:spTree>
    <p:extLst>
      <p:ext uri="{BB962C8B-B14F-4D97-AF65-F5344CB8AC3E}">
        <p14:creationId xmlns:p14="http://schemas.microsoft.com/office/powerpoint/2010/main" val="2276239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DEB56E8B-A4BB-4105-951E-527124D9C1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D317BE5E-118F-4C87-97A8-A318A306276C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6F218B-00F2-4C03-A08C-5AFAC1122B3C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361800A-D0A5-4C46-BFED-4754FE6B1ADD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FA7987F-4AC3-4C45-A595-D1649E3B4ED2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D62A3D-C183-47B8-998C-AC24B75FDAFA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929BCEA9-1A44-409C-8166-E20A9F01ACDF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8AA29B-A5BF-4CF1-8238-CF41D610F5A8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C12C8DF-0A05-4334-B0E4-41A592305151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6A4434-3458-4A3C-A33B-F4076AB4670C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52BC6946-C524-485E-81EA-E5BE5F37B4CD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6A59B3-62A7-4A48-B8F6-5A4EA8D94561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90EB26BF-7C91-4BC8-9E65-FC873134AE44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A5A7A7E-5245-47E5-9EB7-6C7E1BB149B8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D4638EE3-BDC3-4A1C-BD5C-9D5D0FB74AEC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0CFF77A-5308-4F91-BF21-BC08D86F724A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F3210D8F-E844-4F9B-9F73-989662C2B78E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264F0E6-F7C0-4ED1-A362-6B3742971125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EF892BF-2011-49C8-BEE9-1B38C1756854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7511AA0-C48A-42D0-B202-EBB30EC78AB5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319902A6-D5EC-4B36-8FA7-75FF7FE138FC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977440E-0DF4-4C6D-94D2-6030F8119CF3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C7BDDC1-8066-46D2-92F1-5A62127BEEF0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818E00DC-157D-4D74-A010-0DB2B9D8B3E2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4DB1916-1BBB-4F1F-9F3D-57892816663F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1447AF5E-EF60-4F41-B025-DE0D940E6022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55A10F0-290E-49ED-9213-980FAEFDF90E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9D7A8862-04E8-4365-9E43-FF6D11B5227F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23F87D-0082-4B84-8491-4E65C7D8FAE6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C48FA883-477C-4125-94A0-B0FF5F7B229D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4204DC8-8048-4446-BBF4-F7A548CF7575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DD53834-D0BD-42F4-B428-419D48728BBE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26E19C6C-36E6-4873-8DF8-6889BF319EBB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D71BC9C-9E5A-491B-B08B-D5FDCFDA6B38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03ED38CC-7E11-472D-9536-62CC37C87574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920BDD7A-C67D-472B-96CB-329A93B915B8}"/>
              </a:ext>
            </a:extLst>
          </p:cNvPr>
          <p:cNvSpPr>
            <a:spLocks noGrp="1"/>
          </p:cNvSpPr>
          <p:nvPr/>
        </p:nvSpPr>
        <p:spPr>
          <a:xfrm>
            <a:off x="133350" y="489585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A949BCA-987D-482F-B5E9-350E2F89E4BC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58F46AD1-59E3-4AE5-98A7-EF88D4B472BA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CBBCCAA-F153-42D6-B04A-CB0424C61BF5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1DCD479D-C6FE-4BF8-93DC-D8F068E9F096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1DE65D4-3F38-4DB4-A80B-A2ACA52BCE06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模型注册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EC056F6-510F-47EB-8165-37F196A4269D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4EF9AE22-BA89-4075-B433-7E86175AA866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2D5609E-94E7-4A9A-9C27-B21C0F34C69D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9F603CAB-5BC5-47CD-977B-885B92D4D86E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9589FCA-931A-42F2-B9F4-2014CEC55A09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D0180875-51C8-4A69-9E1E-CA5AABB51368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DC3AF62-50F8-4BBD-BD3A-F35CDCD86C2B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10BCD94-D5B2-4DC9-85FC-6F29A39BBE2B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模型列表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9592EAE-43F4-4A8B-9576-3793D7D79351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版本 / 状态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50732D9C-79B0-4C0C-80C3-87FE1B8C8339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3526C2B-55DC-4F76-9586-E7BA616F47B8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6DEAE16-7A47-4BF5-B580-19C5D559755D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指标对比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C6F6215-0336-4458-8215-C5C88B9BA15C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收益 / 回撤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D92F7148-B9BB-421E-B74F-BF4B38F93FC5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C2AB60D-32B4-43F8-9462-3045912AF05E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652DDF4-AFE2-4C5E-9288-14C803015F0E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部署阶段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F1E9212-4E2D-4687-A39F-9C96C635963F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灰度 / 回滚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02388040-F746-4994-A429-446C5AB49B86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8F50F6E-CD53-4BC7-B881-6334CC82F158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950A1DA9-2D1E-4BFC-9B6D-FF163B359EE3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审计记录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25F76D7-D387-4E2E-A478-A12880BBD944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变更历史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3C180001-DE5D-4EE8-BE1D-ABF135ECAD0D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FCBC67B7-D9A7-487D-B60A-B317445B89B1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337E79CA-A0E2-4CEB-9012-6F8F74FB872E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模型注册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F73482F9-6742-4E00-9D70-23E677E520A3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680D430-38A2-4D34-A842-8209C48A67CC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3F3B73A-622C-4F44-BDC8-E9C3504B989B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模型列表 · 指标对比 · 部署阶段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D1020C36-54C2-4B83-9928-8E9103330E3D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C317D95F-3034-4F88-9453-AEC2EB89A6A9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481131C-DED1-48DD-8123-C904341279CF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14 个注册版本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2AAE6A01-49A0-49AB-A143-5ECEC5D6208A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17648145-2315-4E99-9FF2-1EB4BE6AD17A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5EA21A1E-0415-468C-AFF9-0EFE73CF1EC6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灰度通道在线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00E5D59-0D62-4CF9-B09E-319BF7A88C5A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56 · 模型注册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2BAA5B4-93A6-47F2-8B9B-D8CAA6227600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模型列表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A74942D-5461-4D30-8DAD-E23A76699D7E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版本 / 状态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9CDC972E-2BDD-4B3D-A6C4-D8BC7888C399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73EFFAF0-1F4B-408D-AFB7-59590B7FD63C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4650E0A9-96F7-4D7F-A0B7-BFA4B4057ED3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3C7AEB9-AF8E-4D01-A54E-AF6272E2195D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模型注册 / 模型列表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F3D0E34B-6D0D-42C0-B0A6-5C48117159FF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96DD3F9-3C9D-4C53-8489-82B9DF8E5112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版本 / 状态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CAD2D006-9E22-44C5-994B-BB2AA6B6321D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F369F60B-BDB5-48FB-A825-A9DFE84DF610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全部注册版本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1D232C7A-DF34-4CA7-B706-2EECA31D2E9D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6A94087B-6847-4A60-9665-53FDB3EB8F59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AC3E6342-2F04-4AEA-B5B0-A428D5282615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022870A2-E675-4115-AEFD-82ACA6DB1069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D17CC71A-0CF2-42AB-A82E-AA9F7E15092A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48E46E2B-3BF9-40B3-A29B-06D4301339BD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模型列表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CE030105-7246-4EE4-BF9E-2FA8636C7E85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D99AE60-F122-4261-80CF-F691E1257F9A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全部注册版本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3E0C7E7C-28E0-40E1-AEF3-9A9EF0BF196E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F01A1484-884B-4434-8575-307DC52F598F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id="model-list"&gt; 全部注册版本 14 个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C2AFCDA8-A751-4FB9-BBD6-7F23BB84B957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006677F0-805D-4B16-9301-1C52F4C97C7B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含归档 模型列表负责版本准入和回滚入口，部署阶段决定灰度流量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3FA7B694-EC12-4739-AE02-3900A396A90E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F6480866-1D43-4F09-9842-48B27499DD15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A3445AE1-F20F-456B-A733-6C561D723449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E25E952F-8AEC-4199-A498-D471A867FA0C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14 个 · 含归档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ECC6947F-2BA4-4DE1-8CD9-1F9F86F0FDD9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A1515697-2DC6-4637-BDA2-6C804B1C43DB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id="model-list"&gt; 全部注册版本 14 个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D7B615EE-725B-43F9-974E-49B4FD61FF88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39C9A3ED-9019-4767-B298-DFE2BEFD6061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含归档 模型列表负责版本准入和回滚入口，部署阶段决定灰度流量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7492A8CC-948B-44AA-AD07-272C67DCF3FC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951CC681-647F-44EE-817F-F585414367BB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刷新状态 导出版本 &lt;div class="card-b"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06CA2F9C-AF5B-4BC7-97AF-7FC007DFFA3F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F726BE98-436D-401C-9764-A39049D0FA9D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F749D62C-9AC2-41F1-A5C5-4BAAE10B132E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04412DDD-7103-4F0A-B508-CABB8C19BE88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98C734DD-9449-4173-97FB-569387118E63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9D483A0C-8E7B-4856-898C-A2AF0A14F6C7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185FA02C-2057-4A9F-9D6F-C442DD303FD7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14 个 · 含归档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46960015-74A2-45EE-996B-86DC4ACFFF5B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109CA43A-8C5B-44E9-B018-968E2B9165B5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刷新状态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6CBB543C-EC63-4B6F-98F1-793477249D05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64DD9F19-8653-48F6-8B5F-8DE04F397610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id="model-list"&gt; 全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25B0CB58-A13B-4B47-B1DE-E951920697BD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4188836D-58FB-456F-AD38-64BF069E22C9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导出版本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192B24A0-4C20-4DE8-AF4F-DC5EBBA5BB0B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282BA254-176A-448F-930D-A25C7C0929F0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含归档 模型列表负责版本准入和回滚入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98E1C464-F44A-4556-9674-9050E9AADEA8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D5C7ECCA-75A0-4F0E-9179-AEF799E714E2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提交校验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624FA470-5CF0-4564-A840-3F2F46679895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EDF23C39-30DB-4674-AE5B-36F6D65A3D97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E3E10F6A-C245-4E8A-8963-90D3BB4AFFA1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78734262-229E-420A-81D0-DA128CC818AF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刷新状态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24D81A43-BE9A-433C-A46B-B00579D8705C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76A5F18C-F78C-4814-9322-93B9B2AB198B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导出版本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8D90BB52-2E51-419E-A947-75C58D5ECAD5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0AA66BFC-3FD2-4860-AC44-BF1A5C3568BA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导出版本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034CF3A3-BB64-4D9B-B97C-4A4F0B7CC4AF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5E883DA4-96F7-4021-A4B9-6D18DBF57DED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提交校验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44C02CFA-358D-48E2-9215-5CBC12FB7CEA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A7293F20-26FB-4CE1-947B-1F061D1F2CEC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提交校验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46CD2CC5-8E7F-4E1F-9E96-13D5D79514C9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C8169CF0-760D-44DF-914C-B37E244720BF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进入发布闸门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C6B82AAC-8959-4134-9FC7-C4ED8417996C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文件：model-registry.html#model-list</a:t>
            </a:r>
          </a:p>
        </p:txBody>
      </p:sp>
    </p:spTree>
    <p:extLst>
      <p:ext uri="{BB962C8B-B14F-4D97-AF65-F5344CB8AC3E}">
        <p14:creationId xmlns:p14="http://schemas.microsoft.com/office/powerpoint/2010/main" val="18584175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1A46A53A-6B82-446C-967B-4FF79750BD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EF9586CA-427C-432C-A5A5-94683EC6059E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CB5F86-B870-42E6-B850-2438E63BED41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AC20E6-A885-43EA-B784-9CD3F5D4AB7C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2A49491-2A3F-4CDD-AECA-C75F28265184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C79352-0E67-4292-9BDF-58C14E6F5A75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585BAE92-BC8A-4AB2-84CE-0CF5CB03D53C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77AEA4-D3C9-4ADC-A6A2-69E7F203EC73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975687E7-CC4E-4D69-A97C-F0F9141E8E20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158D12-8389-474F-8A41-DB2EDE4EDD8F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87E1604A-B564-4DEA-AB5C-5D18D2A8EC82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841012-2061-4CA0-8E43-E1166D31A051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3AE5F521-B344-462A-A557-43016EFCAFDB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0CD662F-F808-43BF-A15B-C364C6B982C9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5FA9C85-61E9-47A3-988F-9141E449175B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CB3A9A8-A191-4C6C-907B-17F5DEF4DC3F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1E8BAFBA-0E02-49E4-B463-3DB9EAD36D3E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1D2A0D-7CD1-42F7-8D7B-289BBB877543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232ED339-AE89-4CC4-832D-C7CDFAE81961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5DF4540-565F-4926-ABCF-A5DA01C2A0DF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70CB5909-38D5-4743-B33E-2CD943E6B4D5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327D12B-49BC-4889-8E90-B5B814CC0778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D1F1347-D62C-472A-8DAA-CAB04C887642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3E0CB578-4157-47C5-AABC-FA909CF01E8A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E7C96E3-7C2F-4DD1-8697-3341069B3E15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800DD706-0283-46E9-9620-1C89CF1EEE37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5866EAC-FBF4-45A6-AC2C-D5BF9C6BF15A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D473A25D-37E5-4C37-870D-BCA398B6C9A7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EACB375-3872-4DBA-A0CF-42C8A6B589F9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688B743B-EE1B-4DA3-AEF8-3C6A244D0C6F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468C41F-3251-4280-ACAE-F50F6950F651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6873344-F099-4DF9-B949-6DB1DECDB8F4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045CF471-FA94-4316-8581-1BA9B41D9400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09713B3-80F5-45E6-A68C-8998271F9D90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BDDDE089-C218-459D-B87B-98F375599F4F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8C124142-FCBE-4174-A9FD-328FFC3A26CD}"/>
              </a:ext>
            </a:extLst>
          </p:cNvPr>
          <p:cNvSpPr>
            <a:spLocks noGrp="1"/>
          </p:cNvSpPr>
          <p:nvPr/>
        </p:nvSpPr>
        <p:spPr>
          <a:xfrm>
            <a:off x="133350" y="489585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42D8107-335F-4770-9DC5-F8EBCEB131C5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F91963C2-6D88-4AA9-8223-0D0725BB4968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A63E3FD-1E75-4C6D-ADB3-53F8CF8DA59C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8057A59E-A027-429C-A059-2FEA60AF36A2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27534CA-1EDE-407C-A7BE-FF2D9BFCE941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模型注册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0A3B5D1-C3E8-434E-86E6-3B1D0FC1C4EC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090B6EAF-9E32-4F0A-9F2C-D656E3F22FCA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F06D0A7-8FF6-4686-BE92-F6320A5C52D1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F854C397-7481-4A9E-82D5-BD5A33C374B4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477FC7E-4725-4AC5-B912-4552E9672B3C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15EBFCCB-A9A3-4DF1-A220-6C2E7FB20FC4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BB7420E-DD9E-421D-ACD8-06619EE8A75B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D939433-362D-4F44-92CC-FF88A625109D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模型列表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37D5244-EF42-4017-B334-B8BCE9FA5305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版本 / 状态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6353A914-E5DA-4029-9869-E6F195E5464E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E9B964B-5DB1-4818-A604-2B7B86EEA9AA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9877F92-D5F6-4BB5-BFF9-AFE0D51EA9CD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指标对比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8036897-3AEF-48E8-AE67-645D1243FBD9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收益 / 回撤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AE427250-C529-4262-B867-E6A6AAFC79B4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9C802FD-848B-41C6-A76A-B9A2026989FE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CB44C0C-D7BF-4FE5-9ECE-F997057C63D0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部署阶段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C4041A2-1187-4BB5-B91E-4D8D7F4EEFC2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灰度 / 回滚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F56DED0F-2DED-44AD-BA62-B078F5AAF7E9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FE5A970-3B2C-4081-8779-5D882208C882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5AA08D6-DFB6-40B3-8CE5-98E935447934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审计记录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1B6AB02-0D0D-4E10-91B0-BCB931A871F5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变更历史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F46CF4A0-74E3-47F2-9DAE-F5CFC5A15D77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10A4F0C-41F9-447D-874C-A5A277467C86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6871E9E-B34E-41BF-8EF6-0AACE17894DA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模型注册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A4BB92BD-F416-49B7-874C-AA195F876B66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756F1E6-B59E-42DB-B78D-28FF4F13F0F5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6E8DF1A-CAD7-40F4-9384-FA4F5538596F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模型列表 · 指标对比 · 部署阶段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DBFAA1C5-A7A7-463D-8E0C-53D94F36113A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08F3EBFD-AB60-4A07-8FFE-B90B02C8A9D9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20308CA-75B8-451A-9512-DA5ACA797BAB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14 个注册版本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889365B5-51D2-4FCB-BDB4-5DC37CC7E6CE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A7F0953-4BAE-47F9-A61A-D55537D1C914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EB9CBE0E-B510-4747-A52F-C2827BBBD53E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灰度通道在线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33B22502-92EF-40C0-B11F-BCD004BCDD32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57 · 模型注册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6FA2360-E1EF-4469-94F8-E76205358B15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指标对比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477DB486-DDC2-4F71-BC8B-9E0D1C673591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收益 / 回撤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E113EBA6-E13A-47AE-A478-9EA20D29BEBD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B3BA0DFA-0C2D-4441-B5D2-EF5697A9FF5D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C27D9E2B-79F7-423F-BE23-122750AFE1FC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A754BBC-DBCD-4EB8-ACA7-CD7AD14950F4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模型注册 / 指标对比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700CE8DA-E6B2-44FC-8ADA-8BA3B580181B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72C0BA20-593D-48A1-8029-987B0E1F56CA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收益 / 回撤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73D8FCA7-E027-45B9-B5FC-C5C495AD1DD7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0045949D-3FC6-4C71-9C34-F78C48CB9891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全部注册版本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359FD68F-32CE-4D31-B6E2-D0B91278B4E2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19502C49-3CB6-427B-99D9-71D5930E3B4C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7F144657-FF5C-4FE1-B1A4-EC0061333255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1A9C0586-69A8-4F85-BEE8-B668636092E7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2E975AF5-F2CD-492F-9D64-8B511E0FB41A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20C43A12-8F4B-4B48-A3C0-39B66180EC9F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指标对比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1DFEADF4-78E9-4FD3-8E36-B1B39F04C419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971F7ECD-1D1F-4381-B198-923462392480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全部注册版本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92F8980E-A48F-46B9-8B3D-4CEDEA07850C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A420CB02-228B-49A2-9C0C-43FB3264E224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 · 灰度 5%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58E18A9B-7DE8-4EA8-8932-BFA0095046DE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19E02B76-48E2-4940-8B8F-E35AC0B4455C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14 个 · 含归档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2F5F482E-7E9E-4EC0-A69D-FA92332F04C8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2EF23687-8A68-428F-9294-02F89907CD21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9F16CB21-1793-4157-92A2-EC860FBA1B15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792DBB52-0973-4E44-8AC1-CFB335B6D3F7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生产 · 集成权重 40%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16F20C20-E981-4914-82E6-200183C88CF6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50D99087-C822-4630-BB81-6564C291229F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 · 灰度 5%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C6FB938E-905C-4ACA-84C8-FE284B80DE41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BD4A74AE-1EC0-4578-938D-5D83946ABDC0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14 个 · 含归档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DBF10D26-3F72-45F0-BE7B-9CBB197C3204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9C64EBA9-2E2D-4076-BD41-FBC289CAB40F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sha 8b1e07 生产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214A3EDD-20FD-4F13-9239-BD885C746DD0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FE2D32EC-4DE4-43E0-B8B1-AFC2D11169A3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5CF59260-A3FE-4D38-94DF-397BC033A371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04C72C88-56B7-489E-8133-63FD6486E090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674A4CF7-C172-4380-91E3-8C0E8E95148C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A3394B94-DF59-43E0-A1E6-6611D7B7EEF6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6E5A3AB7-BA7B-45AF-AF99-DB47239983B7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生产 · 集成权重 40%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39654312-A680-4CA2-A007-F3D016F61D09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0605CA86-B36E-4914-AFB0-A571348BD6A2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查看日志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76670E9E-622D-4ACE-ACD8-1D66A4CBC12C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4D967FAF-20F0-421C-A907-A096CD298807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候选 · 灰度 5%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A961CFC-AF8E-49C1-B037-EFFFD915A1F5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A06B9BCC-D036-4293-8DC3-E1D67FA45174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回滚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5D8F92A4-69DB-4C3E-89D7-063CBDBF468C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C22F12F1-1B18-483F-B089-AA8D43E197BF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14 个 · 含归档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CB4389DA-D681-4995-B21F-A4DDA5A8D6B5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721DBB58-A24B-4BF8-AEE6-E3433591D4D5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提升流量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30F4A38D-1C88-4344-B466-250587AFC0EB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F7D5A516-F6AD-45BD-86D5-DFA35B6DBD59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35E4275F-635D-4746-AF6D-69255456B4D0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8F8BB4C9-53A8-4CC7-86D7-E7FFADA8413F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查看日志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A566B020-5D4E-4C59-8187-B3E72F06B48A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CD23BD4B-7912-4FC5-978F-E817C812430D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回滚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EBF4C857-72FA-4D42-B38B-C4E15577A6E9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BC50FF70-958F-4F2B-9750-7D55BE654B7A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回滚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7A489702-D288-4FD5-ACA9-C7B997DBB668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4E81F6B2-6D32-4CF4-AD9E-6643330DF379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提升流量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D9F157B2-3345-495D-8422-432FE5841457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5A8CFD68-B500-4E27-80F5-BF61D2EE0D63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提升流量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B8F2E814-A7C5-47B3-ABD9-A5E087686AC5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24D828DB-A919-4B39-8699-D65A71DF54DB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下线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438A2FDB-C4EA-4564-98DF-FFB7E1B0D703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文件：model-registry.html#metrics-board</a:t>
            </a:r>
          </a:p>
        </p:txBody>
      </p:sp>
    </p:spTree>
    <p:extLst>
      <p:ext uri="{BB962C8B-B14F-4D97-AF65-F5344CB8AC3E}">
        <p14:creationId xmlns:p14="http://schemas.microsoft.com/office/powerpoint/2010/main" val="4463454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577BEBDE-C97C-40B3-9F3D-C7D2A35EAC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F06CB73A-F8BA-49EB-AF0B-9D102B5771CF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5C55FC-C348-4CF7-9AF8-53D4DEDCDF94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F5EE91-EA7F-4782-A04B-70FF6C8FE81C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C1E9A9E-71F0-4F1E-B9C3-22BE76796A85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F53C3E-31CE-422D-9A5C-6CB3F441D58E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A3D52C9-F271-4CD6-98B1-5B63550F2CF1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637EF8-67A7-456E-A553-73DB446CFA4E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602D167-DA1D-44F3-B57F-9AA0F4116CF2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244051-7AE8-428C-B07F-E3B4B8CD23B6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9CE74DBA-B599-4F8E-8C71-B01ABFC4D1A2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38FD47B-4057-4A0D-961D-9D7A7C249D13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EB84761E-40B8-41D6-88F9-942D78D2340A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A472731-A022-4E67-AF71-D936B622186B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B6265FF5-E657-47B4-81B8-68AC2E65B20A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D351572-EDD9-4847-9B91-08E7497794C8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CBFA558-DE8B-43D2-89CA-903F5101C8FA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4FE7B3-0C6A-4F75-BE09-D9082C45E6D1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30C7F105-4EB0-48F4-9632-4BD4EA953E5C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B007DD-B5FF-4025-9E5F-CD354E668942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533D64C-BA7B-4639-ADFD-B1D95CF9F3C6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5A4F6AE-569A-4AB5-849B-7458C6AB9047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64DA38D-CDC5-4149-912B-BCC95D4CFA14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52F1AC21-ED4B-48D8-AAEB-43F231F4E379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B328C6C-5B21-465F-A6B7-90BE7755F515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588E087D-A002-452A-8947-B6EAE4B7EF67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C69A7E9-E6DF-4B60-91D6-EF31C3C30231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45DCDAF8-748A-4350-9926-068718BF213B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9D2693F-ACEA-4E3A-B5BF-83C6A479BF35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241974E7-ADD2-4EB7-82EE-A6985F2693BB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DB466FC-0020-4D2E-97F4-4EB3ADB79FB1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4CA4436-CAEA-4814-AA7C-733EA4F33E6E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53005E40-3E9C-4F99-8701-021C74CA6138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59B72F3-912A-48F8-9447-7CA951896C9B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5318289C-833C-4FAB-9EC8-8389699FB211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64C96B34-B3B9-42B0-B329-24ED357F4D77}"/>
              </a:ext>
            </a:extLst>
          </p:cNvPr>
          <p:cNvSpPr>
            <a:spLocks noGrp="1"/>
          </p:cNvSpPr>
          <p:nvPr/>
        </p:nvSpPr>
        <p:spPr>
          <a:xfrm>
            <a:off x="133350" y="489585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9687FDA-8F06-4891-A665-AFF955AFDA43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CC66CFB2-8061-4E53-BBF0-E0A0FF7125B6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BFC1BFA-6F8F-4DA3-872B-0EB8B752E3E2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344882C0-3924-4404-9090-82B728FDFC60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48186A4-480F-4B8B-97ED-18A29A74AD2B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模型注册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F695842-4DA6-4B7E-BE2F-F16D31BDD551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4E8CF2A3-63EB-4EA0-88D5-7CD2D2BF2477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0EDAE08-AE68-4040-B83F-977C2CC6C59F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D1809D43-885D-4BB2-A0A2-86C9A0892738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6BC4E48-D4F1-4E02-AC7A-8714F0C8FEE4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7117FBAD-EF69-4824-9F62-161DBDC3FD3B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CB24335-6BE1-4A1B-ACAF-2ECAB073EECB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7BC7A71-D721-49F6-B67C-BE9FA6CA30C9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模型列表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020C8C2-E8C2-4273-8429-512DD8870426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版本 / 状态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28E14BE3-AEC6-482F-9EBE-33349F09B8D1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4609B4D-AA3C-423A-93B4-E335306D7B9A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3D0B1B2-116F-474D-8BFE-B001F9173A7C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指标对比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3E679FE-77C6-4932-8DB0-0B7C936CD42C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收益 / 回撤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B9FB1345-691E-4B27-8383-E30E08CE3AF6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611CBAA-1764-401C-9263-8EB9DDB8E194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D4DAF18-98A3-451D-ABEC-4DF801972618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部署阶段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3C8D035-7C1F-4BB5-9498-860A3A8C4BC5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灰度 / 回滚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0466535F-61D3-44C3-8F60-66B4E3FCF881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98001D4-EBEF-4521-AD0F-73BE544327B2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FB4D765-0A70-4855-A92B-F3FC1A81EA8F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审计记录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CC5630C-2B87-47ED-9C0B-99A3BF797E31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变更历史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6B21D96A-8FE9-4310-A098-712F6A258253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DF77AD1-20D1-471B-98F3-9B90492091D8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98A5BFB7-54D0-4FCA-94A1-5C8CD737D747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模型注册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E1B2F2E9-53A6-4F91-9E5C-D7EDC5DC5B38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CB9B1D9-D82E-4E64-9137-B3BE35419ACB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4CE564B-6A67-493D-97C9-EB2501360B46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模型列表 · 指标对比 · 部署阶段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975BA832-6AA2-493C-9235-D1EB68F7806B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3CB2443-B259-43BF-BCE3-3655C6631BF7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2E51D37-06CD-4054-9C9F-77841EEEEDE2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14 个注册版本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F952FAE7-9D93-4E6A-B57F-F10340933987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F8DE091F-7EA7-4981-9835-D15E6194671D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643DBE2-C418-4934-A27D-51D8DEA9CF68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灰度通道在线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749D429-84CB-4C66-A86D-34223A70028F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58 · 模型注册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39F1F78-3EE2-4A73-8FAC-8BA268B4BD40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部署阶段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E5134CA8-7668-4923-8BE4-91BC9DE73665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灰度 / 回滚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E9C2BDA6-AF84-47FF-8533-A04DCACD118C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C1C69E73-5991-4A87-9173-E5EF9585EA93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7649116E-3264-4118-9007-147495925F2D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641AD2D9-34B2-44DA-A867-96D9501EE0F9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模型注册 / 部署阶段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1160A2BB-A945-421C-9C2A-8C2B82158BB3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736FD002-0A38-4941-B17C-CB39DFF461D4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灰度 / 回滚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8E40898A-DD43-4271-8E64-9B908E278B04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D4C9877-75A7-44B4-959E-75DF7A8E487C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全部注册版本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6B57E5D9-2F6B-4654-8143-6600AD0D7AA9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7111B01-4285-4FEF-AFB1-80C051169DB9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A6C45732-1D2B-4CDD-90A1-5435954BF6D1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E3C3B11-BDD3-42DA-A2CB-96164E43066D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B1F3EB1A-D3BE-4977-BBC5-6BB61F02F618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3985C05-2BD4-4E67-B0BB-F7B7D499C351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部署阶段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4EA92781-E2C3-4500-B3AB-9198A504AE2A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FF3074E5-85EB-432A-8266-3ACE90012044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全部注册版本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83459DA3-FD4C-483E-B581-B9F769A98A3D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0E59B080-F708-4FE9-A0FB-B51AA51A2E41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生产 · 集成权重 40%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18F6D66A-8FC5-4B04-A577-976DC5E31551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E0A0C678-ABC4-43F1-9881-0D8C6D433DDE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 · 灰度 5%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DBF8E6A0-E13F-459D-97B7-9D12E67ACD84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89A968AD-F711-41C0-98DD-18E8A93A5838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0B00C5E4-C1D3-4E6F-99F5-B99D5F7F552B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00AD4FBE-E297-496D-8EF6-57E6D61985CB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生产 · 100% 流量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7E80D1AC-ED09-45EC-98C9-92BBA4B1C6A9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B81156DF-37D7-4740-A18F-55C2CEE6DFBC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生产 · 集成权重 40%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91578523-40B5-48AB-8AFC-EE516E28FB79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21976532-A1D2-4475-8D36-316804B7FB91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 · 灰度 5%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4AC8B2CE-C3E3-48D0-BB68-358E19833238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22E24353-C745-43A1-BF7F-3C2CD7161349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14 个 · 含归档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B438958F-2AF5-423D-AEF0-0F5B9B55D57D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4080E12C-5CA6-4DDF-BF8C-468A3348F143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B3B0D18A-6AA2-49AA-BF4B-258741C36255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40AC05DE-A1B4-4BD6-8519-8AE3AA1D8DD9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52A7EFCC-6579-447A-8867-2B0CE746DAA7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76446AE1-C751-46FD-9231-824C38623FD8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A3F368C0-65E8-459F-88EC-B0F8C79C3B9A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生产 · 100% 流量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E71B849C-2A1D-4EA7-B47B-65509330BC01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84791501-CFCD-4CE9-B80E-697A775CE19F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查看日志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95880E0B-C64A-45FF-A283-915A896540EA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BE950A3F-DEB7-4067-ACC6-A94F8AB91588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生产 · 集成权重 40%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ADCF7710-2E18-45F0-82F9-FDF55350D779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C880A020-39E7-40E2-8214-F060201226A1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回滚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4FCAAD97-894E-40F1-BC32-5ED329AC0D46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E48430F5-9DA7-4338-996E-E4BF57FB9A50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候选 · 灰度 5%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8AF47A96-E5DF-4F7A-87A3-2B0E01BE7100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5E27BB8E-B638-424A-9B11-9AB6D6E5391F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提升流量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724F327C-6683-4EFA-BD80-F54FBD563018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8A87BF3C-9AA1-42A7-932E-922EB9CE1B25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06A00F84-C9B7-4BEA-AEB5-2521C6F6478E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BF01A696-96F3-486F-80B0-CBC07C276724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查看日志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BA258AD9-886B-4274-BF38-8F22E49AE237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3503A91A-AD90-4D5E-85B9-8CDDA009A15E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回滚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FB9F818F-47B0-464B-972D-0DD6055655F1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6A0B7861-F3BF-44A9-9BA2-0277391668AD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回滚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2D52A615-8A28-46C5-8E06-1AFEB88726F8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70E836EC-9440-4979-9A25-3A5A18D10B5E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提升流量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F42B8933-189C-4963-A711-5ECAC1BE1B57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40368EFB-680D-4C19-AE35-C958EECE1929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提升流量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DDC978E4-E3F9-4F56-B4CE-2E12AB233B57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4A4DE3EA-7811-40CB-A446-321919F53791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下线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0468CB52-A2FA-4974-B861-5AAEE3CB0F1A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文件：model-registry.html#deployment-stage</a:t>
            </a:r>
          </a:p>
        </p:txBody>
      </p:sp>
    </p:spTree>
    <p:extLst>
      <p:ext uri="{BB962C8B-B14F-4D97-AF65-F5344CB8AC3E}">
        <p14:creationId xmlns:p14="http://schemas.microsoft.com/office/powerpoint/2010/main" val="3827624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8016F129-7402-4B27-A8E7-40278497F1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470A4DFF-D190-45CB-8A98-263B0FE6278C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A24DDD-8B6F-46BC-BEEF-FE9AB79FC4D2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E85753-A516-4434-AF76-49898714C2BE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60EBC9E-C872-42F0-B009-BCA517361712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B03A9E-5F7C-4816-8D6C-DD8FC94D160E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FCA62E1-6909-4800-A434-C83D20F12756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6B886B7-EE81-4903-9927-56DC28D47566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0D88391-6175-471A-88B9-2585940C31A1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385C1-B1C1-4FA8-AAB9-74F49F622AB7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BE46B29F-538A-43AD-98C3-34AE358EAB14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7276FF-E1BD-4BE0-BD7C-0B8241DB62AD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6E754B16-E216-4358-8BA9-85D0596F6BD3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B83EAF5-2469-41AB-A301-C91CA80D2F71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B22ECC22-CBFE-4DFC-92FE-A22F14167DED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8F2AB85-47F1-4AC8-829B-8E31D3D44910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F3755512-64AA-483B-9B08-FFFB2B33537D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A90BB9D-4CC2-4F0E-A1D9-C260BF2FADAF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925F9ABE-E2AF-4BC8-A6D2-AD4682F2ED44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CA55EDB-AFE7-4955-8313-F35645CE71F4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60A7AE0E-E311-4508-83A2-6ED92BB9F55C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6D09671-9FC5-47C7-816E-9BD21AABC07E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AE2D50B-F23E-453A-BF0B-12CB8181C29C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D09A7B8A-9E48-4959-B4A5-32ADE1C86A1A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8326681-C3E5-47F2-B5CC-F17A092F0477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E3AA9ABA-4A7A-4C9C-82D3-5EA77E3F6134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4AC487B-2CA5-4028-B34D-360862132E81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D14F32CF-93BA-4120-A63C-052E8B712CA9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168D62D-A874-4EDB-887B-EF4C47A7CF0F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79DF53F4-7659-4D2F-9327-08B5799943FE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A4521A6-8AC5-4B3C-BDDB-17DD245EEB92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8417A35-AE1C-424C-B30E-0C7F23917F75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20BF745B-3867-441D-8285-520B5000051C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CDAECCC-FBBD-4134-9BDE-907F4C795BF7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F7E4E4C3-86B4-4C50-B6A3-7359F503512B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A31F4A46-80FD-4806-BEDB-FC88D946FFA6}"/>
              </a:ext>
            </a:extLst>
          </p:cNvPr>
          <p:cNvSpPr>
            <a:spLocks noGrp="1"/>
          </p:cNvSpPr>
          <p:nvPr/>
        </p:nvSpPr>
        <p:spPr>
          <a:xfrm>
            <a:off x="133350" y="4895850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095CF58-D5E3-4B08-84A3-CE052717C996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模型注册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59355AC5-76A0-48BE-B5B4-95E7AF2A6AA8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8FC99F9-F196-4777-AB64-3B6DC473D32C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2B9AD47A-E1C2-462E-AC41-F864136B18C2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F069898-811A-4023-8CAC-A35CEC0D520C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模型注册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5A731B0-B814-4EE5-9B5B-0C2312A8E310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0F75ACA2-7B13-416C-9C22-F38E519C06B7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5FAE6C2-0C77-4653-8DB4-3176A788CF0D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A928376F-B463-41FC-8FBC-CB21024C7AB5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74CBC32-89D1-4B0E-974E-7D83DA0A3E25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F373ADBD-314F-4024-ADFD-351F0B87A4E1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EBFB4AB-257C-4BE5-8C6C-D7926C4A59C2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77BF3EB-2467-42DD-AA9F-EF9832E69CE9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模型列表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4637A91-A8C1-43E7-8FD3-9D1991A1D5AB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版本 / 状态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7BC2FF3F-D5A1-483B-A4D2-01B7F0675140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0D4196E-99D9-49B1-97D8-173BA5566A3D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C38F5AC-B848-4252-8E1A-37BEC379DA57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指标对比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7D5144D-8C30-4B64-8EE7-341C316A3CCA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收益 / 回撤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EA7A71BB-6BC1-4DFB-92E7-926CBEB760B1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B381335-5DCD-4EC7-BC74-2A4205C6F08A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2EFE998-8FE5-4CDB-9F00-428CD97CDE7E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部署阶段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4EAAA63-BA36-41EF-A61A-5C00A13A0537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灰度 / 回滚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F95AA041-5F1D-4D3C-8C72-9DBC3006C89B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C747272-6264-46B0-80C7-FF7873F6C371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46C9AB7-033E-4652-8134-39B6D88371FC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审计记录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EC5BA7A-B06A-4152-A6EC-C171F08F0BD0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变更历史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969BB43F-E06F-464C-93C3-6378F6C969C1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B245E502-397F-4FEC-BBC7-7A552EFC1175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25951C3-9C4F-46D9-AB25-8922FCC30614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模型注册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51EC5C0E-2E0E-41B5-B6AC-0D5FAB728D48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31F74ED8-C2F6-4ABF-A025-DDD8DB51EF63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C5869EB-7BBA-4A80-B70B-DDC6F7F8AD72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模型列表 · 指标对比 · 部署阶段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ECF3DD97-7DCF-4F4D-94E3-B8E9545A4EB8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963DD123-692E-4E02-9875-0A65F7F46AF9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D4E1CDB-5761-4C69-900D-7AA7F66A29C7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14 个注册版本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37A210FB-0AE2-4396-8C7E-418A34BB9968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F15DD11C-FFF2-471D-A89C-DFA3CE367F20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94134C8-54C5-4F71-8097-D397C8665EE8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灰度通道在线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DA86608-2246-4CE1-A439-9D43EDFB9E8A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59 · 模型注册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D99AAA0-1846-468E-BBA5-4D06C08FC0F6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审计记录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F4AAFFFD-DF7A-4FFB-8794-6D7370458224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变更历史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612ED0AF-E629-4DC0-8547-408F3CF8C379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554833CD-2013-4082-81F2-C62F2A9E7392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B16C0B2B-78B6-4DE1-B5D7-D8B5430F1D08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3DFAE26C-9B3B-4854-944C-6DF454680863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模型注册 / 审计记录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34EEE4F3-DCEB-465F-A29B-8B75326A9937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666402D3-C543-471D-9C87-65700AD9F291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变更历史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39E30789-6B06-4546-B9D2-1A353A5A35FC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AB797AE-4DD2-4E3A-B120-FF5B89EE759A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模型版本与灰度配置用于内部 MLOps 管理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06BEDAD6-32AF-4316-8341-DD1EE79AE9C5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F5521AAC-47BA-4FF8-A41A-B6A84408831D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E364FDD0-CDCD-481D-B9F4-B3930DD108F1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A5FA54E5-4663-4085-9157-A032B2D6B0EF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1977E512-216E-4388-ACEE-4ED0D035A01F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531D4E5E-914C-4B75-9E06-F375191F5DA4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审计记录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BD9F8319-3B70-43B0-B25D-0A9FA1D2E3CB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06DA4CD8-BE31-4D79-8B8B-8806E5EC5EC5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模型版本与灰度配置用于内部 MLOps 管理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F8A7A872-3EB3-4F0D-BAA9-CAFD8486BCC0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9F1E1F63-79D3-4234-9398-473A7B6E5DEE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灰度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06604C5B-6DE3-483D-8A39-3F353A265C27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977626B4-175A-4B01-A20E-640BDB48238D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归档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4578A43A-D6EF-4313-8867-11A254F6C9FD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573FAF01-62AC-423D-B768-249193DFDFBE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A3127C38-0A73-4C3D-92BF-48375A5CE111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9918A844-00ED-4D87-8F29-D07748C02015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生产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26381935-B545-45B4-B1C0-7BD2FB1C4FE7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DEB73D55-368A-44B2-82C3-29E11CDDAD9E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灰度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4A20884D-1D4F-4F18-88FC-850375F31699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52C34703-5898-4DC2-BF9F-4EDA7048EE7A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归档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DF45FDC0-7613-4A70-82F8-4C052B46C30B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F32AC072-0E3F-4B54-BDF4-A47DC03057F5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废弃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4B3BBD2C-6D06-4B3F-8413-EA41F65EF2E4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859B4DD0-1E76-4714-AAF2-910C33BEAE23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4F104BA0-0317-4A9B-A38E-4890EA7CA345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5E9AEA26-AC4F-4ED5-B7D5-F8AC6C4ED1D5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65EB47B7-3F44-49AF-95E6-40FF50EFAC15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9F9A48D6-8EAC-4CBF-A8A9-B49E9A05CCBF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5D4CE443-97E0-4608-8908-93EB7AB8A538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模型 / 版本 SHA IC AUC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62761B74-C665-4D53-8DB1-0D4666BEA7B2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EED0482D-3104-40E5-BB37-ABC91C79E6F9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详情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9D3BF6A0-C713-450D-9924-AEEA0FC96708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494FD073-BFFA-4FCE-978A-53D3AFA7D411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Kronos-base v3 4f2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37DE595A-21B0-4343-B703-6CD8A1A26E0A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97FF2ADF-41BC-4AAE-BAB5-84B08C237F65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提交复核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0F2AE123-7BC8-4CB1-90A9-3C6A81937661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1273C4F0-185F-4F6A-9563-952ADD945938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ensemble v1 c3d5f2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2AC0755A-2446-486F-9A51-34450D8924AC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E4487F41-5344-486A-B41E-07D6D7043D34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导出证据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C80850C6-E14B-4489-B48B-76680F8D3873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9C8B2453-8A7A-44CA-AC33-FD80CC45AF96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B47DE61D-FFFC-49CA-9F0B-02C34936A021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09FE1416-F57F-486B-872B-072DA1EC032F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详情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9685D892-F830-41F4-A0B6-DF914CD2C4CC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5A665A3A-259E-4FA1-B8C3-7F856F02BD44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4E775105-6DF4-4641-B355-9161BC64E78A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453C927E-B20A-4355-9972-E8E947F0E843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2FFD7C44-6FBE-4EF5-AC0D-8CF00FC5B7A8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739D7586-5260-477C-8105-535F42AC481A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导出证据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70D5B194-5E7B-4421-8652-277A7A9CE07F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2C406AF-046A-463C-96AB-55C10CE8F309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导出证据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E189415A-39B2-4E27-9002-ABB1BA98E5B5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92BE72D3-E248-4A9A-8D0E-A59F04E13400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重新检测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5C03F1C2-05D3-4F2E-8A40-85A25425AF1D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文件：model-registry.html#audit-log</a:t>
            </a:r>
          </a:p>
        </p:txBody>
      </p:sp>
    </p:spTree>
    <p:extLst>
      <p:ext uri="{BB962C8B-B14F-4D97-AF65-F5344CB8AC3E}">
        <p14:creationId xmlns:p14="http://schemas.microsoft.com/office/powerpoint/2010/main" val="100686729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8C24721A-6E40-4F18-94BA-E7C21265FF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7371EBAC-F51E-42B5-857D-FD5EE8C6A314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BDFFE0-B00E-49B6-AFA0-1A3996258834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BFF510-C877-4C4C-97B5-2306AAAC043C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CDA8BAE-B0C8-4B34-BD58-5829EF4A8553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B6F254-833E-4C1C-BB69-E684AB9BF831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B17A409-0C96-4E9C-AE65-F616BA4C69C0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4D32ED8-BC5A-4119-9A46-6433ED154562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735F973C-ED59-4E20-9B6B-FA85BFDE0506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B07C2B-3185-4606-9EBA-6C3AD10C22DD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E6B58B2-AF34-43C7-B2C4-261C3D66A371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FE5EE2-A201-463A-A02E-E588F65AF85B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91FE768-7EE4-4B8B-85E7-08D1828B5CED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4BD48BE-DBE1-4531-9FFE-A585F4EA5435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915D55B-FBC3-4F52-AADC-FEB76E9844A8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0C554AE-A387-49F9-AA9E-76B750D68538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38E1FF5D-1028-46F1-B327-FBDCF0610DC2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BAE02C4-5BD8-4227-AD94-230032F45186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7AC48C3E-46E9-4F26-BB69-5D0A7E53C573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4ECB835-8B95-47BE-A7E3-EF03B9664741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C547B41E-ED72-4BD2-9284-EC9CBDFF17C6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1C0E41A-A825-48B7-84B7-B51122A20A9D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D89CCF2-3C08-4D5C-A8A8-6C73B105EAE7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2CFA1671-D842-44D0-BD52-DC8B0EF4166A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E32C6-9871-430D-A44B-C5612ED4D3F3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ABAF9789-128C-4CEF-BD4C-AA4B9343856A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387C523-58B9-4CF7-A4C8-6CB78849D0AB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F99177C3-1A97-473A-8FEA-9F38DCDFDF9B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D41D357-7C55-47B7-8EE8-CDC4BB9539A3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FF26C806-EAC7-4680-9640-9C822A30D2E8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2CE0341-3EDF-42CA-8360-0ED48008054B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3FFDF25-40BC-4625-B8EF-24A18061961B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F307B4DD-4E1D-4B45-BFF6-DD065ECC4C20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9D776B5-B676-4D5B-8564-650C85B86FA6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C10DD0B3-B34B-49D6-B0C7-CFD3FAF5B6A4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91D0FF8-2B48-4EB0-94C8-5D2A44EBCC50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F9BFFB97-4692-4E4E-950F-7FAE5ABFDD80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75CF8F96-AD50-4207-A6DC-C5879E31D9BB}"/>
              </a:ext>
            </a:extLst>
          </p:cNvPr>
          <p:cNvSpPr>
            <a:spLocks noGrp="1"/>
          </p:cNvSpPr>
          <p:nvPr/>
        </p:nvSpPr>
        <p:spPr>
          <a:xfrm>
            <a:off x="133350" y="519112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04800E2-E604-444B-895A-AF54A10C4560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19A2675A-08FE-4588-97F2-BCB50C0E4BC6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038FF59-B36A-41DA-97BF-85BC9D374111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数据更新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5C707A5-A1EF-4D15-8509-58162E23C387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4EAC405B-2E24-4692-84C3-2558437C8C59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D628510-2919-43A8-AC61-6B94725B516F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6F213500-8BCC-4360-AFDD-39E0E2DD0425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D23346E-E8EA-4427-9DF9-3C4138A6A862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6CAC7FF9-E393-4BB4-993C-206709B430E2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A949905-7502-458A-A995-6E7572325063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4D719DE-4B00-49D4-A44E-81E1BFCC52D2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同步总览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D0FB5D3-7F10-4244-984B-29DE04A8096E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源状态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ABC39F0A-1C4F-4EDB-8CAA-C4259D0214D9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3E7C32E-E729-4A47-8288-683576791245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F0D5878-FEDF-4F1D-AA5D-43CDD06941A0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质量检查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2AE8029-16FC-47F5-B13D-8B1914A5A611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缺失 / 延迟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B99D2A63-A39B-4179-9851-07D09ACDE551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A6E0291-EDEC-42BA-B4B6-1E3876C6D99C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C4BA655-C692-40BD-8CBB-40EE77910DB3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同步日志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3A160D2-0BF0-49EC-9D21-D46E6F3CE524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任务明细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F230C75D-1067-43ED-9E90-F8F3B53A3779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EF6B25C-026A-40B9-BD0F-ED39F7A2F105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C843374-CEAC-4892-BB76-FEB6B0876AB1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修复动作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443BD14-13DA-4AF9-BAE3-39A79B870385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重跑 / 补数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39F0796E-DA29-42DC-8EA1-67070FB766BC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422C380-E7C2-44B5-8426-250D40B93A77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528B6F8E-93AF-4267-BE31-D3039E04807F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数据更新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58D3B84A-3181-4208-AC19-3D2BC00CCA78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EE70E64-B9B8-4CAE-8E1E-DFB19E9DC1FC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43330C7-A5A8-419D-B235-6FA04ABD2FD5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同步总览 · 质量检查 · 修复动作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D09177A1-78C6-4770-874C-49240EA16859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13D2237-E42A-48D2-948F-17109334F6A5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8FC240E-35E2-4213-AF10-63A3D19C5110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83% 健康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9C3ADCA9-2307-4B27-82F5-5CC535799002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18868D59-99D0-4427-BBB4-9BCCCF96AF3A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7B0B3B7-53C3-463A-B83A-24483DC50A5D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盘后同步待执行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A99B31EA-D2F8-458F-9885-F5B1B61159E2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60 · 数据更新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2D95CD6-85D9-485C-97D2-C9CF19D451FD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同步总览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AB0F680D-026F-4A4C-B8F0-86D961B5734B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源状态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0C71D87A-EBC3-470D-9364-3BC9CA69B104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5459E8F3-44BA-4D32-ACCB-94FE6B3C4128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EB0CA1E7-F658-4D1A-A19B-E035CCD635A0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34B3E29-0419-48A2-9894-A0FF71771A2C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数据更新 / 同步总览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2960EAB0-760C-4F6C-96F7-CFCDBA91BA81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07DBA74D-5BA1-4B52-B0D7-A06BEFC2EFFE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源状态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F8A8D5FE-BE9F-4634-B971-1B52B8E284BE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362D31E-FFF0-4884-9F32-8B299B0CE697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异常源必须先修复或显式降级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B2CBE094-23D6-4679-94C7-C163581A13A8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4B25A768-CBEF-491C-9027-AD82BE600652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8FA64F98-DAC1-4C1F-98AF-BF5887133267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56FD1F0D-411D-498C-B2B5-F57721782A2E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8E499E31-9067-4BF0-9549-B2BC8BDE2EB3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9FDC5B43-4EA0-480B-A2DD-DA78EF7C254D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同步总览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4505A11C-9CBC-4B8F-8D38-2857431C9B30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E3193B08-055E-422C-A658-B3C756A06350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异常源必须先修复或显式降级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CFE394C-6B34-4170-B09B-AFE86517FDC4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AF0168EF-4703-4A01-8827-4AD4E96883BD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全量同步会排队执行，故障源优先进入修复动作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4EAB34CC-EF98-489E-A536-D4726C3526AD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000EE907-4F6E-444B-835A-D3FE480471F4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创建全量同步 查看修复动作 &lt;div class="card"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F5DA2E69-ADC3-4894-85D5-D256BAC6AE63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9EE72657-6759-4971-A352-41AB2AFD7C44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1C600436-EF3D-4BDF-B782-470A2ECB4255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4A59A7F0-A9B4-4ACD-8ED3-D8E0812DBC27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异常源必须先修复或显式降级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DD5F884A-DB0B-43B2-BEDF-020B0B4002EE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03937FA7-69F4-4D72-8ED7-130423F70DA6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全量同步会排队执行，故障源优先进入修复动作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CF060178-75DA-48A1-A50C-C910D9ACFB4C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818325B8-8B7C-485F-BCFB-AC615BD40245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创建全量同步 查看修复动作 &lt;div class="card"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315FC60D-5662-49F1-9C49-B99E6A3256A8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577576AE-8BB9-4118-B8C6-7490A0802BDD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DBD8D530-C530-4C82-8E2F-3EB437C5CEB7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91CE9F0E-D611-4B6B-B661-386AB6C40DA4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969ABE25-496A-49FC-BEFC-44B1DF1FF4F0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D34D61B3-D7D5-498E-AFEF-993E44039EB0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DEFA3930-FD32-4029-9695-764676B0B093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948AE4BC-78D0-42B3-BA3A-DF5A09F1A890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C98160A1-B00B-4F2C-A5B9-2A469AF0C0F5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异常源必须先修复或显式降级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9D4E4CDE-50F3-401D-8BB2-D40714E6B12F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ECB4C4B8-624E-4C79-AFCF-37F25D3CE797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创建全量同步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C6197BB4-069E-48EF-9781-57ADDAA1F0E6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FA3B4DF1-B6EF-4FE2-AF30-02545F791C6B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全量同步会排队执行，故障源优先进入修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49A8BC4C-0CE3-4A1E-BAFA-235A6FA43324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8ADDABAB-3B3C-406E-B83C-96058AE8088D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查看修复动作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6F4AEF25-19F7-4794-B14C-00BB477E81C4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F7D732FE-766C-4D23-A5DA-2169D4BF5C20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创建全量同步 查看修复动作 &lt;div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F78BB251-5788-42BA-AA77-56FE4E75D180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ACF52770-97AA-4030-AF48-0AE1834D5EC1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6EFBE770-DD6D-4047-B06D-CD2AD1C4449B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334875A5-72FF-4EBD-AC38-47C8349C199D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20735681-FDD6-49A8-9571-07B1CE1AA2C1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57772451-01CA-449F-AE01-7AF86CDA12A3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创建全量同步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B013AAEC-78E8-433F-B287-D90AAD2551C8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C0689475-3AAC-4980-B00B-BB96EA995714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查看修复动作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0FC52C29-B0AB-461D-9A26-C879E3ECB7DF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F692920C-1C3C-40DA-ACA6-5CE9B56DAC2E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查看修复动作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C67C32AF-DC0C-4A77-A373-60DC3D3A538A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6F0580A3-C79B-41F1-8D70-24678D381299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4E14F95A-490E-43CA-829D-391AFED044F8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E74A9B15-7054-479A-9F17-D379241521C0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19A883D3-852E-48F7-ACC4-795E7F7AE8C6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401F9914-54DC-48BB-A176-E64A71D2D16B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67A249B7-43DF-42CC-BC7E-858A0FFE9EC3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文件：data-update.html#sync-overview</a:t>
            </a:r>
          </a:p>
        </p:txBody>
      </p:sp>
    </p:spTree>
    <p:extLst>
      <p:ext uri="{BB962C8B-B14F-4D97-AF65-F5344CB8AC3E}">
        <p14:creationId xmlns:p14="http://schemas.microsoft.com/office/powerpoint/2010/main" val="19384908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E7FCED0E-D120-4D0D-A354-DF30CD52D8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61BB919D-8BAD-46DA-A0CE-202F0CCC5713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B29F85-7090-4F63-AF24-03D7A63403BE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7CCE9C9-D711-4D24-9E1C-2F857BCD79B8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B4C39CE-95BB-4318-8CC0-3D713787FDE9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AF8BC11-FBB9-48C5-B462-6B1A471667A5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E44EB451-D2EA-4C66-A5F0-CED95814BFFA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1CF35EC-10DA-40D7-820C-E219E94C2160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8A50862F-D958-4BB1-889F-13A623B33076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6F5B7B-9B38-4C57-AB33-C687E4B03A7E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D5738E3-3236-4A95-B1DB-49EA53BAFD0B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D10875-7EA2-4E04-AB57-525125C8F26B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80B70A4F-4F67-439F-9068-F208BD4F417A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715E640-06D0-4B51-AB1B-23C479E7A173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AB889333-BBBF-439F-93CC-1094B9F99C47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354736-E481-485D-8E60-6136FC3B2A13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D1FA071F-E2B3-4F13-BE9E-868F54F23C09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1F9CCA1-B987-4E81-A0D5-CD92EA77514C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FB595CDD-797A-412B-A09A-A62F3DBDB15D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2A2A34E-1FEA-4B47-9A2A-71B339AF62C8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CE2978EC-301E-4ED0-A0FA-627DEF70646B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4A3C6AC-B6B3-4AF3-9354-A556D3B79DCC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A124412-A67F-4543-842E-8B1935BAF240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D294A78A-3E40-4844-8339-603DB6B9F06F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602E826-8E12-43EC-8382-2C9065F559F5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44FD6F8B-2402-4BD7-BA9B-DF67D2D876BA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B19E5F5-4608-41B3-8CBF-8AF4D7FBE348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4754E1A3-BCE6-4901-953E-7B635BF85830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CE4F0D8-8E22-44B1-BEEC-365A038CF137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819744D5-9B25-4969-8056-A76E6AA1BD5A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0429F2C-97C6-4895-9DE3-9A3A84901F4F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96CBA13-231F-4B69-92F4-FBB4A8F2491F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D87AA688-FAE4-4E8E-8DD8-9D53CF9C2637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487E41E-6204-4AC1-A861-8CDC10936637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8CEDCD78-973C-439C-8630-C99F9FF65C78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CB3ACE7-8901-4E4B-A01A-73F0C37C4E7F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612D6D1E-FF9F-40F8-839A-E7CC23E147DE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9CEBC264-1C21-43B8-8748-6F5D91FE26C9}"/>
              </a:ext>
            </a:extLst>
          </p:cNvPr>
          <p:cNvSpPr>
            <a:spLocks noGrp="1"/>
          </p:cNvSpPr>
          <p:nvPr/>
        </p:nvSpPr>
        <p:spPr>
          <a:xfrm>
            <a:off x="133350" y="519112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DB874FD-6A2B-4EAF-89D7-C9C0C8CF026A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75F344CF-BB95-4555-B36E-1ACBD91765BB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4B8E24E-9B74-4C81-A7E4-13C1096EA621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数据更新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41750C-9592-4F74-9024-09C44358FEDD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58D33985-E606-41C4-8601-33E06C2FF80E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CCCB09C-BC7C-47A4-92CC-BBA043AA81FD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 dirty="0" err="1">
                <a:solidFill>
                  <a:srgbClr val="3D8BFF"/>
                </a:solidFill>
              </a:rPr>
              <a:t>白天主题</a:t>
            </a:r>
            <a:endParaRPr sz="788" b="1" dirty="0">
              <a:solidFill>
                <a:srgbClr val="3D8BFF"/>
              </a:solidFill>
            </a:endParaRP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9E97C197-BC5D-4A78-BCF5-1CBD8D36E39E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87890C4-6633-4B5D-8626-B84E38C17237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5FB99254-DA6D-498C-AB90-27950AC68B3D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A9A97D6-D8D0-4471-88E5-A745CAABE201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41A4F83-E43A-48C4-9E58-F855B61FF3AC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同步总览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717BB3C-2EFD-42C9-8074-5012C0B9A0E1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源状态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C9142780-3311-41FE-8D3E-3A0D8A1AA4E7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4903C5A-8BAF-4772-8F40-3C45EECC6A64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08AA6B0-B261-4954-8C5F-8CBED743CE86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质量检查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27E0426-D178-4D29-A229-1BDA334C3ED4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缺失 / 延迟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572B6B47-710E-4607-943A-360F1AA2736B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3D04AA3-6483-4F6B-946B-9EC16C70BF9F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D890AF8-0F58-408B-B01B-98B4BFD2B6C4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同步日志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A820E79-39F2-4031-83A0-1E2303D015BA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任务明细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BD147E1B-AD65-407F-96E8-12EC6915718F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F29940A-8E40-4B98-8E10-CF5673348212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D693D00-8903-446E-94E8-5EE0707321EA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修复动作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01C8BCC-F7B9-4C12-BEF9-E6CD7A3D6B06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重跑 / 补数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F323A43B-3B8C-4170-AF46-982AEE22388C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F554FD7-9A64-4D20-ADA1-D72A534E7032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05D7F5FB-4EDA-4A3D-8839-427074274459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数据更新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AA61BAF3-F13F-4AB1-BA87-9D011A85DD6F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AE62804-606C-40A6-9CAE-AD61AC850F1C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98C8D11-130C-4AD8-A75C-573CA2F2A74D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同步总览 · 质量检查 · 修复动作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7CA55FF6-B01B-4520-A429-CE6C653A213D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B4283A8-B6F5-48CA-887A-18C3BBECEDA1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1EBE696-D684-4F20-9B73-99F2D24023A0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83% 健康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5000A822-E29C-4AC8-8F91-BDED35EC394D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46EF90FB-4DEA-439A-A28D-3972A07FABF3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CBFFDAF4-B4EF-4B7B-B98C-A4C755905D3D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盘后同步待执行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5A4DF4D8-B7B3-4FB5-8697-4F4714CE3CD7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61 · 数据更新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B8B3F1F-9150-4B59-A33B-AC84E134CE3F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 dirty="0" err="1">
                <a:solidFill>
                  <a:srgbClr val="1A2230"/>
                </a:solidFill>
              </a:rPr>
              <a:t>质量检查</a:t>
            </a:r>
            <a:endParaRPr sz="2550" b="1" dirty="0">
              <a:solidFill>
                <a:srgbClr val="1A2230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2A6A7AC-D9A4-4E7E-97A0-8747D121FECF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 dirty="0" err="1">
                <a:solidFill>
                  <a:srgbClr val="52617A"/>
                </a:solidFill>
              </a:rPr>
              <a:t>缺失</a:t>
            </a:r>
            <a:r>
              <a:rPr sz="938" b="0" dirty="0">
                <a:solidFill>
                  <a:srgbClr val="52617A"/>
                </a:solidFill>
              </a:rPr>
              <a:t> / </a:t>
            </a:r>
            <a:r>
              <a:rPr sz="938" b="0" dirty="0" err="1">
                <a:solidFill>
                  <a:srgbClr val="52617A"/>
                </a:solidFill>
              </a:rPr>
              <a:t>延迟</a:t>
            </a:r>
            <a:r>
              <a:rPr sz="938" b="0" dirty="0">
                <a:solidFill>
                  <a:srgbClr val="52617A"/>
                </a:solidFill>
              </a:rPr>
              <a:t> · </a:t>
            </a:r>
            <a:r>
              <a:rPr sz="938" b="0" dirty="0" err="1">
                <a:solidFill>
                  <a:srgbClr val="52617A"/>
                </a:solidFill>
              </a:rPr>
              <a:t>原型页内所有卡片、按钮、表格均为</a:t>
            </a:r>
            <a:r>
              <a:rPr sz="938" b="0" dirty="0">
                <a:solidFill>
                  <a:srgbClr val="52617A"/>
                </a:solidFill>
              </a:rPr>
              <a:t> PPT </a:t>
            </a:r>
            <a:r>
              <a:rPr sz="938" b="0" dirty="0" err="1">
                <a:solidFill>
                  <a:srgbClr val="52617A"/>
                </a:solidFill>
              </a:rPr>
              <a:t>可编辑对象</a:t>
            </a:r>
            <a:endParaRPr sz="938" b="0" dirty="0">
              <a:solidFill>
                <a:srgbClr val="52617A"/>
              </a:solidFill>
            </a:endParaRP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E5BCC580-6930-4BD0-A5A8-90B304C57BA9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9F0CE90-7E7F-436B-BA97-670D63BCFE48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E04FD160-610E-4F94-B912-16D6BEEB4E47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8E83DDC-4BD0-41E7-B4E3-4B94D7179C37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 dirty="0" err="1">
                <a:solidFill>
                  <a:srgbClr val="52617A"/>
                </a:solidFill>
              </a:rPr>
              <a:t>数据更新</a:t>
            </a:r>
            <a:r>
              <a:rPr sz="885" b="0" dirty="0">
                <a:solidFill>
                  <a:srgbClr val="52617A"/>
                </a:solidFill>
              </a:rPr>
              <a:t> / </a:t>
            </a:r>
            <a:r>
              <a:rPr sz="885" b="0" dirty="0" err="1">
                <a:solidFill>
                  <a:srgbClr val="52617A"/>
                </a:solidFill>
              </a:rPr>
              <a:t>质量检查</a:t>
            </a:r>
            <a:endParaRPr sz="885" b="0" dirty="0">
              <a:solidFill>
                <a:srgbClr val="52617A"/>
              </a:solidFill>
            </a:endParaRP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43A3B392-09C8-4588-8F0F-755A31D9BC08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8CE919A-4AAD-4BC2-8334-08793DE9E203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缺失 / 延迟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E8635387-7363-4509-BC4E-8D69A9B602F5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9BBB79BA-C2EC-4DA5-B22C-2E308AA24BBE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数据健康度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0F7EB868-DE96-4027-9DD4-51526B35279A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1AF1CCA7-EFFD-4747-852F-9D987C44F186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84CBA763-AFEE-4502-9982-3CE745E77BB2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5527E067-1A28-4F85-B3C6-95DCCC4B64AF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39E88152-1C89-45BD-9473-F92C3433A3B0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0AD2F47B-5FA3-4396-BE74-5B445DDB3C13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质量检查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8E7B11E2-5CEE-47FB-8525-E4AA1DB0DCB4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526CB4A-6A79-48C8-B13D-EAD69DB817B8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数据健康度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2323AA69-01A1-468F-8460-D8E81CED8BBD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0F3128D0-F905-4299-8999-4729F16C1E1C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A股全市场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F9B7783A-C42B-4651-8A3A-722DA0B65929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DC3ED0F5-C1E4-4890-AB44-3B1838B3DAD7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行情已收盘更新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405673A3-07D2-4195-B05C-A7E029063BF6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3708774F-7CE7-4FB4-A4D7-536E4CCBD57F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A5102085-E795-4293-8E05-B86A3EDAC955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B861E1D8-A774-478E-8923-D1530BBEF319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06-25 15:02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CC23A832-AA54-402E-B11B-5AC0286A8983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B99FC931-78B8-41B2-B972-C3F052CDA970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A股全市场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45AD156F-0F69-4281-9EB8-1B35F5821747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265AA424-79D1-40E8-993D-579B10B9891C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行情已收盘更新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FB8D81F8-5342-434A-99C9-F816733E1958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0ABCEAA4-D0CB-462C-A827-5A73EE115DC3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盘后行情同步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92E83328-2F31-434E-9D9E-1D580146AA2F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DE8C513A-8D6A-4FCC-B5F6-C39ABCFE01C7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03C6792C-DE90-4164-B510-5175425F24A7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5790BE12-67F1-4552-94F7-F3132F06AE09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AE800E1A-A633-46EB-B81E-3AC617558E17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C2ED9F43-8756-49CE-91A0-1EEFD759E35B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94EE36B7-B81F-43F6-8D08-CA39E5535E8F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06-25 15:02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0C3F5BB2-DCD3-403D-8EA4-B6CAC57C232D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F114105D-E854-48FB-B807-FBB54601CA90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提交复核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D25E9F58-B87B-4617-B9C2-728D6DA3E80C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C534399C-21E3-4882-812D-881671302108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A股全市场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44C71388-EB0B-4AE7-9F81-D6589EB9DC38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A417975A-70A8-4729-B3F4-FBACC775D543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导出证据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9781B5B6-EE67-47E6-BBFC-801A119160C0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A33AB0D6-FE63-409B-90D5-119574CC74C2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行情已收盘更新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40BCAF44-0F50-4D44-AEF4-E5AC572BD2C3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FA0038B3-DDB5-4AA9-93D4-2728D84455E9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重新检测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358497A7-F15B-40D3-9635-41DB68022E04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2DD59A8C-9851-4609-ACF9-3B85FC85616E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7C2C3922-A8FA-4F7A-B5A0-B832E9C9449E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836A7567-FBB0-4D80-8F19-A8F4A410CD4A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提交复核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41DE478B-94D4-4F75-9BA0-4759FF489D2A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F62165D7-2ED3-4B63-83CE-35F153A9773E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导出证据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453B0432-DC5A-457B-8024-DCEA5A5789E5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F3E55D88-86D8-4F91-9F37-0AAF4E7DA5DB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导出证据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4DACD62A-12B5-4747-BF3F-DBF043F52CAC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D64166AA-F4B2-4AB3-B86E-3557B4D48C40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重新检测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28F4F379-8CD0-4FE8-A971-B5AA12FB1002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A1C33F6F-7073-43F3-AE27-8B746A25B191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重新检测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71297FA2-2D39-43D1-9AD4-DE22122EE097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39C5F67A-DCA2-4672-9930-99A7731AFD23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写入审计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161F17CE-A0EA-4DC5-908D-A591E9B6C755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文件：data-update.html#data-quality</a:t>
            </a:r>
          </a:p>
        </p:txBody>
      </p:sp>
    </p:spTree>
    <p:extLst>
      <p:ext uri="{BB962C8B-B14F-4D97-AF65-F5344CB8AC3E}">
        <p14:creationId xmlns:p14="http://schemas.microsoft.com/office/powerpoint/2010/main" val="10956608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5CB2AD6F-085B-4170-A1F3-E477C83FF6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24A76C4A-97F2-4653-BE01-F7123AAE946D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99B6A2-FF6B-450F-87EE-9FFD71E8977D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D9C6BE-A108-4A68-B6ED-8DD6094C7833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DEE263D-8570-47D4-A6EE-619FD93FABC8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341829-C626-46EC-92D3-C4B708EEA0EB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51F3FAE-66B3-484D-8EF5-3B123E15D1F1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2C63FE-5E38-4860-9398-A43F5428DB33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9B5810E-AA1F-4536-A70A-503E513B27E1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426996C-534C-4EE8-8207-6E750961B9C5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0818270D-1284-4C6B-8BDF-AE77C5F6BD29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59B0487-0F1E-40BF-9BCB-341B987A7761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48B2DDCA-DE07-4866-9A11-F529E77CF3CB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1461359-B33B-48C9-9832-1F01F4BB286C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1747B3E-7CE8-409F-A92B-A10203090143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C28E080-1427-4705-A356-143847F1963C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  <a:endParaRPr sz="765" b="0" dirty="0">
              <a:solidFill>
                <a:srgbClr val="52617A"/>
              </a:solidFill>
            </a:endParaRP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92A84222-C83C-4FB9-B8A9-69B34AF9CDA3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A2F08C-9813-4963-9CD2-EA5A717F916F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00880D00-8C2A-490A-B6BD-EC8412825167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0FC7EBF-BD74-4B47-81E5-450B44D99F94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2A2D0AD-8A32-4B2D-AFF6-68913E86DF85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9A94647-669F-4BB5-9F12-EB5944DA0AEB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4A2E88B-E35B-4A92-BBE3-3486024F4DD5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E01B83C4-EE87-4BC3-8F65-3F9418E08C5D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294DC2D-851F-4C25-98A5-656D9C5A4881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4ADC9977-6473-412A-9E17-346D361EA37A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82C3FC7-2CB3-4A07-8342-EA87AC5D9532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47760E02-7D2A-4655-95AA-BDC5ED8E65E7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C5DD09B-777C-441F-9E14-5E56668537B4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8B975562-428D-483D-AF88-EA6FC166DF72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AED0A33-7369-4315-83D2-51FC992CB7D2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C555811-906C-466C-BE1E-48B32473C855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06B47EBB-D6F4-4B8E-812B-0DDC9A3ACAF8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38DB504-FE85-460C-AF0E-E798921DE9A8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55FB8536-5654-4FFF-82A4-35E82A5FEB75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17C2DC-05D3-4FDF-A126-C614F63A3B41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64686860-075D-4D07-9A90-888003D9CF5E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1D2833A6-AE8A-4452-93BF-FE23BA36B236}"/>
              </a:ext>
            </a:extLst>
          </p:cNvPr>
          <p:cNvSpPr>
            <a:spLocks noGrp="1"/>
          </p:cNvSpPr>
          <p:nvPr/>
        </p:nvSpPr>
        <p:spPr>
          <a:xfrm>
            <a:off x="133350" y="519112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C28CCD2-A19E-4B9D-92DD-AF31EBFAC9B1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EE0B1230-E807-4834-BF12-22A41A6DBC99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D6BE725-BB3E-48EA-97BD-9DAA6EC1E7A6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数据更新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394BDBC-3866-40DC-8885-FF15970060E7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A4C99DF5-8510-46C7-849F-A9774EA45916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792EC24-BB03-43DD-8632-39B9CE0BB887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37E8CF24-D5F5-4021-BB87-9000FEC149E5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5F92285-61A4-483A-BDC0-C188E966D749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E03BDE30-1555-4163-B05E-97F6415AA185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A530D04-6710-4BE4-B843-A4A33BE9AF78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E9F15D7-A655-460A-9CB0-AC49760D5F2E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同步总览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1D3403C-CD0A-43A1-A991-7895F027EFD9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源状态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097680A8-673D-4C2B-81A7-8566382BBB2D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D573335-6904-4641-8C6B-DABE2D75B58C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1FEFA35-9056-4A8A-A5C2-4D5DD99E0A04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质量检查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FC6E16B-5589-454F-85AB-FD6F33E05ECD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缺失 / 延迟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51E23CB2-7DC2-425D-8D15-59B6F007C5A7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C69BA6D-B039-40DE-AC8B-39E64AD60DCD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012B04B-DF39-4C17-A5E3-B748BA0414D6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同步日志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2A8F2C6-7B98-4592-BE42-D8FE60666175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任务明细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9FFEA0C6-62BB-4B18-8BE2-7C6F0EED6457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537B190-F133-4E5D-BACC-A392C2880ABD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E22AEFA-6651-49E0-AC8F-9BDFA8541EA7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修复动作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ACF5EF8-D73D-4834-B6EB-158366046C7A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重跑 / 补数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C83C6122-DF81-48CD-A589-5FFE764DF970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8D5FD7B-CC96-483E-AA7C-6FCAB3CA6585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7221F8A-781F-48FC-B034-9587994C6EA4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数据更新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8DC70417-0871-412D-A4EA-13EEC6C0A610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A2AF4DD7-D4D7-43AA-9349-E3C40EEA13C6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F3BC2AD-F56D-46B4-9879-38249C966C0E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同步总览 · 质量检查 · 修复动作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3EF0D976-AA50-491D-81C3-80F76525A09F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BEF01EC5-6D03-4433-B97D-8F9F845BC905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4B30EBB-169D-4069-8E8A-5FE7F5E24FA7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83% 健康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F915A58C-5EDE-4076-BA6B-C04E849BC933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5D5CDADE-758D-4ABD-9EA9-32A0FB79BB6A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0A1D0ECF-2AE0-4848-B41B-085C577ACF02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盘后同步待执行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3E9C5D8-AB8B-4A98-89DA-9E0D268172E8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62 · 数据更新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31F7EA32-8555-4FB2-AF05-0A2737D3A8BD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同步日志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79424900-D2CE-492D-88A2-F07A249E6AE2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任务明细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BD3AE176-7306-418F-868C-BBDD075FB891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08E759B5-E41B-4918-A938-5C8D1FD5D529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F6DF6D2C-F674-48E0-89F8-886AA3BD7C1D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B3FE2059-9265-4BCB-A408-33A4017BEE35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数据更新 / 同步日志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70819F25-C52C-4BB0-B9DB-7E147DFED861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1300798E-61C9-42F9-8959-50CEE41FB355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任务明细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FB985EDE-D4F5-47D5-9B9F-25E1285AB352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BFD56435-8C4E-4AB4-9776-7C34D69DC1B0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承载本页签核心数据判断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64693C0D-CB9F-43BE-8ACE-EC5492E0C224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9FBC8CA-CEFF-4F91-840F-8CB0500393FC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56B31265-D414-4798-AD1E-4E4D130A5720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7DA5ECFB-7B4B-4ACB-A883-BF3BFC096D9D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FCED2846-598E-4533-94FA-916DA7AC63CA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28D372AB-2C4B-4DA1-BDBC-EEFF6C757DDA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同步日志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A24AD04A-5418-46E5-9E6F-7A1D3A74CBEB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BB958C89-A9E3-4002-8066-EEF6D73A7C87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成功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65EAB086-538C-40E2-8B88-14C81E9B98AF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8454E652-38E3-4638-B356-85B11C56D1CC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部分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8E3BD8D8-415C-4D04-BE15-4C22E8224D32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89ADA69F-000C-453D-B870-D6CA6CB520D5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失败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167DE7E6-11D2-4912-A073-30239FCE0239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076D2551-88D8-41F9-B261-E7BDAC00A924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2D5A6BD3-C3B0-4FF3-9924-FA2A22130713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D117E9D4-6D51-43BD-A6B9-54759E69F5F6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成功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183B8B9C-BDE1-4B4E-A734-8B59EFA5B5AE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25A7C79F-9987-41FA-8E0B-A8F8D6D24FD1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部分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81A29D83-4FF5-4B79-A531-AB022F369B4C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C736CF8F-A44C-49DB-A284-007244168182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失败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FA53D60F-3763-4FC8-91F0-72DE73F102EA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182F13E7-1DA5-44AD-9636-E16482008F24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数据同步任务由调度系统自动执行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D1A9FD8F-6FCD-45DD-A4C3-A81F495295FD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C07BCC4D-494C-47DC-8C86-972F8A5EE2EE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83817206-512D-4029-A93E-1D91D67EBAD2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E1280456-F157-48DA-88CB-1BD3580A18D2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7D04B6CB-2D94-4AAE-AFB8-ED99DFC704DD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C6AD4C5F-6EB6-42BC-9006-99B9791D238C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D789C82B-715F-4310-AB13-D70A9527E7C8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时间 任务 记录数 耗时 结果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07489D0B-DACA-49BE-B8B0-4CDDEFBE8D65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3B9D88C8-2DF6-4864-85F6-C4807BC46456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全部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8A3ABCA2-FFE2-4E7C-BC3A-400EC87A1E0F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AB7A9E21-C52F-4179-B648-8937A9C35135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15:02:18 日线行情同步 5,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B753794A-E031-4C6D-B0E7-E391D883952F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2FB62478-0EF8-4991-841D-C023F8DFEC97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成功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F28682AA-6DF8-46DF-9219-18CD92A8929E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36D4B5C5-A3E1-4282-9C1B-CAC7E8785A41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15:01:30 北向资金更新 2 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D3E92DAC-0B5D-4335-9C50-0708F25392FC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A088E0CF-F228-4C8A-A5F5-D749F064349B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部分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E02D1C4A-52A8-4F8A-BDAE-CC363A109D2B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B3BF328E-CD0A-4B52-8F6D-3D9AB4629C6D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B9B1B27A-3496-4937-9518-C58D866C4437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F8D8BCDF-A987-4184-88FF-D3BC2B4A0C6D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全部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10A680E9-551D-449C-8E9B-ADA6CC159C14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4E364CC7-6501-405B-8F59-EC6F02A7B7E1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成功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EDEEED9C-CC9D-43C7-BAB9-D0B5306E9D22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716FB291-ABEA-4C27-A46B-30DAECAEB5E6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成功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1020968F-5D9C-4C22-9D6D-B22F6AC862C6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B7C33D5A-635D-42A5-A0FA-FBF4E9D5B059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部分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B59BF1AE-D444-48F7-84AB-D4C9DF6F90BA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6CE720DF-982F-4750-9B18-3EAE8FA43267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部分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5C2F5F29-7EBD-4CD7-A4DA-243E1695073F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A304C5C0-66F7-439D-8735-7CC01EC13FE5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失败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52B13A8E-37FA-4385-95FF-141138F3DD54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文件：data-update.html#sync-log</a:t>
            </a:r>
          </a:p>
        </p:txBody>
      </p:sp>
    </p:spTree>
    <p:extLst>
      <p:ext uri="{BB962C8B-B14F-4D97-AF65-F5344CB8AC3E}">
        <p14:creationId xmlns:p14="http://schemas.microsoft.com/office/powerpoint/2010/main" val="1002973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48DD2FAD-CEA5-4861-A37B-CB791AA5A3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57400" cy="6858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05109F25-EEA6-4B77-ADBB-279901B3F569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94076C-4B7A-49C6-9929-E8A10FF5FAF6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DFCFDD-858B-4ACF-BA00-DE15447CD829}"/>
              </a:ext>
            </a:extLst>
          </p:cNvPr>
          <p:cNvSpPr>
            <a:spLocks noGrp="1"/>
          </p:cNvSpPr>
          <p:nvPr/>
        </p:nvSpPr>
        <p:spPr>
          <a:xfrm>
            <a:off x="209550" y="666750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689F36C-0C02-4E46-8F4D-44144E94B04A}"/>
              </a:ext>
            </a:extLst>
          </p:cNvPr>
          <p:cNvSpPr>
            <a:spLocks noGrp="1"/>
          </p:cNvSpPr>
          <p:nvPr/>
        </p:nvSpPr>
        <p:spPr>
          <a:xfrm>
            <a:off x="133350" y="8763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CB1735-6621-44B6-B428-4F70E0E91AD7}"/>
              </a:ext>
            </a:extLst>
          </p:cNvPr>
          <p:cNvSpPr>
            <a:spLocks noGrp="1"/>
          </p:cNvSpPr>
          <p:nvPr/>
        </p:nvSpPr>
        <p:spPr>
          <a:xfrm>
            <a:off x="266700" y="9429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64289F94-7C3F-4EB2-8813-54F6D9D59A3C}"/>
              </a:ext>
            </a:extLst>
          </p:cNvPr>
          <p:cNvSpPr>
            <a:spLocks noGrp="1"/>
          </p:cNvSpPr>
          <p:nvPr/>
        </p:nvSpPr>
        <p:spPr>
          <a:xfrm>
            <a:off x="133350" y="11715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3C5DC7-2313-4ED8-A575-58B840167B36}"/>
              </a:ext>
            </a:extLst>
          </p:cNvPr>
          <p:cNvSpPr>
            <a:spLocks noGrp="1"/>
          </p:cNvSpPr>
          <p:nvPr/>
        </p:nvSpPr>
        <p:spPr>
          <a:xfrm>
            <a:off x="266700" y="12382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934381A-AE18-4421-8DDE-DEA16703658C}"/>
              </a:ext>
            </a:extLst>
          </p:cNvPr>
          <p:cNvSpPr>
            <a:spLocks noGrp="1"/>
          </p:cNvSpPr>
          <p:nvPr/>
        </p:nvSpPr>
        <p:spPr>
          <a:xfrm>
            <a:off x="133350" y="14668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82EBE95-9EE0-4AD7-8E2C-7858D7FFEE73}"/>
              </a:ext>
            </a:extLst>
          </p:cNvPr>
          <p:cNvSpPr>
            <a:spLocks noGrp="1"/>
          </p:cNvSpPr>
          <p:nvPr/>
        </p:nvSpPr>
        <p:spPr>
          <a:xfrm>
            <a:off x="266700" y="15335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477C2AE1-BD99-46F3-94E6-FD3030363A34}"/>
              </a:ext>
            </a:extLst>
          </p:cNvPr>
          <p:cNvSpPr>
            <a:spLocks noGrp="1"/>
          </p:cNvSpPr>
          <p:nvPr/>
        </p:nvSpPr>
        <p:spPr>
          <a:xfrm>
            <a:off x="1524000" y="15240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D90F86-009F-4964-B194-E26D657B406F}"/>
              </a:ext>
            </a:extLst>
          </p:cNvPr>
          <p:cNvSpPr>
            <a:spLocks noGrp="1"/>
          </p:cNvSpPr>
          <p:nvPr/>
        </p:nvSpPr>
        <p:spPr>
          <a:xfrm>
            <a:off x="1609725" y="15716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80191C7C-1866-4C84-976F-3DEF82348AD8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574B0DF-18A7-49E9-8A02-DF2B7766D435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E97CB9F-33A9-4DC7-99C2-F3C978580896}"/>
              </a:ext>
            </a:extLst>
          </p:cNvPr>
          <p:cNvSpPr>
            <a:spLocks noGrp="1"/>
          </p:cNvSpPr>
          <p:nvPr/>
        </p:nvSpPr>
        <p:spPr>
          <a:xfrm>
            <a:off x="133350" y="20574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3B3D53-FD68-4B90-B99E-6AB9D9B5E93A}"/>
              </a:ext>
            </a:extLst>
          </p:cNvPr>
          <p:cNvSpPr>
            <a:spLocks noGrp="1"/>
          </p:cNvSpPr>
          <p:nvPr/>
        </p:nvSpPr>
        <p:spPr>
          <a:xfrm>
            <a:off x="266700" y="21240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3388286-CE3E-4981-886D-D79A9BD7DDB7}"/>
              </a:ext>
            </a:extLst>
          </p:cNvPr>
          <p:cNvSpPr>
            <a:spLocks noGrp="1"/>
          </p:cNvSpPr>
          <p:nvPr/>
        </p:nvSpPr>
        <p:spPr>
          <a:xfrm>
            <a:off x="133350" y="23526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3B434DE-9F26-4B5F-B5C9-DE90D0760968}"/>
              </a:ext>
            </a:extLst>
          </p:cNvPr>
          <p:cNvSpPr>
            <a:spLocks noGrp="1"/>
          </p:cNvSpPr>
          <p:nvPr/>
        </p:nvSpPr>
        <p:spPr>
          <a:xfrm>
            <a:off x="266700" y="24193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F550C10A-5490-42D5-AB9E-3685662C5952}"/>
              </a:ext>
            </a:extLst>
          </p:cNvPr>
          <p:cNvSpPr>
            <a:spLocks noGrp="1"/>
          </p:cNvSpPr>
          <p:nvPr/>
        </p:nvSpPr>
        <p:spPr>
          <a:xfrm>
            <a:off x="133350" y="26479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DD7021-B7B7-43AE-8FAE-97940E640205}"/>
              </a:ext>
            </a:extLst>
          </p:cNvPr>
          <p:cNvSpPr>
            <a:spLocks noGrp="1"/>
          </p:cNvSpPr>
          <p:nvPr/>
        </p:nvSpPr>
        <p:spPr>
          <a:xfrm>
            <a:off x="266700" y="27146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AF3CB5C5-3721-4A2C-99EB-9D74EA023EF4}"/>
              </a:ext>
            </a:extLst>
          </p:cNvPr>
          <p:cNvSpPr>
            <a:spLocks noGrp="1"/>
          </p:cNvSpPr>
          <p:nvPr/>
        </p:nvSpPr>
        <p:spPr>
          <a:xfrm>
            <a:off x="1524000" y="27051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1D987A0-33CF-45D1-96F9-017825D615DE}"/>
              </a:ext>
            </a:extLst>
          </p:cNvPr>
          <p:cNvSpPr>
            <a:spLocks noGrp="1"/>
          </p:cNvSpPr>
          <p:nvPr/>
        </p:nvSpPr>
        <p:spPr>
          <a:xfrm>
            <a:off x="1609725" y="275272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7EEDE16-87E4-4894-BBAA-60724EDB40A4}"/>
              </a:ext>
            </a:extLst>
          </p:cNvPr>
          <p:cNvSpPr>
            <a:spLocks noGrp="1"/>
          </p:cNvSpPr>
          <p:nvPr/>
        </p:nvSpPr>
        <p:spPr>
          <a:xfrm>
            <a:off x="209550" y="2943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F501F332-466E-4E7D-B109-9C8D58C25F9B}"/>
              </a:ext>
            </a:extLst>
          </p:cNvPr>
          <p:cNvSpPr>
            <a:spLocks noGrp="1"/>
          </p:cNvSpPr>
          <p:nvPr/>
        </p:nvSpPr>
        <p:spPr>
          <a:xfrm>
            <a:off x="133350" y="31527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8EC579D-7A2D-40FB-86ED-C9B880463286}"/>
              </a:ext>
            </a:extLst>
          </p:cNvPr>
          <p:cNvSpPr>
            <a:spLocks noGrp="1"/>
          </p:cNvSpPr>
          <p:nvPr/>
        </p:nvSpPr>
        <p:spPr>
          <a:xfrm>
            <a:off x="266700" y="32194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08B194AE-CF62-44A4-B8CD-46BE4AFF7E49}"/>
              </a:ext>
            </a:extLst>
          </p:cNvPr>
          <p:cNvSpPr>
            <a:spLocks noGrp="1"/>
          </p:cNvSpPr>
          <p:nvPr/>
        </p:nvSpPr>
        <p:spPr>
          <a:xfrm>
            <a:off x="133350" y="344805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EDDD813-FEF4-429D-BB8E-ED67D2D2F196}"/>
              </a:ext>
            </a:extLst>
          </p:cNvPr>
          <p:cNvSpPr>
            <a:spLocks noGrp="1"/>
          </p:cNvSpPr>
          <p:nvPr/>
        </p:nvSpPr>
        <p:spPr>
          <a:xfrm>
            <a:off x="266700" y="351472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81DA857D-F165-498A-AD5A-156935D7F055}"/>
              </a:ext>
            </a:extLst>
          </p:cNvPr>
          <p:cNvSpPr>
            <a:spLocks noGrp="1"/>
          </p:cNvSpPr>
          <p:nvPr/>
        </p:nvSpPr>
        <p:spPr>
          <a:xfrm>
            <a:off x="133350" y="37433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B63E419-F1E1-44A1-A907-15F35B8EAF9B}"/>
              </a:ext>
            </a:extLst>
          </p:cNvPr>
          <p:cNvSpPr>
            <a:spLocks noGrp="1"/>
          </p:cNvSpPr>
          <p:nvPr/>
        </p:nvSpPr>
        <p:spPr>
          <a:xfrm>
            <a:off x="266700" y="38100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DFD294B2-6238-403A-97EB-847BA7C52A68}"/>
              </a:ext>
            </a:extLst>
          </p:cNvPr>
          <p:cNvSpPr>
            <a:spLocks noGrp="1"/>
          </p:cNvSpPr>
          <p:nvPr/>
        </p:nvSpPr>
        <p:spPr>
          <a:xfrm>
            <a:off x="133350" y="40386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30CF773-012B-4216-908F-78E6092E63BF}"/>
              </a:ext>
            </a:extLst>
          </p:cNvPr>
          <p:cNvSpPr>
            <a:spLocks noGrp="1"/>
          </p:cNvSpPr>
          <p:nvPr/>
        </p:nvSpPr>
        <p:spPr>
          <a:xfrm>
            <a:off x="266700" y="41052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02E2F37-C084-40C2-BC5A-68115C31F47A}"/>
              </a:ext>
            </a:extLst>
          </p:cNvPr>
          <p:cNvSpPr>
            <a:spLocks noGrp="1"/>
          </p:cNvSpPr>
          <p:nvPr/>
        </p:nvSpPr>
        <p:spPr>
          <a:xfrm>
            <a:off x="209550" y="43338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0FA57578-6F9E-4B04-878F-A74C596A0548}"/>
              </a:ext>
            </a:extLst>
          </p:cNvPr>
          <p:cNvSpPr>
            <a:spLocks noGrp="1"/>
          </p:cNvSpPr>
          <p:nvPr/>
        </p:nvSpPr>
        <p:spPr>
          <a:xfrm>
            <a:off x="133350" y="454342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1CB7757-73CA-4796-AFC0-16D1ECF8152C}"/>
              </a:ext>
            </a:extLst>
          </p:cNvPr>
          <p:cNvSpPr>
            <a:spLocks noGrp="1"/>
          </p:cNvSpPr>
          <p:nvPr/>
        </p:nvSpPr>
        <p:spPr>
          <a:xfrm>
            <a:off x="266700" y="461010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7842499F-8527-4638-8EAB-B414B65BADD1}"/>
              </a:ext>
            </a:extLst>
          </p:cNvPr>
          <p:cNvSpPr>
            <a:spLocks noGrp="1"/>
          </p:cNvSpPr>
          <p:nvPr/>
        </p:nvSpPr>
        <p:spPr>
          <a:xfrm>
            <a:off x="133350" y="4838700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4AC78E1-81AC-4F2E-9D7A-F3136809F329}"/>
              </a:ext>
            </a:extLst>
          </p:cNvPr>
          <p:cNvSpPr>
            <a:spLocks noGrp="1"/>
          </p:cNvSpPr>
          <p:nvPr/>
        </p:nvSpPr>
        <p:spPr>
          <a:xfrm>
            <a:off x="266700" y="4905375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D462994F-113A-4CA2-B91D-625AED8A3094}"/>
              </a:ext>
            </a:extLst>
          </p:cNvPr>
          <p:cNvSpPr>
            <a:spLocks noGrp="1"/>
          </p:cNvSpPr>
          <p:nvPr/>
        </p:nvSpPr>
        <p:spPr>
          <a:xfrm>
            <a:off x="133350" y="5133975"/>
            <a:ext cx="1790700" cy="276225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BE87B6DE-412B-4517-B549-E6ACC7137593}"/>
              </a:ext>
            </a:extLst>
          </p:cNvPr>
          <p:cNvSpPr>
            <a:spLocks noGrp="1"/>
          </p:cNvSpPr>
          <p:nvPr/>
        </p:nvSpPr>
        <p:spPr>
          <a:xfrm>
            <a:off x="133350" y="5191125"/>
            <a:ext cx="28575" cy="161925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63EEA37-06D6-4B7F-8663-DFFEFDBB3E4B}"/>
              </a:ext>
            </a:extLst>
          </p:cNvPr>
          <p:cNvSpPr>
            <a:spLocks noGrp="1"/>
          </p:cNvSpPr>
          <p:nvPr/>
        </p:nvSpPr>
        <p:spPr>
          <a:xfrm>
            <a:off x="266700" y="5200650"/>
            <a:ext cx="1200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数据更新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7C1F73F0-4F3D-452D-8930-091CB8A2E08C}"/>
              </a:ext>
            </a:extLst>
          </p:cNvPr>
          <p:cNvSpPr>
            <a:spLocks noGrp="1"/>
          </p:cNvSpPr>
          <p:nvPr/>
        </p:nvSpPr>
        <p:spPr>
          <a:xfrm>
            <a:off x="2057400" y="0"/>
            <a:ext cx="1013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C49E127-200D-44FD-AC01-15FD54AA4AAB}"/>
              </a:ext>
            </a:extLst>
          </p:cNvPr>
          <p:cNvSpPr>
            <a:spLocks noGrp="1"/>
          </p:cNvSpPr>
          <p:nvPr/>
        </p:nvSpPr>
        <p:spPr>
          <a:xfrm>
            <a:off x="2286000" y="1905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数据更新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0F42C16-17D5-4E39-BA7D-65E84BA32118}"/>
              </a:ext>
            </a:extLst>
          </p:cNvPr>
          <p:cNvSpPr>
            <a:spLocks noGrp="1"/>
          </p:cNvSpPr>
          <p:nvPr/>
        </p:nvSpPr>
        <p:spPr>
          <a:xfrm>
            <a:off x="4495800" y="2095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76B63472-4F7A-4C51-9FEC-372D083A6EA4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 w="9525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14C2F5A-DE20-4312-B2A4-F306A3F84998}"/>
              </a:ext>
            </a:extLst>
          </p:cNvPr>
          <p:cNvSpPr>
            <a:spLocks noGrp="1"/>
          </p:cNvSpPr>
          <p:nvPr/>
        </p:nvSpPr>
        <p:spPr>
          <a:xfrm>
            <a:off x="10182225" y="209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EEEA7CF6-5E12-42A1-A8F2-3CAC2CBEC7F9}"/>
              </a:ext>
            </a:extLst>
          </p:cNvPr>
          <p:cNvSpPr>
            <a:spLocks noGrp="1"/>
          </p:cNvSpPr>
          <p:nvPr/>
        </p:nvSpPr>
        <p:spPr>
          <a:xfrm>
            <a:off x="10839450" y="161925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DF9F3"/>
          </a:solidFill>
          <a:ln w="9525">
            <a:solidFill>
              <a:srgbClr val="EDF9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EAF7E24-FD4F-413C-9ABB-EA4BAC45021E}"/>
              </a:ext>
            </a:extLst>
          </p:cNvPr>
          <p:cNvSpPr>
            <a:spLocks noGrp="1"/>
          </p:cNvSpPr>
          <p:nvPr/>
        </p:nvSpPr>
        <p:spPr>
          <a:xfrm>
            <a:off x="10925175" y="209550"/>
            <a:ext cx="628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DB01B44E-538C-44B6-BF12-E0AE18DC1156}"/>
              </a:ext>
            </a:extLst>
          </p:cNvPr>
          <p:cNvSpPr>
            <a:spLocks noGrp="1"/>
          </p:cNvSpPr>
          <p:nvPr/>
        </p:nvSpPr>
        <p:spPr>
          <a:xfrm>
            <a:off x="22479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FFBF767-AA23-4073-ABC9-CC06600A998C}"/>
              </a:ext>
            </a:extLst>
          </p:cNvPr>
          <p:cNvSpPr>
            <a:spLocks noGrp="1"/>
          </p:cNvSpPr>
          <p:nvPr/>
        </p:nvSpPr>
        <p:spPr>
          <a:xfrm>
            <a:off x="23145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1216EF0-4A01-445B-B62E-171145292CF1}"/>
              </a:ext>
            </a:extLst>
          </p:cNvPr>
          <p:cNvSpPr>
            <a:spLocks noGrp="1"/>
          </p:cNvSpPr>
          <p:nvPr/>
        </p:nvSpPr>
        <p:spPr>
          <a:xfrm>
            <a:off x="26670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同步总览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A095B1D-660C-413E-BB70-4C8D5949841B}"/>
              </a:ext>
            </a:extLst>
          </p:cNvPr>
          <p:cNvSpPr>
            <a:spLocks noGrp="1"/>
          </p:cNvSpPr>
          <p:nvPr/>
        </p:nvSpPr>
        <p:spPr>
          <a:xfrm>
            <a:off x="26670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源状态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7F5156D0-B897-4DFD-A16E-785D962F70E1}"/>
              </a:ext>
            </a:extLst>
          </p:cNvPr>
          <p:cNvSpPr>
            <a:spLocks noGrp="1"/>
          </p:cNvSpPr>
          <p:nvPr/>
        </p:nvSpPr>
        <p:spPr>
          <a:xfrm>
            <a:off x="37909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889DF1D-BA9D-48AF-9C89-718BEC4A516F}"/>
              </a:ext>
            </a:extLst>
          </p:cNvPr>
          <p:cNvSpPr>
            <a:spLocks noGrp="1"/>
          </p:cNvSpPr>
          <p:nvPr/>
        </p:nvSpPr>
        <p:spPr>
          <a:xfrm>
            <a:off x="38576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84BE49B-1EC9-4CFC-BEA7-FFE117B04719}"/>
              </a:ext>
            </a:extLst>
          </p:cNvPr>
          <p:cNvSpPr>
            <a:spLocks noGrp="1"/>
          </p:cNvSpPr>
          <p:nvPr/>
        </p:nvSpPr>
        <p:spPr>
          <a:xfrm>
            <a:off x="42100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质量检查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602F765-4220-4E73-8222-4F303F9C9985}"/>
              </a:ext>
            </a:extLst>
          </p:cNvPr>
          <p:cNvSpPr>
            <a:spLocks noGrp="1"/>
          </p:cNvSpPr>
          <p:nvPr/>
        </p:nvSpPr>
        <p:spPr>
          <a:xfrm>
            <a:off x="42100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缺失 / 延迟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F6E9752A-53BE-4E6C-A7B7-D62B18620CC5}"/>
              </a:ext>
            </a:extLst>
          </p:cNvPr>
          <p:cNvSpPr>
            <a:spLocks noGrp="1"/>
          </p:cNvSpPr>
          <p:nvPr/>
        </p:nvSpPr>
        <p:spPr>
          <a:xfrm>
            <a:off x="533400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B22F7E7-19A0-43F6-BAA8-0538CAC46DC9}"/>
              </a:ext>
            </a:extLst>
          </p:cNvPr>
          <p:cNvSpPr>
            <a:spLocks noGrp="1"/>
          </p:cNvSpPr>
          <p:nvPr/>
        </p:nvSpPr>
        <p:spPr>
          <a:xfrm>
            <a:off x="540067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2EA7A4A-EBF4-4AEA-BCF8-393AFD21636C}"/>
              </a:ext>
            </a:extLst>
          </p:cNvPr>
          <p:cNvSpPr>
            <a:spLocks noGrp="1"/>
          </p:cNvSpPr>
          <p:nvPr/>
        </p:nvSpPr>
        <p:spPr>
          <a:xfrm>
            <a:off x="575310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同步日志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D67D4DC-BC4D-4319-A4D0-87D28A418619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任务明细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C4A82E19-D5EC-49BB-9878-B9672AE86A33}"/>
              </a:ext>
            </a:extLst>
          </p:cNvPr>
          <p:cNvSpPr>
            <a:spLocks noGrp="1"/>
          </p:cNvSpPr>
          <p:nvPr/>
        </p:nvSpPr>
        <p:spPr>
          <a:xfrm>
            <a:off x="6877050" y="685800"/>
            <a:ext cx="1466850" cy="419100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DCE97BB-45C4-4F4B-9FCA-6FEED62E7EEE}"/>
              </a:ext>
            </a:extLst>
          </p:cNvPr>
          <p:cNvSpPr>
            <a:spLocks noGrp="1"/>
          </p:cNvSpPr>
          <p:nvPr/>
        </p:nvSpPr>
        <p:spPr>
          <a:xfrm>
            <a:off x="6943725" y="800100"/>
            <a:ext cx="3238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9406613-162C-4721-8C5D-75728F7048DE}"/>
              </a:ext>
            </a:extLst>
          </p:cNvPr>
          <p:cNvSpPr>
            <a:spLocks noGrp="1"/>
          </p:cNvSpPr>
          <p:nvPr/>
        </p:nvSpPr>
        <p:spPr>
          <a:xfrm>
            <a:off x="7296150" y="762000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修复动作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0CAA252-FC89-4BF2-8638-F6AEE6968CF1}"/>
              </a:ext>
            </a:extLst>
          </p:cNvPr>
          <p:cNvSpPr>
            <a:spLocks noGrp="1"/>
          </p:cNvSpPr>
          <p:nvPr/>
        </p:nvSpPr>
        <p:spPr>
          <a:xfrm>
            <a:off x="7296150" y="914400"/>
            <a:ext cx="971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重跑 / 补数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F178B147-40D0-4E5E-8401-4E5AF90C3F29}"/>
              </a:ext>
            </a:extLst>
          </p:cNvPr>
          <p:cNvSpPr>
            <a:spLocks noGrp="1"/>
          </p:cNvSpPr>
          <p:nvPr/>
        </p:nvSpPr>
        <p:spPr>
          <a:xfrm>
            <a:off x="22479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14B1E7A-F459-47C8-80FF-C4447B8B7691}"/>
              </a:ext>
            </a:extLst>
          </p:cNvPr>
          <p:cNvSpPr>
            <a:spLocks noGrp="1"/>
          </p:cNvSpPr>
          <p:nvPr/>
        </p:nvSpPr>
        <p:spPr>
          <a:xfrm>
            <a:off x="23622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00656BD-9246-44B8-970B-12AE32AB31FE}"/>
              </a:ext>
            </a:extLst>
          </p:cNvPr>
          <p:cNvSpPr>
            <a:spLocks noGrp="1"/>
          </p:cNvSpPr>
          <p:nvPr/>
        </p:nvSpPr>
        <p:spPr>
          <a:xfrm>
            <a:off x="30480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数据更新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546473A5-8877-450F-906E-5E8C2B116510}"/>
              </a:ext>
            </a:extLst>
          </p:cNvPr>
          <p:cNvSpPr>
            <a:spLocks noGrp="1"/>
          </p:cNvSpPr>
          <p:nvPr/>
        </p:nvSpPr>
        <p:spPr>
          <a:xfrm>
            <a:off x="46482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BE19F8F-6C0C-4761-9736-5E2B07C51333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ECD47EF-637E-4233-BD0E-17BB908B74EB}"/>
              </a:ext>
            </a:extLst>
          </p:cNvPr>
          <p:cNvSpPr>
            <a:spLocks noGrp="1"/>
          </p:cNvSpPr>
          <p:nvPr/>
        </p:nvSpPr>
        <p:spPr>
          <a:xfrm>
            <a:off x="54483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同步总览 · 质量检查 · 修复动作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8CD7BEE7-6599-47C7-922E-F78174B60329}"/>
              </a:ext>
            </a:extLst>
          </p:cNvPr>
          <p:cNvSpPr>
            <a:spLocks noGrp="1"/>
          </p:cNvSpPr>
          <p:nvPr/>
        </p:nvSpPr>
        <p:spPr>
          <a:xfrm>
            <a:off x="70485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678C8479-F79A-4F40-9848-A21DEC8046AC}"/>
              </a:ext>
            </a:extLst>
          </p:cNvPr>
          <p:cNvSpPr>
            <a:spLocks noGrp="1"/>
          </p:cNvSpPr>
          <p:nvPr/>
        </p:nvSpPr>
        <p:spPr>
          <a:xfrm>
            <a:off x="71628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D8454F93-711F-4E95-BE71-03480DEBC053}"/>
              </a:ext>
            </a:extLst>
          </p:cNvPr>
          <p:cNvSpPr>
            <a:spLocks noGrp="1"/>
          </p:cNvSpPr>
          <p:nvPr/>
        </p:nvSpPr>
        <p:spPr>
          <a:xfrm>
            <a:off x="78486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83% 健康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74328D29-90BD-4A90-896F-DD90CCDACBE2}"/>
              </a:ext>
            </a:extLst>
          </p:cNvPr>
          <p:cNvSpPr>
            <a:spLocks noGrp="1"/>
          </p:cNvSpPr>
          <p:nvPr/>
        </p:nvSpPr>
        <p:spPr>
          <a:xfrm>
            <a:off x="9448800" y="1200150"/>
            <a:ext cx="2333625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80F78EB-CABE-47BD-B3FD-C2677C1DABF5}"/>
              </a:ext>
            </a:extLst>
          </p:cNvPr>
          <p:cNvSpPr>
            <a:spLocks noGrp="1"/>
          </p:cNvSpPr>
          <p:nvPr/>
        </p:nvSpPr>
        <p:spPr>
          <a:xfrm>
            <a:off x="9563100" y="1276350"/>
            <a:ext cx="666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86026352-A17F-4121-A304-4447AF158EDB}"/>
              </a:ext>
            </a:extLst>
          </p:cNvPr>
          <p:cNvSpPr>
            <a:spLocks noGrp="1"/>
          </p:cNvSpPr>
          <p:nvPr/>
        </p:nvSpPr>
        <p:spPr>
          <a:xfrm>
            <a:off x="10248900" y="1276350"/>
            <a:ext cx="14192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盘后同步待执行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075E4DF-DE73-4153-875D-81C9A43B2459}"/>
              </a:ext>
            </a:extLst>
          </p:cNvPr>
          <p:cNvSpPr>
            <a:spLocks noGrp="1"/>
          </p:cNvSpPr>
          <p:nvPr/>
        </p:nvSpPr>
        <p:spPr>
          <a:xfrm>
            <a:off x="2247900" y="1771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63 · 数据更新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F3D906D-B2B2-45FA-B781-B540B6B68878}"/>
              </a:ext>
            </a:extLst>
          </p:cNvPr>
          <p:cNvSpPr>
            <a:spLocks noGrp="1"/>
          </p:cNvSpPr>
          <p:nvPr/>
        </p:nvSpPr>
        <p:spPr>
          <a:xfrm>
            <a:off x="2247900" y="2000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修复动作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B97CD564-E1FA-41C6-A67F-3410FC507C82}"/>
              </a:ext>
            </a:extLst>
          </p:cNvPr>
          <p:cNvSpPr>
            <a:spLocks noGrp="1"/>
          </p:cNvSpPr>
          <p:nvPr/>
        </p:nvSpPr>
        <p:spPr>
          <a:xfrm>
            <a:off x="2266950" y="24574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重跑 / 补数 · 原型页内所有卡片、按钮、表格均为 PPT 可编辑对象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241E8D9F-A4DB-4C22-B300-84856129C1D7}"/>
              </a:ext>
            </a:extLst>
          </p:cNvPr>
          <p:cNvSpPr>
            <a:spLocks noGrp="1"/>
          </p:cNvSpPr>
          <p:nvPr/>
        </p:nvSpPr>
        <p:spPr>
          <a:xfrm>
            <a:off x="22479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D52B9D2-4983-45BA-AD11-CCCFF25EEE51}"/>
              </a:ext>
            </a:extLst>
          </p:cNvPr>
          <p:cNvSpPr>
            <a:spLocks noGrp="1"/>
          </p:cNvSpPr>
          <p:nvPr/>
        </p:nvSpPr>
        <p:spPr>
          <a:xfrm>
            <a:off x="24193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2D131AAB-D75F-4FFB-9F3E-76B7B0ADD20F}"/>
              </a:ext>
            </a:extLst>
          </p:cNvPr>
          <p:cNvSpPr>
            <a:spLocks noGrp="1"/>
          </p:cNvSpPr>
          <p:nvPr/>
        </p:nvSpPr>
        <p:spPr>
          <a:xfrm>
            <a:off x="2419350" y="34385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708ACC89-AC6C-40C0-A9DC-00CB1985E069}"/>
              </a:ext>
            </a:extLst>
          </p:cNvPr>
          <p:cNvSpPr>
            <a:spLocks noGrp="1"/>
          </p:cNvSpPr>
          <p:nvPr/>
        </p:nvSpPr>
        <p:spPr>
          <a:xfrm>
            <a:off x="25527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数据更新 / 修复动作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AC6720EA-B05D-4A79-8B4E-6623055C4456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1EA9B738-5C9E-4FE8-8A96-6A50530100A5}"/>
              </a:ext>
            </a:extLst>
          </p:cNvPr>
          <p:cNvSpPr>
            <a:spLocks noGrp="1"/>
          </p:cNvSpPr>
          <p:nvPr/>
        </p:nvSpPr>
        <p:spPr>
          <a:xfrm>
            <a:off x="25527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重跑 / 补数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312F317-B0E7-420D-B6F2-A1ED7581D200}"/>
              </a:ext>
            </a:extLst>
          </p:cNvPr>
          <p:cNvSpPr>
            <a:spLocks noGrp="1"/>
          </p:cNvSpPr>
          <p:nvPr/>
        </p:nvSpPr>
        <p:spPr>
          <a:xfrm>
            <a:off x="2419350" y="393382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234093C5-B4DE-4596-8756-47CD15EBC66F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数据源同步状态</a:t>
            </a: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ABB72BB8-4021-49D4-8643-8E5CFA9798BB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47625" cy="47625"/>
          </a:xfrm>
          <a:prstGeom prst="ellipse">
            <a:avLst/>
          </a:prstGeom>
          <a:solidFill>
            <a:srgbClr val="3D8BFF"/>
          </a:solidFill>
          <a:ln w="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695A31D1-961E-4773-9A05-87E588FE32C2}"/>
              </a:ext>
            </a:extLst>
          </p:cNvPr>
          <p:cNvSpPr>
            <a:spLocks noGrp="1"/>
          </p:cNvSpPr>
          <p:nvPr/>
        </p:nvSpPr>
        <p:spPr>
          <a:xfrm>
            <a:off x="25527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C6051BB1-798B-481E-BB48-4AF61782CB68}"/>
              </a:ext>
            </a:extLst>
          </p:cNvPr>
          <p:cNvSpPr>
            <a:spLocks noGrp="1"/>
          </p:cNvSpPr>
          <p:nvPr/>
        </p:nvSpPr>
        <p:spPr>
          <a:xfrm>
            <a:off x="527685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1E07E551-0D4F-4DB6-8ED4-739220140382}"/>
              </a:ext>
            </a:extLst>
          </p:cNvPr>
          <p:cNvSpPr>
            <a:spLocks noGrp="1"/>
          </p:cNvSpPr>
          <p:nvPr/>
        </p:nvSpPr>
        <p:spPr>
          <a:xfrm>
            <a:off x="544830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586E9B21-B0EF-442C-BB9A-7B7B29A2517C}"/>
              </a:ext>
            </a:extLst>
          </p:cNvPr>
          <p:cNvSpPr>
            <a:spLocks noGrp="1"/>
          </p:cNvSpPr>
          <p:nvPr/>
        </p:nvSpPr>
        <p:spPr>
          <a:xfrm>
            <a:off x="5448300" y="34385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35C18646-BD9E-4181-88A8-14A356B522AB}"/>
              </a:ext>
            </a:extLst>
          </p:cNvPr>
          <p:cNvSpPr>
            <a:spLocks noGrp="1"/>
          </p:cNvSpPr>
          <p:nvPr/>
        </p:nvSpPr>
        <p:spPr>
          <a:xfrm>
            <a:off x="558165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修复动作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DCA04B0F-3FE1-46DA-8C1F-F8C57FF66723}"/>
              </a:ext>
            </a:extLst>
          </p:cNvPr>
          <p:cNvSpPr>
            <a:spLocks noGrp="1"/>
          </p:cNvSpPr>
          <p:nvPr/>
        </p:nvSpPr>
        <p:spPr>
          <a:xfrm>
            <a:off x="5448300" y="36861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20C29A5F-B083-4F7E-9E65-912C9ABE1D70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数据源同步状态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DB9A744D-8003-4E16-93FA-2A460179667A}"/>
              </a:ext>
            </a:extLst>
          </p:cNvPr>
          <p:cNvSpPr>
            <a:spLocks noGrp="1"/>
          </p:cNvSpPr>
          <p:nvPr/>
        </p:nvSpPr>
        <p:spPr>
          <a:xfrm>
            <a:off x="5448300" y="393382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727FDB67-EB0C-48D8-8400-8772E82BB93D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定时任务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875A3DAC-FC3A-48B2-B51E-F26E9A79DEB2}"/>
              </a:ext>
            </a:extLst>
          </p:cNvPr>
          <p:cNvSpPr>
            <a:spLocks noGrp="1"/>
          </p:cNvSpPr>
          <p:nvPr/>
        </p:nvSpPr>
        <p:spPr>
          <a:xfrm>
            <a:off x="5448300" y="4181475"/>
            <a:ext cx="47625" cy="47625"/>
          </a:xfrm>
          <a:prstGeom prst="ellipse">
            <a:avLst/>
          </a:prstGeom>
          <a:solidFill>
            <a:srgbClr val="2EC27E"/>
          </a:solidFill>
          <a:ln w="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446820FE-4784-487C-9456-1692B22B6298}"/>
              </a:ext>
            </a:extLst>
          </p:cNvPr>
          <p:cNvSpPr>
            <a:spLocks noGrp="1"/>
          </p:cNvSpPr>
          <p:nvPr/>
        </p:nvSpPr>
        <p:spPr>
          <a:xfrm>
            <a:off x="558165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同步日志</a:t>
            </a: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883E3891-248D-4704-A36F-D8ABD0E1FAC5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2857500" cy="16954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29886144-05BC-4C87-89C0-A2DFBF5BA43C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3538B0C2-046E-4367-A0D9-E4745CF2660F}"/>
              </a:ext>
            </a:extLst>
          </p:cNvPr>
          <p:cNvSpPr>
            <a:spLocks noGrp="1"/>
          </p:cNvSpPr>
          <p:nvPr/>
        </p:nvSpPr>
        <p:spPr>
          <a:xfrm>
            <a:off x="8477250" y="34385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6FC5E0A5-1513-4F83-8B1B-1ED71815D57B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点击展开详情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230E67D7-9450-4EF2-B963-AF0198F3E767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5127D619-648E-4D4D-B025-E4E21BE5285D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选股服务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698A6D21-55A4-4F2D-9A84-EB04B4BFC30F}"/>
              </a:ext>
            </a:extLst>
          </p:cNvPr>
          <p:cNvSpPr>
            <a:spLocks noGrp="1"/>
          </p:cNvSpPr>
          <p:nvPr/>
        </p:nvSpPr>
        <p:spPr>
          <a:xfrm>
            <a:off x="8477250" y="393382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752F3F70-BBF0-4B53-9D53-CD22E9953EDC}"/>
              </a:ext>
            </a:extLst>
          </p:cNvPr>
          <p:cNvSpPr>
            <a:spLocks noGrp="1"/>
          </p:cNvSpPr>
          <p:nvPr/>
        </p:nvSpPr>
        <p:spPr>
          <a:xfrm>
            <a:off x="8610600" y="38671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TuShare Pro</a:t>
            </a: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30EC85AA-9C3E-4E54-9C9B-EECA92BFDE80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47625" cy="47625"/>
          </a:xfrm>
          <a:prstGeom prst="ellipse">
            <a:avLst/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394C42F5-48B7-485E-918D-8FAA93617FC5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行情网关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74E01A64-231A-4F37-B874-817C4FC1E1FE}"/>
              </a:ext>
            </a:extLst>
          </p:cNvPr>
          <p:cNvSpPr>
            <a:spLocks noGrp="1"/>
          </p:cNvSpPr>
          <p:nvPr/>
        </p:nvSpPr>
        <p:spPr>
          <a:xfrm>
            <a:off x="2247900" y="4800600"/>
            <a:ext cx="58102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BAD3E05E-64DC-4F49-B871-45B771868AF2}"/>
              </a:ext>
            </a:extLst>
          </p:cNvPr>
          <p:cNvSpPr>
            <a:spLocks noGrp="1"/>
          </p:cNvSpPr>
          <p:nvPr/>
        </p:nvSpPr>
        <p:spPr>
          <a:xfrm>
            <a:off x="2419350" y="495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F857152D-8830-467E-804D-63B0C7F78526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A2C548C6-48E7-41CF-94CC-386BE860635E}"/>
              </a:ext>
            </a:extLst>
          </p:cNvPr>
          <p:cNvSpPr>
            <a:spLocks noGrp="1"/>
          </p:cNvSpPr>
          <p:nvPr/>
        </p:nvSpPr>
        <p:spPr>
          <a:xfrm>
            <a:off x="424815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BD7EB8AA-FB70-4524-B6B1-6DB656CCB3AF}"/>
              </a:ext>
            </a:extLst>
          </p:cNvPr>
          <p:cNvSpPr>
            <a:spLocks noGrp="1"/>
          </p:cNvSpPr>
          <p:nvPr/>
        </p:nvSpPr>
        <p:spPr>
          <a:xfrm>
            <a:off x="6057900" y="5257800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10E91180-2AED-40F6-ABF2-715CE09E68C2}"/>
              </a:ext>
            </a:extLst>
          </p:cNvPr>
          <p:cNvSpPr>
            <a:spLocks noGrp="1"/>
          </p:cNvSpPr>
          <p:nvPr/>
        </p:nvSpPr>
        <p:spPr>
          <a:xfrm>
            <a:off x="2419350" y="543877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ED3781DF-5784-4878-8EF5-DD08742D5E3C}"/>
              </a:ext>
            </a:extLst>
          </p:cNvPr>
          <p:cNvSpPr>
            <a:spLocks noGrp="1"/>
          </p:cNvSpPr>
          <p:nvPr/>
        </p:nvSpPr>
        <p:spPr>
          <a:xfrm>
            <a:off x="2438400" y="546735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时间 任务 记录数 耗时 结果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385836E0-C8D9-4CC5-BCDF-362A0A9D1716}"/>
              </a:ext>
            </a:extLst>
          </p:cNvPr>
          <p:cNvSpPr>
            <a:spLocks noGrp="1"/>
          </p:cNvSpPr>
          <p:nvPr/>
        </p:nvSpPr>
        <p:spPr>
          <a:xfrm>
            <a:off x="4267200" y="546735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0EE1F1F0-8836-478D-A686-30CC16A651C1}"/>
              </a:ext>
            </a:extLst>
          </p:cNvPr>
          <p:cNvSpPr>
            <a:spLocks noGrp="1"/>
          </p:cNvSpPr>
          <p:nvPr/>
        </p:nvSpPr>
        <p:spPr>
          <a:xfrm>
            <a:off x="6076950" y="54673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手动重试</a:t>
            </a: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582FA4E8-19FE-498B-989E-0DBE3B7C5BDA}"/>
              </a:ext>
            </a:extLst>
          </p:cNvPr>
          <p:cNvSpPr>
            <a:spLocks noGrp="1"/>
          </p:cNvSpPr>
          <p:nvPr/>
        </p:nvSpPr>
        <p:spPr>
          <a:xfrm>
            <a:off x="2419350" y="5638800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558A92FD-274E-4A2D-8102-5FBA4F3B9922}"/>
              </a:ext>
            </a:extLst>
          </p:cNvPr>
          <p:cNvSpPr>
            <a:spLocks noGrp="1"/>
          </p:cNvSpPr>
          <p:nvPr/>
        </p:nvSpPr>
        <p:spPr>
          <a:xfrm>
            <a:off x="2438400" y="566737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15:02:18 日线行情同步 5,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95535852-0C8C-4D24-82CC-CA86134F3A05}"/>
              </a:ext>
            </a:extLst>
          </p:cNvPr>
          <p:cNvSpPr>
            <a:spLocks noGrp="1"/>
          </p:cNvSpPr>
          <p:nvPr/>
        </p:nvSpPr>
        <p:spPr>
          <a:xfrm>
            <a:off x="4267200" y="5667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3902EC7C-7BAF-4B70-99B7-66EF853EBEF1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查看错误日志</a:t>
            </a: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7AB76F74-CCB9-45F1-A62A-BA2F83DEB598}"/>
              </a:ext>
            </a:extLst>
          </p:cNvPr>
          <p:cNvSpPr>
            <a:spLocks noGrp="1"/>
          </p:cNvSpPr>
          <p:nvPr/>
        </p:nvSpPr>
        <p:spPr>
          <a:xfrm>
            <a:off x="2419350" y="5838825"/>
            <a:ext cx="5334000" cy="9525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DA63A7E7-7D50-42FB-9890-C926870A2DEC}"/>
              </a:ext>
            </a:extLst>
          </p:cNvPr>
          <p:cNvSpPr>
            <a:spLocks noGrp="1"/>
          </p:cNvSpPr>
          <p:nvPr/>
        </p:nvSpPr>
        <p:spPr>
          <a:xfrm>
            <a:off x="2438400" y="5867400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15:01:30 北向资金更新 2 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ED167DCA-60E9-4739-ADB4-618792767899}"/>
              </a:ext>
            </a:extLst>
          </p:cNvPr>
          <p:cNvSpPr>
            <a:spLocks noGrp="1"/>
          </p:cNvSpPr>
          <p:nvPr/>
        </p:nvSpPr>
        <p:spPr>
          <a:xfrm>
            <a:off x="4267200" y="5867400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BDDDD560-A42D-41CB-99D3-7F732A7328D9}"/>
              </a:ext>
            </a:extLst>
          </p:cNvPr>
          <p:cNvSpPr>
            <a:spLocks noGrp="1"/>
          </p:cNvSpPr>
          <p:nvPr/>
        </p:nvSpPr>
        <p:spPr>
          <a:xfrm>
            <a:off x="6076950" y="5867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跳过该源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727C86E3-077E-40A6-B17A-C899B311FAC8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285750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C4295B26-6EBB-49CA-99A9-4CC22B3A9536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302C006E-7D2D-4BBE-A242-04A4373AB345}"/>
              </a:ext>
            </a:extLst>
          </p:cNvPr>
          <p:cNvSpPr>
            <a:spLocks noGrp="1"/>
          </p:cNvSpPr>
          <p:nvPr/>
        </p:nvSpPr>
        <p:spPr>
          <a:xfrm>
            <a:off x="847725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3D8BFF"/>
          </a:solidFill>
          <a:ln w="9525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77131D18-10F8-4066-B15D-827632093015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手动重试</a:t>
            </a:r>
          </a:p>
        </p:txBody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D0A0F322-0E71-4404-BFAC-82EC71D53A6A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E3EA2D9B-97DD-4518-8996-6F1FEED34698}"/>
              </a:ext>
            </a:extLst>
          </p:cNvPr>
          <p:cNvSpPr>
            <a:spLocks noGrp="1"/>
          </p:cNvSpPr>
          <p:nvPr/>
        </p:nvSpPr>
        <p:spPr>
          <a:xfrm>
            <a:off x="9753600" y="5334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查看错误日志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8981C4AC-33D9-4521-BBA5-3AA0C6B79DC8}"/>
              </a:ext>
            </a:extLst>
          </p:cNvPr>
          <p:cNvSpPr>
            <a:spLocks noGrp="1"/>
          </p:cNvSpPr>
          <p:nvPr/>
        </p:nvSpPr>
        <p:spPr>
          <a:xfrm>
            <a:off x="847725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DDC2580B-9BD3-4D55-9CA6-FFE198CF899D}"/>
              </a:ext>
            </a:extLst>
          </p:cNvPr>
          <p:cNvSpPr>
            <a:spLocks noGrp="1"/>
          </p:cNvSpPr>
          <p:nvPr/>
        </p:nvSpPr>
        <p:spPr>
          <a:xfrm>
            <a:off x="847725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查看错误日志</a:t>
            </a:r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7AF9FD5B-BEB5-4739-8DD3-7E434E184540}"/>
              </a:ext>
            </a:extLst>
          </p:cNvPr>
          <p:cNvSpPr>
            <a:spLocks noGrp="1"/>
          </p:cNvSpPr>
          <p:nvPr/>
        </p:nvSpPr>
        <p:spPr>
          <a:xfrm>
            <a:off x="9753600" y="5638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36601830-B1EE-4B98-AF9C-F4B906B3D591}"/>
              </a:ext>
            </a:extLst>
          </p:cNvPr>
          <p:cNvSpPr>
            <a:spLocks noGrp="1"/>
          </p:cNvSpPr>
          <p:nvPr/>
        </p:nvSpPr>
        <p:spPr>
          <a:xfrm>
            <a:off x="9753600" y="5715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跳过该源</a:t>
            </a:r>
          </a:p>
        </p:txBody>
      </p:sp>
      <p:sp>
        <p:nvSpPr>
          <p:cNvPr id="135" name="圆角矩形 134">
            <a:extLst>
              <a:ext uri="{FF2B5EF4-FFF2-40B4-BE49-F238E27FC236}">
                <a16:creationId xmlns:a16="http://schemas.microsoft.com/office/drawing/2014/main" id="{F2A54401-8991-44F2-B2C3-6E97828A1B5A}"/>
              </a:ext>
            </a:extLst>
          </p:cNvPr>
          <p:cNvSpPr>
            <a:spLocks noGrp="1"/>
          </p:cNvSpPr>
          <p:nvPr/>
        </p:nvSpPr>
        <p:spPr>
          <a:xfrm>
            <a:off x="847725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7F9FC"/>
          </a:solidFill>
          <a:ln w="9525">
            <a:solidFill>
              <a:srgbClr val="D4DB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0D294AF4-5729-4FE2-BA1B-5B87D4B83FC5}"/>
              </a:ext>
            </a:extLst>
          </p:cNvPr>
          <p:cNvSpPr>
            <a:spLocks noGrp="1"/>
          </p:cNvSpPr>
          <p:nvPr/>
        </p:nvSpPr>
        <p:spPr>
          <a:xfrm>
            <a:off x="847725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跳过该源</a:t>
            </a: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BDD40AC6-DC85-443C-9A65-BB8CC3B65C99}"/>
              </a:ext>
            </a:extLst>
          </p:cNvPr>
          <p:cNvSpPr>
            <a:spLocks noGrp="1"/>
          </p:cNvSpPr>
          <p:nvPr/>
        </p:nvSpPr>
        <p:spPr>
          <a:xfrm>
            <a:off x="9753600" y="60198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FFF6E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0AF1AAD1-D691-4EE1-A66A-E76ADBFBFD82}"/>
              </a:ext>
            </a:extLst>
          </p:cNvPr>
          <p:cNvSpPr>
            <a:spLocks noGrp="1"/>
          </p:cNvSpPr>
          <p:nvPr/>
        </p:nvSpPr>
        <p:spPr>
          <a:xfrm>
            <a:off x="9753600" y="60960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全部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24964ADF-7421-49B3-BB1D-045F9D02325A}"/>
              </a:ext>
            </a:extLst>
          </p:cNvPr>
          <p:cNvSpPr>
            <a:spLocks noGrp="1"/>
          </p:cNvSpPr>
          <p:nvPr/>
        </p:nvSpPr>
        <p:spPr>
          <a:xfrm>
            <a:off x="2247900" y="63817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文件：data-update.html#repair-actions</a:t>
            </a:r>
          </a:p>
        </p:txBody>
      </p:sp>
    </p:spTree>
    <p:extLst>
      <p:ext uri="{BB962C8B-B14F-4D97-AF65-F5344CB8AC3E}">
        <p14:creationId xmlns:p14="http://schemas.microsoft.com/office/powerpoint/2010/main" val="9093114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9854</Words>
  <Application>Microsoft Macintosh PowerPoint</Application>
  <DocSecurity>0</DocSecurity>
  <PresentationFormat>宽屏</PresentationFormat>
  <Paragraphs>5201</Paragraphs>
  <Slides>63</Slides>
  <Notes>63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65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jian luo</cp:lastModifiedBy>
  <cp:revision>1</cp:revision>
  <dcterms:created xsi:type="dcterms:W3CDTF">2026-06-25T14:24:46Z</dcterms:created>
  <dcterms:modified xsi:type="dcterms:W3CDTF">2026-06-25T14:49:57Z</dcterms:modified>
</cp:coreProperties>
</file>