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bf0ce7239c4982" /><Relationship Type="http://schemas.openxmlformats.org/officeDocument/2006/relationships/extended-properties" Target="/docProps/app.xml" Id="R8aa3e73a8fd54c5b" /><Relationship Type="http://schemas.openxmlformats.org/officeDocument/2006/relationships/officeDocument" Target="/ppt/presentation.xml" Id="R5814273f29af49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6b04c173fd4892"/>
  </p:sldMasterIdLst>
  <p:notesMasterIdLst>
    <p:notesMasterId xmlns:r="http://schemas.openxmlformats.org/officeDocument/2006/relationships" r:id="R1d078e20ba1e4a91"/>
  </p:notesMasterIdLst>
  <p:sldIdLst>
    <p:sldId xmlns:r="http://schemas.openxmlformats.org/officeDocument/2006/relationships" id="256" r:id="R23e53e94927f4349"/>
    <p:sldId xmlns:r="http://schemas.openxmlformats.org/officeDocument/2006/relationships" id="257" r:id="R89723fc02c5f414d"/>
    <p:sldId xmlns:r="http://schemas.openxmlformats.org/officeDocument/2006/relationships" id="258" r:id="R0845aed14ea1457d"/>
    <p:sldId xmlns:r="http://schemas.openxmlformats.org/officeDocument/2006/relationships" id="259" r:id="R1e75cf9b65b24be8"/>
    <p:sldId xmlns:r="http://schemas.openxmlformats.org/officeDocument/2006/relationships" id="260" r:id="Rd8ca688772d34b23"/>
    <p:sldId xmlns:r="http://schemas.openxmlformats.org/officeDocument/2006/relationships" id="261" r:id="R03987d6ee6ac47bf"/>
    <p:sldId xmlns:r="http://schemas.openxmlformats.org/officeDocument/2006/relationships" id="262" r:id="Ra9c9e68b41d44379"/>
    <p:sldId xmlns:r="http://schemas.openxmlformats.org/officeDocument/2006/relationships" id="263" r:id="R79a7c288835f4155"/>
    <p:sldId xmlns:r="http://schemas.openxmlformats.org/officeDocument/2006/relationships" id="264" r:id="Rb93d8286a6174e77"/>
    <p:sldId xmlns:r="http://schemas.openxmlformats.org/officeDocument/2006/relationships" id="265" r:id="Rda836de12809458b"/>
    <p:sldId xmlns:r="http://schemas.openxmlformats.org/officeDocument/2006/relationships" id="266" r:id="R2228131c790e4d01"/>
    <p:sldId xmlns:r="http://schemas.openxmlformats.org/officeDocument/2006/relationships" id="267" r:id="Ra08a9657ce3c4e5e"/>
    <p:sldId xmlns:r="http://schemas.openxmlformats.org/officeDocument/2006/relationships" id="268" r:id="Re7541a818e7648bb"/>
    <p:sldId xmlns:r="http://schemas.openxmlformats.org/officeDocument/2006/relationships" id="269" r:id="Rf23b42427f1749e6"/>
    <p:sldId xmlns:r="http://schemas.openxmlformats.org/officeDocument/2006/relationships" id="270" r:id="Rff35b0fd33584a2b"/>
    <p:sldId xmlns:r="http://schemas.openxmlformats.org/officeDocument/2006/relationships" id="271" r:id="R7033e7d5d7ed4cb5"/>
    <p:sldId xmlns:r="http://schemas.openxmlformats.org/officeDocument/2006/relationships" id="272" r:id="Rf84e0ae986c044e8"/>
    <p:sldId xmlns:r="http://schemas.openxmlformats.org/officeDocument/2006/relationships" id="273" r:id="Rff5e311d65a54cdd"/>
    <p:sldId xmlns:r="http://schemas.openxmlformats.org/officeDocument/2006/relationships" id="274" r:id="Rf9079cd262704571"/>
    <p:sldId xmlns:r="http://schemas.openxmlformats.org/officeDocument/2006/relationships" id="275" r:id="R7046881ce39443ad"/>
    <p:sldId xmlns:r="http://schemas.openxmlformats.org/officeDocument/2006/relationships" id="276" r:id="R9e837eb236fd4735"/>
    <p:sldId xmlns:r="http://schemas.openxmlformats.org/officeDocument/2006/relationships" id="277" r:id="R3953f6d97dac4757"/>
    <p:sldId xmlns:r="http://schemas.openxmlformats.org/officeDocument/2006/relationships" id="278" r:id="Rc79dececb7c34bfa"/>
    <p:sldId xmlns:r="http://schemas.openxmlformats.org/officeDocument/2006/relationships" id="279" r:id="R9d4bf1d69d9a44a1"/>
    <p:sldId xmlns:r="http://schemas.openxmlformats.org/officeDocument/2006/relationships" id="280" r:id="R1771ba825f274b88"/>
    <p:sldId xmlns:r="http://schemas.openxmlformats.org/officeDocument/2006/relationships" id="281" r:id="R1188e62a8eb44b38"/>
    <p:sldId xmlns:r="http://schemas.openxmlformats.org/officeDocument/2006/relationships" id="282" r:id="R70ae17275af14e71"/>
    <p:sldId xmlns:r="http://schemas.openxmlformats.org/officeDocument/2006/relationships" id="283" r:id="R7474f7525bf248b0"/>
    <p:sldId xmlns:r="http://schemas.openxmlformats.org/officeDocument/2006/relationships" id="284" r:id="R8ece089b00094d66"/>
    <p:sldId xmlns:r="http://schemas.openxmlformats.org/officeDocument/2006/relationships" id="285" r:id="R1f939175ce084a22"/>
    <p:sldId xmlns:r="http://schemas.openxmlformats.org/officeDocument/2006/relationships" id="286" r:id="R78912cc42b904201"/>
    <p:sldId xmlns:r="http://schemas.openxmlformats.org/officeDocument/2006/relationships" id="287" r:id="Rca5203fad1a54550"/>
    <p:sldId xmlns:r="http://schemas.openxmlformats.org/officeDocument/2006/relationships" id="288" r:id="R58f0a49e1cd34ed4"/>
    <p:sldId xmlns:r="http://schemas.openxmlformats.org/officeDocument/2006/relationships" id="289" r:id="R7105e7f5186a4843"/>
    <p:sldId xmlns:r="http://schemas.openxmlformats.org/officeDocument/2006/relationships" id="290" r:id="Rb006c445b43e479c"/>
    <p:sldId xmlns:r="http://schemas.openxmlformats.org/officeDocument/2006/relationships" id="291" r:id="R524f4a4e9cc94095"/>
    <p:sldId xmlns:r="http://schemas.openxmlformats.org/officeDocument/2006/relationships" id="292" r:id="Rdbba27962dce4e9d"/>
    <p:sldId xmlns:r="http://schemas.openxmlformats.org/officeDocument/2006/relationships" id="293" r:id="Rc660e5bb3d2c407f"/>
    <p:sldId xmlns:r="http://schemas.openxmlformats.org/officeDocument/2006/relationships" id="294" r:id="R8c8a1de0e7a040f5"/>
    <p:sldId xmlns:r="http://schemas.openxmlformats.org/officeDocument/2006/relationships" id="295" r:id="R17f7bddf4b114fa0"/>
    <p:sldId xmlns:r="http://schemas.openxmlformats.org/officeDocument/2006/relationships" id="296" r:id="Rbbca0c4335cf4a41"/>
    <p:sldId xmlns:r="http://schemas.openxmlformats.org/officeDocument/2006/relationships" id="297" r:id="R6325f1ae558b43a6"/>
    <p:sldId xmlns:r="http://schemas.openxmlformats.org/officeDocument/2006/relationships" id="298" r:id="Ra1612be4e52e42d4"/>
    <p:sldId xmlns:r="http://schemas.openxmlformats.org/officeDocument/2006/relationships" id="299" r:id="R85180f0a772843c8"/>
    <p:sldId xmlns:r="http://schemas.openxmlformats.org/officeDocument/2006/relationships" id="300" r:id="Rc70e185ee23d41e1"/>
    <p:sldId xmlns:r="http://schemas.openxmlformats.org/officeDocument/2006/relationships" id="301" r:id="R74bc09aad7904ab2"/>
    <p:sldId xmlns:r="http://schemas.openxmlformats.org/officeDocument/2006/relationships" id="302" r:id="R1b39f3cc5f0a4f72"/>
    <p:sldId xmlns:r="http://schemas.openxmlformats.org/officeDocument/2006/relationships" id="303" r:id="R2374ddc252fb4bf1"/>
    <p:sldId xmlns:r="http://schemas.openxmlformats.org/officeDocument/2006/relationships" id="304" r:id="R87a8f8318a5c43c2"/>
    <p:sldId xmlns:r="http://schemas.openxmlformats.org/officeDocument/2006/relationships" id="305" r:id="R3f0ced8fb8894843"/>
    <p:sldId xmlns:r="http://schemas.openxmlformats.org/officeDocument/2006/relationships" id="306" r:id="Ra793bc30f29a40cd"/>
    <p:sldId xmlns:r="http://schemas.openxmlformats.org/officeDocument/2006/relationships" id="307" r:id="R66364a83054d4f17"/>
    <p:sldId xmlns:r="http://schemas.openxmlformats.org/officeDocument/2006/relationships" id="308" r:id="R302ad5cb35174129"/>
    <p:sldId xmlns:r="http://schemas.openxmlformats.org/officeDocument/2006/relationships" id="309" r:id="R5bc999dd6def4f63"/>
    <p:sldId xmlns:r="http://schemas.openxmlformats.org/officeDocument/2006/relationships" id="310" r:id="R1da6447146ab4436"/>
    <p:sldId xmlns:r="http://schemas.openxmlformats.org/officeDocument/2006/relationships" id="311" r:id="Rac1473635c0048bf"/>
    <p:sldId xmlns:r="http://schemas.openxmlformats.org/officeDocument/2006/relationships" id="312" r:id="Ra2d7e13735d34db6"/>
    <p:sldId xmlns:r="http://schemas.openxmlformats.org/officeDocument/2006/relationships" id="313" r:id="Rbe1c1324de6c4535"/>
    <p:sldId xmlns:r="http://schemas.openxmlformats.org/officeDocument/2006/relationships" id="314" r:id="Ree858e409fed4160"/>
    <p:sldId xmlns:r="http://schemas.openxmlformats.org/officeDocument/2006/relationships" id="315" r:id="R9fa317997d40451e"/>
    <p:sldId xmlns:r="http://schemas.openxmlformats.org/officeDocument/2006/relationships" id="316" r:id="Re5fca2c0d2af4a06"/>
    <p:sldId xmlns:r="http://schemas.openxmlformats.org/officeDocument/2006/relationships" id="317" r:id="Rd8312048ad7847f7"/>
    <p:sldId xmlns:r="http://schemas.openxmlformats.org/officeDocument/2006/relationships" id="318" r:id="Rc6d185b8b1394c0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0a04ac6576490b" /><Relationship Type="http://schemas.openxmlformats.org/officeDocument/2006/relationships/slideMaster" Target="/ppt/slideMasters/slideMaster1.xml" Id="Re36b04c173fd4892" /><Relationship Type="http://schemas.openxmlformats.org/officeDocument/2006/relationships/notesMaster" Target="/ppt/notesMasters/notesMaster1.xml" Id="R1d078e20ba1e4a91" /><Relationship Type="http://schemas.openxmlformats.org/officeDocument/2006/relationships/presProps" Target="/ppt/presProps.xml" Id="R18858cb920ee4de1" /><Relationship Type="http://schemas.openxmlformats.org/officeDocument/2006/relationships/tableStyles" Target="/ppt/tableStyles.xml" Id="R27ab7c4159f54998" /><Relationship Type="http://schemas.openxmlformats.org/officeDocument/2006/relationships/slide" Target="/ppt/slides/slide1.xml" Id="R23e53e94927f4349" /><Relationship Type="http://schemas.openxmlformats.org/officeDocument/2006/relationships/slide" Target="/ppt/slides/slide2.xml" Id="R89723fc02c5f414d" /><Relationship Type="http://schemas.openxmlformats.org/officeDocument/2006/relationships/slide" Target="/ppt/slides/slide3.xml" Id="R0845aed14ea1457d" /><Relationship Type="http://schemas.openxmlformats.org/officeDocument/2006/relationships/slide" Target="/ppt/slides/slide4.xml" Id="R1e75cf9b65b24be8" /><Relationship Type="http://schemas.openxmlformats.org/officeDocument/2006/relationships/slide" Target="/ppt/slides/slide5.xml" Id="Rd8ca688772d34b23" /><Relationship Type="http://schemas.openxmlformats.org/officeDocument/2006/relationships/slide" Target="/ppt/slides/slide6.xml" Id="R03987d6ee6ac47bf" /><Relationship Type="http://schemas.openxmlformats.org/officeDocument/2006/relationships/slide" Target="/ppt/slides/slide7.xml" Id="Ra9c9e68b41d44379" /><Relationship Type="http://schemas.openxmlformats.org/officeDocument/2006/relationships/slide" Target="/ppt/slides/slide8.xml" Id="R79a7c288835f4155" /><Relationship Type="http://schemas.openxmlformats.org/officeDocument/2006/relationships/slide" Target="/ppt/slides/slide9.xml" Id="Rb93d8286a6174e77" /><Relationship Type="http://schemas.openxmlformats.org/officeDocument/2006/relationships/slide" Target="/ppt/slides/slide10.xml" Id="Rda836de12809458b" /><Relationship Type="http://schemas.openxmlformats.org/officeDocument/2006/relationships/slide" Target="/ppt/slides/slide11.xml" Id="R2228131c790e4d01" /><Relationship Type="http://schemas.openxmlformats.org/officeDocument/2006/relationships/slide" Target="/ppt/slides/slide12.xml" Id="Ra08a9657ce3c4e5e" /><Relationship Type="http://schemas.openxmlformats.org/officeDocument/2006/relationships/slide" Target="/ppt/slides/slide13.xml" Id="Re7541a818e7648bb" /><Relationship Type="http://schemas.openxmlformats.org/officeDocument/2006/relationships/slide" Target="/ppt/slides/slide14.xml" Id="Rf23b42427f1749e6" /><Relationship Type="http://schemas.openxmlformats.org/officeDocument/2006/relationships/slide" Target="/ppt/slides/slide15.xml" Id="Rff35b0fd33584a2b" /><Relationship Type="http://schemas.openxmlformats.org/officeDocument/2006/relationships/slide" Target="/ppt/slides/slide16.xml" Id="R7033e7d5d7ed4cb5" /><Relationship Type="http://schemas.openxmlformats.org/officeDocument/2006/relationships/slide" Target="/ppt/slides/slide17.xml" Id="Rf84e0ae986c044e8" /><Relationship Type="http://schemas.openxmlformats.org/officeDocument/2006/relationships/slide" Target="/ppt/slides/slide18.xml" Id="Rff5e311d65a54cdd" /><Relationship Type="http://schemas.openxmlformats.org/officeDocument/2006/relationships/slide" Target="/ppt/slides/slide19.xml" Id="Rf9079cd262704571" /><Relationship Type="http://schemas.openxmlformats.org/officeDocument/2006/relationships/slide" Target="/ppt/slides/slide20.xml" Id="R7046881ce39443ad" /><Relationship Type="http://schemas.openxmlformats.org/officeDocument/2006/relationships/slide" Target="/ppt/slides/slide21.xml" Id="R9e837eb236fd4735" /><Relationship Type="http://schemas.openxmlformats.org/officeDocument/2006/relationships/slide" Target="/ppt/slides/slide22.xml" Id="R3953f6d97dac4757" /><Relationship Type="http://schemas.openxmlformats.org/officeDocument/2006/relationships/slide" Target="/ppt/slides/slide23.xml" Id="Rc79dececb7c34bfa" /><Relationship Type="http://schemas.openxmlformats.org/officeDocument/2006/relationships/slide" Target="/ppt/slides/slide24.xml" Id="R9d4bf1d69d9a44a1" /><Relationship Type="http://schemas.openxmlformats.org/officeDocument/2006/relationships/slide" Target="/ppt/slides/slide25.xml" Id="R1771ba825f274b88" /><Relationship Type="http://schemas.openxmlformats.org/officeDocument/2006/relationships/slide" Target="/ppt/slides/slide26.xml" Id="R1188e62a8eb44b38" /><Relationship Type="http://schemas.openxmlformats.org/officeDocument/2006/relationships/slide" Target="/ppt/slides/slide27.xml" Id="R70ae17275af14e71" /><Relationship Type="http://schemas.openxmlformats.org/officeDocument/2006/relationships/slide" Target="/ppt/slides/slide28.xml" Id="R7474f7525bf248b0" /><Relationship Type="http://schemas.openxmlformats.org/officeDocument/2006/relationships/slide" Target="/ppt/slides/slide29.xml" Id="R8ece089b00094d66" /><Relationship Type="http://schemas.openxmlformats.org/officeDocument/2006/relationships/slide" Target="/ppt/slides/slide30.xml" Id="R1f939175ce084a22" /><Relationship Type="http://schemas.openxmlformats.org/officeDocument/2006/relationships/slide" Target="/ppt/slides/slide31.xml" Id="R78912cc42b904201" /><Relationship Type="http://schemas.openxmlformats.org/officeDocument/2006/relationships/slide" Target="/ppt/slides/slide32.xml" Id="Rca5203fad1a54550" /><Relationship Type="http://schemas.openxmlformats.org/officeDocument/2006/relationships/slide" Target="/ppt/slides/slide33.xml" Id="R58f0a49e1cd34ed4" /><Relationship Type="http://schemas.openxmlformats.org/officeDocument/2006/relationships/slide" Target="/ppt/slides/slide34.xml" Id="R7105e7f5186a4843" /><Relationship Type="http://schemas.openxmlformats.org/officeDocument/2006/relationships/slide" Target="/ppt/slides/slide35.xml" Id="Rb006c445b43e479c" /><Relationship Type="http://schemas.openxmlformats.org/officeDocument/2006/relationships/slide" Target="/ppt/slides/slide36.xml" Id="R524f4a4e9cc94095" /><Relationship Type="http://schemas.openxmlformats.org/officeDocument/2006/relationships/slide" Target="/ppt/slides/slide37.xml" Id="Rdbba27962dce4e9d" /><Relationship Type="http://schemas.openxmlformats.org/officeDocument/2006/relationships/slide" Target="/ppt/slides/slide38.xml" Id="Rc660e5bb3d2c407f" /><Relationship Type="http://schemas.openxmlformats.org/officeDocument/2006/relationships/slide" Target="/ppt/slides/slide39.xml" Id="R8c8a1de0e7a040f5" /><Relationship Type="http://schemas.openxmlformats.org/officeDocument/2006/relationships/slide" Target="/ppt/slides/slide40.xml" Id="R17f7bddf4b114fa0" /><Relationship Type="http://schemas.openxmlformats.org/officeDocument/2006/relationships/slide" Target="/ppt/slides/slide41.xml" Id="Rbbca0c4335cf4a41" /><Relationship Type="http://schemas.openxmlformats.org/officeDocument/2006/relationships/slide" Target="/ppt/slides/slide42.xml" Id="R6325f1ae558b43a6" /><Relationship Type="http://schemas.openxmlformats.org/officeDocument/2006/relationships/slide" Target="/ppt/slides/slide43.xml" Id="Ra1612be4e52e42d4" /><Relationship Type="http://schemas.openxmlformats.org/officeDocument/2006/relationships/slide" Target="/ppt/slides/slide44.xml" Id="R85180f0a772843c8" /><Relationship Type="http://schemas.openxmlformats.org/officeDocument/2006/relationships/slide" Target="/ppt/slides/slide45.xml" Id="Rc70e185ee23d41e1" /><Relationship Type="http://schemas.openxmlformats.org/officeDocument/2006/relationships/slide" Target="/ppt/slides/slide46.xml" Id="R74bc09aad7904ab2" /><Relationship Type="http://schemas.openxmlformats.org/officeDocument/2006/relationships/slide" Target="/ppt/slides/slide47.xml" Id="R1b39f3cc5f0a4f72" /><Relationship Type="http://schemas.openxmlformats.org/officeDocument/2006/relationships/slide" Target="/ppt/slides/slide48.xml" Id="R2374ddc252fb4bf1" /><Relationship Type="http://schemas.openxmlformats.org/officeDocument/2006/relationships/slide" Target="/ppt/slides/slide49.xml" Id="R87a8f8318a5c43c2" /><Relationship Type="http://schemas.openxmlformats.org/officeDocument/2006/relationships/slide" Target="/ppt/slides/slide50.xml" Id="R3f0ced8fb8894843" /><Relationship Type="http://schemas.openxmlformats.org/officeDocument/2006/relationships/slide" Target="/ppt/slides/slide51.xml" Id="Ra793bc30f29a40cd" /><Relationship Type="http://schemas.openxmlformats.org/officeDocument/2006/relationships/slide" Target="/ppt/slides/slide52.xml" Id="R66364a83054d4f17" /><Relationship Type="http://schemas.openxmlformats.org/officeDocument/2006/relationships/slide" Target="/ppt/slides/slide53.xml" Id="R302ad5cb35174129" /><Relationship Type="http://schemas.openxmlformats.org/officeDocument/2006/relationships/slide" Target="/ppt/slides/slide54.xml" Id="R5bc999dd6def4f63" /><Relationship Type="http://schemas.openxmlformats.org/officeDocument/2006/relationships/slide" Target="/ppt/slides/slide55.xml" Id="R1da6447146ab4436" /><Relationship Type="http://schemas.openxmlformats.org/officeDocument/2006/relationships/slide" Target="/ppt/slides/slide56.xml" Id="Rac1473635c0048bf" /><Relationship Type="http://schemas.openxmlformats.org/officeDocument/2006/relationships/slide" Target="/ppt/slides/slide57.xml" Id="Ra2d7e13735d34db6" /><Relationship Type="http://schemas.openxmlformats.org/officeDocument/2006/relationships/slide" Target="/ppt/slides/slide58.xml" Id="Rbe1c1324de6c4535" /><Relationship Type="http://schemas.openxmlformats.org/officeDocument/2006/relationships/slide" Target="/ppt/slides/slide59.xml" Id="Ree858e409fed4160" /><Relationship Type="http://schemas.openxmlformats.org/officeDocument/2006/relationships/slide" Target="/ppt/slides/slide60.xml" Id="R9fa317997d40451e" /><Relationship Type="http://schemas.openxmlformats.org/officeDocument/2006/relationships/slide" Target="/ppt/slides/slide61.xml" Id="Re5fca2c0d2af4a06" /><Relationship Type="http://schemas.openxmlformats.org/officeDocument/2006/relationships/slide" Target="/ppt/slides/slide62.xml" Id="Rd8312048ad7847f7" /><Relationship Type="http://schemas.openxmlformats.org/officeDocument/2006/relationships/slide" Target="/ppt/slides/slide63.xml" Id="Rc6d185b8b1394c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5bb4e1c7184e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9a28294eaa46de" /><Relationship Type="http://schemas.openxmlformats.org/officeDocument/2006/relationships/notesMaster" Target="/ppt/notesMasters/notesMaster1.xml" Id="R3433fffa61c04d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a570a46c094bef" /><Relationship Type="http://schemas.openxmlformats.org/officeDocument/2006/relationships/notesMaster" Target="/ppt/notesMasters/notesMaster1.xml" Id="Ra6a17602614d42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47dd5e02f34913" /><Relationship Type="http://schemas.openxmlformats.org/officeDocument/2006/relationships/notesMaster" Target="/ppt/notesMasters/notesMaster1.xml" Id="R18f9595be94d49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50ec44c864419d" /><Relationship Type="http://schemas.openxmlformats.org/officeDocument/2006/relationships/notesMaster" Target="/ppt/notesMasters/notesMaster1.xml" Id="R840552437a0c42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9c1b7d27a143ad" /><Relationship Type="http://schemas.openxmlformats.org/officeDocument/2006/relationships/notesMaster" Target="/ppt/notesMasters/notesMaster1.xml" Id="R3e8885fc76d24e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bbf47add844291" /><Relationship Type="http://schemas.openxmlformats.org/officeDocument/2006/relationships/notesMaster" Target="/ppt/notesMasters/notesMaster1.xml" Id="Ra18a6edf01a942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8392b0fbd14981" /><Relationship Type="http://schemas.openxmlformats.org/officeDocument/2006/relationships/notesMaster" Target="/ppt/notesMasters/notesMaster1.xml" Id="Rd46b10b421174d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2c5b06f20c405d" /><Relationship Type="http://schemas.openxmlformats.org/officeDocument/2006/relationships/notesMaster" Target="/ppt/notesMasters/notesMaster1.xml" Id="Ra3dec3a1d98341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006f7e47d2476c" /><Relationship Type="http://schemas.openxmlformats.org/officeDocument/2006/relationships/notesMaster" Target="/ppt/notesMasters/notesMaster1.xml" Id="R884c77b1dab549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e4ca7f5b554ead" /><Relationship Type="http://schemas.openxmlformats.org/officeDocument/2006/relationships/notesMaster" Target="/ppt/notesMasters/notesMaster1.xml" Id="R67282dd2d8d646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4ef1df53944079" /><Relationship Type="http://schemas.openxmlformats.org/officeDocument/2006/relationships/notesMaster" Target="/ppt/notesMasters/notesMaster1.xml" Id="R6f450d054ecb47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1e3f0affa54810" /><Relationship Type="http://schemas.openxmlformats.org/officeDocument/2006/relationships/notesMaster" Target="/ppt/notesMasters/notesMaster1.xml" Id="Rd398fe13e56d41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4ff4f10c2c457a" /><Relationship Type="http://schemas.openxmlformats.org/officeDocument/2006/relationships/notesMaster" Target="/ppt/notesMasters/notesMaster1.xml" Id="Rb0c96f6b488e47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9a38fe3272647db" /><Relationship Type="http://schemas.openxmlformats.org/officeDocument/2006/relationships/notesMaster" Target="/ppt/notesMasters/notesMaster1.xml" Id="R084739df428b4b8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2f9c0c401a64788" /><Relationship Type="http://schemas.openxmlformats.org/officeDocument/2006/relationships/notesMaster" Target="/ppt/notesMasters/notesMaster1.xml" Id="R36799896fcb847d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eb9ad054b094a7e" /><Relationship Type="http://schemas.openxmlformats.org/officeDocument/2006/relationships/notesMaster" Target="/ppt/notesMasters/notesMaster1.xml" Id="Ra2cb5079ba334e2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871b6df40034cd2" /><Relationship Type="http://schemas.openxmlformats.org/officeDocument/2006/relationships/notesMaster" Target="/ppt/notesMasters/notesMaster1.xml" Id="R0b3f5508a552421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d8311876a4343d7" /><Relationship Type="http://schemas.openxmlformats.org/officeDocument/2006/relationships/notesMaster" Target="/ppt/notesMasters/notesMaster1.xml" Id="R366dc018af694fe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85958308e08414e" /><Relationship Type="http://schemas.openxmlformats.org/officeDocument/2006/relationships/notesMaster" Target="/ppt/notesMasters/notesMaster1.xml" Id="R8d7fceba24a74f3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dc7797fe2924173" /><Relationship Type="http://schemas.openxmlformats.org/officeDocument/2006/relationships/notesMaster" Target="/ppt/notesMasters/notesMaster1.xml" Id="R5c4ccca09149493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3edcec824f84525" /><Relationship Type="http://schemas.openxmlformats.org/officeDocument/2006/relationships/notesMaster" Target="/ppt/notesMasters/notesMaster1.xml" Id="Ref3b62e5ca494c8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6f58913f31c4d33" /><Relationship Type="http://schemas.openxmlformats.org/officeDocument/2006/relationships/notesMaster" Target="/ppt/notesMasters/notesMaster1.xml" Id="R05d60bf96c4c46f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789d9009b1b463f" /><Relationship Type="http://schemas.openxmlformats.org/officeDocument/2006/relationships/notesMaster" Target="/ppt/notesMasters/notesMaster1.xml" Id="R1585a9c8408d410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1f01250b1394278" /><Relationship Type="http://schemas.openxmlformats.org/officeDocument/2006/relationships/notesMaster" Target="/ppt/notesMasters/notesMaster1.xml" Id="R4f09724893d4401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dc3b520046b41f7" /><Relationship Type="http://schemas.openxmlformats.org/officeDocument/2006/relationships/notesMaster" Target="/ppt/notesMasters/notesMaster1.xml" Id="R6253481bc1874b4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3d7e2552b0242db" /><Relationship Type="http://schemas.openxmlformats.org/officeDocument/2006/relationships/notesMaster" Target="/ppt/notesMasters/notesMaster1.xml" Id="R6fc283ff518d49f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0df716e1e45415c" /><Relationship Type="http://schemas.openxmlformats.org/officeDocument/2006/relationships/notesMaster" Target="/ppt/notesMasters/notesMaster1.xml" Id="Redbf2079e3bf47a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be85549ab13451b" /><Relationship Type="http://schemas.openxmlformats.org/officeDocument/2006/relationships/notesMaster" Target="/ppt/notesMasters/notesMaster1.xml" Id="Re4439866fd85460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987f6b1e8544079" /><Relationship Type="http://schemas.openxmlformats.org/officeDocument/2006/relationships/notesMaster" Target="/ppt/notesMasters/notesMaster1.xml" Id="Ra59f81cbf3d1466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d2d357d53574fe3" /><Relationship Type="http://schemas.openxmlformats.org/officeDocument/2006/relationships/notesMaster" Target="/ppt/notesMasters/notesMaster1.xml" Id="R4b7eb135eb3e4cc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946c0d7f696497e" /><Relationship Type="http://schemas.openxmlformats.org/officeDocument/2006/relationships/notesMaster" Target="/ppt/notesMasters/notesMaster1.xml" Id="Ra2b7d06858a5469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f20017fe2b441cb" /><Relationship Type="http://schemas.openxmlformats.org/officeDocument/2006/relationships/notesMaster" Target="/ppt/notesMasters/notesMaster1.xml" Id="Re8b1cf17e27643c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1b7136b56f94921" /><Relationship Type="http://schemas.openxmlformats.org/officeDocument/2006/relationships/notesMaster" Target="/ppt/notesMasters/notesMaster1.xml" Id="Rafccf9ad5c604a3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59824fe5d29486c" /><Relationship Type="http://schemas.openxmlformats.org/officeDocument/2006/relationships/notesMaster" Target="/ppt/notesMasters/notesMaster1.xml" Id="R7d985cdce8474df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894cbb4cf744e76" /><Relationship Type="http://schemas.openxmlformats.org/officeDocument/2006/relationships/notesMaster" Target="/ppt/notesMasters/notesMaster1.xml" Id="R58d2649b9917471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29ca5c4747b457b" /><Relationship Type="http://schemas.openxmlformats.org/officeDocument/2006/relationships/notesMaster" Target="/ppt/notesMasters/notesMaster1.xml" Id="R87ee15f1d22a4bb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a2f4826ae4b4662" /><Relationship Type="http://schemas.openxmlformats.org/officeDocument/2006/relationships/notesMaster" Target="/ppt/notesMasters/notesMaster1.xml" Id="R2448e1a951a940d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60489e8573444ed" /><Relationship Type="http://schemas.openxmlformats.org/officeDocument/2006/relationships/notesMaster" Target="/ppt/notesMasters/notesMaster1.xml" Id="R5d202d1dc3b947e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8b4aa0e43894aaf" /><Relationship Type="http://schemas.openxmlformats.org/officeDocument/2006/relationships/notesMaster" Target="/ppt/notesMasters/notesMaster1.xml" Id="R99c7a0545ade461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b2cbdf4f9074571" /><Relationship Type="http://schemas.openxmlformats.org/officeDocument/2006/relationships/notesMaster" Target="/ppt/notesMasters/notesMaster1.xml" Id="R20414905ae78479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8fdbd2d55d049d3" /><Relationship Type="http://schemas.openxmlformats.org/officeDocument/2006/relationships/notesMaster" Target="/ppt/notesMasters/notesMaster1.xml" Id="R415c02d82eb84e2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42989888d2a4a68" /><Relationship Type="http://schemas.openxmlformats.org/officeDocument/2006/relationships/notesMaster" Target="/ppt/notesMasters/notesMaster1.xml" Id="R4dc568ee8a84489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267c3700d2604c71" /><Relationship Type="http://schemas.openxmlformats.org/officeDocument/2006/relationships/notesMaster" Target="/ppt/notesMasters/notesMaster1.xml" Id="R2249589f2ff94a7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87bb6324a4b4c35" /><Relationship Type="http://schemas.openxmlformats.org/officeDocument/2006/relationships/notesMaster" Target="/ppt/notesMasters/notesMaster1.xml" Id="Rf308c465d24a40b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9bab613f636482c" /><Relationship Type="http://schemas.openxmlformats.org/officeDocument/2006/relationships/notesMaster" Target="/ppt/notesMasters/notesMaster1.xml" Id="R719c61de25a94e9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d3073e1997ae4d90" /><Relationship Type="http://schemas.openxmlformats.org/officeDocument/2006/relationships/notesMaster" Target="/ppt/notesMasters/notesMaster1.xml" Id="R3d5d6cac1edf473f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b22bd7e0e4240c1" /><Relationship Type="http://schemas.openxmlformats.org/officeDocument/2006/relationships/notesMaster" Target="/ppt/notesMasters/notesMaster1.xml" Id="R617c29dac4b44fd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11f42f37e454ab0" /><Relationship Type="http://schemas.openxmlformats.org/officeDocument/2006/relationships/notesMaster" Target="/ppt/notesMasters/notesMaster1.xml" Id="Rb8c480cb35e5412a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585b26de6784cf1" /><Relationship Type="http://schemas.openxmlformats.org/officeDocument/2006/relationships/notesMaster" Target="/ppt/notesMasters/notesMaster1.xml" Id="R8bd689e7935c433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c1bb77b3e0d84771" /><Relationship Type="http://schemas.openxmlformats.org/officeDocument/2006/relationships/notesMaster" Target="/ppt/notesMasters/notesMaster1.xml" Id="R4af6f1b1ce124466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3b72de4aaaa54372" /><Relationship Type="http://schemas.openxmlformats.org/officeDocument/2006/relationships/notesMaster" Target="/ppt/notesMasters/notesMaster1.xml" Id="R227c96e1661e4bba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653b944c79b4072" /><Relationship Type="http://schemas.openxmlformats.org/officeDocument/2006/relationships/notesMaster" Target="/ppt/notesMasters/notesMaster1.xml" Id="R362915e9cf0e4abf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1c409aecc3984108" /><Relationship Type="http://schemas.openxmlformats.org/officeDocument/2006/relationships/notesMaster" Target="/ppt/notesMasters/notesMaster1.xml" Id="Rb71f59fb9fc34869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7257e15158324e7f" /><Relationship Type="http://schemas.openxmlformats.org/officeDocument/2006/relationships/notesMaster" Target="/ppt/notesMasters/notesMaster1.xml" Id="Rb4e9aa284ee24ed9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1a2ba48005e2445e" /><Relationship Type="http://schemas.openxmlformats.org/officeDocument/2006/relationships/notesMaster" Target="/ppt/notesMasters/notesMaster1.xml" Id="R26e57e7bdd5748bd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99c1e60e43f14c6b" /><Relationship Type="http://schemas.openxmlformats.org/officeDocument/2006/relationships/notesMaster" Target="/ppt/notesMasters/notesMaster1.xml" Id="Rf451d9a1478d444c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1c557b440e1f4844" /><Relationship Type="http://schemas.openxmlformats.org/officeDocument/2006/relationships/notesMaster" Target="/ppt/notesMasters/notesMaster1.xml" Id="R718c0826d5d34896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bfb6cd37b4eb4400" /><Relationship Type="http://schemas.openxmlformats.org/officeDocument/2006/relationships/notesMaster" Target="/ppt/notesMasters/notesMaster1.xml" Id="R34007a1068af41f4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67b2438c56234002" /><Relationship Type="http://schemas.openxmlformats.org/officeDocument/2006/relationships/notesMaster" Target="/ppt/notesMasters/notesMaster1.xml" Id="R45c9935b39b74961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96459a1859a4487f" /><Relationship Type="http://schemas.openxmlformats.org/officeDocument/2006/relationships/notesMaster" Target="/ppt/notesMasters/notesMaster1.xml" Id="R6faa32c4adf445ec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ee2f4787ab6b4b73" /><Relationship Type="http://schemas.openxmlformats.org/officeDocument/2006/relationships/notesMaster" Target="/ppt/notesMasters/notesMaster1.xml" Id="R95ca5f99dd7240ff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03cca65990f24a94" /><Relationship Type="http://schemas.openxmlformats.org/officeDocument/2006/relationships/notesMaster" Target="/ppt/notesMasters/notesMaster1.xml" Id="Rb017607e6d2f4545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b91759365cad446f" /><Relationship Type="http://schemas.openxmlformats.org/officeDocument/2006/relationships/notesMaster" Target="/ppt/notesMasters/notesMaster1.xml" Id="R1fe6d0d339f64e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f9061b54c040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01eddf08774023" /><Relationship Type="http://schemas.openxmlformats.org/officeDocument/2006/relationships/slideLayout" Target="/ppt/slideLayouts/slideLayout1.xml" Id="R37ce28e81a3d43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ce28e81a3d43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c7411fd5e4eb7" /><Relationship Type="http://schemas.openxmlformats.org/officeDocument/2006/relationships/notesSlide" Target="/ppt/notesSlides/notesSlide1.xml" Id="R7c422b0234714e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34ff8a5bb475a" /><Relationship Type="http://schemas.openxmlformats.org/officeDocument/2006/relationships/notesSlide" Target="/ppt/notesSlides/notesSlide2.xml" Id="Rec936aba498f41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da2ce10d94cda" /><Relationship Type="http://schemas.openxmlformats.org/officeDocument/2006/relationships/notesSlide" Target="/ppt/notesSlides/notesSlide3.xml" Id="R00d9c224c0d848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25e042a234a00" /><Relationship Type="http://schemas.openxmlformats.org/officeDocument/2006/relationships/notesSlide" Target="/ppt/notesSlides/notesSlide4.xml" Id="R62cfa6a0e67a4d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f233b03c046cc" /><Relationship Type="http://schemas.openxmlformats.org/officeDocument/2006/relationships/notesSlide" Target="/ppt/notesSlides/notesSlide5.xml" Id="R614ba0ab071341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50f4e23c84132" /><Relationship Type="http://schemas.openxmlformats.org/officeDocument/2006/relationships/notesSlide" Target="/ppt/notesSlides/notesSlide6.xml" Id="Rf14ce620e5be43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37575dad642b8" /><Relationship Type="http://schemas.openxmlformats.org/officeDocument/2006/relationships/notesSlide" Target="/ppt/notesSlides/notesSlide7.xml" Id="R05f160416f1844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a283732e34320" /><Relationship Type="http://schemas.openxmlformats.org/officeDocument/2006/relationships/notesSlide" Target="/ppt/notesSlides/notesSlide8.xml" Id="R7c3818d3ec0a49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cce36915149bd" /><Relationship Type="http://schemas.openxmlformats.org/officeDocument/2006/relationships/notesSlide" Target="/ppt/notesSlides/notesSlide9.xml" Id="Ra0f1b1c14b1a44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2197a9c3f4f1a" /><Relationship Type="http://schemas.openxmlformats.org/officeDocument/2006/relationships/notesSlide" Target="/ppt/notesSlides/notesSlide10.xml" Id="Rdb22fb315dd045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fd97cd2bc4a29" /><Relationship Type="http://schemas.openxmlformats.org/officeDocument/2006/relationships/notesSlide" Target="/ppt/notesSlides/notesSlide11.xml" Id="R8543b8c06fd548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1a00acb5d4786" /><Relationship Type="http://schemas.openxmlformats.org/officeDocument/2006/relationships/notesSlide" Target="/ppt/notesSlides/notesSlide12.xml" Id="R1d4f527c69e646a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aae3315474520" /><Relationship Type="http://schemas.openxmlformats.org/officeDocument/2006/relationships/notesSlide" Target="/ppt/notesSlides/notesSlide13.xml" Id="Re1bf186001f845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5094d10454e7d" /><Relationship Type="http://schemas.openxmlformats.org/officeDocument/2006/relationships/notesSlide" Target="/ppt/notesSlides/notesSlide14.xml" Id="R8b0ca3f915c74b2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795f98a13456b" /><Relationship Type="http://schemas.openxmlformats.org/officeDocument/2006/relationships/notesSlide" Target="/ppt/notesSlides/notesSlide15.xml" Id="R2e5ae28cc1bd4b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911dc8ea34860" /><Relationship Type="http://schemas.openxmlformats.org/officeDocument/2006/relationships/notesSlide" Target="/ppt/notesSlides/notesSlide16.xml" Id="Rf95c23e3518441a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d5370941d4faf" /><Relationship Type="http://schemas.openxmlformats.org/officeDocument/2006/relationships/notesSlide" Target="/ppt/notesSlides/notesSlide17.xml" Id="R34aa7ccbbceb46d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210cdd5934d0a" /><Relationship Type="http://schemas.openxmlformats.org/officeDocument/2006/relationships/notesSlide" Target="/ppt/notesSlides/notesSlide18.xml" Id="Rf15b418a8bdc441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5b8c502cd401e" /><Relationship Type="http://schemas.openxmlformats.org/officeDocument/2006/relationships/notesSlide" Target="/ppt/notesSlides/notesSlide19.xml" Id="R0519b62f805045f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46103ea754b8c" /><Relationship Type="http://schemas.openxmlformats.org/officeDocument/2006/relationships/notesSlide" Target="/ppt/notesSlides/notesSlide20.xml" Id="R869b89f82e6f4b0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4dcf285374014" /><Relationship Type="http://schemas.openxmlformats.org/officeDocument/2006/relationships/notesSlide" Target="/ppt/notesSlides/notesSlide21.xml" Id="Redb4ba1db0fd490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3719e8d4f4ad5" /><Relationship Type="http://schemas.openxmlformats.org/officeDocument/2006/relationships/notesSlide" Target="/ppt/notesSlides/notesSlide22.xml" Id="Rd311db6929af407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6a65fec544236" /><Relationship Type="http://schemas.openxmlformats.org/officeDocument/2006/relationships/notesSlide" Target="/ppt/notesSlides/notesSlide23.xml" Id="R5c252e6eb0e242b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147df44f24e18" /><Relationship Type="http://schemas.openxmlformats.org/officeDocument/2006/relationships/notesSlide" Target="/ppt/notesSlides/notesSlide24.xml" Id="Rd706194539dc42a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bba36c58b419d" /><Relationship Type="http://schemas.openxmlformats.org/officeDocument/2006/relationships/notesSlide" Target="/ppt/notesSlides/notesSlide25.xml" Id="Re23d7793a123442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37628129d4f1c" /><Relationship Type="http://schemas.openxmlformats.org/officeDocument/2006/relationships/notesSlide" Target="/ppt/notesSlides/notesSlide26.xml" Id="Rfb339ed2568442e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cdb2b492747b3" /><Relationship Type="http://schemas.openxmlformats.org/officeDocument/2006/relationships/notesSlide" Target="/ppt/notesSlides/notesSlide27.xml" Id="R8481449c4119411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bcb2967534c6c" /><Relationship Type="http://schemas.openxmlformats.org/officeDocument/2006/relationships/notesSlide" Target="/ppt/notesSlides/notesSlide28.xml" Id="Ra29f4af04f67417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9b744f8ef44d7" /><Relationship Type="http://schemas.openxmlformats.org/officeDocument/2006/relationships/notesSlide" Target="/ppt/notesSlides/notesSlide29.xml" Id="R466e410e470843c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adf19e9844785" /><Relationship Type="http://schemas.openxmlformats.org/officeDocument/2006/relationships/notesSlide" Target="/ppt/notesSlides/notesSlide30.xml" Id="R6b5231677d5a458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cfdae2e7f412b" /><Relationship Type="http://schemas.openxmlformats.org/officeDocument/2006/relationships/notesSlide" Target="/ppt/notesSlides/notesSlide31.xml" Id="R6ab6b50e0d40476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59a29eeec4ae5" /><Relationship Type="http://schemas.openxmlformats.org/officeDocument/2006/relationships/notesSlide" Target="/ppt/notesSlides/notesSlide32.xml" Id="R7badc4bf4d3945e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ee2e1f5eb4635" /><Relationship Type="http://schemas.openxmlformats.org/officeDocument/2006/relationships/notesSlide" Target="/ppt/notesSlides/notesSlide33.xml" Id="Rdfa27758d3e6457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4c45ae64041d0" /><Relationship Type="http://schemas.openxmlformats.org/officeDocument/2006/relationships/notesSlide" Target="/ppt/notesSlides/notesSlide34.xml" Id="R6b4ecb3c3783452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e202ab80b4f06" /><Relationship Type="http://schemas.openxmlformats.org/officeDocument/2006/relationships/notesSlide" Target="/ppt/notesSlides/notesSlide35.xml" Id="R74c8b26ba4af4b3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e791640b3434c" /><Relationship Type="http://schemas.openxmlformats.org/officeDocument/2006/relationships/notesSlide" Target="/ppt/notesSlides/notesSlide36.xml" Id="R2b43397205f74a1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bbce291a146e1" /><Relationship Type="http://schemas.openxmlformats.org/officeDocument/2006/relationships/notesSlide" Target="/ppt/notesSlides/notesSlide37.xml" Id="R0bfc83c952324c3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16949e0904995" /><Relationship Type="http://schemas.openxmlformats.org/officeDocument/2006/relationships/notesSlide" Target="/ppt/notesSlides/notesSlide38.xml" Id="Ree602d7c2cf743f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ce062dc3d4f8d" /><Relationship Type="http://schemas.openxmlformats.org/officeDocument/2006/relationships/notesSlide" Target="/ppt/notesSlides/notesSlide39.xml" Id="Ra47e909b2a154f0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875629a0047bb" /><Relationship Type="http://schemas.openxmlformats.org/officeDocument/2006/relationships/notesSlide" Target="/ppt/notesSlides/notesSlide40.xml" Id="Rf8335689d7064a5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10aaea16c40f9" /><Relationship Type="http://schemas.openxmlformats.org/officeDocument/2006/relationships/notesSlide" Target="/ppt/notesSlides/notesSlide41.xml" Id="Rcca35c66f87b444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ff0f85afb4f43" /><Relationship Type="http://schemas.openxmlformats.org/officeDocument/2006/relationships/notesSlide" Target="/ppt/notesSlides/notesSlide42.xml" Id="Reaa17ecacc6b4e1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a407efd3d4b72" /><Relationship Type="http://schemas.openxmlformats.org/officeDocument/2006/relationships/notesSlide" Target="/ppt/notesSlides/notesSlide43.xml" Id="R73ab56cdd49645c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27fb98c344826" /><Relationship Type="http://schemas.openxmlformats.org/officeDocument/2006/relationships/notesSlide" Target="/ppt/notesSlides/notesSlide44.xml" Id="Rd9ecb2cae7a1458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3a89537a9401d" /><Relationship Type="http://schemas.openxmlformats.org/officeDocument/2006/relationships/notesSlide" Target="/ppt/notesSlides/notesSlide45.xml" Id="Rb30cdf0dd2b34fe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317d0313641e1" /><Relationship Type="http://schemas.openxmlformats.org/officeDocument/2006/relationships/notesSlide" Target="/ppt/notesSlides/notesSlide46.xml" Id="R77969f8c067b42fb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f0724c8cc41dd" /><Relationship Type="http://schemas.openxmlformats.org/officeDocument/2006/relationships/notesSlide" Target="/ppt/notesSlides/notesSlide47.xml" Id="R7cfba3057fcc40ba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65086ccef43bc" /><Relationship Type="http://schemas.openxmlformats.org/officeDocument/2006/relationships/notesSlide" Target="/ppt/notesSlides/notesSlide48.xml" Id="R092ae20e67524f68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c7f9ed58347d0" /><Relationship Type="http://schemas.openxmlformats.org/officeDocument/2006/relationships/notesSlide" Target="/ppt/notesSlides/notesSlide49.xml" Id="R53ef4a30879842fa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b9dbb87a644ef" /><Relationship Type="http://schemas.openxmlformats.org/officeDocument/2006/relationships/notesSlide" Target="/ppt/notesSlides/notesSlide50.xml" Id="R609d35be96ce4bc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791f7210b47ee" /><Relationship Type="http://schemas.openxmlformats.org/officeDocument/2006/relationships/notesSlide" Target="/ppt/notesSlides/notesSlide51.xml" Id="R53186f1ecec34816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35012f7154421" /><Relationship Type="http://schemas.openxmlformats.org/officeDocument/2006/relationships/notesSlide" Target="/ppt/notesSlides/notesSlide52.xml" Id="R130a889b2ba24633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da4297d004296" /><Relationship Type="http://schemas.openxmlformats.org/officeDocument/2006/relationships/notesSlide" Target="/ppt/notesSlides/notesSlide53.xml" Id="R2d055b3cb3824937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bb1cfa1114a98" /><Relationship Type="http://schemas.openxmlformats.org/officeDocument/2006/relationships/notesSlide" Target="/ppt/notesSlides/notesSlide54.xml" Id="R19e6d1d171c9481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f4af4a11d4267" /><Relationship Type="http://schemas.openxmlformats.org/officeDocument/2006/relationships/notesSlide" Target="/ppt/notesSlides/notesSlide55.xml" Id="Rab939a6150a34fd7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ead45189c4be8" /><Relationship Type="http://schemas.openxmlformats.org/officeDocument/2006/relationships/notesSlide" Target="/ppt/notesSlides/notesSlide56.xml" Id="Rd6f7aef949ea4ab4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ddb3b28464377" /><Relationship Type="http://schemas.openxmlformats.org/officeDocument/2006/relationships/notesSlide" Target="/ppt/notesSlides/notesSlide57.xml" Id="Rae5a69e2966a4e8b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a11896dbe429e" /><Relationship Type="http://schemas.openxmlformats.org/officeDocument/2006/relationships/notesSlide" Target="/ppt/notesSlides/notesSlide58.xml" Id="R164b1a7a13144373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b507ce24e4a07" /><Relationship Type="http://schemas.openxmlformats.org/officeDocument/2006/relationships/notesSlide" Target="/ppt/notesSlides/notesSlide59.xml" Id="Rb589d157fdcb4a13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0ea1672b84f4c" /><Relationship Type="http://schemas.openxmlformats.org/officeDocument/2006/relationships/notesSlide" Target="/ppt/notesSlides/notesSlide60.xml" Id="R0d6b96b3f4454540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5eae3a1014e6f" /><Relationship Type="http://schemas.openxmlformats.org/officeDocument/2006/relationships/notesSlide" Target="/ppt/notesSlides/notesSlide61.xml" Id="Red89ff9d4aff4e84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bb6d24d514c1b" /><Relationship Type="http://schemas.openxmlformats.org/officeDocument/2006/relationships/notesSlide" Target="/ppt/notesSlides/notesSlide62.xml" Id="R161d1244b7504ef2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a66a77cc34515" /><Relationship Type="http://schemas.openxmlformats.org/officeDocument/2006/relationships/notesSlide" Target="/ppt/notesSlides/notesSlide63.xml" Id="Rfdd7b0781ff640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0E388C-1285-4D6A-9BF2-C0B46399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10896600" cy="5791200"/>
          </a:xfrm>
          <a:prstGeom xmlns:a="http://schemas.openxmlformats.org/drawingml/2006/main" prst="roundRect">
            <a:avLst>
              <a:gd name="adj" fmla="val 1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6CAAC-6273-421B-BCD1-A6F44A7A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6300"/>
            <a:ext cx="12001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6F7C4-3D49-40A1-B1E6-791FA04D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9239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可编辑 PPT 原型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9C74C-26CA-4672-95C2-3236E0FD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906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A2230"/>
                </a:solidFill>
              </a:defRPr>
            </a:pPr>
            <a:r>
              <a:rPr sz="3150" b="1">
                <a:solidFill>
                  <a:srgbClr val="1A2230"/>
                </a:solidFill>
              </a:rPr>
              <a:t>速赢AI 前端交互原型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2F92C-9B68-4AD7-AEAA-07502DC0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145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7A"/>
                </a:solidFill>
              </a:defRPr>
            </a:pPr>
            <a:r>
              <a:rPr sz="1350" b="0">
                <a:solidFill>
                  <a:srgbClr val="52617A"/>
                </a:solidFill>
              </a:rPr>
              <a:t>14 个一级菜单 · 61 个功能页签 · 每个页签一页 · 所有卡片和文字均可编辑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0E601-C3FB-4329-9EF0-4D5ADDBA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2952750" cy="15811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AE36A-518A-4B30-BA01-531BD85E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原型规则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531CE-559E-47C1-B009-0212E09B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575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6AC1A-68A5-48C7-91CB-76A9D12F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左侧为一级业务模块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BEF89-02DB-47F1-9CC0-25557E5A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052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66A0C7-6E87-4820-8EF6-D0CDAA99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38550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顶部为当前模块内功能页签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DD91A-807D-4F7C-BB52-5E5FD88F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528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E6FBB-99FD-4EBB-95BE-CD591FF7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86200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跨模块入口只放内容区动作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3C9A1-51CB-4A5D-8FB3-2C145C51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1A18DB-6138-4821-BB79-FFEE59B1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默认白天交易终端主题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90EE0E-600B-403A-A6A6-8E8A8F4E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33700"/>
            <a:ext cx="2952750" cy="15811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03DBA8-7DD5-47BE-B270-3599E261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交付格式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608F58-D59C-49E5-A54F-FDFC501D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575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F9D528-3658-4D02-ACBD-72E375A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90900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PowerPoint 原生形状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F31C2F-6F84-47D1-B1C1-92598AD4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052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2F9F48-B378-40E9-963E-D2035ACC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38550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文本、按钮、卡片可编辑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DC18A-0A5F-4998-889B-9855E9ED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528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769E0C-9446-402C-AEB9-AB8D3069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86200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不使用页面截图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95F5D9-4B54-4024-8000-0BDE1FDE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00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F71164-83F3-4E97-90C3-4FD7E21E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33850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可直接继续改成评审稿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FF1EC4-DFEB-4574-A9A5-260E5ACC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33700"/>
            <a:ext cx="2952750" cy="15811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7A9B69-95EB-4EEF-BD44-967437C0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670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覆盖范围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73D5A1-9ACF-46D0-9311-7B1258E1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575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3620CD-E62E-4030-81B7-DC479150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90900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智能看板到数据更新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07623D-1501-455F-85FD-19FD7094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052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F5965E-259F-4C07-B398-29FCBED8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38550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市场、选股、预测、交易、回测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689E91-D159-4EEF-9349-4A47CD35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528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AE19D2-1145-483C-B9B2-4EB31A94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86200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模型训练 / 注册 / 数据运维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C36C3C-CEB6-41F3-AF8A-8894E71E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00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C7D5EB-3C16-4FB7-9328-8342D2F6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33850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共 63 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E8E154-8E1C-404D-968D-6154CA01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A96A8"/>
                </a:solidFill>
              </a:defRPr>
            </a:pPr>
            <a:r>
              <a:rPr sz="825" b="0">
                <a:solidFill>
                  <a:srgbClr val="8A96A8"/>
                </a:solidFill>
              </a:rPr>
              <a:t>生成依据：assets/shell.js、各 HTML 页面锚点、design-spec.md</a:t>
            </a:r>
          </a:p>
        </p:txBody>
      </p:sp>
    </p:spTree>
    <p:extLst>
      <p:ext uri="{BB962C8B-B14F-4D97-AF65-F5344CB8AC3E}">
        <p14:creationId xmlns:p14="http://schemas.microsoft.com/office/powerpoint/2010/main" val="11358864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BB414E-03A2-4FC7-AFFD-95431C1C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导航信息架构总览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39FC3-C291-4DFA-A356-CDE23731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A"/>
                </a:solidFill>
              </a:defRPr>
            </a:pPr>
            <a:r>
              <a:rPr sz="1050" b="0">
                <a:solidFill>
                  <a:srgbClr val="52617A"/>
                </a:solidFill>
              </a:rPr>
              <a:t>每个一级菜单进入后，顶部只展示该模块自己的功能页签。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61E10-9AE1-47F6-B572-9DF71990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5238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78C98-885A-491F-9BF0-F4EF5999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BFF"/>
                </a:solidFill>
              </a:defRPr>
            </a:pPr>
            <a:r>
              <a:rPr sz="975" b="1">
                <a:solidFill>
                  <a:srgbClr val="3D8BFF"/>
                </a:solidFill>
              </a:rPr>
              <a:t>01 · AI 智能看板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2AAA3-2275-4318-9B1D-57EB07F6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34302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10" b="0">
                <a:solidFill>
                  <a:srgbClr val="1A2230"/>
                </a:solidFill>
              </a:defRPr>
            </a:pPr>
            <a:r>
              <a:rPr sz="810" b="0">
                <a:solidFill>
                  <a:srgbClr val="1A2230"/>
                </a:solidFill>
              </a:rPr>
              <a:t>市场情绪 / 竞价意图 / 信号总览 / 自选跟踪 / 运行状态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0D7EC-781E-4E01-9AED-32AFA4ED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581150"/>
            <a:ext cx="247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index.html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4D047-757B-4D4A-A2AF-6E3D536A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19200"/>
            <a:ext cx="5238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22697-3524-4A5A-87A2-95909A89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335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BFF"/>
                </a:solidFill>
              </a:defRPr>
            </a:pPr>
            <a:r>
              <a:rPr sz="975" b="1">
                <a:solidFill>
                  <a:srgbClr val="3D8BFF"/>
                </a:solidFill>
              </a:rPr>
              <a:t>02 · 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5565B-D6B8-4C5E-9062-03869D2E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34302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10" b="0">
                <a:solidFill>
                  <a:srgbClr val="1A2230"/>
                </a:solidFill>
              </a:defRPr>
            </a:pPr>
            <a:r>
              <a:rPr sz="810" b="0">
                <a:solidFill>
                  <a:srgbClr val="1A2230"/>
                </a:solidFill>
              </a:rPr>
              <a:t>开盘闸门 / 候选决策 / K线推演 / 风控交易 / 链路审计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8BED7-030F-4200-8653-89B0219C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81150"/>
            <a:ext cx="247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suying-ai-workbench-redesign.html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61C1C-4FB3-47F3-805F-806D373E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5238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89E77-F0BC-4C0C-A2EE-65D22E8D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BFF"/>
                </a:solidFill>
              </a:defRPr>
            </a:pPr>
            <a:r>
              <a:rPr sz="975" b="1">
                <a:solidFill>
                  <a:srgbClr val="3D8BFF"/>
                </a:solidFill>
              </a:rPr>
              <a:t>03 · 智能选股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163E6-0147-496E-BC48-29DF2544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859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10" b="0">
                <a:solidFill>
                  <a:srgbClr val="1A2230"/>
                </a:solidFill>
              </a:defRPr>
            </a:pPr>
            <a:r>
              <a:rPr sz="810" b="0">
                <a:solidFill>
                  <a:srgbClr val="1A2230"/>
                </a:solidFill>
              </a:rPr>
              <a:t>策略入口 / 因子筛选 / 候选清单 / 批量动作 / 诊断联动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8B8DCA-E169-4F6E-B11D-1B95985C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24100"/>
            <a:ext cx="247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screener.html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DFD285-2AD9-462A-B4EB-7A9DF140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5238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197CA-839E-4C7D-B86E-5A43B13F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764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BFF"/>
                </a:solidFill>
              </a:defRPr>
            </a:pPr>
            <a:r>
              <a:rPr sz="975" b="1">
                <a:solidFill>
                  <a:srgbClr val="3D8BFF"/>
                </a:solidFill>
              </a:rPr>
              <a:t>04 · 产业链拆解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59F583-62AA-4FB6-A752-56C50E1B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859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10" b="0">
                <a:solidFill>
                  <a:srgbClr val="1A2230"/>
                </a:solidFill>
              </a:defRPr>
            </a:pPr>
            <a:r>
              <a:rPr sz="810" b="0">
                <a:solidFill>
                  <a:srgbClr val="1A2230"/>
                </a:solidFill>
              </a:rPr>
              <a:t>产业图谱 / 链路证据 / 核心公司 / 风险传导 / 加入选股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378FCE-29CF-4361-8997-80176575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24100"/>
            <a:ext cx="247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supply-chain.html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5F0E7F-53C7-42E2-AC3F-65D12540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05100"/>
            <a:ext cx="5238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B24687-2FE7-47F5-88E4-20A7E318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BFF"/>
                </a:solidFill>
              </a:defRPr>
            </a:pPr>
            <a:r>
              <a:rPr sz="975" b="1">
                <a:solidFill>
                  <a:srgbClr val="3D8BFF"/>
                </a:solidFill>
              </a:rPr>
              <a:t>05 · K线预测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3D321F-0875-4C6F-9B77-6DD514B3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2892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10" b="0">
                <a:solidFill>
                  <a:srgbClr val="1A2230"/>
                </a:solidFill>
              </a:defRPr>
            </a:pPr>
            <a:r>
              <a:rPr sz="810" b="0">
                <a:solidFill>
                  <a:srgbClr val="1A2230"/>
                </a:solidFill>
              </a:rPr>
              <a:t>标的选择 / K线走势 / 概率路径 / 关键价位 / 生成信号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54A3C6-F99A-48DB-9C91-22263824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67050"/>
            <a:ext cx="247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predictions.html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D9C8A7-9B47-464C-8E92-7361634E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5238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EAD10F-9D0D-4F6D-8DAF-A9046C34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194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BFF"/>
                </a:solidFill>
              </a:defRPr>
            </a:pPr>
            <a:r>
              <a:rPr sz="975" b="1">
                <a:solidFill>
                  <a:srgbClr val="3D8BFF"/>
                </a:solidFill>
              </a:rPr>
              <a:t>06 · 方案管理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9FDBE4-736E-4BAE-957F-AAEDE5BB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2892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10" b="0">
                <a:solidFill>
                  <a:srgbClr val="1A2230"/>
                </a:solidFill>
              </a:defRPr>
            </a:pPr>
            <a:r>
              <a:rPr sz="810" b="0">
                <a:solidFill>
                  <a:srgbClr val="1A2230"/>
                </a:solidFill>
              </a:rPr>
              <a:t>方案列表 / 参数组合 / 执行计划 / 回测复核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56DF9D-038F-43D0-AE22-E17F84FA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67050"/>
            <a:ext cx="247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strategy.html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4370D4-5314-4ACE-A5C0-2BFAD87B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5238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141412-822E-45AE-AB62-C82157D8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BFF"/>
                </a:solidFill>
              </a:defRPr>
            </a:pPr>
            <a:r>
              <a:rPr sz="975" b="1">
                <a:solidFill>
                  <a:srgbClr val="3D8BFF"/>
                </a:solidFill>
              </a:rPr>
              <a:t>07 · 交易信号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D257D1-A5D6-4FDB-AB5E-4D528E12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718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10" b="0">
                <a:solidFill>
                  <a:srgbClr val="1A2230"/>
                </a:solidFill>
              </a:defRPr>
            </a:pPr>
            <a:r>
              <a:rPr sz="810" b="0">
                <a:solidFill>
                  <a:srgbClr val="1A2230"/>
                </a:solidFill>
              </a:rPr>
              <a:t>信号总览 / 买入触发 / 风险提示 / 订阅策略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1FE57E-6B8A-4CC6-BA1D-62310523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10000"/>
            <a:ext cx="247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signals.html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683429-209E-4504-80A3-511FB8A6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238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CA5D18-E14B-42A0-8117-0943D728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62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BFF"/>
                </a:solidFill>
              </a:defRPr>
            </a:pPr>
            <a:r>
              <a:rPr sz="975" b="1">
                <a:solidFill>
                  <a:srgbClr val="3D8BFF"/>
                </a:solidFill>
              </a:rPr>
              <a:t>08 · 交易中心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822329-2AEF-4C15-983A-1E02FB9E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718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10" b="0">
                <a:solidFill>
                  <a:srgbClr val="1A2230"/>
                </a:solidFill>
              </a:defRPr>
            </a:pPr>
            <a:r>
              <a:rPr sz="810" b="0">
                <a:solidFill>
                  <a:srgbClr val="1A2230"/>
                </a:solidFill>
              </a:rPr>
              <a:t>交易票 / 风控校验 / 持仓资金 / 委托回报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CA39FA-7005-4CA4-A610-6FE92F48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10000"/>
            <a:ext cx="247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trade.html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B62A9E-F04E-4F06-AA9F-0FF1D4BD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5238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59320D-E786-4009-A180-C5787174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BFF"/>
                </a:solidFill>
              </a:defRPr>
            </a:pPr>
            <a:r>
              <a:rPr sz="975" b="1">
                <a:solidFill>
                  <a:srgbClr val="3D8BFF"/>
                </a:solidFill>
              </a:rPr>
              <a:t>09 · 量化交易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0CD7CE-4FAD-46C8-AE05-DA8D8012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31482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10" b="0">
                <a:solidFill>
                  <a:srgbClr val="1A2230"/>
                </a:solidFill>
              </a:defRPr>
            </a:pPr>
            <a:r>
              <a:rPr sz="810" b="0">
                <a:solidFill>
                  <a:srgbClr val="1A2230"/>
                </a:solidFill>
              </a:rPr>
              <a:t>策略实例 / 运行监控 / 风控开关 / 执行日志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38D7E3-4DA4-4EB6-832E-84EB4A80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52950"/>
            <a:ext cx="247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auto-trade.html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971876-4245-40A4-A1EA-132FF7EF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238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81A68D-3196-46DC-BFD4-EF0E6DE0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053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BFF"/>
                </a:solidFill>
              </a:defRPr>
            </a:pPr>
            <a:r>
              <a:rPr sz="975" b="1">
                <a:solidFill>
                  <a:srgbClr val="3D8BFF"/>
                </a:solidFill>
              </a:rPr>
              <a:t>10 · 回测分析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676C1B-731A-4EEF-A537-A2BCCD59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1482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10" b="0">
                <a:solidFill>
                  <a:srgbClr val="1A2230"/>
                </a:solidFill>
              </a:defRPr>
            </a:pPr>
            <a:r>
              <a:rPr sz="810" b="0">
                <a:solidFill>
                  <a:srgbClr val="1A2230"/>
                </a:solidFill>
              </a:rPr>
              <a:t>回测参数 / 收益曲线 / 交易拆解 / 失败样本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AA49BF-0039-4379-A32E-65E16BCA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52950"/>
            <a:ext cx="247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backtest.html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EB8016-1C58-4BEA-9211-5E9B17C3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5238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22E742-A472-42C7-9DA1-6C430416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BFF"/>
                </a:solidFill>
              </a:defRPr>
            </a:pPr>
            <a:r>
              <a:rPr sz="975" b="1">
                <a:solidFill>
                  <a:srgbClr val="3D8BFF"/>
                </a:solidFill>
              </a:rPr>
              <a:t>11 · 个股诊断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A9E53E-1443-46AC-8968-A8D90CDD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57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10" b="0">
                <a:solidFill>
                  <a:srgbClr val="1A2230"/>
                </a:solidFill>
              </a:defRPr>
            </a:pPr>
            <a:r>
              <a:rPr sz="810" b="0">
                <a:solidFill>
                  <a:srgbClr val="1A2230"/>
                </a:solidFill>
              </a:rPr>
              <a:t>个股画像 / 风险雷达 / 历史信号 / 操作建议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BC552B-662C-4554-8D94-2BB9C158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95900"/>
            <a:ext cx="247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diagnosis.html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838701-4EE0-4CCA-914B-D4A5218C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5238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912583-1E66-4654-BDAF-E7BCC50A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482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BFF"/>
                </a:solidFill>
              </a:defRPr>
            </a:pPr>
            <a:r>
              <a:rPr sz="975" b="1">
                <a:solidFill>
                  <a:srgbClr val="3D8BFF"/>
                </a:solidFill>
              </a:rPr>
              <a:t>12 · 模型训练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CD4E4F-CBED-4018-BA22-6A395271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57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10" b="0">
                <a:solidFill>
                  <a:srgbClr val="1A2230"/>
                </a:solidFill>
              </a:defRPr>
            </a:pPr>
            <a:r>
              <a:rPr sz="810" b="0">
                <a:solidFill>
                  <a:srgbClr val="1A2230"/>
                </a:solidFill>
              </a:rPr>
              <a:t>训练任务 / 损失曲线 / 数据校验 / 发布闸门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609BF8E-1144-41D8-B509-BC47F639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95900"/>
            <a:ext cx="247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training.html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ECB9B0-4996-48BB-947E-562F628B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5238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C894C38-5B1B-4247-9D52-0DA9ED2C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BFF"/>
                </a:solidFill>
              </a:defRPr>
            </a:pPr>
            <a:r>
              <a:rPr sz="975" b="1">
                <a:solidFill>
                  <a:srgbClr val="3D8BFF"/>
                </a:solidFill>
              </a:rPr>
              <a:t>13 · 模型注册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25E7907-9BDE-4950-9DD4-DDD03276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80072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10" b="0">
                <a:solidFill>
                  <a:srgbClr val="1A2230"/>
                </a:solidFill>
              </a:defRPr>
            </a:pPr>
            <a:r>
              <a:rPr sz="810" b="0">
                <a:solidFill>
                  <a:srgbClr val="1A2230"/>
                </a:solidFill>
              </a:rPr>
              <a:t>模型列表 / 指标对比 / 部署阶段 / 审计记录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E97F3F9-C472-42C5-A5A0-B8D6CCE8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038850"/>
            <a:ext cx="247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model-registry.html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D666D76-209F-4417-B08C-81DC745C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76900"/>
            <a:ext cx="5238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FA5F215-1A97-46AE-9E95-B4264C9B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7912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BFF"/>
                </a:solidFill>
              </a:defRPr>
            </a:pPr>
            <a:r>
              <a:rPr sz="975" b="1">
                <a:solidFill>
                  <a:srgbClr val="3D8BFF"/>
                </a:solidFill>
              </a:rPr>
              <a:t>14 · 数据更新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D7B8E55-AF81-4C85-ACFA-10F272BA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80072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10" b="0">
                <a:solidFill>
                  <a:srgbClr val="1A2230"/>
                </a:solidFill>
              </a:defRPr>
            </a:pPr>
            <a:r>
              <a:rPr sz="810" b="0">
                <a:solidFill>
                  <a:srgbClr val="1A2230"/>
                </a:solidFill>
              </a:rPr>
              <a:t>同步总览 / 质量检查 / 同步日志 / 修复动作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A26990E-4576-425E-BB3A-A3713166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038850"/>
            <a:ext cx="2476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data-update.html</a:t>
            </a:r>
          </a:p>
        </p:txBody>
      </p:sp>
    </p:spTree>
    <p:extLst>
      <p:ext uri="{BB962C8B-B14F-4D97-AF65-F5344CB8AC3E}">
        <p14:creationId xmlns:p14="http://schemas.microsoft.com/office/powerpoint/2010/main" val="7768953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622708-FC4D-40E8-86CA-4A7A5ECB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843B9-342D-495A-9AB3-6748AC94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BCE79-901E-4D8B-A31C-899D6016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B5EFB-4BB0-48CA-8153-B3D9BEA1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0CAA6-B480-425C-B84F-A1F7C28C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A8027-9395-4837-AAA2-B04EAEFE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3345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3D8AE-4764-4581-969F-2C643BD2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AI 智能看板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C27FD-43FA-4A7E-A8E3-71C53201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45BA9-7160-4E6A-AEBD-1190AAF4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C7490-2276-4863-A8F1-82242666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01DF9B-FAE2-4BBE-AAB0-E341EBFD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5DCC51-4AB8-47F0-B43A-3E6B223A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607D2-A33F-4166-AC52-C9445098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57E7D6-FC44-46DF-AF7D-993D9407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99782C-6F9A-4F40-8D40-FD443948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4FF6B-27C1-4ADE-8BFD-467924CF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B4DF79-4AC4-45FA-ADD7-445F8713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C94A59-C4FE-49CC-B531-31779609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27B828-E8D6-461F-8BC2-E8A7A1A6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B19F47-CE86-4A77-970D-3EAE7A16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B82EE6-29C2-4BE7-8593-3D6ED6DA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C89267-ED7F-4FCC-A508-924B4C18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D94C70-DA11-4D57-9896-F337D3E3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548AF7-8549-4B47-A205-3D825710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0798A5-303A-43A3-BD35-98BCB4AC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2A9642-66E1-44B3-801C-028F4703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5E0655-5982-4360-8EF5-F54D94F5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D11339-ED20-4E87-AED4-5C16A3CF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55817E-235D-42C6-AD0F-68715A9A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E6AAD0-0E7B-4734-97FB-3ED8375D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586A7B-0E54-4ADD-9AFC-ECFC77D3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5E1A0D-3649-4D1D-8172-C7FE67DF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AD6D51-D5DC-47DA-8BEC-6192E3D7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836CDF-A64B-4B79-8D3E-96D555F9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AC75CA-6DEF-41E5-8A46-68FBC00B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B4E321-5696-4A01-8CB6-05DF1DB8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429CA0-BC4F-4251-9268-B16F1862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44F833-DF08-4669-834C-3CB9AAFF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318057-1BC2-4264-B600-5BC55D35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247C72-47EE-45DC-8710-92DCE09A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64761A-5E7B-4022-BF02-D5817BD0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AI 智能看板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F5DE36-9194-430E-A852-F2E34676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4167EE-6291-4C64-B90D-FE7F9339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882213-9A51-4D45-9E8F-C8D7D760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1D450E-E8FF-489D-A3BE-13499923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378A7AD-EF0D-463E-8AC6-D75FA49F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2E1AAB-35A6-4CFA-A290-061FE966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CEB1757-1DE2-44B1-8970-FC36F0BA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C0624DF-B6C3-4D63-9B34-EC958855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市场情绪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7E7E51E-85F6-4D3A-A1DD-D3C2D72A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指数 / 涨跌家数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7E8B93-0A86-4E6D-8463-A4F6568E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391709E-4794-4072-BD9F-7AEDEF2E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A7C94CA-F307-4CCB-BFE8-D029431B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竞价意图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887FD42-04C3-4E0E-A1E9-8ED6530F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9:25 抢筹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2FF4FAE-68E4-413C-B151-E196FDA8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EF4DAD2-3BE1-4B0D-AE2C-356FB2EA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A039F39-FDEE-4209-835B-18A35AD0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信号总览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277DA68-21B6-4B18-B47E-EE05F58F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今日触发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7F6CBAF-025B-469A-BEAE-4B9E8526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B396D5D-BBCB-4F09-BC3B-3E19EF40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3413166-15A8-49B4-9124-C204976E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自选跟踪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B478A0F-28FF-4128-8D99-BBA54599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持仓线索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991FF23-637A-4512-B02F-8BBAEB2C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F20F039-5562-478B-82E2-95486CB8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1D259E4-45AC-43DA-952F-CE215DA6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运行状态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F10468D-EBEE-4411-8351-68F9A06B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服务 / 数据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F269D80-805B-4B68-9023-9620868E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011CBAD-8ADE-421C-9026-81070F49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1815D7A-3589-47AB-A4DD-66554616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AI 智能看板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AA8DA6F-C132-4EAF-BE7F-B5C548DA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2E9D7EB-EB01-4DBD-A1A4-FB2B8EA5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E73463B-1691-4C38-8A92-43E748BD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市场情绪 · 竞价意图 · 信号总览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802F5CE-A081-44E0-A151-4383085B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141231E-D4B2-4805-824B-B33A3253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C1347BA-582D-4A09-AB9C-1CF10D9F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盘后复盘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40C6A5A-1F31-4961-897A-7082BBC8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8D5D14D-7B4D-45D2-AF3F-6FB904BE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49E20B3-8CE3-4FB9-90C7-F427E9EA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实时刷新 42s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28621B3-D27E-4F5F-9E4B-6F73913C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03 · AI 智能看板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9D2E776-38C6-4120-8191-9BCD3ED4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市场情绪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ABA3A0F-141B-413C-9309-F7DD38B6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指数 / 涨跌家数 · 原型页内所有卡片、按钮、表格均为 PPT 可编辑对象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9E4946F-221F-481B-B581-19B0DACF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4A9315F-354E-426B-82B8-E3901C0A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E408476-DC7E-4CF3-BD9C-339A8C65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331B3BA-A2D5-49F4-9DB8-6B639F9D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智能看板 / 市场情绪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8B71C6E-CD72-4A13-AFEF-0AE6842F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5F38C97-A808-4D38-A0CA-5C1DC2CB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指数 / 涨跌家数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4B640CB-B6AD-4839-8F0B-9DB3F93E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E7F95E3-B843-49A7-AF21-6AE67833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市场情绪 · 多维度模型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B39D1AF-5A44-4473-BF15-9E97AEB4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AD6D8A3-011D-4B28-ACF2-62EE7886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16A6899-2544-441B-A467-005A9562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4008EC1-19FB-4F67-87FE-927D5A44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30AFC49-436C-4A44-8226-0FBD5C52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2700ABF-0488-4890-A60F-38B51430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市场情绪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F1304EB-86B3-46BE-A685-B59ED642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1CF19B3-4E51-4256-98A6-262FAC28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市场情绪 · 多维度模型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61E6805-6B3F-4266-BF9F-1123C7ED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56FF1B7-26F5-4220-93D8-EB4C419C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实时盘口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C6EF8A8-0B5D-4A25-B9AD-150F191C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A689C8D-764E-4FE8-A1E8-5AA36AFC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封板率 78.4%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C7FAB6E-47F5-4D54-992A-825A783B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0C695B8-58AA-4E3C-B1DD-52F211AF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E775FD9-8CF8-4D53-BB5E-F898BB3F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3A65159-0254-4BF5-A06E-864AAD15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偏强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E3F2F12-3273-43CB-A708-A8885AB8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9913F8C-3896-4027-BEC0-36959CE6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实时盘口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15DBDD2-1981-47DE-82B0-FFDB86FF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DDDDE40-3420-46BA-9A17-9A5BCFD2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封板率 78.4%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13377FB-ED19-4195-9734-D068C1E4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F76654C-6B10-4CDC-9BD3-B8FEF0E6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AI算力、电力设备、半导体排前三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4D9F3F0-25F3-4E0F-8943-AEA465BA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5427144-677F-49DB-B1E8-3F972451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6F3843C-340F-4780-B1F2-DCA68917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CAA7673-4670-4E39-8A24-75A3B249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974E301-0B13-4849-83DC-2A8245E1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AD39391-99F5-4398-A4D3-18E7BA40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203EFEC-4C90-4DA0-A933-026DF1B7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偏强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9D7F953-C150-4824-A181-922922ED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8C730A2-E6BD-49F1-9277-44CAEAC0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保存情绪快照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1A44925-BF34-43A1-9FF4-EF0A0A6C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9881298-D9C9-4B64-9BA9-077A4900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实时盘口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559FB1C-137E-429E-B932-9FBDF703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608A98D-1154-4D41-8203-E354D4F3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生成风险提示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AC85004-283E-483A-A59A-BFBBC52C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E909768-B2F8-4A87-ABA2-35FD208C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封板率 78.4%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EC61C6C-DDA5-4FBD-B4B7-50022CB9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0D89C02-5237-4928-8DC2-2E1EA56B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进入开盘闸门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0827825-2C44-40BF-9FE1-0A3948F6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35806D7-AB73-4827-B2C8-506E3270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0E13140-8DE5-4A8A-934B-E2006857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C08DE0D-BDDB-4601-8C2A-47FDB679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保存情绪快照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D1FFEFF-F165-453E-AB38-1AEBC453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100428D-C104-49DE-99C9-B9F9EF3A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生成风险提示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1CDFF07-C9D0-463D-9BA3-D4DB34B5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358B14E-2FB5-4206-8089-34A60F7C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生成风险提示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6641E01-1C33-4EB5-BC46-BF4DF592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01B7A78-8C34-4C2B-92E9-E73155AF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进入开盘闸门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1DB0462-6697-4CC3-80CC-3A0258E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03CF0C2-0E55-4AAA-BE69-7AE79C96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进入开盘闸门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255404F-A077-4435-BA20-07A3F1B8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EB51F82-1064-43E1-A063-AE890C90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保存快照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4DD43C9E-355B-44F8-80C6-48680485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文件：index.html#market-sentiment</a:t>
            </a:r>
          </a:p>
        </p:txBody>
      </p:sp>
    </p:spTree>
    <p:extLst>
      <p:ext uri="{BB962C8B-B14F-4D97-AF65-F5344CB8AC3E}">
        <p14:creationId xmlns:p14="http://schemas.microsoft.com/office/powerpoint/2010/main" val="4898846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061629-5A0A-44CB-9E58-AE588991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422F3-C5AC-4A17-8C72-A87D70CD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81569-7598-422F-8E51-9C98CC37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626A5-455F-45ED-B842-47A16C60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709B6-D03F-47A4-9BA1-8931E421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021C1-4788-4EF5-85B0-221E8333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3345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6AD20-44CD-4CB9-9D1E-B0D0393A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AI 智能看板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D053D-1FDE-4BEA-BBE0-C472D2DC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5A050-3630-4A0B-AD4C-02003C78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3EAC7-F409-4BB4-8E3D-723F817A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78588-5BA5-4DFB-AF21-AFE9AC99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0DB39-23D0-4945-A747-A9CCBC1C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A20821-6A50-4709-94D8-A11417AF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ED66E6-A9C1-471B-8AF1-565B307D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70555-2D51-4532-A4CB-E18E3218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12AA27-891E-4DE0-9CF1-51F818EC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61417A-BE00-4B88-B250-4F9A44C6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619ABF-BE2E-4A55-B90D-95A36115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556C57-D25F-4B48-9DCE-A2917969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09F7B0-11E6-43FF-B243-4E0E717D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37616A-8A72-4C18-BA51-5CB27347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C1FC11-0F26-4418-9F3B-6853A37F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ED983D-88DE-40B0-BD2B-BE24BB49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AB18C6-C35B-4CE4-9D30-9AF9FB67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51BED1-AA80-40B8-8D5F-630DB496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FC87DB-98B6-4496-8CEE-CF5CF016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3519D8-39DF-439B-88F0-CC9C4F0E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F39049-E400-4A4E-8E2A-B15811A6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58C635-2BEF-41C6-A360-642F41D3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E1971F-3768-47AE-875B-6C804388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191603-2E17-4332-A8B8-9399486C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2B15BD-66D6-47C8-819F-EEF94D56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B6E69F-1CAF-4659-819D-F995E1A1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6C12DC-FE76-4D17-94EF-C1568496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81F85D-1BFB-4742-A551-18D7562C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5DC04D-EF53-42A4-8B26-614B19D4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DC86B0-C81A-4470-B227-B2558CA2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5EF39B-42C3-4AA3-8443-13C7F039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06A69A-823D-4019-8C88-0D62459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AED783-DB19-4CAE-A2CE-AD598744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E42EEA-7C0E-4650-BB8B-6B2E9D7E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AI 智能看板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84A3AB-0EB9-4E8F-834B-F89D2B90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8627A9-4054-4EFA-8E77-F309F57B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6F2451-7399-4B08-A786-8768ABC1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E758CC-3434-4A5A-BD7F-ECF00BC0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749697-5C41-459F-8956-4529B6DE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F7F1CE-FDF0-4395-BB36-2463E463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175EF7-CF53-4C84-AF30-51873754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988C75-1EEF-4DCD-898B-92D0DC0A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市场情绪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05FDF1D-A464-4FD6-A717-03C9E681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指数 / 涨跌家数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A65034-8B40-4CC7-A131-58EE0301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C7C2EE-631C-4A34-983F-5EFEF5C4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7E7EB9-DBC5-46BF-AB65-1D1F434E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竞价意图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8D476D9-ECB3-4021-8A3C-2560826D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9:25 抢筹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E878301-D61D-460D-B12C-DB8F5F83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A1AF180-4E11-43B4-858E-F2948E20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34B26A4-6384-45EA-B678-2D28AAF8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信号总览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D3B0097-CD07-44A9-8709-E1B3DF70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今日触发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17593E6-E81E-4F55-A747-6119BA21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E716A3B-CBAB-4979-A9B5-0D1181E9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9CD755F-020D-4182-9D31-D06FFECA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自选跟踪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46ADD6D-32EC-4738-A8C7-C73F0A23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持仓线索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511A32D-35D9-472E-8CBB-E8D5242D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62905F4-75BF-4706-8B4B-972300C3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BEE2E07-EDF6-48E8-94F6-8032B9D7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运行状态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9AE9CE1-4235-45BD-B195-CAC29532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服务 / 数据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7837347-2F1A-48AD-9B1D-56B1CD3E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C804891-5346-4121-AB1F-74DF1432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478F57C-F91C-4B8B-9B0D-89B7F0E8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AI 智能看板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734FED1-E832-4250-A501-8B9EE2AA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1A77729-6B5C-4D5E-8158-A5F8D4F1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71E7E7B-1219-4AC4-A7DB-42F9F42F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市场情绪 · 竞价意图 · 信号总览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6C7C1CD-41B4-48B4-A4E8-88A29C2B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864DCCA-5EB4-4033-A3B8-6F7E9060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5C135F8-F655-4928-ABCB-450BB7DE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盘后复盘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D27633C-D3DD-4F0F-BE12-31A9B331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E1ACE6A-F62F-46CB-9337-EB700754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C57896C-8B3E-4A6C-B724-3E51ECD8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实时刷新 42s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4E19DD7-F30D-4BBB-A36A-16FCDB0F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04 · AI 智能看板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7727DAB-D7B8-4073-B93D-4BDC3D5C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竞价意图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DF59784-A796-48CF-AA5E-CD27C57F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9:25 抢筹 · 原型页内所有卡片、按钮、表格均为 PPT 可编辑对象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988037D-1150-430A-88C0-18396798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7CA8AD4-896B-43D7-8D5B-DEB5A235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F1D3567-339A-4759-B575-3E8E7FDE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A38097A-EBB1-43A3-AB60-7B70AD67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智能看板 / 竞价意图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CAF32E6-D7BA-4CCE-8788-9613A7E2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56C22E8-FBD6-457B-9CFD-7C2C4FBA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9:25 抢筹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38214BD-EC4F-4C3B-978A-AEC533B2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745077D-D6C0-494E-9254-3F2FFAEC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承载本页签核心数据判断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E603A50-99F6-483B-953E-FF5E931A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9148D84-494E-49F1-8287-F7449BFB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03D7917-8B8F-4557-B7F0-A3B0D923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8D270EB-EFDB-489D-817B-0B365FC0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D321F80-EDF1-4230-AB4D-AF68831A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B58821F-A745-460C-9272-12C50124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竞价意图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F8D9B32-28C0-4213-8F09-3456C87B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84D807A-72EB-4D2D-8A1E-BB6FAB65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9:25 集合竞价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EDDD46A-8E38-43A3-A1CD-BBF1C3F4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F4E2364-8481-41B2-BA9E-8900DF6D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高开抢筹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B4B9E59-6036-43E7-A6BD-3BF2232D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35D260B-062E-440C-A6A2-223B3151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量比 4.2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135CBA7-F31D-466D-9669-355711B1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7C8B2E9-28BE-42E8-9B0E-80D123F5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3346A9D-4A61-4DB1-BE9F-1A54FE97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31291D6-0E3D-4CFA-A1A6-4B611F50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9:25 集合竞价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3C0E497-F962-4DF7-B3DF-D4566596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4F88E29-0D62-4B88-91CD-57D63D7A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高开抢筹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A9EE61D-E0E0-42BA-8D83-B8925BDF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7625AB3-FDB0-4016-A1B0-C96556E1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量比 4.2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717B963-98C0-4745-B7D0-E527B086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8BB83AF-6E31-4579-9EEC-909C584F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优于VWAP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8F2D6FC-C642-4454-B31B-E2893A0C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6E8E51B-4441-42FB-BA4F-5AB9F57E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236F19F-7BAE-4662-AF09-53772CF5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E828DA5-A20F-4860-B22B-CF3D8C28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0B24F87-5A10-4BCD-AC0D-1B43DAFE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5652F26-53A2-41A4-87AE-7BF2FD21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2E6D78D-790C-4217-A985-2C892A3C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9:25 集合竞价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ADBCE76-CCE1-4BC4-A0D5-62E99C2A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A25E4F8-77B0-4D75-BFA4-29DB91EA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看多 28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F1AC502-9572-47BF-A429-5F9548B1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7003B90-8E4F-40B4-816F-AD2B7399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高开抢筹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5BC23F2-7BFA-4B55-9E90-812FFF55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EB1E03F-87BD-4E00-BF38-83F711B8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看空 19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49635DE-F33C-4DA0-8B79-42992FFE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C882FE9-F64C-45AD-BC6E-91B4E861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量比 4.2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ADB12E3-1029-4D44-A37F-CD0173E8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4814E6B-B1FB-4530-9AF1-E5F4F9CE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25E7C37-2E16-4B4E-B721-DE431332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D942CF4-0462-4C59-A568-B64925D9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4A63991-06E7-4C7A-9200-6C11383B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439263A-E51D-48EB-ADA3-1DF65FCC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看多 28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54036FB-E386-4ABB-9DE2-4BA42B43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66C2930-929C-46C8-AB87-78603284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看空 19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696E01D-C050-4C10-BC92-6872D1D4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31D7189-398C-475F-A928-F61749C9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看空 19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A3D52E8-1F86-4A36-8D08-A7606730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056BF67-BA9F-475D-B593-E92846EA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A3580CF-B44F-40E5-BE36-387EE21B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D5DDC97-F2B3-493D-A774-80520FFD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53385CA-E3C2-4C59-9626-2DCA44F1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023D48C-7FD1-4BE7-A0DC-5A622C24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导出数据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9199EC3-F3A6-4B1A-8B31-45BABBCD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文件：index.html#auction-intent</a:t>
            </a:r>
          </a:p>
        </p:txBody>
      </p:sp>
    </p:spTree>
    <p:extLst>
      <p:ext uri="{BB962C8B-B14F-4D97-AF65-F5344CB8AC3E}">
        <p14:creationId xmlns:p14="http://schemas.microsoft.com/office/powerpoint/2010/main" val="2901824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0C58B3-FF3C-42DC-A1C2-7F54583B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F92FE-E1BB-4F41-AF77-6BEFC701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C6DF0-9BB5-42D9-A915-5CD96518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4500D-523A-4DDE-AEEA-E2169DD8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B4AE5-D8BB-43F7-B6AC-DB9615F3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A9A39-8CB6-4866-BF19-97386025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3345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F85A1-41A4-4068-8896-3519718B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AI 智能看板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D1C0B-A69D-4444-8532-876AD20D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0043F-F9E0-4313-8F0D-4109698C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B0C60-B238-4ABC-A584-280BBC3A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F38E8-95C5-4513-B07E-EF4B51ED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CA2F4-3483-4062-B561-B1C6F24A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607819-3D5A-431C-AF62-1D405031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841D4-20DD-40BC-B68F-41C1E9BA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3A217-0CDE-40A7-970E-A8E57B0E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13D8F4-FF12-432E-A5BB-1E551A2D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3B9C0E-36BD-4025-83C0-2A0A47D7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56B9D2-9A16-49C5-8865-9FEA81C6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5A2E26-3B4D-4891-8E1F-D27058B3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3A44CC-B187-4EEE-9DCD-A54D7203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DF72E1-171F-4BC5-BE34-D74512F5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E20528-E8BC-4FB7-BEA0-4DDB289E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3ECDF7-1EF8-47E4-BE7D-44C92165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14227A-9653-4378-BFBF-DD75FA17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DB4315-DE8C-4DB1-A9DA-680BFCE7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C931E4-E59C-4AF1-8339-8A89C67A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969A93-4EB4-42E6-B8D3-C804559F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60BBD1-7499-452E-A963-3FEFCA9C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BDDDBF-712B-4C64-86AD-4F2D1869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851F2A-2AA6-4B28-8EDA-4F238F1A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0242AA-AA0E-4C47-AD7A-9042D72A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EC8C25-6CFE-40C9-9C69-780A2C7F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5E7121-EBD7-4180-8B02-4BFCF7DC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D693EE-7E86-435C-9138-7E01F52A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C99B09-A1AB-4B35-9D76-EC2EC4B7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6D5132-3BF1-4A5F-9B91-254A1C3B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5043C6-D911-4E96-A81C-80A5A36B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5A2928-B04E-4713-8036-02FD81F5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C9BA78-FF25-4D1F-B31B-018BB321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BE0889-5047-49A6-ABC9-8EC29734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EC9EB6-9099-4A59-8C82-62EEDCB4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AI 智能看板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62F18D-991B-4830-A573-02B56100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1BF6CD-81B0-46F3-A337-2EAC7B17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FBC332-CA44-4D11-9EB6-138BC25C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CCA19A-CE14-4A6B-866B-24773094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683E60-B748-474E-AF31-1E6FAF98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6B6066-ACBD-4FB1-9FB6-B725EB9B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2867A2A-297D-4C0E-A47E-DAB3998A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DA9AB1-4FAD-4CE9-A413-411D6A3E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市场情绪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57F3EFE-67F7-49C1-B9D2-7B611635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指数 / 涨跌家数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C4A25D-BFFA-4E47-B2A1-55CA19F3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1FE1C63-EFC3-4E50-A105-126EAC5C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B794FF6-AABB-44AD-8BA1-407EC815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竞价意图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2A59DAD-61FC-47B8-8424-41D2D4C0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9:25 抢筹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AA50CA4-549A-4664-A9EB-04FF7C15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C3BADD9-5E33-4883-BDBF-8035AE95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CBF85BB-3C63-4164-B746-BF7C77A0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信号总览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6F285DD-79DB-49C3-AB14-AE643CF5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今日触发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50BD6B2-FA35-4E07-9072-88CDFE19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EB32456-D0B7-4300-89DA-E3963370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A0EDAB2-6610-464B-AF18-017CA78E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自选跟踪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1ADDD87-3FD9-47F4-B3A8-833F2AB0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持仓线索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FFD9321-F736-4B02-A280-BFB92B98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7E6B04B-333F-431E-8BF9-CBD0CE9D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440B206-2DA3-400B-AB7C-805835FF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运行状态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9AA1339-2CA6-49E8-B9C3-EFC5D32F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服务 / 数据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797C38B-6CBA-436F-8282-90AFA54E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46D50A5-F231-4190-935E-D7AB3FBB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79A9D43-54CF-4773-A45B-1C033B38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AI 智能看板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CC23660-1FF4-4A48-9CC1-B92C6590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0F512B7-8B4A-4FC9-A834-BFD6A2E4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88B5FBD-33BD-4575-8C35-497473C7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市场情绪 · 竞价意图 · 信号总览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69E34DD-E993-438A-A3FB-7D8B78FE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EE6F3AA-4F95-40A0-8266-AB6C8481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8AFD5FF-7617-45C6-A4F5-7DAC372F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盘后复盘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33C2633-51DC-4116-B926-D062B2DD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1A57FD0-2E6E-41CF-B4C8-811306ED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82EF59A-97AA-4BE8-91AE-76C62CE8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实时刷新 42s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9F6D29D-4593-4250-BF9E-DB634F64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05 · AI 智能看板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D180647-BDAD-4142-983D-0FEC9EB5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信号总览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0153F28-CD34-4FEC-ADFF-DFE36080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今日触发 · 原型页内所有卡片、按钮、表格均为 PPT 可编辑对象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3674215-EBC5-4A7E-8B05-D95C828A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59A301E-3BC9-4EF2-A794-587FFA33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21ABE15-168A-4D98-9F01-A59DAFD5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E46F310-89E3-4D64-A3F2-5671A8EC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智能看板 / 信号总览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01395FE-AAEE-4CE0-BDC3-E315316A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C264C82-521D-4DEA-818B-B06E3290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今日触发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3CF429B-866C-4D76-B7E8-531C3607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1E598A7-C698-4704-A731-C869C179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今日 AI 信号股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A9162CA-664A-4758-BB09-348C9328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0C4BB20-58A7-47E6-93EE-359346F0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82A71EB-4354-4BDD-B92B-F8DCE5B8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DB445CC-B2CA-46BC-872C-DBABA14D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F44CFDD-820E-44CF-947A-CAE186B2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60827B5-FFC7-448E-A459-5122F9D6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信号总览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1D94447-4E88-4CBE-BDFA-A50432D2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9D5A3D1-1738-45BA-8A62-F8EA6C60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今日 AI 信号股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AAE409A-3744-406F-9F2F-245F51BD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298EC34-7DFC-4F25-ACEB-D60BD10D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➡ 震荡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80F888D-324F-478F-88AA-DC4D8844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204E4D8-E16D-430E-8A68-E96CEFBF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▼ 看跌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B327F30-2AC8-4267-9026-E1BA2462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A5C6CC5-7B02-4D7F-970F-2E71C43F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69E15C3-5D7E-40BF-9E01-63329594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A2B7788-FD5A-469E-A111-924E05AF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▲ 看涨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B9E3A79-A9E2-4DA1-B660-F6529202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17BCA90-B2A3-4817-9B62-DD23A62B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➡ 震荡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59CAF73-2B46-4534-A472-0550C0BA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A368952-FAE4-4B5E-A0BE-CCF75B9F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▼ 看跌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9B18E21-4F4B-46E1-8E73-AC66D960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4F6E33E-661D-4D55-9818-5A079F64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DC7C294-01A1-4D99-B09D-9C2E0E8D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E448408-9809-47A8-9FB1-A4A821E7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CD6FC13-5AAB-42FD-B3C4-DE8B896E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C55EA51-BDCA-436F-8622-BCC97EB3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A084FB9-D063-4A03-9F58-614773CF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90497E1-6523-44D1-85AD-F1BECB2F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E82E1F8-4ADF-45FA-B892-38A6971B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代码 / 名称 信号 现价 涨跌幅 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84BC591-3E88-4136-9A7B-83DB2881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5381E30-CEF8-4E0D-8D68-A63D087C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查看全部 →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33E06A7-826F-4472-92DE-C26E4A1E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D66E7F6-382F-4426-927A-988A1473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600519 贵州茅台 ▲ 看涨 1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A6A0FED-6D17-4F7C-95D5-61345F59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798A892-41F6-42AB-8EF4-442632AB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生成草案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FB49640-BED4-4129-9491-6B8BBE37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D4DF436-2CB8-4520-A367-A7482DAB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300750 宁德时代 ▲ 看涨 2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E833C34-FC74-404E-99E5-7D4E5A6A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270E037-193F-4412-81AE-ED79454D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写入交易票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E3EA18E-60D9-4D03-8750-A099E38D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FCD8F09-A747-4A51-9A57-A62EF37C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CEBC659-0506-4465-B7B8-FA5F6CCC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2DCE69F-DDA8-44A1-BF4F-1E3D4D7F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查看全部 →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43D927E-6C74-4A5B-9E34-3D4B72DF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6BC0852-FAD3-4A17-ABA6-46AEBBDA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生成草案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3B4105B-D7EA-4335-89C1-3AB19744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E13ED66-D669-4F39-AB60-8A71DF19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生成草案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8361D01-D2CE-4D08-AB99-A4D8778E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CBF4E2D-357E-4D0E-8AA6-03F95FE4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写入交易票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DFCE14B-0DCD-4EE0-A0B8-7DA901CD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919ABE3-ADEF-4630-B8DB-7B75A714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写入交易票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D7EEF30-486C-4F38-BCE5-147D3C7A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E942CB5-F36A-45EB-8DE3-4C85BF56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提交复核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EB2F84E-3D95-46D8-9A66-D5169E3D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文件：index.html#signal-overview</a:t>
            </a:r>
          </a:p>
        </p:txBody>
      </p:sp>
    </p:spTree>
    <p:extLst>
      <p:ext uri="{BB962C8B-B14F-4D97-AF65-F5344CB8AC3E}">
        <p14:creationId xmlns:p14="http://schemas.microsoft.com/office/powerpoint/2010/main" val="4169234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B11391-B3C4-4035-A79E-C35887B0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642B0-B8B1-42BA-B89A-AF2E765F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16E8E-B3C4-44EB-A4F3-03F0D4D2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4F7F9-71A5-4FE2-AD96-6CCE8453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03906-DD27-4BAB-A317-2057262F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C5536-6128-4B8D-AE44-EAC2AEB5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3345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04F65-048F-48E3-9030-B3D13FC7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AI 智能看板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8C56B-73CF-4753-86D8-6CD8451D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FCEF3-0E0D-4D00-B4F7-EA950D7C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F3DDE0-5937-4820-93C9-B5EF7ED8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F7852-4895-4411-9AD9-DC0D8599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ED562-40E4-4502-B185-2A559821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8646DC-F41D-4255-99C6-36A149DF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87B64-0712-4BCF-990E-EB5A03F8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EC6FE-5A68-482E-833D-2F395E8A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C4365B-4E6E-4D29-9018-E2CDFBCB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156D5-120F-4EC5-B796-57F1BBB3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95EC1E-318B-48A9-862B-761B81D7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49771C-595E-4D8D-BB71-1A607695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6C0CAE-DE94-445A-8821-C1AA6688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254941-EBBC-4411-BE0C-36AC2D62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FCF05E-C68A-4BA7-9F94-C9E69DF2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927386-BF29-45DD-BAAD-073D75CD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63020A-0165-444F-94DB-B2B23062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FB05C4-F9B2-42EB-9C42-EDBC155F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FCA3E1-4EE9-4D17-8DBD-250A289F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CCC42C-7DBE-40C0-A2EE-A08ECB41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0CF450-7D9C-4194-AE2D-BA984C1C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642586-B8D8-405F-B035-3E3AD632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A5B80A-BCC8-4867-8911-986E167B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CE83E9-47B1-4411-8BBB-BC961874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CF3027-7FD3-4D4A-91E0-5F8C9881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D4DEA3-38D2-460F-B444-511623BD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704112-9367-41F7-8EB9-672C498A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CDA36A-C4F1-4606-86A9-040B41AD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3BEB20-1C0F-4CAA-ADAE-9787E420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F97D26-26A5-4810-B976-3A0BE422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A12DC1-DEDA-4D3D-9FB9-BEE007EF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78B99B-286E-46E1-8332-3D9DA6F7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F6B1CB-4399-4D6A-B782-2B17ACD7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8AE68C-45A9-4770-A79F-BC5344B2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AI 智能看板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05AD14-DA0E-41BB-84D4-B6A9BA0C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ABE3B3-16E2-499D-AD7F-44F0581A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646054-E47D-4481-A59F-78D4CBDF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46EB78-74F8-4308-BC63-6C08E324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FEED05-10F8-42F9-845C-CD52DF03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E55E37-DD20-4954-B41F-3EFC173A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D46CF6-2DC6-4082-9D60-731D5E2C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317664F-4945-4306-BD29-A0A6257C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市场情绪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E5EF6F-00D7-41A7-9412-BDEC872B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指数 / 涨跌家数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CB9486-D111-4BBE-B732-D720B907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C057031-4445-412F-912E-63AB6EAA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C79954F-3E45-44FF-828D-1D419702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竞价意图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E71BE9-76B5-44C6-8937-7E04099D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9:25 抢筹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DAAAD5B-A1AD-422A-B018-1F79E6C2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B7E9F54-3A9E-451B-AC65-5586A8E5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18BBABF-91EE-4405-B426-6F358D88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信号总览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C1E15EF-841D-4491-844E-FB552750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今日触发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1C5E361-706D-4C03-AB5A-61991B35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7771698-1B81-43FC-959B-5EAE7FF6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0CA4D25-6D1F-45FB-A924-1BAE08D6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自选跟踪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5152546-27B6-4CC4-955C-F48AE4BB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持仓线索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C20A9A2-12D6-426D-A933-6FFC16A2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D690E17-6A29-4399-B7E2-354C3106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B5F13C4-F37F-408F-8FF2-B5CAF20B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运行状态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8CE219F-AE3D-4F64-B573-FC9D0C82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服务 / 数据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9BD5D9D-E4E7-44BD-A153-D9AFF531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409A08D-7FE2-4DB3-AE9A-A1AC913E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B1132D7-1D2D-45C5-A011-0AA7553D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AI 智能看板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AEA2398-1932-4168-8753-3E0368C4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BEF1DBA-BB98-4BA9-A72C-3BEBCA19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AE10F2C-3A85-4952-9CA0-CA226ABF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市场情绪 · 竞价意图 · 信号总览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D36E698-99E8-48AB-A336-2ADE452B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072AC75-59EA-41C8-B606-A3C5E505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6B6821E-C3FA-433B-B085-B07444BE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盘后复盘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BA7D808-C5CC-486A-ACAB-C951F976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6E7CFF4-FA2B-49BE-8F42-7F7F2F3E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64E9D1C-C261-4126-AC97-F15559BC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实时刷新 42s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8AF6502-79B6-4D74-B7C8-2947198A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06 · AI 智能看板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48D47DC-6789-4B34-8283-BFF2C9B1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自选跟踪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A1096DB-F814-4B8E-BB94-D8A80FC4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持仓线索 · 原型页内所有卡片、按钮、表格均为 PPT 可编辑对象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A192768-A055-4054-B58F-0D5F6846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6BEDFAE-F218-4548-9CED-A2AECACB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96700CF-6DA0-4C8C-8D97-B31FE241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8A478EE-8382-472E-A17C-A3B9C5F3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智能看板 / 自选跟踪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7F5733D-EA61-44A0-BB56-B6568DAF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BDB6A5C-3780-44C8-AC6F-C0FAA4CC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持仓线索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0A927AA-7F8A-4531-A9DB-68753BD4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66ABD3A-6301-4F8C-BBCE-976A01D6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我的自选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D640B64-7E4A-4F89-8311-7A9D0D90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2E07FE5-629D-4C2F-9974-F2A3A276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F999B42-E1EA-4982-95C5-0E089E7E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9ABFDF9-5EC1-420A-8300-2F7481B4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48581B6-9E70-47C3-AE28-BE69C331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591527A-3429-4182-B809-914856BE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自选跟踪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AEA552B-2EFA-43FB-8066-AADBD51F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1862AD5-5519-4B7C-984E-9A9F7D6E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我的自选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D08DDA9-BACA-4777-8345-57B2C124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6735C5F-173C-4CCB-9737-C7026E55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智能选股模式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EC9BCEC-E83E-449F-9286-71882946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25552D3-BC66-47FE-90AA-D9998C83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趋势波段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4717BF1-E4FD-43F3-8EA1-E824362E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51725B3-CD6D-44C7-9D5C-2A502945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140FE6D-6429-4E65-8F00-70A594C2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A3C1358-C8D8-4032-A5DE-EB0ECBF7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12 套策略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B816459-27C1-46D8-8887-83255E52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46DF0C0-167C-44D7-BAF5-A3A46586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短线打板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6D74A66-01A1-4397-9E38-6C4F62B4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E9C3412-CA7F-42D3-AEA8-C72C0F57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趋势波段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2DFF6BA-291F-42C3-8726-E6A472EA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89BA6AB-83C6-48E3-B355-6E20EDB4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低吸潜伏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8DC4A71-25D1-4160-99C2-8FB48F52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83E6E36-6D26-48FA-B1C5-CA4DC913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BE9BBFF-5BDB-45E3-AC01-93399E10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8780971-F1FB-4FA5-B7D0-3A1A1F92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C2C0DE7-8306-4B0A-8525-EBDE3E46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9B80388-0137-4B7E-A7C6-74EA6039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9B46813-E7BD-4EC3-886A-C0EADAD5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12 套策略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9F607B2-CCB5-4BF6-BDD2-F12B42A5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8746344-5158-402A-ADBB-CD378668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管理自选 →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6BFDDCE-214C-42F5-BCD2-525B8E01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1F728EA-2FAA-4962-B655-D03845E9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短线打板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626637C-D8BB-4BB3-90F8-A0CB5646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62665A3-C235-4ACB-8B37-69A43529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进入选股 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7082F9E-8447-44BB-A268-B7F8340A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72761C7-4389-4BD5-8FC5-6BC523A9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趋势波段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D0B0FCE-A984-4C23-B3F0-DC35F0E3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669590D-6895-47AD-B3D4-B7DFA989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加入自选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983E513-ECA3-48DF-8907-87A0EB48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775EFA1-2233-4B6C-8C92-3D77EEEB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FBCCFE9-7EAF-4410-9F62-30150139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A994A73-9FEE-4995-AD96-47A98484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管理自选 →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FA9CD8D-25AF-4E75-9B2A-4C082202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BD857EC-BC08-4019-A751-BD314AFF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进入选股 →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B82575B-D608-4A1B-AFF1-C1B6B1F1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7670753-5BE9-4DB2-BD9D-932CCEB4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进入选股 →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ED5FBAA-C8DB-4238-8107-24F95CC0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BEC4BDD-BF81-4FDC-ACD1-B446151F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加入自选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0F29ABF-1612-4F1D-85E8-992D3BD0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78BBA22-9080-4F8D-B12D-E0A50BA3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加入自选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0EC9DF1-31DE-4AF4-BD14-06291E59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8BCE7EB-9093-42D1-AF61-8B8063E7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批量送诊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56DF012-3263-443D-824E-7CB79C8E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文件：index.html#watchlist</a:t>
            </a:r>
          </a:p>
        </p:txBody>
      </p:sp>
    </p:spTree>
    <p:extLst>
      <p:ext uri="{BB962C8B-B14F-4D97-AF65-F5344CB8AC3E}">
        <p14:creationId xmlns:p14="http://schemas.microsoft.com/office/powerpoint/2010/main" val="3334252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5480A4-84E9-46F9-BD94-9D4EF162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2E209-03B3-4EBE-8EFC-726F9EA1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2543C-A0D6-4DB8-B18E-811B2DC2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9362A-CCD7-4731-8673-701BF758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E0759-A8F4-4E25-8DA8-B1EE3719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17CB0-9C88-4A6B-A58C-800E2E7D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3345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1019E-4124-451E-9C49-4D6D9516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AI 智能看板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AC234-9487-4FD4-8EDD-20463D01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DFBD9-DE35-4821-B365-9090701D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8775C-13D1-4972-A5E8-B602C830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D0291-063D-4666-9D8A-109477E2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0A42D-2D16-42FE-885E-813EAB6E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EB62D-89F4-4369-8DCD-96F1A009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D882E-5A13-4202-B417-DAFFF151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5C59C-FAE0-43D2-BF58-628FA2A6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54CBAD-2140-4C73-BF68-DA2A7C80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FB6E61-886B-47D4-8FAB-F7DC2BE0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84FD2E-33C5-42A4-A5F1-0297191C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DF495F-BE78-487E-BB13-3E8B6251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7D5D1E-654B-4EC7-973D-D4D3067A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10DFCE-89D1-4BCB-85DE-81F9B06E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E83AC5-C5BB-4455-949B-09074198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018C69-6032-4324-A1F0-672F302A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9446EE-AD66-4C42-94B2-6A4FFA7D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448525-1760-4AF1-87C1-C6774221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A5953C-EF51-40B9-8AED-2838DAEE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0B7F15-B792-432D-9670-F9B8C30E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49F354-BF58-44D0-8D87-598B2C88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9E3A3C-DE6E-4681-8EFD-21E76A46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428B59-E415-4B7D-B784-FA547075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592872-E8AD-41E3-8AA5-C6D68D0B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CAB394-1859-4EAB-A9B2-701F2022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B4E55E-FFD6-4002-9843-9266BD7A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2AC31D-AFD4-4516-AD2D-FABB7458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9162CA-5183-4987-B876-8991DEE2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B5F9F3-1B27-4F41-8CAA-6E5A7216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A0C630-514E-4AC8-8C96-E5B0865B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8D0AEC-5D3C-487E-9BCB-16A4F99D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9F23AA-F6A4-47B1-9DDF-3BAE5EA3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83705A-060E-44FC-BA58-929CC6CA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B212D9-95EB-4627-A971-BAB557C9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AI 智能看板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349105-5ED7-48AC-A887-096AEC79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D49046-4A79-4BBC-B806-5B0FD1BE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D4AE3F-8991-41BD-8EFA-ABF47C53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5C074E-E9D2-4E7F-8505-05CA0786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C61FB4-ECDC-48F6-BD26-E108BDC4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78E6BB-EEA6-4DC9-B447-DB513DCC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BFEE04-B57C-46AE-B9CF-EF20A996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A0A570-09DD-4F9E-87AB-1DC48E15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市场情绪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AB4C46-CE3B-4A01-B6ED-15441538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指数 / 涨跌家数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F4793A8-9B8F-4F23-8B06-876B6C56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3FB958-D410-4E70-8C03-6A82D1AC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5237F1-DC07-4848-B9ED-AEB3040C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竞价意图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12EB08-79F5-407D-93C3-EC5B2D19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9:25 抢筹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DDD949-0DF5-4E49-9839-A2A18738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AF86A8B-BE65-4B11-AA59-5F8E47A0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5D60877-D968-47CE-9616-4366D310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信号总览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2AF6058-0EDE-412E-900A-33F7FF8E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今日触发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B26AEAF-08CD-4C5E-8E64-CB6BF464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BD80802-8346-4B4E-A92E-6D8E25CE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D4ECE01-A317-41C4-9D6D-BA04F6CE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自选跟踪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B776180-6CBF-42EF-AE95-F4E944F9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持仓线索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796B2FE-4BCB-4882-B5B5-27BC261F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AA576FC-290F-4FBD-B719-E68CA2BE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A02011B-6B04-45ED-9D52-24228CDE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运行状态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9B17802-769C-425A-B658-5C1827AE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服务 / 数据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2B8228C-F90F-40A3-B67C-20E92CA9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1A541DD-A0B3-4190-97BF-9FCA0F74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19EE859-7228-42F8-8C86-8980F116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AI 智能看板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434C701-F200-4D42-BA7A-99ADDCD6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2768C0A-DAAE-4322-A4EE-B8B41426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207DC09-3764-4FB1-B349-F06D97E5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市场情绪 · 竞价意图 · 信号总览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E1FD2E5-3094-496E-95BF-685E093F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15F86B0-963A-48B3-B696-D2EB6B4F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38C0F69-6E93-47DD-A828-5AD50C70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盘后复盘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6AB4424-94B7-45BF-BB9E-4040B3B1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8D1B43E-A7C8-4808-BC83-A6086C7B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CDCFF39-2C0B-4EA4-8445-C4CF676D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实时刷新 42s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37C8D10-A536-47FB-B581-8B4339B7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07 · AI 智能看板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C5FBD7E-F80E-4B48-AF89-4F8BEFB2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运行状态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A2E9889-0A8C-4726-A5B9-540614B5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服务 / 数据 · 原型页内所有卡片、按钮、表格均为 PPT 可编辑对象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FB401D1-3FAF-4B32-92C3-607DCD7F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03D6047-3645-4E35-AE57-AAE44F61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31D3464-898D-4D17-B83A-2C70B9B4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42BAD97-D85D-4AF3-B5D7-91840805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智能看板 / 运行状态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123EDBC-D02D-4CC1-A90F-DD4231A5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49A8D9F-F02F-47FF-A763-9833F926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服务 / 数据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D4B4190-D81C-4C6C-BBF7-F45550EC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85FB59E-6720-40E6-B53F-F445D83A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涨跌停统计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45FD2A9-4A7E-4ACC-ADE3-66D5931D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E026410-C3CD-499E-AFAC-658E20EF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20814C7-DEF4-429F-8785-443FED97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8F16D66-D2FA-4F95-9881-F3D317DB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B1F7818-4C45-4DB7-86B1-270AF026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410390A-1429-4EDE-BF75-330A0990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运行状态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F42E9CA-A8E9-4D7C-A296-0E509269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053B8DF-D086-4842-BC1E-DB8DDBBC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涨跌停统计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B03225D-EC35-4BC5-992E-25C36714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077CF1E-526D-4F71-9163-978EADAF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服务健康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63CDB7D-3153-494A-AC96-7A8EE21B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F6F11CC-948E-4A98-A64D-65DDDAA0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我的自选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33B637A-F32C-4454-9EE9-6690955F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DF14581-D4A7-4671-9C2E-31443BF9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DCDEEEE-7130-4C02-A417-5068A790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5C26501-8EE4-4DBC-A95D-105ADCE8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展示盘口运行状态和后端服务链路，只用于判断数据可用性与系统健康度。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20587F5-558C-4F73-B12F-07699487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DCD4E9D-B833-4749-B0B4-6C03DF8D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实时盘口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E5CAB1A-C521-47FE-860A-DFB702E3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ABEA683-CA4C-4163-A934-C72BBAB9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6 板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0AF0026-992A-4298-8F12-716F30CC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24BE918-EBF8-45DE-B9BB-C223F5F6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炸板 23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D3B82D2-D9D4-4DD9-BB65-FCAC7F32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8647A70-1E64-4F59-91C7-53D024BD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4003AD7-0A87-4D85-BA76-AF93BDE9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EBE42D9-2E75-4AF4-9FF6-2F748E50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FD42970-F2A4-4305-A186-43C4E672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BE47999-2D04-4A36-823F-80DEDAEA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D4C918C-2961-4839-8B74-13446FA4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展示盘口运行状态和后端服务链路，只用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05C245D-9E99-4A7E-A2C6-7BEA79E8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75C8836-7CF6-4163-92E5-7B9931B6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启用缓存候选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C5355D3-1E12-46A9-9A37-80E84ABD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BCC8593-64B5-4C95-9CCF-62A8156B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实时盘口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EDB75DC-21B0-4E38-8E0C-EBEAEB7E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6BAA656-41F5-415D-B8A5-29415466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重新检测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087B4BB-E452-45A9-9C38-B328D33A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BB4586D-104E-47A9-A352-0C19385A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6 板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B0996A5-F824-45E4-8C79-B28C5393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CAD5FBD-888E-43FE-BB30-132768DA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管理自选 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9704151-1288-4CFC-9B16-BE4F3D63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4EE2029-0F8F-4223-890F-9BAFF1D6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A2460DB-CBA7-493E-9245-7EF134D0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D807B1A-AB38-4818-AAB1-5BE9058E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启用缓存候选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0C374FA-D0AE-47A5-8C92-FC54D110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47E99B6-0FCC-4779-8590-43606B2A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重新检测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16F4753-85B7-4EB3-9416-BE83A49A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169074C-347B-483B-814D-03CFA3BE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重新检测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D0A4203-8872-4E18-993A-45976699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AEB3FE0-F79A-4F00-ABE0-87E84195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管理自选 →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EE679EE-1F2C-40BD-9B91-DF14AC47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F520DDE-7DA8-4313-BBAF-6A48062D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管理自选 →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7F8F1CA-EC35-46A2-ADC9-2FCB3DF3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08BDE04-A5C4-479A-B1DD-2C485C4F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进入选股 →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B32085E-A97E-4726-86B0-60EC1EB1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文件：index.html#service-health</a:t>
            </a:r>
          </a:p>
        </p:txBody>
      </p:sp>
    </p:spTree>
    <p:extLst>
      <p:ext uri="{BB962C8B-B14F-4D97-AF65-F5344CB8AC3E}">
        <p14:creationId xmlns:p14="http://schemas.microsoft.com/office/powerpoint/2010/main" val="8155219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3C846F-2CB8-4A21-BBAA-C17620E2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FF569-8212-40BF-96D0-9DF9FD84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D208A-4934-4022-B9E0-03FC3780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75285-63C7-4175-BC89-29C1242C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D126B-02F5-4CF9-9CD8-67D558ED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52806-D57D-43EA-9B33-65CA2968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1B2F2-4088-4442-B953-06353EF9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C82AB-D0CB-426E-943B-1B7B1358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22872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4E202-A080-4695-A3C5-127F413B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开盘决策舱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2668A-72FA-464D-87A0-F17A2833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A1D61-3EC5-4025-8D4C-3D3F0D8F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BB0EC-03C9-43FA-A2D2-62C05752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5E5D0-FD28-45E0-823C-0DF675AD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B6505-4437-4720-8979-77988632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7CD3AE-A11F-4604-9B4D-7D804F9F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9CD2A7-1292-407D-AC36-6938A60F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979A11-E3FF-4A1A-AFB5-2090D9A8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AD07F-CDF4-49C8-88A0-B1CBC044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AB624C-8381-49B0-AAFF-DE79C784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19D827-A368-435E-93FC-6C1FEAFA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8E7B26-6EBE-4A08-B5C8-9816CC37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AD5424-A163-4483-A70B-F1476C41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709B1C-1B13-4BD0-8A03-C25691FB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C46815-591E-4943-A609-AC8C2DFB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31C3A7-02A9-41C2-98EE-DFF3E7B3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EDAF83-F5F3-4443-B4F4-5B264A47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6F5784-3980-4C8E-B9D2-5E46BDE5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E3CE49-1A60-48FA-9942-449AAE83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259DDA-F70E-471C-86A1-65941537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FB446F-7AD3-4CD4-9D50-57141290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622722-9A9F-4092-A484-65F5783B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A933D9-E624-4CEC-ACBE-FDAD9A9A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FB01D7-945D-47C3-BC0F-0649C8BF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D29CFE-B455-4CC9-BAA3-98FC89E6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B7CDFC-4616-4751-9179-760CFE6B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CC2507-4729-4AF8-A6D0-D2D4BC6B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6C3DD7-3CC5-4D64-ADE7-D038C658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A29989-B387-4174-B747-B8E63078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487AA7-1D27-4604-B09C-7C5712C0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00DD80-ACF6-409A-B90F-B88E1913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640011-B67E-4F3B-88B8-BD919705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开盘决策舱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5D17ED-9D3E-402E-8F5E-BE9CFFE5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2E3FE3-F3F1-4ECC-B3C9-57678AA7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13431E-A84B-4144-948C-8ED654BE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28FE0D-F69C-4734-A985-440FB789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1C9A35-C767-47DF-9803-B6B2F57F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377F64-B90A-4203-8137-B1361511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8B1662-D25C-4C43-9F1A-FD500124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CA7480-0057-4D9F-853E-E80B606A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开盘闸门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FAB32DF-AA90-4B9C-AB23-1BE66048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交易简报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E35F2D-FF1B-46FE-8549-3A86617F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2CE4ED4-FFDD-4406-8E43-9BF6A43E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9BC287-704B-4571-AE69-11354CCA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候选决策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723C0B6-1D81-4C84-8CE4-AC0D8273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AI 队列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1257353-5AE0-4443-AEF2-0F5477C6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9DFC93-2BEB-48AA-8261-A0CB1F42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3B5236E-41D6-432B-A4F8-EDB82FF3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K线推演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E9EC19D-EA7D-481E-A131-B32D1F5A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30 日路径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9BFCA2B-4720-468F-B88A-4CC28658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43223EF-6525-401D-8597-B3A541BE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E49EC8A-1B49-4689-807B-A2A87641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风控交易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37588C9-569C-4F3F-BA00-2D908CFF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半自动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22AB857-A219-49F0-96EE-8EC6ECDE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7F9B184-BBAA-4525-BB03-8606BD55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E353BDA-CFA2-4A25-9D87-2C07C2DE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链路审计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75F7013-F425-4359-8AC2-46879971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6 / 7 在线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9565B1F-5F9E-45AB-901C-BC32AF71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1D85BC1-E66D-498F-BBB8-6E163F04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4F2A976-1D7E-4F04-BDD7-20E57F74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开盘决策舱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624657B-F2D4-40DB-9444-0B27267D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321221D-F24C-429A-A171-342A4034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686492C-3727-41B4-969A-0D5847DB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开盘闸门 · 候选决策 · 风控交易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AAAD68A-9516-4147-877B-F0B65AE5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05CDD8C-68CF-455B-883D-573D298C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BF19279-D2BF-4DE3-8DDA-96474E78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开盘前复核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74246C7-3FEB-44AE-B8D1-64F3426D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F059BCC-8A24-4BF1-B611-4AAF3515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792E760-5E59-486E-A700-1B56D43E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候选延迟 1 周期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C1B14B8-F3BD-4697-BDBD-F6B05C1A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08 · 开盘决策舱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CE843D6-48C5-41D8-A2CE-3A24F08F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开盘闸门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C10ADCC-1B41-4166-BA6B-F5999BB6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交易简报 · 原型页内所有卡片、按钮、表格均为 PPT 可编辑对象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35B11EA-0227-47DB-8478-FB1C6FE9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3E82120-7F6C-4B03-B529-3F19C097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ADEC5C8-622F-4584-84B2-1B2FEF54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DD4D189-7F18-412E-AF28-B330C20F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开盘决策舱 / 开盘闸门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C0B2898-814A-4A34-9445-2223F10D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2A06602-54E1-4529-9063-D9B7FCC3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交易简报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5D192DD-7CA7-463A-98B1-8A502329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85CE210-69D0-4C1F-B03A-75617146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7DC2C60-15CC-4910-9C67-8CD0A1D3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8735AC5-468E-41A1-91DA-EAA50E6D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DD5471C-7CEF-4FE4-A956-F771CAC1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52EC203-F810-45B7-A421-8F414C6E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A66689C-9F0B-4A31-91DE-78E8CE74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0E19B50-FCBF-4A31-AC5D-2CFD25BE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开盘闸门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7E23E83-FBDD-4562-83A3-117399A9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C89CC50-A365-4986-9723-E4A618AC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3D8643A-5C89-4A06-B60F-76FCE876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D14A152-9BF3-4313-BDBB-A988C4A2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盘前流程闸门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EE337B3-13D3-446C-8F88-4828BBF3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65608E0-39E8-48C5-B8B4-1A6901D9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评分 ≥ 90，可进入交易票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C23AA61-9BDC-4E1C-AC40-304C7BA9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ACA1218-BBF4-4155-95D7-11F079BD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37E6FD7-3F26-427E-A622-24DF73A7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FE02739-2A70-4D86-822F-1427E0C9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偏强，追高风险上升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49F1198-B15C-4D55-A8B5-D959FF2F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7182C4C-CB8E-4FFA-AF2B-B09ED4AF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12 套策略并行命中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C67B04C-B8C2-4D32-AAD2-E6141B1C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47580F8-3A9E-4241-A52B-F35246AD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评分 ≥ 90，可进入交易票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DD25687-0AD2-4828-9208-C4E70AED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125D7C6-3E07-4A7F-A4F4-A6C392D1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选股服务延迟 1 周期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1327AD7-0E56-479B-85F3-85A4150B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5C84711-17A8-4ECE-95CE-299DB431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15A00D7-6082-4399-BD4E-F14C098A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0F1D23F-B575-4FCA-8BDC-F11ED61D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5C099BA-95D8-4865-AB68-D8DCB678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DBDC4E2-F95C-4010-A67E-01031CB6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BC628C9-8F0C-4043-8BE6-314AFCBF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偏强，追高风险上升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E9ACD5B-506A-454B-A53C-98603650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D09CD13-7A40-44B0-8D86-2193338C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刷新行情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BFB946D-8AC8-47C7-8DF8-FB2866DC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D8D468B-FB50-45A9-ADED-F570ACFF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12 套策略并行命中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85BC7E5-922E-4336-92BF-E31DFE88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C37EFA9-048C-4081-AD57-7C9530F1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应急降级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99DD137-4632-4E62-9F98-70CC5411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B068140-AACA-4AE5-8C9C-D6EB9DB9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评分 ≥ 90，可进入交易票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B714BA3-4311-4287-8D75-123D275E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37DB694-F402-461C-8D08-197D7600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进入信号中心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78F1B4C-F78F-45C3-B23E-B01ED0F4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55AA12C-7FDF-43C1-9ED5-FD5FE1E4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DC1951C-EF6F-4503-886E-6CCCA962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3BDA814-D370-4C8D-ACDC-2E58CAD6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刷新行情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839AEB6-2BB5-4507-950C-5A025339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07FA704-3813-4533-A26C-2409F9C6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应急降级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4147D74-7101-49DC-AA22-C3DE94D7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6736BC2-56FB-433F-B5E0-BA9BD234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应急降级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AC1A036-409F-4CF5-8000-9682C207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C53CE09-0F47-46F6-9742-8F8F11B1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进入信号中心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911881F-E691-4DFE-B4CE-A69E00D0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162EE16-EC1A-4525-9689-AFB3FEB4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进入信号中心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388C1F4-6697-403B-8166-9C0456D5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BC6FC96-C829-418B-AF3A-00AE2C19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提交复核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6AB4924-619E-4411-B90C-5E608ED6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文件：suying-ai-workbench-redesign.html#overview</a:t>
            </a:r>
          </a:p>
        </p:txBody>
      </p:sp>
    </p:spTree>
    <p:extLst>
      <p:ext uri="{BB962C8B-B14F-4D97-AF65-F5344CB8AC3E}">
        <p14:creationId xmlns:p14="http://schemas.microsoft.com/office/powerpoint/2010/main" val="15158827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C75005-2AB7-4105-A332-228CE0CF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E8DD4-B12F-4F9A-941A-05748FAC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65892-0CD6-444F-BEB3-16614522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A446C-660F-4449-9F60-3399008D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A24CE-932E-427F-A313-2BEB55D3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F2E88-F0C7-4A20-ACCE-CB5C5DB9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2EB51-52C6-49A9-B064-916B3D3E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F3FAB-6BDC-4625-8451-D71FB1CB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22872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63929-F1B3-4259-BBAA-AB9821B0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开盘决策舱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F6B2C-1F87-4A11-86CC-899B7D1E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FF326-C6EE-4C16-B210-01191B25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A1E38-E944-4E0B-917D-07121FA8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95829-4930-4817-8CCB-8ECF1D4C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B9E67-67A5-41E4-820A-497D4182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B4CCD-29B7-427E-81E4-9FCE30B7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E3197-BABB-4530-871B-65F5DA30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95EFF-AAE8-4B20-8ADE-455EDAF0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B5B3F1-E919-4EEE-8278-302AEE6B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F989FC-E9B9-4E1B-8FB8-B3EFAE79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55DB52-1B90-40B4-AA3E-4F5329C0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389C3A-F068-44A8-91AB-80C7A03F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BD1686-0735-4D06-975B-EC64975F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EBD149-C2D5-4187-A231-812A4A6F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3E3EA6-8598-4CE3-A810-CFD5D55E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0455BC-A54B-40DC-86C8-55EA0347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E6C1D7-46EE-49FA-BC96-8821DF59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D2A667-DF26-448A-861C-3190D262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56A243-A11E-4486-91A7-1B59831D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271032-8593-4B02-B1EF-BB3C0801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50D2A6-68D5-4CB6-93C3-E07F205A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EC14E2-4D0F-4E8F-BC5E-F3B3E523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7D3E7D-1273-4D82-9F1D-C5FF5BD4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CC67FC-B693-4FE0-B8A4-953B94A0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CBAE34-04F5-40C9-BCEB-01B3A0EE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359695-45AC-4285-889E-71A822AD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D8ED6C-4F2B-4645-879F-00C607C1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BD5FBD-546C-4D98-8DB1-51E0C1D2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BC0B40-1019-478D-BAD0-61097ABD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467EE2-F847-49AD-A65A-FE2CA640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72FB36-1182-4AE3-AD3D-A93CBC33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69CCA9-A763-49D8-8F65-26021084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开盘决策舱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361187-4524-4784-A652-7425DED1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F4C854-4E1E-40F5-A335-9C7D2E24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B800B4-3EBC-46E3-AF59-033D2469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73F6A7-3B43-4ED5-AE3D-DE75DA2E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097CD0-EF71-45DB-8162-4ACF9800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FA27C1-3518-426D-B16D-D061AAB5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8870EB-BB85-4C7F-BC03-14E2DEE7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232E71-02FF-4A62-A357-F07DD567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开盘闸门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CF8FE3-399F-4E16-9F2D-747B6053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交易简报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44DFE9-8E91-4E56-9303-98F5DDC3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0171E9A-2DC3-4751-970E-098C029D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3A9C167-3E25-46B9-B529-6DFD594D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候选决策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C9CEC5E-BD4B-4F9A-A635-6ADD9FFD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AI 队列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6677E9-A19C-4101-BE3A-840DEB54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F473B4B-F903-481A-9A2C-DCE44B8A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8F487B5-2C20-4922-9771-DC8C897D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K线推演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E16F56-E5AF-4BBF-AD52-AC152818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30 日路径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5C71B6E-8638-4EC9-AB81-7277FB4B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5ACECFC-503F-402B-BB12-ED1DA9AC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FC13457-2181-4EF2-89A5-27101DC9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风控交易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BFE1573-E4EF-4B28-A430-E36A0D38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半自动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0E486B1-8E7B-4508-A669-4B2CBF87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24A35B2-7B01-484E-AFE5-65E34A9D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853FF6A-EDBE-408F-A048-49C4DF6A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链路审计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AAE713A-C02B-4046-A393-33F75EA7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6 / 7 在线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E24C4AF-01F6-4B2C-922F-3935061D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AB09A61-5222-4897-8050-66CCA45D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8EF8171-6389-4AE6-A01D-5B31F714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开盘决策舱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BEA54CA-C10F-4760-8F35-D14E875A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4B5FF13-2739-424D-A918-ED8D33C6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011EC93-5F2A-449A-8836-1461B380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开盘闸门 · 候选决策 · 风控交易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6B321E9-D619-476C-A030-19631DCC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BEC9840-1DEB-4243-A2A8-7D43137F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715C973-4AA1-46F4-9A37-63DFA251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开盘前复核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E9686E1-FA7B-47C6-9109-FDD035B4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DD6BA5F-5955-46D8-BA16-37D51EE1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A554E33-7AF5-4D03-BEA6-292D2366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候选延迟 1 周期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99DCBEE-0786-4D72-BD2F-2BE4010F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09 · 开盘决策舱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16173AD-0B8F-4460-A496-3AB777D0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候选决策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F3FB4C3-1C4C-4920-8869-CBB47922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AI 队列 · 原型页内所有卡片、按钮、表格均为 PPT 可编辑对象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7B91ABB-51C7-401D-BA3F-5E968A9B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066B21F-C952-448B-9E32-7CEDF389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A5917AA-C49E-4915-888B-25E2336A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4A40E5E-6C9D-480C-B992-78F31BD2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开盘决策舱 / 候选决策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12F5329-84CF-467B-B78F-4A34872A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4129FA6-04CE-48EF-ACAE-EF3B1392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队列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DF5DCC8-702F-4850-9597-C72CA500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E1874E3-79D1-4C35-B6DD-E1241FDE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候选池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42E3907-63B2-4DC7-8A86-B005158D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329C5EC-E569-4321-801B-AC7EECD8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7FA33A2-3B5B-4159-8543-99AE7BDA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901D303-D6E0-4856-A499-5ED64331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60A4F81-1DA7-4AB1-9F59-4ADC6AFD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E7FFDAE-BF8C-4FF8-83D1-5313BCCB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候选决策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407CE7B-1C23-42C1-A834-18EEF0BC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5433677-4BB3-4FB0-9211-5AF108F3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候选池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9A7463F-BC95-4696-AC86-E91F3618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4E4F4B7-05D5-4649-B6AB-7A70B489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7B538AE-3849-4B55-9B4B-F23F4692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D58FF93-9834-48E4-810A-2845EAAE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强启动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271B889-96D1-4BFE-86DA-BF7C4A4A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85944F5-9DD3-406D-A797-5E34FE5B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04FE1C0-56A1-4EE0-AF9A-F4C37B17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B7467D9-D72C-4051-8070-CF230295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4 / 4 · 按综合评分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E761179-4281-40EE-B4A7-0181731A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3B78BD9-8905-461D-BF85-560C276A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121F217-F5AB-4955-B7B3-39A297F8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8B52B84-3EDA-4E34-B21C-5262F448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强启动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F693783-D58F-4156-85E5-CDEE1EC2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3E1FFB3-7909-4996-A55C-86F4CC26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产业链共振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E5076C0-317A-4376-9EE6-1DFEB393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C21B3F1-B898-49DA-9209-46E56FF4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0859D75-9B4B-414F-ADF5-47BFB57A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BA49E0B-CDD9-4613-821C-7E57346C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EC69B6D-B56D-4891-B1FE-B24EAFF5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484974C-7344-4B43-807C-1E14F0EF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6871FBA-8700-4C77-A5D4-23241EB7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4 / 4 · 按综合评分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1A5C445-B1CE-4803-AC23-06671726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9732017-9A99-4EAB-B7DD-8525A9CE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全部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A97F159-7AE6-4977-B817-58A38381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2910D3A-E445-4685-88D2-07FFC199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全部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FF11126-038B-4AD7-98EC-A560161E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6E5DD8A-AF7D-45D3-B3A4-77E1251F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强启动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51A4EE6-E24A-4F34-AC7D-F992D9AE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4E8D26F-9547-4A50-93E1-96FAC81B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强启动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80C7FBA-DFA1-4DC2-9DE9-8D789097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246F150-52AB-4478-A1FF-5B4F04CE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产业链共振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B3ED563-1E9A-4EE0-A1FF-5CF62C76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0343BEC-8C59-4DF5-A9A6-6D0E043F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810C621-3990-4CE9-B612-78714C44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B68D6A2-3FEC-4105-B1FF-541D7A23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全部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546A2A9-A867-4603-817B-5196B4AC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25B1FC9-CF51-4998-8513-E4095E52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强启动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B2A1D6B-E9D4-4574-B4B0-B3047D3F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B40D474-4146-4D4C-BE04-295BAE51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强启动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1285FF9-2ABF-44E9-B447-C802C11A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3003EC3-C2EC-47B8-A2DF-175EFE31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产业链共振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A73F3DB-39AE-4C08-8604-09EEF733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E90318B-EEAB-4445-8D07-BC2F8BAB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产业链共振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5DD36E8-64FF-41A0-8E39-6701F2E1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F758C2B-478C-4DD2-BDD6-DEC35947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清空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05F18C2-9078-4A09-A224-C0814AE2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文件：suying-ai-workbench-redesign.html#candidate-workspace</a:t>
            </a:r>
          </a:p>
        </p:txBody>
      </p:sp>
    </p:spTree>
    <p:extLst>
      <p:ext uri="{BB962C8B-B14F-4D97-AF65-F5344CB8AC3E}">
        <p14:creationId xmlns:p14="http://schemas.microsoft.com/office/powerpoint/2010/main" val="500663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ABE63B-773B-4131-A09F-1079D77E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B432D-6D45-4DBC-BC4F-55E1AAD7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EF9C6-A952-41BC-9711-86083EAA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4499E-BCF7-4307-B073-94380F07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2B967-60EF-4D1E-BD4F-B95546B4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C5CB0-EC90-4623-8CB1-55D799B4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C57F3-7416-4456-9360-FEC05891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56356-71FF-4109-9F7F-71EE30D0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22872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00269A-779E-4AC6-B78C-59111ED1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开盘决策舱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2B873-AA98-4D91-B0BA-0D4F58CD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29D7BC-92FA-40D4-98BC-F4726E95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6618BE-5104-4082-A16B-E1431767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B0121-6688-41D1-B7DA-660463DE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578E1-5F7F-4047-AEC4-306E63A9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A498A3-C476-4052-89F1-26C8595B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413D52-A3B9-4EA0-89F7-3B7CF5C9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FAD0A-3772-4DD3-B705-ACC7C64A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EDE0E0-DD6D-4BF0-9BDA-52704373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07E45D-12CD-4C0A-8AFE-6DEBF659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8A5DC5-5FF3-4216-A533-E2908BC2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86ECFA-FC70-4001-A907-B1ABFDBE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DAA0DB-9E86-4B06-8B6B-28D2A3E4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B4AA18-2101-497C-8F03-94B4B25E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849A8F-BFC2-405E-ADC0-5864A080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041DCE-3ED9-4EB9-A3E0-A1EA8DC7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5CD594-4B0C-41C6-9182-65A861B1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B92130-10D7-4D3B-9BB7-CC6CC5E5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D3F9BE-9EB6-48D7-B0DA-5A25BC37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A40DD6-73A4-4C12-8F99-E4A2D8F8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A2A0E8-FF48-43F2-82A5-89C01BF2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DAADC6-65A0-47CC-A081-5C6192F9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ECE425-31C9-4A79-8B83-8E7719D2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E66082-D81B-43AC-BA53-A452D6E4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EC37A5-0014-4BC8-86B4-96AF0E61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DB0669-D1B8-483B-8EF3-54A71D31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6C9887-0343-4C33-BC9B-2178E907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804582-55DD-4492-B895-C6A8B265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537F0F-C9D1-4E0B-B1DE-3DD32D12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4138D7-DCB3-41F5-8FBA-7F2E85B2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216318-7ACF-4815-B789-550CF837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AC9189-D10F-42F2-BBB9-2E869DD9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开盘决策舱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53E40D-F3E1-4EDC-B374-E64813D5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A4D1DC-A3C7-47F8-BFC8-C6DB2518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0E264F-3599-4C19-BC62-8975C955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196637-774F-4B47-8B73-9FF31FC4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DCD5E0-C9D1-460A-842A-67D4A850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105A3D-A5BE-4122-A29B-4AC26852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6D70DB-84BE-4EF5-B392-D7EB8ACD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3FB37B-642E-44E0-8916-0CFAB364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开盘闸门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F291B5-DDC7-42B0-B284-9044F485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交易简报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021553-E358-4571-AA0C-82A7EEC0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6498964-5761-4DAF-9FDE-E047619F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C7C6A2C-D7C3-4C41-9AE0-953CFE48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候选决策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C03D9ED-9F7E-45AC-8CE4-D29B2275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AI 队列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1C7A459-3C87-4794-B582-6DBD4C51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12EF66B-E207-4AAC-941B-4D108D37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40DF623-77E1-42A9-8469-92605486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K线推演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FEB0C18-4DC2-46F5-AC40-B639E683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30 日路径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2930DE7-96AE-48CC-8AA9-16F60AE4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3569631-973C-4AA7-80AC-73183FA8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66B90A-AAEE-4B51-BC12-A075151F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风控交易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FF044CF-53F8-4035-9EC6-9F6D681D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半自动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F0A494A-B108-4B6B-93D7-4367ADE6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DD5F66F-BFCC-425B-A4FE-C36EE726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A643796-467F-4A2C-8141-FB35832C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链路审计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15F112-1A13-42FE-A5E8-7438CB93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6 / 7 在线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F2D7F1F-BD30-46B2-B9C5-7D87B224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3E2580A-AB56-48A7-B8E2-4CAD4559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C2C555C-49EA-4808-A1EA-87126C6D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开盘决策舱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2DCA4B0-55C7-405B-8DBD-C7B5637B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685ECC3-EB9C-41AF-BBA2-DFAE9056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05C138B-A446-4A5F-971F-76B34C2D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开盘闸门 · 候选决策 · 风控交易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948CFCD-3DF9-4300-9268-8B308F78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1F18DA-2667-4900-87C7-5DACF7BC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4CB2F16-2B61-4DFD-95A6-D2F5FBB9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开盘前复核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AACFB30-51D9-43E3-9B26-721D08C9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B044A21-A041-452A-B4BB-948482D3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6937CFB-5DF5-4F0E-92EE-090112E7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候选延迟 1 周期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5455614-AC72-496A-A703-A93193B9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10 · 开盘决策舱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4C46AB4-2498-4988-823F-E5D4EBC1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K线推演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99B0B37-1ACD-4382-8BF4-AB539F05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30 日路径 · 原型页内所有卡片、按钮、表格均为 PPT 可编辑对象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520539F-70E4-4D3F-B436-54AB6027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731FA1E-13DA-48A8-8113-626A5E68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D4D6681-570C-4162-8B29-7FBFAE29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23A8761-F523-4ECC-96C8-BF6ECEE0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开盘决策舱 / K线推演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9819A4D-C375-493B-A68F-379519D9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146BFA4-0017-473D-B91E-31417ACC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30 日路径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4AD7A54-88F5-4218-9CF2-28DD4108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993563B-F773-484A-B5EA-D2047B1E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中际旭创 · Kronos 30 日预测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C5B1E84-E46D-4EF5-8DEC-1B9B1C37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B5F6B13-39AF-47FB-A09E-1B4A073A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3D1809A-0ABE-4F30-82F2-3235AAD5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0E2CF1F-BA10-49EB-8CB9-9CFEABEA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7A3B5D8-CB47-422E-9357-5C4A5415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2A06421-6640-436F-8B21-DDA360A3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K线推演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D88C62E-A0C6-4EE1-97BD-467BE29E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D53B4DD-0F90-4118-AA7E-E892558F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中际旭创 · Kronos 30 日预测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BA4B3A5-A0A7-4E85-93FD-D8023BC4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ED256CF-FB55-42A8-97BA-7767DC60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现价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73F683A-D322-49BF-AA36-73BF1395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8D6EA5B-CD4C-4ABE-A939-D9D83498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id="prediction-panel"&gt; 中际旭创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2F4E429-5868-462E-927B-71879745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4FA5232-079F-4236-91EA-A80475CF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90DB7E7-9579-4530-BADF-EAC00696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65D8603-1406-4E52-BF2D-671837C6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历史走势 / 情景路径 / 支撑阻力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5FFE3B4-A4DD-4334-8E4E-F9CB4D1E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306D883-ED34-4BF5-82CD-AA47DC19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现价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A1E71D3-683E-48B8-B44E-F0338AC4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CBA09ED-A932-44BF-A3E1-C78DAD0F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id="prediction-panel"&gt; 中际旭创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5693F6B-626F-4A23-BFA0-E3AEBA1C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5C33D02-C1E9-47CE-B626-056F84A2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保存预测快照 生成信号草案 打开预测详情 &lt;div class="card"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0F98B42-9C08-4E5C-9D68-A1BE6821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19B8EAB-63EE-4EFC-BDD0-403137BB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B017D58-899D-471B-A3BC-E501AE48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E69E8BC-849A-4AC8-80B8-939DCDCB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AFAF696-BFF4-45D6-B82C-73E5FB07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E6A5C23-D074-4E67-B656-DFB78D54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1D1EAA0-9820-4154-8F38-2EB80372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历史走势 / 情景路径 / 支撑阻力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DE445F9-20CC-4A99-93E1-C5D635B3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76C0CD4-DBAE-441B-BE56-9C9C7CFE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保存预测快照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2C87096-81B8-4ACC-97E8-74ACF8DB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340A92C-A585-4CF1-A305-3520BCCB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现价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DD3C117-BE8B-4C41-8B45-B0EE5825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C696070-9E3A-41D3-A226-554230EB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生成信号草案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806D083-AC57-4899-8ABE-348DFFE0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6CA0784-4B5A-49B5-8D21-27F772A9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id="prediction-pan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4075E98-81DD-4CA0-AE8E-3BC5F44D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5FDC482-CE86-42E1-8F44-0F8DF7BF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打开预测详情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3D8F5BA-7BA7-475D-8973-1AE2609E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A66A6C7-F692-4BE7-98A8-C3EA3FD7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900FBE9-B4D1-4F2E-8A28-8DEB11F8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10C5BB9-7F0A-411B-9399-224A7399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保存预测快照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C373FED-491C-4D03-8E0B-6FF4D0E0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813C459-86EE-4C4A-887A-3CF3C44C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生成信号草案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F2041C4-6893-4C15-8A64-FC878CC5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8375C0E-77D2-43E3-B7D6-DB9BB54C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生成信号草案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B4C0048-51FF-4E48-A8D3-59E64B27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D64D080-603D-4944-9AF6-06B35AED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打开预测详情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567B332-BE16-48F7-9DB7-21D32E7B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61791D6-E28C-447D-832B-9C88B7F4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打开预测详情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848C784-C783-4345-9A7D-ABA4E823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54B2166-F745-4AE5-A6AA-09F089D7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保存快照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1B219DC-6018-42D9-AF9B-170888DA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文件：suying-ai-workbench-redesign.html#prediction-panel</a:t>
            </a:r>
          </a:p>
        </p:txBody>
      </p:sp>
    </p:spTree>
    <p:extLst>
      <p:ext uri="{BB962C8B-B14F-4D97-AF65-F5344CB8AC3E}">
        <p14:creationId xmlns:p14="http://schemas.microsoft.com/office/powerpoint/2010/main" val="1563629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C44BDD-F469-4C58-85EE-DCB44792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785CD-0C90-439B-AEAE-C3EFC723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E6FF4-9BB1-4FFF-86F7-7475BFD1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E953D-454D-4689-8FD1-F6E061EE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568B4-0D39-4BC4-9356-425E847B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47F43-28C7-4AE2-B0F4-2D80916A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15AEA-E44F-494A-88AD-88BC1139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35668-3F97-46A7-BD78-E9567B20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22872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29D59-4B4D-4E73-84D7-A7AE4477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开盘决策舱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475F0-0D4C-41ED-BEAD-2F34512A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F8AFA-47BD-4463-9CE7-C1D565EC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F3C33-001F-4729-9B8C-FDB898D4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897C2-51D0-4AC4-9EAF-8E69CA7D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8E0EC-5C3B-4852-8B55-2A277452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9D5852-E5CB-40E6-A3D5-EFEC547D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3A95E9-2DE0-4AC2-A2A2-2DD1D7E9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8E090-456D-458B-BAEC-E4C83CDE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BF31C0-A45C-493A-88D1-5848F21A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02710-4280-4B87-9BD5-2CCDF79F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F4E721-BA08-46D6-A4C7-12D0ED68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7FBCFB-075F-411D-8394-48907161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E2E83F-2240-4202-BB91-474B0B37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5D7219-AAD0-4DDD-8C37-10186CBF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DF01D2-4863-42B0-80E9-1A9F4CD1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1C6748-A133-428C-8F32-B1E81494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EF7CEF-4CF4-4DA2-921B-623477FF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837582-693B-4B13-812C-CF57ED5F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FFEAF7-D49A-410F-966E-3D66C783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950A51-2EAA-4D24-9141-8908DD07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0A2D3A-8D21-41D6-8233-494EF3A4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4557B1-422B-4F40-8F99-CFD8A669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444ED3-DB01-4192-81FA-6E0F352A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940068-B37B-46CB-8686-8F4952BB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447D87-1F27-444F-AD34-96AD59D7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94DCA4-9B72-43E9-A696-51E0E92C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A3B60E-92D2-4680-B2B7-0BE2AE39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3A5787-6FA5-4019-BB6D-9598226F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D0EC40-84B0-484C-9745-B330104A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E71ADF-BADC-4716-881B-BB31D59B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FD130A-C7AD-485C-BEFA-35C83F79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FDC211-10FB-4032-A4B5-D49B9C4E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开盘决策舱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B5D565-2093-4B2B-B9D0-9A5145EC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E0AAF2-B95A-4EF2-A57B-80091927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030A60-AE73-4C2F-9A88-63160B30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AD90FF-592C-4D1E-9698-A44F1521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C2A4ED-5104-47AD-BF8C-9A484C6E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C43FA7-9A1E-4E43-929F-42D22A5A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F28B19-7083-487B-A6D9-FB7D24A0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1A821E-C3C6-44FA-8F39-CC6F9122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开盘闸门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3E339E-7137-423E-9F81-E247B72D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交易简报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42A81D-8077-4BE3-AEC4-1F806B02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0CD60C-9223-4426-B19A-02A5751A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F8BD1E1-3D47-43F3-B470-1EAAC10F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候选决策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81532B-FF8E-4688-A9E8-141ECAA4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AI 队列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0AD3B4A-F17B-46D9-9932-CDBB517B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AFDBF96-EA55-4FE8-B6A7-9C220B66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0A424EC-ACEC-4400-9F71-4EAD4517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K线推演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E38848B-CC48-44A5-AEF3-96A846EB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30 日路径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37E2463-1333-4468-9C52-DAB85DC2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05C3294-3636-4DC4-89E6-0E7B75CF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FC3D086-5FF0-494F-956C-3BE5A813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风控交易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2F31241-2BC5-4975-B0AC-44B3C6F9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半自动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FB8DC13-F84E-47E7-B0C1-1F087331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840E600-E351-4122-9D4D-95E03429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5B4E060-8050-4AD8-936E-880C2744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链路审计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B6E363B-0171-4AF1-836D-69DF0FAD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6 / 7 在线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43101E0-32E2-4878-B2CA-214BFDFD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0895DA7-37A9-4E86-9EF8-FF2A0F98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668E99F-3545-4977-B215-1599D089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开盘决策舱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755E218-7350-4451-9163-D4CC887F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ADF9C60-7C2E-4B99-A33B-09ACA004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2EDF0DD-8A93-4FFE-B5CF-40C56B29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开盘闸门 · 候选决策 · 风控交易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BAAD054-63B8-4BC6-B35F-A56104A6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DB53618-8BE4-4E62-9335-D987149C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DF9151B-049C-4A64-AA7D-A8340D57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开盘前复核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06B648E-D022-465C-A835-D26717E6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A4C9A0C-1365-4C67-AD45-D9823758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E4C95BD-1B36-432B-A1B8-B1DFA591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候选延迟 1 周期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F2EC66B-BD41-4F62-A9AA-77D9865A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11 · 开盘决策舱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008909A-DE4D-484B-8AF1-52BDC663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风控交易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C836ECD-CCD1-4936-B223-907ED512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半自动 · 原型页内所有卡片、按钮、表格均为 PPT 可编辑对象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A631BD2-457D-4CC3-8A66-7781FA92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C058838-487C-46B6-AF0A-E46DD1ED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AFD3023-07B0-4597-9BC8-3345E383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2C671A1-BE17-4661-BFEC-F6B2F771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开盘决策舱 / 风控交易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8AD41A8-85E0-4899-BB59-AE3B4492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B45BE73-180E-434C-A10B-067AF49A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半自动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EF9C300-00D9-425B-984A-E1C1300D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24F7962-87BC-4197-B6CE-FB130448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风控交易票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AAA8C00-67D0-462C-A646-2A5A2034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34E01FE-AB0A-4171-B894-8190EEEE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0A334FC-B813-4922-947A-5326A44C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C5ACF0B-A97C-4953-9448-3BB189C1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CD33912-4709-4906-B585-F76B5D11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773171B-E8F2-4F26-82F9-E99E782A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风控交易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C456699-47D9-4FAC-AFD7-A61EF3AD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10AC714-1C2F-4E79-A131-69A24F06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风控交易票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73C7BD9-E0CD-48D0-833D-9EB0EA2D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C59559A-EDF6-4513-B2E6-F55B3C01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中际旭创 · Kronos 30 日预测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F53C21E-D157-44B4-950D-FA6D3BC3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661C579-1D3C-4DE6-93B1-80CF92CE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历史走势 / 情景路径 / 支撑阻力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1E440E1-559E-478E-8BEB-739A7FC8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FF54807-C306-46AA-B198-28D03494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A8CD2F3-854A-4A72-8A7F-9DDACDBE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C50A46F-68EC-46FE-A8E9-791F1150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半自动确认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F0C7CAE-E99E-46E4-BDD7-0FCC1833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9777DCB-BAD0-4291-9CB5-4C1D3EEF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交易票状态： 可提交人工复核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7069343-5E39-4AB8-B94F-F5DEA634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5CDFE10-275E-45B3-A4CE-387F9F62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历史走势 / 情景路径 / 支撑阻力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95CDA81-E41A-47D9-BB93-4107A9AF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A596826-E051-4CF5-864C-E06E8A07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现价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A987F40-304F-474D-B483-ED629BB4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A42AC3B-405D-432D-B7FB-1F276898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5539C10-0F7E-4888-8EF6-A59C95F1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7746CDD-3209-408D-AB0D-D057466D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937BE92-314E-4DAD-A0A3-38A88E25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BA8DBB2-4FC9-45B1-853D-370F32CC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E687D9D-AF89-45C5-A99A-AC8B395D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半自动确认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2EDE265-45B9-43DD-987C-84A97DB5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D8A54D8-B874-4040-B01B-41195746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提交复核单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FA7BA5A-9F1F-4962-B627-489B7CB3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AB51C7F-CF5D-4DBA-AA16-D3F186E2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交易票状态： 可提交人工复核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EE9CCBA-BD5A-4759-8815-ECCACA68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B9D1426-D087-47A1-ADEB-0259277A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复制交易计划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D9BAB6E-D970-4C34-AF4A-7AB00297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921C4A7-F959-4028-B312-D9839453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历史走势 / 情景路径 / 支撑阻力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20D7E87-B780-4A1C-A50C-F0B802CA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353568E-A2D7-4728-A7F2-E078375A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加入观察池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577103E-A099-4074-838A-27C7A36D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A813119-8097-4E5D-B652-EB71A159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BFC9704-85DF-4BC9-B6C4-E41AC73A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95971F4-FD47-4067-A6E2-8A106629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提交复核单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9B1EBFB-B86E-4C14-801F-D4E28525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BA764CE-6208-4B6B-AB48-33D71572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复制交易计划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1874136-BBDD-46FE-A8C4-F9EB898A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9AAC4E1-8263-4159-9814-10C0AF79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复制交易计划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73AF6B8-BF37-4E71-A127-301AFABC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B278F8E-4722-4A34-89FB-00C3F54C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加入观察池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7E1AD27-0766-4752-ABFF-165C7AA3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F71043E-3C7A-4418-88C7-B5AFB9F5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加入观察池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623305C-C418-4F33-857F-B906E7F3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553388D-3874-4A57-9562-BFE288F2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只保存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8323F91-6D8C-4EAA-853A-3BB1F5F7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文件：suying-ai-workbench-redesign.html#trade-ticket</a:t>
            </a:r>
          </a:p>
        </p:txBody>
      </p:sp>
    </p:spTree>
    <p:extLst>
      <p:ext uri="{BB962C8B-B14F-4D97-AF65-F5344CB8AC3E}">
        <p14:creationId xmlns:p14="http://schemas.microsoft.com/office/powerpoint/2010/main" val="8625345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1B88D5-75F5-4E28-AE1D-A0496063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07A65-0764-480B-B583-0DD2946B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3415D-CA35-4248-85FD-9AA7B779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34E15-DF8F-422F-A9B4-D1159A0F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24C45-4FF9-4A40-8B94-C93234DC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35D03-1599-4BA1-AEBF-F6FC0032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31D7E-370A-4E78-922A-4CA88703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031ED-0C8E-4D60-9CF4-84CC3316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22872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CFE70-9B0A-4AAE-8CC6-EFB17FCF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开盘决策舱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53E73-8DC4-48BA-A659-F46FDDEF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102E2-71FE-4721-9235-72A5B94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3ECE4-3905-456C-BDF3-8F58A9B5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2E7F6-8F2F-47D7-BD0B-09171E25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02428-E7A2-4F9E-B3ED-8E76E3AF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8AB324-1E03-4501-B1DB-9002222D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308C44-8490-4D0A-AD2A-8AD2D361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CF2F1A-1D30-4F9C-AF04-F76731DD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657F0-9A5F-4E4E-A43C-ACFEBE81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046100-F7C7-46A8-803F-E40A5174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9A3DF2-FBE4-4CD1-9453-173A2995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DEE371-4470-490D-BC4E-55B9B4BF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18C773-CE8B-41C6-BAC5-49F7210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A91069-7AD9-44CC-ADCC-173B4993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A38FE7-35FC-4EEC-A922-5E6F4BA5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AAAF38-45DE-42E2-9835-2B0D5906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718D5C-2BF0-4268-9A67-88C922D0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CC4348-098B-4DB9-B50E-AE280F55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FCCDA3-122F-4B33-A2DB-28C2A270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40BC63-54CE-40F5-89FA-CA734807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006A1C-678E-4A6A-8EFF-62487D88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F2BB06-0494-417D-B9D0-C7DBFA49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4504EA-3606-45A8-9A92-FB6AF2BB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B7056C-A0E1-44D2-9754-5DFFB136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408758-B041-4F9A-BD7F-799191E3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3298A7-E409-4C6D-88E1-9114670C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0E1DA5-0638-4481-80BC-6AEFB4CA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1EE191-10E1-4684-847C-BD6BFD27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FE3F52-9AC5-4F50-A813-F442244B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3364B1-D8D6-46C4-90C7-1AA6F133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B1662F-2017-4C2A-A5ED-69A363D7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24D578-A47C-4E37-A962-800333A9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开盘决策舱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7D8729-2646-4EBF-BDD4-EA764A95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858BCB-F90E-4F4B-B5EB-DC7E28D7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D64941-0623-4D58-A7F6-73F90E5F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52CFCB-B839-419B-8C0F-AFE20C9B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EC7DBE-4108-47F2-85A4-889C3931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E965DD-58EE-4E25-BBB1-A79BC92D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60BD1A-22BB-4B4D-A43D-9DBFBFCF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EA0AE9-6EE6-489C-9A6A-1A12F46F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开盘闸门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A29024-D0F3-425C-9F85-22450B9C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交易简报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9E69D49-1B59-49AF-859A-D9C52084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84292D-9D2E-47B4-8DE5-CB35F160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81A48C-FFD2-4036-A33B-13F906D1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候选决策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8EDD856-7228-4F56-8065-442C71C7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AI 队列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B2090B8-BB8D-4F25-A6AF-73756CC7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0BE18D9-E787-4571-B479-C536D579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3BA542A-E00C-4A73-8AD8-82C078C0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K线推演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8EDBF49-EE12-4432-914E-F5758DD0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30 日路径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829E4AD-3B4F-41B5-A241-4A3A3231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59B1C7A-2B94-43F4-939B-ABB5660D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4BB5A0B-3EB8-4527-9466-06A1E5A2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风控交易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3A3BF1F-D8F2-43D2-8C52-D37745C7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半自动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51A6817-F179-415E-956B-8691F404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F4542A8-FEE7-4087-BF3A-60CF94CD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4F5D3D4-4DDF-44D1-8A77-235657E4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链路审计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E57A44C-C24B-44EF-AF15-9ECE74BA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6 / 7 在线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C81A205-B5E3-4772-A9A5-C0A0F6C9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996DED4-56AF-456E-8799-37F79366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8714EFD-7193-4914-B305-AD7F0F37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开盘决策舱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49E405E-68D4-462E-BF66-CD2713C1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19575AC-8773-448B-8CB4-866455A8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93B1FA7-045A-40E2-B6A3-5B254D8F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开盘闸门 · 候选决策 · 风控交易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569FB2A-5E70-451D-ACFC-CC2E08E9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B152745-8EAF-4AA1-BE70-3DEDB3D7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FF10993-5016-4781-8A32-2A14B3E7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开盘前复核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A9A8A2A-31A0-4077-A914-D2140476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211AF5E-E619-4771-86FA-F88D8C69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2BF71A0-AA7D-4E2B-9889-CBBB1341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候选延迟 1 周期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D7E8FEC-01B4-4C5F-A264-4CFF56DC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12 · 开盘决策舱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B4F4854-0D1C-4BC4-AB72-56C11124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链路审计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4D336E4-A2AB-4498-A6A2-CB6EAF63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6 / 7 在线 · 原型页内所有卡片、按钮、表格均为 PPT 可编辑对象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F5BA6C8-03AC-436A-8A64-201925AB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5DE3D07-1AA2-414E-99AD-373C9AB3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E43DBF1-9B34-4B1C-93A6-721475C5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FA7CD66-3791-4F22-82DC-70B5FCE1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开盘决策舱 / 链路审计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AC310BE-E80C-4959-862F-296B3AF6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2E6B9FB-F1C5-468F-B09A-9F810C13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6 / 7 在线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C96D804-9298-4C51-811F-41F7A130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0BCAB43-A469-4CFF-B3AB-54FB21E9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服务与审计状态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C670FB2-7F31-43CC-AF09-EE6B0601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70C0881-ED77-4E00-8037-AA76F176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4322D50-C4D6-498F-BA5F-3178D590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8A964A4-B296-48DC-829E-21631859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FB86F79-0778-41F8-8221-8589DFC9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973CDFE-7351-4968-B7E5-F1013F0E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链路审计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4E5256B-A3EB-4A1A-A196-A192BB91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C0D275D-9574-43D8-81F9-9434FF2B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服务与审计状态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1277FC6-16CD-4922-AB90-EA48EE88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734CB1F-2231-47DA-A52B-88ED2DE7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118ms 候选池延迟 1 周期 K线预测服务 :8002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AED28BB-6C96-4667-86C0-E98D5807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1B03627-660A-422D-B77F-707382D1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31ms Kronos checkpoint 在线 交易网关 :8006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2B9FA70-EF9C-4D86-A6EC-41E39B3F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F3AE157-5F2F-4B5F-90EA-B9011CDB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0674D9E-6F35-4FB4-A306-5DEDF89F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5845F26-FCB7-4CA2-A5BB-C81D9EBF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交易前链路检查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4E0A774-F0F6-4015-AB99-8DB3B203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8D3DEE9-C0EE-4D07-A749-5F39B8E3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118ms 候选池延迟 1 周期 K线预测服务 :8002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3BB18D3-F4FD-4A90-9012-7462EC07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1D50DF1-6179-48A8-A028-02C7A100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31ms Kronos checkpoint 在线 交易网关 :8006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577EB31-20EB-4A36-AAC3-1D917E58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E43C5B9-1509-48B0-A69C-B2854D16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21ms 半自动委托通道在线 信号服务 :8004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B3AE728-5B24-4284-9F22-A75BB920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2FDAF83-96EF-48E4-B903-5139161D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4146717-7F48-4AA2-91E0-7A7F2FB3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491D72D-426A-4205-BFA8-2B38AF1D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21B35AD-5EF7-4258-8C50-7A8A330B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AF6F3B5-EF38-4073-8605-B6512070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7B34456-76C4-4F93-8671-6C3BF085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交易前链路检查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534D22C-3F66-47E9-AAE4-D694039C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2127C05-8848-4C46-8F0F-242BDF01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导出审计记录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BF824FE-9093-4CA1-B196-5FBF6208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0EB3D90-87A0-482D-87AE-4E8C7520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118ms 候选池延迟 1 周期 K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88E44B9-977B-4648-A94A-B2E57503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A00305B-81B0-4786-AF11-77573451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重新检测链路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5E83CEB-2FEF-43C7-8B23-136EA9FF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70772A7-9F40-4859-8039-DCD0BE78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31ms Kronos checkp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2CE4C7D-3E00-4BAA-A136-4071088C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514F857-6A15-40F7-BD25-41F08931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提交复核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8CF3D9E-F76B-4DBA-A3DF-C8D0F12D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CAB7C8C-9F31-42C3-80F0-F04952FA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33D6644-B699-4977-8F5D-A1B95B67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FB431ED-AB2E-46FD-AF64-3AD5AD52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导出审计记录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5364EA2-B003-44E5-AFC1-1D0D5F71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09B828E-D7D0-4CA9-9004-2B07442C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重新检测链路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641BB5F-A280-4798-8BCE-CB3495CA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C1C2DF1-2C99-4455-B615-99D4F4C0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重新检测链路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8B36C47-1420-4F86-A06D-4A3F31E7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0DF4588-0C44-4F41-A55B-50970B91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6D0BEA2-720C-4506-ADE8-5099D481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5F5E685-3363-413E-A90C-3F30EEEB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47CB4CC-362C-4086-93F1-CDB7C10C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43B72F2-126C-4551-AA2E-73250646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导出证据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A6E16D3-6737-4CD0-8BB8-29B116BB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文件：suying-ai-workbench-redesign.html#service-health</a:t>
            </a:r>
          </a:p>
        </p:txBody>
      </p:sp>
    </p:spTree>
    <p:extLst>
      <p:ext uri="{BB962C8B-B14F-4D97-AF65-F5344CB8AC3E}">
        <p14:creationId xmlns:p14="http://schemas.microsoft.com/office/powerpoint/2010/main" val="8967954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98B2BE-C8BC-4222-AEE8-1593F7E1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2ECC8-71C7-40E4-8E69-9B461B05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A85AB-789F-4F31-A04B-45FAC106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5F48F-A01A-4D02-AA7E-BAD9FF29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4CBB8-63A5-4205-985F-64FAF6C6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7D4C7-89EE-4AF5-BE82-CB9B7194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12F11-510A-4C53-A61B-EB9DE31E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ED1CC-D5DB-4DC9-869B-E7AC622D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730B2-69C5-4F84-A5E0-F4CB3FC7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35BC46-4761-44A3-8F7B-6B882CFD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52400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2F638-AFFA-42B5-B1F1-654AEE63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智能选股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0AFA2-6EC0-44EB-A909-4751D761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F7FA37-7FEE-402A-8392-B0107C7A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D9A55-F8F6-4995-B98A-8C73DC86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10F0F8-A630-4713-B78C-2F72DA7E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EC0675-5FF6-494C-B075-4A80D317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8C489B-C009-45F6-80A8-3885DD7D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8A622D-41E4-4208-AAD8-3D9457A4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5FC6FE-2575-4C91-9481-9CF5443E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8567BD-6081-4A18-9189-5AF04E2C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CAC745-DCD6-479F-B853-3D4BAEF1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30DAE8-530C-4FB8-9C32-B5A0ED7B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650FBE-AF84-49D1-BC97-D0BB9370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FDDCF2-BEB4-4229-9067-97D31C7E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4E4773-C1A2-4674-9A09-673E5A8D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4E355D-033A-4CE0-960B-10ADC32C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A04D97-D53B-432D-9DB0-C9C05D0B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3A2085-DADD-4C27-8A69-81F3E0B4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3FFB25-9BA3-45DA-A3DE-420A94F7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6D7F6F-F0FE-4FE9-AFB9-016BBFE0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AFA704-57A6-49CD-AF29-35DC075C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E41CE7-853D-4434-9754-4B529D22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356495-B41A-4AE8-B816-54FAAAF4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B5AF76-8781-4D35-8A9B-9C13C9F2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FB7113-0BF0-4CB8-96A8-E9BB75FA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296A72-62A0-4D03-A2F8-063B77EE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95BA4F-E670-4E73-B7F5-D570705F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755821-ACB5-4F15-821D-0D28B72C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794075-8DA7-4260-8EDD-E2BDAA6E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6F0718-0E22-49DC-AE12-19B8300D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551BBB-30D1-4327-BC85-A121A658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智能选股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CF60E2-C694-4D4A-8397-7C56E005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D0A8BA-E165-4F2D-8A97-D0C243A9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CB985E-C075-4009-A070-DF1F0C78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ECED33-34AC-41E7-A712-1A618675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8F4E85-A950-4B6B-9F6E-AA2E6256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93C371-6EDF-4E53-8E47-10F1E1B3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A919A38-4064-460B-978B-2B1DE385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0955F2C-35AB-46F1-BFE5-CC4B7A37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策略入口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5BD27D-107D-43C9-BC5B-E37C0063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12 套策略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768FC5-1E91-4968-BCB0-304B6ACC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E20132-87A1-4E97-9582-6478ADFD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CAC440-1C54-491E-B937-EEAFA090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因子筛选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C9EAA8-C37D-40D1-8102-D3569406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过滤 / 排序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2CB0BFA-7CBC-4D29-9F6C-1D65B350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33A8939-C6C9-4067-8111-362A21A8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FC075D-DDFB-4510-AF83-D04BA5CD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候选清单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C742462-88D9-4058-A60E-58972DFD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评分排序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704E8D7-82EA-48EC-A98C-4AD81CDF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E88637E-18C7-469E-9285-531345EA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FAC9AA1-288E-4BC5-980E-16AF722E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批量动作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B24665E-584A-4D3F-8485-ED2CB1AF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自选 / 下单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DD1A2A2-8672-4B13-9B91-277BA41D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86BB961-B854-45EE-B72E-3E02C222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C8B53BA-EB4A-40C1-8E42-231BEC7D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诊断联动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A20E5BE-1A1A-458F-A5CC-878FCFC1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批量送诊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50575B-EE1E-44F8-8BC3-E1A1F92A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873F1FD-CE5A-47E8-8F92-246DA68C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CE21616-5039-4C24-852A-C1D99C06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智能选股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1C1D9F7-C5DD-48D6-92E3-6AAD539A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F8A6BFA-CB30-4BCC-BEC0-31069624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9362B57-BEA0-4D26-91D6-57409AB4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策略入口 · 因子筛选 · 候选清单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4FCC1F4-8172-4018-A0E8-2FB400BD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E304E10-C35C-48CC-9B1D-854EB80C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C401678-8829-4804-B80F-D1352071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42 只候选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8CB5FB3-AE3F-4FD8-9AA3-E548EB06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8AC58B2-648E-4724-B09A-6DA5BFDE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6172782-417F-4CE0-9F74-20109406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选股服务延迟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B091D7F-0139-462D-83C2-E807324D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13 · 智能选股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A92CB8F-6343-46EE-9782-C4496EAA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策略入口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355F7AC-3AE3-4279-9189-DB570125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12 套策略 · 原型页内所有卡片、按钮、表格均为 PPT 可编辑对象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44192CE-393D-4B79-8467-AE89265A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4C6EBC0-9566-48E6-8832-B4C9CB35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99F2D06-9835-4121-9A7B-C6C92178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7DAF1CA-E09D-4115-833C-6F991EAF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智能选股 / 策略入口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E4C44C5-431E-4426-8A5A-0C8666CC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8F7FD23-B74F-43B9-BF86-CFD33F48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12 套策略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1E7779D-2E84-41B3-8746-3F9FD188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B45E0D5-C207-4C13-8E06-C8F2A8AB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id="factor-modes"&gt; 短线打板 日线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DA268CA-3E0E-4647-BB61-603C8DDF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343968A-B066-4F2F-8937-BAC7786E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61125FA-26A8-4553-84EA-3E1F4DD9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06AB882-C8DF-4B53-80FB-E5862AD6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2142857-2393-42B2-A763-6E46AE94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D226B43-0850-4F1D-A864-BD4F8083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策略入口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57339FD-E75B-4508-90D9-8E78D5E4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0266047-3732-4AEF-AFA7-640F12A3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id="factor-modes"&gt; 短线打板 日线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E268923-3F86-4AC4-8010-179AB2F0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69F606B-9C0B-4A82-87DD-C88B19E6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激进 激进 18 命中候选 趋势波段 日线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37B5428-F485-463F-8548-7D0965D8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A1033EF-FDC5-458A-A35B-C3E57F34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稳健 稳健 11 命中候选 低吸潜伏 周线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CBA8B40-C530-4D1C-A32E-62CCC720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C327AB1-026E-496B-829F-3C356F83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198DDB6-B5BA-49BB-96AD-BFC6DA54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37C3E26-17E9-4A3B-8FBA-14113506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日线 · 激进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B63101F-2B1B-4F5D-AC5E-9D8E1DE7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EA00A17-DEF5-45BC-942A-2AB8F1D2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激进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3487856-F604-450E-9295-1AD84829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36AD709-A9E6-4FFD-A9BF-11BC16E1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命中候选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676EEBC-C18F-45BD-8344-8940AE1E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AE8B0FF-FD6F-457B-909D-2D95F6B2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日线 · 稳健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BCF7A8E-2165-4035-A3A5-CB5B9D2B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B2CE330-3747-432C-B05D-1A2010E2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2EFC350-B4B8-4A0F-9277-714B5654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8E1F2EE-64D2-4711-88E6-4D440D22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4683825-7B9A-42F0-B301-DB20E1EF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0685272-16FF-4754-BD64-19AD09F0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37FBFE1-1EE2-4842-8450-F4C25B0F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日线 · 激进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D023F40-A4D2-4035-A47E-E48FFE56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418092F-902D-4B3B-84BB-749E6ED5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4670898-289D-4A3B-8C97-FBF23DD5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756C87E-6582-4104-A2D9-26B4314C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激进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A301A04-EE7C-4B8E-9151-B92D3298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2733AEC-4CD0-42A4-9DB2-20F7CA54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导出数据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16716B8-11F2-4017-9BA0-F8FA2074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7335F96-953F-4B59-B509-A5C5A799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命中候选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052FC18-869D-4E72-8589-F55A24A3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F8D219F-7093-455A-99B3-56FC9E1C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刷新状态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F710603-88F4-405B-925C-870069FA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E90D080-268E-4898-9BFA-609AD2D6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8E1B07C-8337-4734-8C9F-D2B25AED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7542183-4B26-4026-81F2-A4F5DB45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保存快照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73C997A-C72E-4A23-B012-A01AA9CB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F495BEF-739C-426D-AB9E-ED03C1E9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DC27172-7CE6-45F8-9CD5-8817CEAD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FBC3142-B792-4BC6-9514-5EA5CC2B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C0C7C76-44F5-4F6A-BB28-DD5BF161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93B3065-9AC8-4290-B2CE-31943E04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刷新状态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CC1CF30-B632-46BB-8BC1-DEDD021A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52C93A7-173E-4411-A1FD-DB2BCD5F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刷新状态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F10BC5B-1D50-42DC-B1E1-58931947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4F4A2F5-8F5C-43B5-A242-28345141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写入审计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133D6D9-9378-44FC-91B5-EAF4C968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文件：screener.html#factor-modes</a:t>
            </a:r>
          </a:p>
        </p:txBody>
      </p:sp>
    </p:spTree>
    <p:extLst>
      <p:ext uri="{BB962C8B-B14F-4D97-AF65-F5344CB8AC3E}">
        <p14:creationId xmlns:p14="http://schemas.microsoft.com/office/powerpoint/2010/main" val="5192192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D2472D-7EBD-47C6-8F08-4AE2F81E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25C15-ADE5-4EFF-8C5E-F18C1468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0455D-4155-4FE2-A1E4-49A8F0A2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EA7F2-F71D-4B1E-A4B2-93B0CB77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031A5-4CED-4F02-A018-1EEE1FBA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4F669-3BB0-43F4-A1EC-F42315E1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2E754-D577-45C6-8425-9A6F5EE9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B8B38-432A-44B4-AF44-0CE82B46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E0C2E-660E-4669-861C-5D3C3C0F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C0814-00E0-4115-A047-6E6A79F4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52400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6DFF4-F58A-469D-A12A-86E799BC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智能选股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BDD66B-BC00-46AE-A4A0-1852C0E9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AA74B-08BD-4FEB-B73B-FEA56E5C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5E3A0-5E52-495F-9256-8B1AF4D5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639994-19FB-4765-999C-DA775846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47C45-6D95-407E-8FF9-A3E48AF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CCC0BC-4370-4409-9F96-89FD6D7F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6F686C-0A5F-411E-B4D9-498DE260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B7C352-310C-48C3-83E1-9D228AB5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3EE30A-C664-4468-8F42-CF773BA7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873442-78AB-4DB3-BB6D-A2AD26B6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C7C06C-362A-4E1A-BF68-C8EBA025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588F51-475A-4F70-96AF-6EB8E2E0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24CBA5-25D2-4173-BB62-9F09D33A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F939CF-82D3-40C9-84C1-43D3A473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99B9B4-7785-4822-99C5-34472C5D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2B91A2-1CED-40A7-BF96-9D033F46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BB30FA-A3BA-4405-B228-227D268E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74E039-49C8-4E44-8B2B-4107E663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A8216F-39B9-4B57-AE68-AEB011F1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051514-8A89-45FE-8AC3-5D56F79F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7AAA29-E0FD-47C9-84CC-E14674CD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420594-0964-4D10-8541-EF681A79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85BD27-6158-4DC1-B050-1CE95BE7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F2140C-E6F0-47E7-A8FF-5D63FBD1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595CD4-CD48-4176-948B-8284A468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A5DC29-F3AE-4682-8FBF-5E083073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F0669D-0002-4EBF-A8B5-5CA7C4F1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BE2B93-86DA-45F7-968E-0EFC1FCE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67359C-3194-4EC1-ABD6-68BCD2D5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C4DD2C-A9F9-441F-B154-17FF974F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智能选股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013FDA-D7B6-42C4-9386-ED2778F5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C78E5C-CD22-4F86-BD96-155062B8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8DBD82-0F62-425C-AB6A-FB2DB8DA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0C62BE-AB85-4C4B-898F-9A04B0A9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5C047A-A12F-4F93-8C60-D4E63920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A9C876B-B104-4018-9166-157DB3B8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3F7229-6B49-4C7B-AFBD-61C33696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62A42D0-0015-455E-A1D3-B440000A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策略入口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C6FADE-5869-4277-94D7-3715297C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12 套策略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B2BF074-82DC-4445-8298-CFC0E769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921807-651F-4E6C-8088-EC994729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458644E-542B-4A75-A4A5-7F8ADD60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因子筛选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600043F-B8C8-46A7-BDD4-FE7FC7CF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过滤 / 排序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38A040D-5D95-4EE2-9F19-4F6D0F4F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806C1FC-17C3-49D1-A6CA-A5FD6803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60E719-56CC-451E-91FE-077B0F48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候选清单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616270-1261-4B8D-8AD3-530D0254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评分排序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1350B0D-E420-4BDC-A1F6-AD68DD59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2618DE7-F45B-43B0-822F-B462A5BB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042DAA9-2390-4804-A4EF-15599320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批量动作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6580E25-14CC-4898-B81E-ABFADB90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自选 / 下单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FB1C2FB-3C3B-4FC4-920B-EDF15815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B4E2397-76A5-40FE-8C29-1FDE8E3C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824B2EE-3882-47E4-A13C-BE65D6C0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诊断联动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FD5F204-BE15-4938-8C0D-0F59B2B6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批量送诊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D3B759F-8BF1-4195-9D38-2235C413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6BDC8D1-151C-4A40-A236-FB2A6736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E875A05-5D17-4706-81CE-FA873FA5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智能选股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8C3121C-2CF8-405E-BB37-A03468AA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49E69BB-3B44-4E66-B69A-BAB23770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243B0B2-BB53-443F-8BDA-7483799D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策略入口 · 因子筛选 · 候选清单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EF42486-EE3D-4C63-BF32-24E77936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F5135B3-38AD-4533-B47E-D5216E22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FA12BDE-297C-4BF8-A3E0-5DD3B934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42 只候选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178C163-387C-4A43-8F02-527DAC3B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0DAF624-B0E7-4AB3-AD44-270921B3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1EAF692-0823-4946-945C-3F8DD022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选股服务延迟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7747767-214F-4B8E-BBAF-0EADD440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14 · 智能选股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52072D7-8035-487B-830D-0ECDC505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因子筛选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D07D16B-7D1C-4ABB-852A-604E3BFE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过滤 / 排序 · 原型页内所有卡片、按钮、表格均为 PPT 可编辑对象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1A94C9C-6A88-4D7B-844D-BEF55706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61532AC-9C2F-4231-BD3D-13CB2E46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09F2ABE-7ACE-4F3A-9AE4-636F2996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DD41D1F-AB95-4B7B-9681-D894688E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智能选股 / 因子筛选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DB6DB4A-4C63-4943-B87E-8806D74A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5A39064-15CB-4C10-854D-D3F22E91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过滤 / 排序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54245F4-C191-4961-84BB-723DF2B7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08E5A00-FB89-4B35-A12C-D0B88775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候选股清单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7A7ADDC-2A0E-49B6-AAE7-58BFA280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7F88F63-7D7D-46B8-8194-F054C04B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CD629AF-6908-4F36-823B-1F694E1E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98A66C7-E548-44A3-B832-71B35D22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350846B-0259-459D-A261-9C4ED2B3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0CF4FC3-3ECB-4028-B46D-F3424A78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因子筛选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C9319C0-6CC5-4626-915E-8991F337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7A926B8-5A8F-4C72-A679-1F07A47D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候选股清单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B3C1F08-58A2-48F3-9346-B2E8078A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0DD48BF-3BB4-4F1D-9204-3486FDBA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11B9EF9-38EB-4434-98E4-35C5EA81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34FE49A-8425-4803-812C-20C7F027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看涨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520D51F-670B-4218-876C-0080D0EE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8A12F92-4CAF-4820-A5B7-400FC68B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063C596-7696-4F7F-A9E0-C6526532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C962044-E2E5-4035-98BF-8F3B14A5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共 42 只 · 按综合评分排序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D29B95A-4596-4811-9C65-C5ACD40C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B00E93C-AE5A-4CBA-924B-1BF2BF4D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D0A1BD8-96AC-4AA7-BB3E-14E5DF2A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61E41D5-241C-4914-B157-2DC020DC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看涨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52AB13B-76AB-4D98-9D12-551EB6CD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DAE3623-DABF-4E33-A5B8-9069DC60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热门行业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E2D796C-10A9-42E9-BBAE-510EC420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F1B37A3-2905-42BD-BFAF-888E11C0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D02773B-4879-4FA9-816C-B0DD6209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799ECDF-2A7D-4206-9F9C-933950BD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294A1F2-3A1A-4AB0-9908-4FAE6B17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D05FEFB-FC2E-4F5B-B4C9-90AA96F2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46EEFA4-4B00-4DBA-ADCD-5FFA115D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代码 / 名称 行业 策略命中 现价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2556DEA-32D8-40A6-B9BD-D8725042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A4278F8-5B6F-48D9-A240-99C80F2B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诊断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B2FF854-C478-4F2D-B318-F858D122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51BB88C-74D2-4944-8F69-F051D810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300308 中际旭创 通信设备 短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CDCF296-D13F-4575-BF2E-ADB71119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66F4AD0-1357-4054-B62D-D206A2CB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883B462-F37C-46CF-8988-A7073482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067AB62-5C39-4F4E-BF91-30186B02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688256 寒武纪 半导体 主升加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3F3F7F9-72CA-4E8D-B94D-93037AFE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ED130E6-1E38-4C81-B6CA-D5AE9D91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导出数据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0B55743-34B8-48A0-8218-923E5E2F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3012A66-ED84-40BB-A1A6-D74CD8F5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A69F37B-7A43-44EC-A060-9BA27AA7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B6BD690-9E56-4C9D-9510-7DC35805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诊断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049BA6D-578D-4F0F-A64D-B778D081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1BA9EBC-FB5A-498D-8E79-2A9F9FBD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8FDA0A0-51C5-400A-AD90-FD42AD99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E37C7CF-BA12-4AFB-A4EA-C0DB9922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3824340-0C67-4AD0-BBB2-F8254271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775D8AA-01F5-4E47-BC93-842FFA6B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279BBD7-96DB-4F61-8566-C5F50116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D5F7697-A607-4E7A-8611-21952749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98E863F-84D6-40C5-9924-C89E1A3E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1DE1EE0-4A8E-4B3B-9A1E-FB36158C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刷新状态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40B9FB8-92B6-4DB7-85C5-EFA9C7EE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文件：screener.html#candidate-list</a:t>
            </a:r>
          </a:p>
        </p:txBody>
      </p:sp>
    </p:spTree>
    <p:extLst>
      <p:ext uri="{BB962C8B-B14F-4D97-AF65-F5344CB8AC3E}">
        <p14:creationId xmlns:p14="http://schemas.microsoft.com/office/powerpoint/2010/main" val="17660844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E2D50E-8B61-4117-AC5D-D7161AD7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ED9CF-3DA5-4956-8214-BE06BC5E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33CFD-E810-466F-8511-B8C8D8AC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D539B-9C9C-4C52-9A36-90F51C30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F4CB9-D640-4810-AA98-591CC0E8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AE7E2-B6C7-43FD-AA1C-58877F38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F5CC9-1B53-4D59-ACBA-44B1FD7D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03B25-44B2-45F1-B14A-51AA6CF4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0277E-E92F-4ACD-92F9-85F2E9BC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33F70-644D-4CA7-BA5D-4B1C99CD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52400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CCDFC-F190-40CC-B88B-446A41A6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智能选股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2266A-F16A-4911-B275-0B7B1C7B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DAD7F7-C5A5-4AB8-BD2D-706D0C51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1E8AE1-815A-488C-A0E7-B5D8F80C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2E22B-1F78-485A-B21D-C647AEC5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3B1B1-B5AF-4F3C-877B-A6B795F4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63AC8A-E3AE-4D4F-B6CC-F3B372CE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D6BB8A-C996-4094-ABDD-B819439F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C1C8D3-D9B7-4E50-9A3C-86A3556E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4E5739-ED64-4530-B087-60F53F0E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3E68B3-2AFD-4AE1-8E93-A92DA178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B36FCA-4549-4D8A-A6F1-3A9D997D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E7F2E3-3821-41E1-9EB4-8C397F29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271CC6-1640-4329-AD00-B2CBCAA7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FCE0D0-2870-4953-8959-A9224975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12F293-ED6E-4182-A65C-5ADA0E47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BF833B-277E-4C2B-81A5-BA87A1C4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C80D5B-1258-4684-89E1-A3C6ADA9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AF77F5-0DF1-46E8-8C66-9070E278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415EFB-FD8D-4024-88E1-24347365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1A8EEE-272E-42F8-B34C-8EF23E53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A117C1-D027-42B9-9E29-528C2D28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A60351-D369-49DB-9D3E-7D5FC1F3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EE3BFD-8049-450A-ABD9-DCA21E9C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484F61-F598-4A2E-836F-4C968A8C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0B5BAE-B485-4A63-88B2-6E135048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978DC3-0924-4D9B-B3B4-8317AB23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75E02F-9270-4507-9992-0CD88702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B63B84-2F88-4529-8F4B-903EB35A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ED1A87-F904-477B-B3B9-10A09B1B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835707-103B-4232-8745-F4B23906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智能选股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EC9F25-C774-4CA6-A4A8-1FDDEB49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21AFF2-A7D6-4BF6-9A26-5FFDBA41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581D26-F465-4ABA-ACC9-67EA7D71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5D86FA-AA91-435D-8431-D5E5D9B9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3C7A1F-7334-468A-9F0E-0443311F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069852-6892-4E7F-A488-258CB1A3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4A0911-3C02-4156-9CE6-4E053B03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BCB613B-5B88-49F1-90FF-7309B1E3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策略入口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7B417C-B6FC-4861-BBEA-0EDCA882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12 套策略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9CEB75-F996-4D8B-AB51-E8B55117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F59D39-27CE-4F82-8F97-5418CFE1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1AD2BD6-3C7F-4A81-91DC-675F7762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因子筛选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DD910A-A6D9-425F-9F38-B29C123F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过滤 / 排序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5FFAEB4-53AD-4F34-A4C2-816CF0BC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4279616-FAB9-43C5-B66F-1D82C1D1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DF7AAE1-7A29-4208-90AC-90E76F52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候选清单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E4BF934-2F41-449B-9D75-95FAF0FD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评分排序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013A5B0-0B1E-4004-BAB1-865D959A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7650F5C-365C-40D6-BEC1-8876B306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1FBFBE3-CAEF-4E38-90C9-E776B182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批量动作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EE90F34-ED90-47DE-BD83-89244899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自选 / 下单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34FD43F-BE50-4ABF-936A-DA932F74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611794B-3FED-4C30-BF16-0B949E13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3D0CC6C-A61D-403A-8B30-4384C2AB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诊断联动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F2EFAB5-CFD9-47D9-88ED-F9213E91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批量送诊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CE3E88D-284D-476D-9A77-34C1170F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3B77106-FFD1-486B-B78B-0DFC67EA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2C16F84-7FCD-4209-B9CD-27D2BDA0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智能选股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11B61F0-D1BD-45F9-9D80-140F8A59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238AA08-E5EE-4A42-8261-791DDD57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BDC0B23-12DA-430D-9305-D4882DE6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策略入口 · 因子筛选 · 候选清单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D8A2488-4DE0-4BCC-85E1-BB9C3208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CC7304C-E542-4B9D-8B81-35B4A221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7343FC8-CFA5-4A89-97FE-9CE57CA2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42 只候选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B5D9ACA-7780-4618-BC65-2DA25541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D0F5EDB-9716-4CAC-B05D-54E3DD48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6D6D135-323A-4C61-90B1-0C487508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选股服务延迟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E4E3DDF-E4D7-473B-B05D-ACEE07F5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15 · 智能选股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CEA613B-C408-411E-9A3C-CE0FAC4C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候选清单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77BF189-71CE-404F-9548-1479CA9B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评分排序 · 原型页内所有卡片、按钮、表格均为 PPT 可编辑对象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9645694-5E63-4DAC-A930-4C3D9D66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080F2C4-4B4A-458E-81B0-51F17922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7F9F98C-541D-4A5E-8A80-912F9379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275BC3D-B20D-4A2B-91DB-5BDB1334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智能选股 / 候选清单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37BA70A-5663-426F-BC23-33F1290A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4687127-77C4-4DFD-B459-49D995DC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评分排序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D101A93-7567-4424-A071-9AAC2582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2F749AD-0E89-4E4B-B9BE-A7055AEA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候选股清单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AE1D9EC-2CDA-4120-BAA0-5BCB78A2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77E5767-E467-4978-B6B1-7D1BAD20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BAD1D88-09BC-4854-931B-013557B4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0A04D1D-1170-489D-812B-30DF3A2B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9766098-4BCA-47A8-8F7A-A546BBC9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AC59B47-62E2-4571-8979-A1610A18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候选清单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8101EB4-C448-4415-B43E-7FCB50D0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CC5DE8D-9969-4AF3-AB1C-147395A2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候选股清单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6A59A6C-937F-4F68-9A26-BDC9E2BE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4331B87-16A6-4330-94C7-5EC9AF5D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F1E9503-B000-43CA-A122-7508FD48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9E0C742-DAEF-4BAC-BF51-29862CBA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看涨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024EB0E-88F2-44EF-A154-AE002332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63E26C8-34E4-4551-A313-D9265641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7B29E13-CB77-4AF0-8668-DDA9E429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EC73311-0A91-424A-973B-EDAB6877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共 42 只 · 按综合评分排序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C7A9BB7-CE3B-4F8E-96DA-D9A3C0A7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23E20BD-E473-46A2-BCD0-88D9D2AC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7DDFA73-9BC5-40D6-9EAB-B49D3F7D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AD30E0A-ED30-4389-A404-3AB716E9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看涨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C47A913-8FF1-4411-BDB3-264AD840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BDC250E-D3F8-41F7-92EB-73113CCF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热门行业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B614F94-4DC0-423E-B2F6-D34A929E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D13A1DB-9769-47F1-B733-E9C62618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F682829-BF67-4D24-BEFA-890B01AF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F97268F-CCA1-41F1-AB8D-8309CF72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AC24A61-6E16-49BB-987D-C56A05E5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DA94BC3-4E5B-47E7-BBD9-57A18B77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0EA91E3-5500-4FE9-8B52-91CCDFF7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代码 / 名称 行业 策略命中 现价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BE8765B-96AB-4B70-80AC-DDC26055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16B6867-C09D-4594-AF54-38A0F239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诊断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D8EB3BA-05AD-4E67-80CD-97CA0048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1B5FEFA-28D8-4D99-8956-C04E7496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300308 中际旭创 通信设备 短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7B39422-878A-4F92-BD8A-9CBC4168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D4E0B40-A5A9-495A-954B-F1E3638C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加入自选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52F14BE-2101-497C-B668-63400256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CFA7D10-F449-4596-A71E-4A9D9A97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688256 寒武纪 半导体 主升加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542FB1E-590F-4DF5-BB14-A7D30539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33ECE12-8934-4E92-93BB-4BF661A0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批量送诊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9165FDA-C586-4866-93D4-024630EF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3E69542-09D8-4B99-8636-F107F235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6D4D003-10E2-49AD-8F10-42F76AD4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BB8BD77-B5E5-40E3-89DC-7871ED10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诊断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DC6AD56-FB59-4DE1-BF6A-8117879C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A2BD493-203A-4A75-9C47-48D151A0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加入自选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AB77111-A1D0-4FAD-B191-7527F12F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FF3BBB2-DC1E-465C-A667-85BAE666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加入自选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0BBDFB4-E116-4972-BD59-FE7E45E1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B9045FA-8528-4B6C-BC30-A66CDAC9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批量送诊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EF7E25B-4F10-4F58-8691-205E5A18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EB7333D-3B9F-49A8-BB3B-A9BCD610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批量送诊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28915AD-B764-47D2-AA5E-1558431D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EE17A0A-70D5-4847-9B0E-612527EF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保存策略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E63AF71-DE3D-4204-9E88-6F4D02CB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文件：screener.html#candidate-list</a:t>
            </a:r>
          </a:p>
        </p:txBody>
      </p:sp>
    </p:spTree>
    <p:extLst>
      <p:ext uri="{BB962C8B-B14F-4D97-AF65-F5344CB8AC3E}">
        <p14:creationId xmlns:p14="http://schemas.microsoft.com/office/powerpoint/2010/main" val="74493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947BFA-1E93-40F5-9BD4-29B10B8A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3F25E-D012-4267-9D1F-5402FE61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07F85-0F93-419D-96B0-4B4AFE0E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A8B9F-4366-4251-8B46-83A45E1B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0AB73-27B2-4590-87EC-6A84CAE1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E7D0D-43C7-425E-9AC2-A3BA5F47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21AFC-AE34-4EF3-AB60-1FB3C96B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47CE7-940D-4820-A7F6-EEB2C2AF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8AA46-DC8A-40F2-BB70-2BED44CC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B59ACC-D647-4D32-A29D-9CDB9939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52400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62D90-26F4-4530-90A6-374DB76F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智能选股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F07D6-4776-4C3B-A3AF-115F1732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92156-E9E1-4BF1-9F7E-EFE21833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FFEEF-5ED5-4AE6-B3B8-E12344CD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075788-5117-4DEE-8139-E09AA17C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D99E9C-A35D-468E-95AB-98989D57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A75193-0AB7-4F1D-887D-67AEA444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EC9CE2-F1AB-44A3-814F-2B8FC681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707143-CCF6-4EDB-AD04-FC6DBC5E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6F6543-4492-44C1-BB75-AF53592E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7E6D7E-FC48-4D9C-B0CF-34D449F3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72B97E-08C0-468D-ADA5-A4B32A48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C55798-305B-4407-A709-C77F1028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1DD201-34B7-46D9-B554-72BC7A69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8ED920-C8A6-4086-8E37-6C84F572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AE992F-68B3-470D-9549-2092D540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143059-0964-4CC5-9B1C-2E4274C6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AF3135-A73A-437B-B488-AE9BA4ED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C2FEB3-505F-4745-99F5-35182069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C975A9-0670-4382-BEF7-5E040345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1FDABC-798C-45EE-95C0-1203D9A6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1A9793-AE3F-4D62-AB15-28F8B03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5DFD11-8517-4028-9D36-FB5BCFA6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CFAAD1-5AF5-44DA-9B58-C4354F8B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EB3F91-C5A0-4122-84F2-86AA42CB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2E0888-71FF-416B-87B5-4D1AE5CB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2A022F-E5C6-4C2C-9FF9-2223074E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EF422E-46D5-47B4-93EA-9C84FCAF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55CB10-357A-4814-93F8-9532E6F4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B4B8A9-0FF1-4066-B554-B5B59180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2F12FC-091F-4876-ADF7-A4884058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智能选股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FCBFFB-D0EF-4F20-9044-9F97084A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9172AC-B104-488A-9252-E711C32B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DCF1A4-ABB1-4094-BF75-4A1B1142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DF0E6B-A5A8-4463-92CF-B2E7F0D6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233C24-5DBE-4308-BEE6-F83BD0D1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6F748F-F457-4B70-94D3-AD15A988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D517E9-A668-4227-AB8D-AEE9B487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40DD9A-AD93-4BC7-A581-4B94B11E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策略入口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10331E-3958-4719-B51E-D94EEA53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12 套策略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0D8D65-62D1-4644-819B-317C9DC8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BEBD55-5C6C-4255-8398-0465341A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98CD8A-3803-4131-8B30-8F3C0115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因子筛选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260B3B-F460-4279-9539-655EEAAA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过滤 / 排序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420A656-8803-46E6-8056-E492DA8A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05C1362-D34E-4F1C-BD07-9166CE0D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3C99AF6-C68B-430A-86C0-DAFE0575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候选清单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12256B9-D18A-40FC-8C07-7964EE2B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评分排序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42D85DD-D42B-43FC-8264-C1AD58BE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B5D69C2-C6C7-4D5C-9844-C5C6AF89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C0748B5-14C0-4EAE-9092-740DF01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批量动作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9A2D7F3-34C7-4ED6-9A5E-26BCFCA3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自选 / 下单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11245F5-B0F2-4ECE-978A-CACC04BB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997A1FB-5506-4182-8521-E2962D16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F221C18-09EA-42B0-9242-4D6B8269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诊断联动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3847D39-488A-4A8B-B09C-D4392979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批量送诊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F79653B-5EFA-4A11-BCB8-7E51CD6D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5B766DE-6E29-4A75-A07E-D37EB2F9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40427BC-A0F6-47BC-823C-9CD337AA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智能选股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96D87D7-E745-4ADD-A4E3-7937E1A8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3015BB6-FDEE-4894-B1E1-0FBF2A9E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BE2F682-689C-4561-8179-DDFD6B82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策略入口 · 因子筛选 · 候选清单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A12F3CC-02EE-4AEF-B6C7-3E480E0F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7AEF344-50C7-4B54-8608-BBC4B9C9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3956607-C1DB-43D1-9C31-54D85E83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42 只候选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6DF9882-19F6-471C-A273-D63C7168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3F7D85B-1B1F-4890-A7E9-CBDFB7FE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1D1750F-EED9-41C5-B728-D34EE06C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选股服务延迟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2F02AED-6C94-4866-AA18-C4699373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16 · 智能选股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86574B0-0C8A-4619-8056-6BEF2862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批量动作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422B16D-8223-41BA-82C3-8FBA638D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自选 / 下单 · 原型页内所有卡片、按钮、表格均为 PPT 可编辑对象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BEBC2F9-6843-49C9-B77E-19778E83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E6FA340-B47F-4B43-9841-3195E16D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731FED3-DD30-4251-8D92-B27C396B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9B23693-8E2E-4885-8F24-66791AFE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智能选股 / 批量动作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642015F-249A-492F-AE11-63015620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2230C50-ACBF-4934-BE29-FCE7D0C5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自选 / 下单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0EA05E3-A58B-4071-83FF-C6FBE888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CF86B12-C98E-4C2B-BD44-E6D9FDE6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承载本页签核心数据判断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0AC476E-13EA-4300-BAA5-27F87C83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83F959B-4FC4-4956-A782-75B44951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E2E1762-98E3-4895-87D8-A7726F26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39551AC-693A-410C-BE2F-43A7B283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C45176F-32EB-4B2B-890A-1FFB2604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4960BEC-A031-419B-85B5-74D6B33F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批量动作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4EEE314-8958-4C17-9697-C25CC945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47799D3-79C3-4B30-BBB8-96F3ABF1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状态摘要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A91AEFB-31E7-4105-A15E-B91053B1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1D12460-BFD5-433F-BF01-3AE956A4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明细列表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2B6BC2D-4E6F-4E7C-BA7E-6E5FC217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4FF86F9-CE1E-4FCD-948D-EBBE08FC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联动结果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85D750B-3642-4300-AD6E-B4BD17E1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39EFC8E-8A04-430F-BB8F-8D44EB93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D95E209-7631-4DF6-8AE5-31680EA2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0941E17-4EE2-423E-B6B4-7053175F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数据在线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B5AE8B3-3247-4DE8-BF60-01C2F428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4379635-B8E1-4190-B0C0-BE106EBC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风险可复核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109477C-71A1-48C2-A2F3-E8DBB704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A51AD13-A5D2-4EA7-849E-C7DA2CF4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支持空态 / 加载 / 错误态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65723E7-B1DA-4724-B4C4-D287BF8A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9F6218E-E26A-4DC5-87BB-E7E66CB0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AD07002-8199-471B-A065-61868E29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3FE8E30-B0E5-4002-B1F8-8844E8BE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E69DC92-8D2B-424B-86E0-933E914E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4A12509-82D6-4AF5-9178-2B4871FA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91A2144-F0C0-434B-A3E0-78D58F28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7071A96-2F35-487E-8FEA-6EE34ADD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BECDD69-9FE8-4AD8-A1C1-4869567F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批量动作样本 1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AFA6CD4-11DA-41FC-A53E-665028D6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5E15A3E-4434-4749-B9A0-AC0A2035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加入自选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6C09441-3E37-4DB9-8685-031AB719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05135EB-F422-418F-BBA4-B769B8FD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批量动作样本 2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D9D2623-EFB7-45C7-8FFC-44D824E6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2745FFC-7D9C-4E44-BEA7-C277D9AB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批量下单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C1140D6-9850-4FCF-8B54-A41BD2DC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6A93A3E-1E55-4897-A145-E000AEEE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批量动作样本 3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76DC8D6-AE13-48B0-84AF-24FA402E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BB49800-5997-4E3A-94CB-31AFC37F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取消选择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2167F1A-BF05-4E75-832A-9E59F0E8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C584D85-9B0B-4D5A-8A3D-1817FE14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14EB63D-77C5-4B1C-8D52-ED291091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AC1C248-10C8-454C-B506-6B3F5CEA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加入自选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AC51B11-C9B6-4D7F-B191-84E56F3F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B474007-E073-46D7-8D76-25009737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批量下单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89F7AD1-CAA7-4BCA-B82C-E8D2EAB9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4F5CE89-6DAF-4262-A723-40F02970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批量下单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771C205-AB14-4ED1-B28D-E6FF639E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38385A6-5823-47D8-B5D5-3B6DA45A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取消选择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8A90B7B-2738-41A1-BD88-395C1654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B0D7526-1EE8-4074-9E1C-0E73E815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取消选择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7368CD7-22DF-4008-A158-637ABC66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356CB2A-97D5-40BE-A2D7-C73F06E2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保存快照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198CF1E-770C-4E5C-AFA4-12A38191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文件：screener.html#bulk-actions</a:t>
            </a:r>
          </a:p>
        </p:txBody>
      </p:sp>
    </p:spTree>
    <p:extLst>
      <p:ext uri="{BB962C8B-B14F-4D97-AF65-F5344CB8AC3E}">
        <p14:creationId xmlns:p14="http://schemas.microsoft.com/office/powerpoint/2010/main" val="94415648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401099-C465-4026-9374-CFBB7BC9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38012-823E-4351-A732-9468EE61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7EA16-7AFB-46C1-9D48-C1AD085C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78905-5F6F-4AD1-A3D1-D589F5AE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83F8B-0DFE-4395-A0CA-98FC029F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5B66E-6ECF-42CE-BD18-0546B34D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A4E29-E79D-493F-9F35-16806DF1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CEFCC-109C-4E35-9B67-0CEE5B6C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26501-6EDD-4909-BE33-6024AD8A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424EB-83FD-4061-868B-5F12C461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52400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91990-A9C0-4AAC-BFE9-0F8CB252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智能选股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EC6F2-9742-451E-BC21-CD4C7936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7CEC9-64A2-4190-934E-1BA4D8B3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1E574C-CCD6-460A-9B35-1D4569B0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48D12-2740-42A8-9892-63D27A6E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D44595-0E9E-4CDA-86E6-8B91A67A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F88CD7-6AD1-4346-A2CD-A0549B19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112019-D59E-48A0-9727-D303F889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9CD61C-F64C-4022-8D73-41202EC8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269172-41D3-421C-8860-D0142BCA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2E6547-25AC-4071-9F7C-80891475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029BFE-0293-4F30-ABC2-C9C344DA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930B5B-2D09-47CE-A1FA-A22045B3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829C29-C2D8-487B-A384-353AA4F6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4AC045-B3B0-42C7-BBED-1036E668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C365F1-BFD2-4204-9E3A-CEEBC4EE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AE5D95-5A6A-491D-831D-4ABACE4F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AF1F30-12AF-47E5-B43E-5469FFBA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B24D19-F7D6-46B3-A7A2-08F92C89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40D4C7-6BD2-46B2-8B66-B4E57F58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AA0A61-DE0D-416B-BD8A-39815C24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20994C-834A-4253-940F-897E68C6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7D0003-2ADD-4A4B-8F2D-C00B40CB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DAAA44-6EA5-4A11-BE47-982E1D25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DDD048-A945-4CBF-831D-5FCFAEDE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9FC85E-59B3-4834-B566-890E5E7D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6C1802-117C-454D-B823-51810D84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8D6663-0EF1-45C1-ADE6-81626D1C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AF75AA-953C-4D34-8227-5451D558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28804A-0B3A-45C6-AC49-E2A89265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40863B-1E5A-4219-A9EB-AFBF8927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智能选股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F45962-C390-4C4C-A1E6-54B4CA39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B3C921-01E6-40E2-83B2-17CF04C5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D8D703-B10C-423A-834E-E99BE220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968BBC-CB25-421C-81A0-BDC91BB7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50CE0F-B597-45DA-9916-A2BF106C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54BF72-9532-4075-805F-949967A9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0E2E8F-5371-4B4E-B3FA-17BF2B2F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8FFEB2-3932-4731-98F2-98BE5282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策略入口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AE4E210-410F-470A-B8B6-E0F94205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12 套策略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D7A497-516A-46F2-A3A3-37768127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96AFD8-5348-4EEE-9AA3-0774AC6F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C90E22A-4C8F-4203-B3CB-0C68CBC4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因子筛选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5128317-2B8F-46EC-A6E0-47BFADCB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过滤 / 排序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9FC8D7-30E1-4E2D-9747-8E0E8DE8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788FC64-6877-4E79-A98D-A6821E44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1D68D30-E1AD-4746-99EF-CFA31FB5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候选清单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A11A489-E152-48E1-85B0-90CC0B5E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评分排序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CDA9EE5-DDC8-4636-A7DB-215546C7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CE2574C-A33C-4DC4-8F48-DD120259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328A0F1-9D69-4961-B205-AAD8B2BA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批量动作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2F96C42-EB26-48D5-8AF5-B47D6588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自选 / 下单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CB6D942-8A22-4A5E-886B-B818E359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E4F0467-5D8C-4809-8B8C-E69D4D34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52ADFF2-9305-4206-8418-50E88A13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诊断联动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A2607DF-5098-4719-8325-4BEC1347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批量送诊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05DFC3F-EE08-49F9-80CF-599571AD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E4FFA4E-4640-448D-8AD5-28968390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A39DD11-99D2-4D52-884E-B4FC0A32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智能选股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85BF67F-6D84-465D-AF01-A7EDED92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D4238AF-A3DB-431F-9CA0-DA069C42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04FCA44-4212-411D-8F6E-4BCEAEEA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策略入口 · 因子筛选 · 候选清单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D40E53D-45A5-462B-B9D2-CEF073DE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7D5D2E4-36F3-403C-A9C5-154CE8E6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DAC64CE-66B5-49D8-BBA0-4FF552C4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42 只候选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49C7674-4DC6-4C21-BC5B-D1119B15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4FF6CA9-D3E5-41C7-B1A0-A8B81DE2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4840E40-F370-4DEE-BFA5-F8820DC6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选股服务延迟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8232092-D690-4E6E-8ACB-86322305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17 · 智能选股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59E60C9-600D-4ED9-8CE1-19FB8D32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诊断联动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FFCD6DD-771C-46C2-8954-5F6C18AA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批量送诊 · 原型页内所有卡片、按钮、表格均为 PPT 可编辑对象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9FB16E0-F4BC-4A53-BF2B-409D9422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0E35282-6F1A-4411-9154-D75B3749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2CE5446-377D-4D76-8505-3AC91773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C490FF6-2152-4822-AE26-67570687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智能选股 / 诊断联动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9107F20-789E-4827-83A7-B3C687E7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46A5168-9B43-4823-A5A1-E7BCB805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批量送诊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31F4A8A-9B13-42F4-B8F2-FFD05246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4412266-2089-40B1-BEFC-AE19B50C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候选诊断摘要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28EE15B-37D4-4903-8B05-76AAAAAA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B84976F-1251-4D8B-9234-98D51104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931B9AB-0F5E-4119-B8EE-63C2E10D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D40D7B4-9A45-4541-9002-525007F3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53491D0-4BF1-4233-8A68-30880EFD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4EA94B7-488E-47A6-823B-512278DB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诊断联动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E63B690-E602-401A-9331-E59AFD81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5D7A5E9-1D44-4AF0-B31B-E489AEBD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候选诊断摘要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D7CC1E3-DC68-4055-986C-94098E14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396ADE7-22AC-42ED-922D-041F9651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诊断回写规则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1490261-B06B-4DEF-A091-70C726E3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15E28CC-629E-4CFB-9950-9A6AA760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可观察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223AED0-ABCB-4CE8-980F-88D54B44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D3B780C-7C9A-42C7-A0C6-C1953287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C7DA9BD-8C4C-49A4-9DB3-C3A76029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D8BCE5D-9DFF-446B-A330-039E03A6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选股结果先在本页做轻量诊断，再按需送入“个股诊断”深度页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97E267E-09EC-4756-BD13-820D4BB1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C5A3BDA-BFB7-47F2-92C8-7E49CA1D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需复核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2C884CE-A13D-419D-A71C-C902CB4E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79E4CFE-20C4-45DB-A77E-DD071C9B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可观察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AED9806-C8DC-49A0-A353-3E7B1220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9B7C65F-8314-4306-8936-771E989C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波段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17C665F-54A4-4629-92E7-7E3ABAD6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B474572-63B4-480F-81C9-F6F52725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47DF327-ECF8-453D-A033-50E61901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8E25D98-4DAC-4CF8-A90A-C8FBF15F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16EEB7A-1CEA-475D-8D5D-EF19F815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6FE721E-F10E-402F-AA5D-0FAE62D9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0AFC300-D0BB-4564-832D-AD35633D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选股结果先在本页做轻量诊断，再按需送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90C1150-96CF-4ABB-9F93-622E3D66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B728C3E-B127-4454-9A24-33BC3E2F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批量送诊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DF13C2A-DC03-4062-9D8A-2F05AE2E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341078D-2663-4218-B013-07AC7C0E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需复核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AEC0716-1DF7-45FE-BE6E-C67D2650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51CF22A-09CD-4BD5-A338-B49D34FC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打开个股诊断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B12D5E0-575B-4E68-B737-36B9BC93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441C98E-D7E4-48D0-9C75-D82C2A51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可观察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3DF81BE-FC8C-4B8D-975E-2ED4512E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37AF7AD-B948-4930-A96C-114B8D6B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仅回写风险标签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8D29868-74D9-4A61-8A16-F3746925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511313F-A525-4790-9EEC-33488704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0B9AFCD-F063-481F-8D08-101C1B45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03E2E49-4AC4-4C44-8137-0A0489CE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批量送诊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9D196A2-E30A-428B-91D9-BE715C0C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1E7498A-03CF-47E3-AF0E-08CF0619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打开个股诊断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9847F7D-02C2-49F2-8E2C-46154E09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3010210-9A1B-42AA-8C75-A15E9585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打开个股诊断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2D05737-6AA8-4BD1-841A-AB813E5F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0E9A825-8ECE-4A28-A055-7CDA2C75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仅回写风险标签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DD587F1-41DF-4502-BF75-B595E8B7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14740FB-9217-4E1A-B623-090F10BC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仅回写风险标签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A3BD015-56B6-4AEE-B3F9-724C32C9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BEFA0C2-6847-4C5C-BCA9-A7C6DC0D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保存快照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5F26B4E-7160-420D-8F21-3B5DC160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文件：screener.html#diagnosis-linkage</a:t>
            </a:r>
          </a:p>
        </p:txBody>
      </p:sp>
    </p:spTree>
    <p:extLst>
      <p:ext uri="{BB962C8B-B14F-4D97-AF65-F5344CB8AC3E}">
        <p14:creationId xmlns:p14="http://schemas.microsoft.com/office/powerpoint/2010/main" val="18996737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278E6B-3EF3-4754-8DC5-0288A3FF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CD637-3FFD-493D-8A1B-48876F8D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408AC-9A22-44A3-907A-F9A017F4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50195-966B-4A57-9FD8-9E277F7E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BC847-07E6-4B8E-8292-18625E9E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DC656-EB9E-4992-B4E3-A5336445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71F57-3C2B-458C-8E94-8796550E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B51FD-BFBA-4E97-A8FC-57D98B5C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301405-BC31-4371-85F3-14C3B53B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F3A6A9-D2CA-44A9-9BDB-AA0766B4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D90AD8-C2EA-44C5-8BB4-DA650339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0DC83-223D-4831-9BDA-6365293B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84E43-1609-453D-9261-25C40FF0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F871FD-6526-4526-BF64-BD5EC25E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81927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F9696-1B6D-4C3A-ACA9-1ADB795E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产业链拆解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D6C7FE-908E-42AD-8AFF-8CD50C5F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ED571-DFC5-4CAC-B86B-BE8F6006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EC306E-4225-4ABB-ADCE-70AF8479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21943E-F0C6-47AD-84C3-086646FC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92140A-3A63-411E-91F1-677DF846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925897-7162-45C5-9D3B-E030B68B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47E292-FE8B-45A4-9985-18AE7DDE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E77E08-7DAE-4D41-9CF7-FBEF822A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4360F1-3A66-4FCB-8CB3-C2825855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404A5A-2283-4345-AC95-1C8D9464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A93BDF-6324-46E3-B833-E63AE3EF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B6E244-45F3-42D6-90A0-576D8F7D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CF1D04-75BB-4B52-A89E-F3B85E06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DBF212-D022-4EF6-8367-92F44432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EF379B-4A64-4BFC-AFB0-4AC67833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071696-2648-40A5-B7D7-3ED0CBBD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11C186-EB6C-48EB-928B-4B28CB5A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15B958-91F6-4460-89C1-F4C51F64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F2D0FD-BF5A-40AB-8768-D078BE89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495D2D-83D6-46DE-AF0D-C1ACC6A5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41ABE8-001D-4E90-8543-A1C060BF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47100A-8A57-44FC-82CE-B557AB2B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2995DA-D44C-48C0-A1E0-E9DD03EF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400615-93ED-468B-A3DB-AA9733EF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2184D2-4F82-4475-BF10-F2C401C3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DFCD93-1F18-4667-8407-9EF409E0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产业链拆解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84178D-6CD2-4349-9410-DC726FA7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E6D93F-6C0F-4A10-8418-B9E75DD1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3CF05A-DDA8-4D01-BCBE-DCEB8891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8D2F95-4B43-463B-9CE3-3329546F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5F1788-CCB9-4691-9021-EA539E5D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1D5A7D-AA46-48E9-875E-EA931AE6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E23CE7-1437-4EE6-A7C6-ECA5A3CC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D1D805-402B-4907-BE7E-950FAE51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产业图谱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39F0789-A00A-4DC7-9DCD-F1161B01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上下游关系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C2DC2E-38B5-4DA0-8648-0580AA54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ED5BBD6-9E46-4915-9443-A8565F9E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C81685-6F5A-4AB7-B87C-83CCBB21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链路证据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91EDB67-D7A5-46BF-9BF1-F7715CD2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来源 / 影响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86661C-3C35-4875-ACFA-A4775FB9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E68C56-7776-4249-87B6-6D4886CE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350A3D9-99D8-4BD4-B6AF-02ADEAA7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核心公司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0AB1C4A-0A9D-4E2C-A6D6-0923E658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龙头 / 弹性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4ED5225-1DE5-442C-9EBF-A43D29A5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805E6FB-3F3F-4219-91DB-F11C4614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9D631FB-EB95-486A-9AB0-9B00407C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风险传导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2730A46-B418-4678-BD86-B4155B41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主题退潮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CE117A3-FB6D-425B-9D90-2AB4ED10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536E9D9-44B0-4079-87FB-54AFD9E6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2C8601C-DA94-4471-A440-7E0BDE6A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加入选股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C367E93-DD65-4C37-8B7A-734ABFCE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主题候选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80B0C65-A173-4D37-BDAC-9E0000F5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2CA759A-E22E-41F3-A12E-C61E96F2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EA14A03-9715-4683-895A-7133B621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产业链拆解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47D6810-2887-4514-9B52-BB5A5BBC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E4EE031-1FA7-4071-B2FA-C936DEF3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AF19DE9-4979-4D6E-B8DB-19F20BAA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产业图谱 · 链路证据 · 风险传导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B0E605C-FE66-4FEC-8795-AF709F24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D4499F1-DB3A-499F-8A91-AB265E92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330CF77-B644-4C1F-A878-A981DB88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AI 算力主题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A7CD77D-BA9F-4A90-9047-0CA7D411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5027C39-2C49-481E-BB5F-6078BF1C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263B0BE-0CFA-4114-AB42-3EAD8071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证据链在线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07F7D2B-1F1C-464B-B013-7D8CAA9F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18 · 产业链拆解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824900E-F8C8-4D18-9BE6-9D000F07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产业图谱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7325682-9F96-4106-8F8B-FD1B3B4B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上下游关系 · 原型页内所有卡片、按钮、表格均为 PPT 可编辑对象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9BF0C94-2272-40E7-A63F-24C5857C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153E599-89D9-4C3E-A4F8-A27C9855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E93819E-AD45-4E5C-94BE-072AB54B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E2F65D6-C1D1-4E46-BBF8-064258B2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产业链拆解 / 产业图谱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EC7818E-511B-432C-AB6D-B26E5C16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F4C9D10-7681-47CE-B1BF-E72A5850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上下游关系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2C95E2A-269D-4330-93ED-F6EE7DE4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69936A5-B40C-4C6C-88D1-56F2AD36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id="chain-map"&gt; 上游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664FF5A-6EAE-49CA-91C6-B226810B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0F0FB04-C3B3-4AED-BE6C-C96DF03D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7366B59-89C0-4033-8333-94B2AD84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6E7798B-1425-4BB7-A135-3185C8C8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AC6B5F3-D9FA-417C-BCAE-1822B12C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54EC56B-C0AD-4D4D-9DC7-8A2E9154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产业图谱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698F63D-7C0E-4312-998B-E2E355EA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F91F1A3-2302-4405-B4D1-D286D2C1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id="chain-map"&gt; 上游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97DC0B8-0A23-4A86-9BA8-F6FC2103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0606BCE-9423-4F84-91AF-B2AF394B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固定当前节点 生成主题候选池 保存证据链 &lt;div class="card"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147DB06-E68E-44EC-852F-B61484CA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8BF6C67-417C-4028-8EB5-2E0AEE35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联动结果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F809949-2DC4-4765-89A1-8A5CE14C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8533220-C833-4087-9A27-BF820688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610CEC1-1384-472B-A1AF-D50660E3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043F5F9-EB6A-4E2D-83E3-52B47628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id="chain-map"&gt; 上游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7B0DA01-1A87-4CC8-9878-8B0D43E7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C5C22A8-5498-44F5-92BB-4634A50C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固定当前节点 生成主题候选池 保存证据链 &lt;div class="card"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57F00EF-A092-4011-AE73-304530FD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7C7FB99-008C-4926-8126-978AE013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支持空态 / 加载 / 错误态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932E10C-6F35-408D-9CB4-4EA88DB4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6B8878C-BC83-4590-809A-52DF4346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D60667F-7F70-4D80-8608-1983F923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C63C501-5820-4153-B3EE-C1DB3386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F741A35-B588-4FD4-B886-E334441B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030C685-0506-46B9-B058-39AF7950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2AB59A7-A2BC-4458-9C15-0F97AF76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BC60968-4CE0-4353-B9D9-259E28BB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64F7DEC-26CF-47B8-A3DA-7F88AAAC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id="chain-map"&gt; 上游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C7361DF-F09C-4BC9-B4A2-9081A1B5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5E0C326-3508-4EC2-8D98-2497790A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固定当前节点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B156205-6D82-45D4-84D7-3E349A54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618921E-0015-4EFE-B170-D8BE896D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固定当前节点 生成主题候选池 保存证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D24D611-04E5-46D5-8B6D-432A8F84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AF81D99-13D7-4C53-8436-BCA4E2A4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生成主题候选池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16BB713-39CE-4225-97A0-779460D2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1B169D0-DF46-4121-AB33-47DDBE11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产业图谱样本 3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E0246C6-58DB-47F2-8EDA-09A94EB4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A7D850E-0E9D-4482-A74F-ECE2A22C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保存证据链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D6E87C9-3010-4CF9-9F7A-F3B9D5B4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5CBAF43-B1A5-49AB-913A-16492AC4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D1DC25B-CE14-4A75-B52F-A9293763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25EF83A-30C2-41D5-8074-6434D233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固定当前节点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9DDC253-A66D-4151-9A51-5114B9AF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0D86E5D-6633-48F4-B910-074F33B4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生成主题候选池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30C3FD7-BFBB-4CFB-9A26-F2E4F0A7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08C9E84-8708-4146-8BC6-D8C4EB92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生成主题候选池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CA90A72-923A-4E39-9027-94BF6B32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CDE1883-4261-499D-B25B-E5AB9592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保存证据链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75676F7-74F8-4CCB-9EB8-8108DE7A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7915334-CC5F-4967-85B7-B26CA7BD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保存证据链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7514986-88ED-4869-B5B8-510C9923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A3BB5BE-4E8B-4AD6-8F13-13E0C274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保存快照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688A6B8-8944-4B94-B373-D40E6351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文件：supply-chain.html#chain-map</a:t>
            </a:r>
          </a:p>
        </p:txBody>
      </p:sp>
    </p:spTree>
    <p:extLst>
      <p:ext uri="{BB962C8B-B14F-4D97-AF65-F5344CB8AC3E}">
        <p14:creationId xmlns:p14="http://schemas.microsoft.com/office/powerpoint/2010/main" val="12684715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41555D-8F72-4D42-A087-8EC4C649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CC7A9-60BE-4C71-BACC-47E1AC8D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C6170-8A7D-4E85-9BE2-2ACFFC50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C4758-0FA5-4DFE-A699-94ABAE99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300A3-9DA0-4ADA-865B-4D457F3F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EEF76-5033-4D48-BD08-01F29E0B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951E9-1003-4D85-8E02-DE49CFBE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2F603-B323-47CF-B027-21AFED67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53FA75-070C-49F5-B53F-FEBF7D7F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0FA88-9AD1-47BB-8716-17FD7489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3F89D5-DCDC-4A96-8FB5-A6B5E1D7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8781E-E9B0-4DB2-A843-FCFBD55C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77965B-88A7-4929-9707-8AC10980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06C7E-E629-4A4F-8112-8B63A5AD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81927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145588-1D9C-4C11-B3B3-A91674F6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产业链拆解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73C329-40E8-46BE-B99A-A50F4687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ECFC8D-A73B-436B-8C99-2E8E48C6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D17C81-4D55-476F-A2D4-04007B13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665DB8-F3E8-4E2E-AE75-49CBC6C6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9966EF-1DD9-4B6E-B1B2-898B2D40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A66B9D-6634-4483-98F5-C51F6378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D18F1E-3AB1-4A1A-9A47-5D75CCD3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5A37C9-75A7-48E0-9616-3B0DF1AE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6DED7F-0178-48C8-A731-E1E92F1D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0C7142-4E21-462C-91C9-5DBA4E9C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3C1200-3669-493D-885D-07964635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725EC4-015C-4D3B-9BA6-4579D1E5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905C47-2CD5-40F5-A916-080F9709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F57169-3658-4BBB-9FE1-9B143998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1BEFED-52AA-4637-84E4-28336888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3148C0-6496-41E4-962C-BD6420A3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08CE02-53E9-4708-AE09-FBF15231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5C89A8-8A73-4133-961F-D80C68DA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D15571-A6D0-4111-8AD9-1C173E8D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DF3C79-5218-4331-A1D6-336D9E7D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166D93-4237-4970-948A-5FB13BE0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0FF2B1-9004-4E6D-BA64-D0DF038C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0ABA49-71B7-489C-9A04-3111CDB4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930143-E783-4C07-AE28-A2718534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32AB3B-2BC7-4B6D-BF5C-60FE3A7D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22808F-4109-4C22-B4CF-3ED41229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产业链拆解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BFC481-6E7B-46F8-BE5D-ACD731E0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68FEC5-FB7B-4564-BCB5-05F236E3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2C1F20-E3FC-46B9-BC51-7E09E57E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59F6F1-6125-407D-BF84-528C748B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3984310-95C3-44CB-99F6-06B4C78E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607862-F675-463D-927F-2551908C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77280F-8298-4A2A-B4A5-CFB94E8E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576D6A-69A8-40CE-BE2F-247DB11B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产业图谱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8770F3-087C-4FA8-8A23-AD6FCF10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上下游关系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EBB266E-F995-474A-9B4B-18C7B483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0DD58C7-42D5-476C-8463-BE6D51EC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756475-56FA-449D-84BE-AF732DC7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链路证据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DF88B66-524F-4BD1-A387-BFBDCFF2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来源 / 影响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8CD2A3-3E80-45ED-AAF7-1397F243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9017684-72E3-4FEF-A327-6A449451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894056E-04BA-4F58-A65C-9BD83E01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核心公司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F1B6F10-E84C-460C-8585-2A584667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龙头 / 弹性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D6AF729-BE80-4339-A6E0-B6274EB9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A9B06AF-2B4D-4705-9901-D3A9AFBA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4D84824-1D42-4490-A42F-57FE90DD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风险传导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05C7B4F-D15E-48B4-980E-27B57135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主题退潮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9D40599-CE01-4007-B561-1153E9C5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8D3EEBE-137D-44D4-8CA3-C41F46A3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7AD5A67-A88C-47A6-81D5-E1C59D4E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加入选股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12E68FC-B633-438B-8761-B886D92C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主题候选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8E94F8E-D2CC-47EE-B6C5-B49AAD73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E402E05-B14D-49BD-9F65-60AB9B80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3808E0E-C100-446B-9A5E-90A32DB4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产业链拆解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672C7BD-5723-4E3C-A74B-ECF48067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DD11C12-1D65-4317-9268-3109DDB3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19ABC20-ECB0-41EC-A495-78AF1AAB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产业图谱 · 链路证据 · 风险传导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B0396E6-89FA-4509-B5F5-1A8C8B62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472BA24-F49C-4EC6-82C4-5D862513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B054045-AD78-4013-856F-05CD7778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AI 算力主题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A6549B2-5EFE-4CFB-A8F1-DB977065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586DB08-C8CF-42D1-BA0C-7286E182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21D2971-1B8A-4095-8136-000ECE46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证据链在线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570FD6E-029E-4638-810E-3B08F466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19 · 产业链拆解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A1DED6C-83BA-4C17-9EF8-D7FC0294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链路证据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A27C21F-A78D-4248-905F-109B24CE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来源 / 影响 · 原型页内所有卡片、按钮、表格均为 PPT 可编辑对象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A867FE-FEAA-4E35-9733-A288A85E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0C06D27-615E-4236-AC5C-4E013776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C3F9084-1221-44AF-B367-BD7825C2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1EB7561-4B5C-4F14-8513-DF76736F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产业链拆解 / 链路证据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E38E558-1CCD-467B-AFAB-4443CFC5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B63C82C-6FB2-46F7-8163-09A0BE6A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来源 / 影响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DAA66B7-3E28-40C8-A1CF-F5168E04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36385E9-C4C6-463F-8339-F456F1B8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证据链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B886588-E526-4FBA-81FD-6174D9E8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042A8A3-8778-43F2-A99E-0EE05DEA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8924E62-3540-46BB-8B00-4C932193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8269A41-1AB9-4E7B-BE43-09ADF72B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597FB59-F364-4F35-B576-DACF036C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BF1CFB4-31F5-4C6B-8295-72189AB6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链路证据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AFAC568-45E7-4D3E-8B71-7E78A886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ED02137-A9CD-44C5-B277-EB738775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证据链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8D66515-F3F4-4FA6-B563-38805299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553EC60-D2FD-4617-BE34-1DC33913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年报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978FB2C-83E9-4EE9-ADF0-F828CC52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435BA10-D2C7-41E8-A504-97883D90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调研纪要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B50125E-0954-4AB8-8AA0-A499923A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D40C243-4A74-441C-AFAF-F256F4AC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619B220-8F00-4650-988A-93CA7C50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0BCE54E-E64B-4F65-B34B-AE7304E1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3 条来源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B9D5777-1A38-4C67-9744-EE08769E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0EA00E5-78FC-4760-A986-E1A76CD3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年报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63125A7-4739-4906-BBD1-AEC0E7F7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A7E77A5-303D-4D07-9AD1-0F8AB517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调研纪要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1B808C3-EB84-4468-B3FF-131599F7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B0FE4DF-6BE3-414D-92AF-2378BAC1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推断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1FEF8A0-FA06-439A-9933-47FF3470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710A42C-BAC9-4013-A76F-7BF58BAE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3D51E07-3E57-4B51-A3B3-FC995085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4A5160F-38CC-4A2A-84AC-729C0912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168E91A-846B-47D8-AE02-24C82A87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0EFBFD5-6F36-4FAB-8FFB-41375594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368524F-F167-4D5B-BF86-9656EC66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3 条来源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D4960AE-AC7F-4238-8D05-AB0FD496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43865A8-2B27-4017-B4F1-157C759D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B4D6714-402B-42BE-8656-97B0ECBE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EEC0590-09ED-497D-A94F-4247AFD5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年报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C8816B9-F55A-433A-AFEA-B5F6720B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E6ACA36-4BBC-4E98-9E8D-7756BCE9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导出数据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0E52870-ACDD-4E0C-8170-CA4C2B24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AB732E9-67AD-40AE-9DD8-BC8818B3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调研纪要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8206208-7496-4D9D-9DBF-25812237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0712DDB-BEF5-42A0-A815-F5D28CD9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刷新状态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B3E4FCD-47CC-4EF4-9729-B8FD2D22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E5DFE6F-5FF7-49E7-8517-283E52E2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1BDC0C8-26A6-4077-B5EC-0B724F0A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4ED5C70-B0C0-4E90-99F8-55D7FE83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保存快照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9A6B4CA-0934-45A6-A621-3CEA555A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4347B82-D101-4809-B9BF-31F17EF7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31667C3-E7B3-4CC4-A6DA-553666DF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8509692-39B4-477B-8107-E5CB88AA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15FF4A4-33A4-443D-AD13-5899AB30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D4FD440-94C5-42B3-AF1B-67082863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刷新状态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7060457-4DAF-4CE9-9518-6EB4D22C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F7C3308-DA1E-46E2-90CA-0FD15B4E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刷新状态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F4E6FED-A80A-4D6B-8156-D132FCEB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46DAC4E-787F-440C-984D-4417D270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写入审计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E9B3008-1FEF-4A40-9A0F-0A208B54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文件：supply-chain.html#risk-spread</a:t>
            </a:r>
          </a:p>
        </p:txBody>
      </p:sp>
    </p:spTree>
    <p:extLst>
      <p:ext uri="{BB962C8B-B14F-4D97-AF65-F5344CB8AC3E}">
        <p14:creationId xmlns:p14="http://schemas.microsoft.com/office/powerpoint/2010/main" val="96398797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DABFAB-0A9F-43C4-B60E-22B6C878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8C61D-940E-4386-99CF-A2134067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4049C-1C3C-413B-A770-B31F6E0B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54A96-32BB-4AA1-9FF2-670812A1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6EB9D-7C86-43B3-98F5-15A29CCE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CC702-1E44-4774-BDE7-CF762FDF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D1D4D-8A24-4F5C-B6B6-AD56FD76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6F7FF-1141-4AAE-A2A0-A5CDFADB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EBD31-BF7C-4A0F-82B2-7A0F033C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875DA-D2C9-4D0A-8AE8-8FD02C6E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FCEEB-440C-4E12-A0B1-18D7C3A0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E0245-1DEE-4D30-9405-02BEBEAD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59D5D4-8E25-4A18-B9E1-3B5B8370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31EFD-6C43-42AF-A91B-F7164808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81927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B8AF51-5137-4E04-AB91-8542D915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产业链拆解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B2298-8943-4CA8-B00F-FADAC0C8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3D65B-02ED-47F6-B6E4-57E0B327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20E9A7-2C40-4BFE-A1E2-88461754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DA53AB-13E0-4902-84B9-EEBE686B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0634A1-2217-4570-8C23-5C804D69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DA9311-388C-4B64-ADA3-CC99ED54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799CDF-6855-42C5-A757-2E87ACDD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370188-240C-4934-8663-047A1FEC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641279-D1C7-46CC-9C97-9EB3FB3E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026973-3088-4807-91FC-CFAA2CB1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9F5530-4FE4-4211-B7DF-6635CDDD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13FF2C-C5D4-462F-9FEC-F835841E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0778D3-68DB-40CA-8D3C-4921EA10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3304AE-BCBC-41DC-B425-24112A64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3847E1-7D76-4C2E-A451-6EDFC4BA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EDDCD8-FBF5-4518-9ECB-859ADACC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EF5336-6923-4D62-A375-A4FC7527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53A779-5C36-4AF9-8F42-AD94C1C5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D71FEA-5B10-4059-8A29-6C41D9B7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B1EC44-F71E-4A0D-8E45-DE943DAE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82076F-C5F8-47EB-8C68-7F62E635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535C6A-1023-4C6C-9B2C-5B398B21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B3EF0E-05C8-470B-967B-403C8268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405D29-015A-4386-99CF-7D458ADB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894877-EFBD-4C55-9769-997E1E0E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4AAFE2-EF33-41EE-86B9-FC7131DB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产业链拆解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FEEEA1-335B-4C0F-9836-281857F3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AAA0B1-D139-4828-B49F-3C468176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984F85-926B-4F11-AEF0-E9774FDC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E985D7-6BB1-4B7C-A4FA-021E8D0D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6AE052-0E7F-4A1C-BCAB-A325CC35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972AF4-97F2-44E6-B5AE-9A60E4BC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3951CD-344D-4714-A279-CCF49A6F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4CE5B15-9E5C-435E-B993-6B8692FC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产业图谱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7E8CFE-0F65-458E-8E26-53A125AF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上下游关系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18AC62-18A7-4299-B4C1-81543313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1DEFEFD-F12A-4D89-B3F8-E41F81DB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3E97CA8-5D8F-45C5-858D-A56CBDE6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链路证据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73BE516-18D9-403F-B2D0-6602261D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来源 / 影响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6A716CA-33D0-4F02-B429-AFC8E60C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FA141FD-C864-4DB6-9834-CE58B3BC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4A8479D-15BE-4190-A81B-4E8ACE33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核心公司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2FBF1F-A35C-4E5F-BA2B-BAAF6C3C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龙头 / 弹性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EDB9151-BC54-457E-A5D6-487FDA8A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A2E9413-134F-4FB0-9D37-232BB61D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A2558C7-BC86-40AE-B72A-D3358E11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风险传导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5F07B00-D203-4D06-B733-824C1FF4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主题退潮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E7DE377-F85E-4BEB-8CE8-2FD8822A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A6F3D00-6E5E-4CA2-8983-34AFF735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E12BA62-688E-460A-9760-1D8405DF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加入选股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AE7E3C5-F47B-438B-9973-8ED7EFE7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主题候选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E184A99-F298-4817-A125-C177C718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21A7978-FDDB-403B-98CA-7437660C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8B68D39-80A0-4DA5-8AAF-B1E83812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产业链拆解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BEBB613-27AA-4CEF-9E87-7068337D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AEBFA1E-0EB7-4B55-B59A-A94F852A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D8B85CD-A344-43C7-B266-19D6C496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产业图谱 · 链路证据 · 风险传导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1D5D56A-9314-4788-AAF6-55C0E867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326C6E8-6394-4E07-819A-CE2286DC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887138D-38A4-4EEF-934C-A2D2E3EB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AI 算力主题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8802BD2-EA54-419E-9DB6-7506D831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71DFB32-A085-46CB-BB8C-D2B413F7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F67A093-11D1-40A1-BC9E-99EDE062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证据链在线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2130465-2AD8-4A79-8CEB-5D583DA7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20 · 产业链拆解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F4206F6-FA7C-409E-BC53-D05FA7A1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核心公司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13050C1-7BFA-49FA-9004-0CBCB122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龙头 / 弹性 · 原型页内所有卡片、按钮、表格均为 PPT 可编辑对象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C0423DD-DB51-4E49-9692-5EA176D6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F49F483-DA69-4F08-B401-2E2A386D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8EDF9A3-FB5E-495E-9A3C-1F09711B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49C39F5-258D-4B16-86B2-5B7800C9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产业链拆解 / 核心公司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E891814-EB61-4DB7-97FA-A6A642F9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6E23761-1F80-47E6-AE7B-706FBB15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龙头 / 弹性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45D053D-501E-4467-BCB1-F73DC797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B667C27-6CDF-4302-A615-85F947AB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中际旭创 · 节点详情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07F379F-6DAD-4296-90CB-F3211048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EDCA4AF-1052-4D0A-85B5-57127E43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1449E44-C534-429B-99FA-DC515453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8C17547-38E9-40FF-B1AA-05AB8FC2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2F5F08F-7232-4555-B378-0FCE359A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2C43F5E-8316-44F8-9E28-44C73DC0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核心公司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250D1F6-426E-4680-8698-B5ECD8CA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35983DD-AE9C-4D01-9B54-E62D39AD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中际旭创 · 节点详情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331D095-20A4-48CB-9DE8-46216C3F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1DC5605-8884-4798-BEC9-A16941BC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通信设备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54D8C7B-8602-4A54-88F2-7F45AE1F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BB2168F-403B-4F72-B651-695FEE23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市值 1,842 亿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3ECF5D6-5AC8-4587-ABE8-2E02F724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081844D-1DAA-45A1-9262-85747462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4A2ABED-44C9-45F1-A140-EDE0A7A0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E0A4006-D167-44B0-827A-345A88E8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核心受益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F98CEF9-F38F-4ED7-B746-047CB943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65CEC71-A8EF-452C-B9A6-B372F38C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通信设备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D04F827-A5EB-4638-AC03-1ED651F9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BD4A9CD-9DC5-4A30-844B-DE9CA390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市值 1,842 亿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8763291-62F7-49E2-9803-12932046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3494CD4-ED33-4000-990C-6D49DBE0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id="leader-board"&gt; 中际旭创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D9C2FE2-CB2C-4D71-85BD-967BFDDB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5BC7FF4-6A34-47A3-87CC-F23A2CA7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A1476BB-B002-40F9-81C0-1E717C98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E7EF742-EE8D-4E73-A299-EC2ECCB6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435B259-D0C5-4BD2-8D17-B6CB3EAE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EA784AB-E681-43BA-9467-AF6D8A51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37DF78B-FD96-4A41-96C1-ECF3851F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核心受益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CAFD172-DD20-4FB4-A5E3-C9688D50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443E352-13A8-4AEC-9366-0FDC30E6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查看个股诊断 →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5630CF3-3EAA-4790-95F0-E428886B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46862CA-2161-42FB-ACD2-5CE40687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通信设备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B7D3AB7-829C-4FAB-BDA0-57BDF15C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59F4588-55AA-4908-8ABA-8402412D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3E2F80D-5261-49E2-AC11-A1BDE3D6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EEB39E8-EF9F-45B1-9358-B0332D91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市值 1,842 亿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843825A-F72B-48DD-B0F7-487F3154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841A7E4-87BC-4B2D-A0D0-E4A0E443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导出数据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B509CD8-3A8E-460B-A1E6-3C666232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4D6291D-9AF0-4025-9167-D7E42226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EDDA7B0-9A5A-43DB-A74D-D309044D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3E2FAA4-D384-48A5-833C-BFF98D02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查看个股诊断 →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0BABC75-431F-46E2-94AD-BCC3B198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8AABCCC-AE95-4C96-A9A8-55D219BD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26A67A3-2D99-40C8-8C29-2FC469B9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87B17FF-3CC8-41F9-8817-E28C2CF2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BC1A08F-DB15-47CA-8C40-DCB9052F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47A5E86-9F6E-462C-BF0C-4E219E1A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E62A799-2960-4D16-8F5E-46FB67A1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493BE13-123D-4FBF-B5C6-A621B37D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CDAF2D0-B190-46A0-A6E9-B221122E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F6E41FC-7738-4D41-9A64-18E6A829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刷新状态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995E754-C752-451B-91E0-4B6B4DDB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文件：supply-chain.html#leader-board</a:t>
            </a:r>
          </a:p>
        </p:txBody>
      </p:sp>
    </p:spTree>
    <p:extLst>
      <p:ext uri="{BB962C8B-B14F-4D97-AF65-F5344CB8AC3E}">
        <p14:creationId xmlns:p14="http://schemas.microsoft.com/office/powerpoint/2010/main" val="14858934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B36E9E-108E-471F-A6CD-8A6DE044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BF00B-22E8-42C4-8594-92DEB84B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4E142-09FF-49F0-A062-A479E43C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F2D27-9A79-445C-99DA-2413FCA3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44165-AEAF-4C7E-9732-97D0F654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7DDD7-97D5-438C-98A0-997D1A42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60F94-3589-4BE4-B5D2-F1A7947C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E3BF9-6767-4895-947E-0A0DB4CE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7BEA1-9FCD-45AC-9728-46D6B40C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77B4BA-6F2D-4F63-9D26-BEB1401C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23CEDC-5E6B-49C8-BD6F-9F9A6901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BC74A-0F0C-4B0B-9BDC-7F2C7408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3D03C-A724-4917-8CCB-685A8CD0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28E465-D4D8-43C1-9833-B9915BE7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81927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463C31-0FC0-4F79-968D-5CBAFF7C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产业链拆解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BD74A3-645C-4841-B8EE-BD2D36A2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04741F-816A-45FE-9702-6FC324FC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D16CAA-3025-45F4-9B89-EBA30159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61CD7E-12B0-4CE2-9B15-9BD5FA00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ED4418-C103-4E45-B4CF-89F09BEF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E016BB-BE28-4CBF-A6BE-FE6BA8EA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C39B1A-0750-4F06-927D-B933B364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38D81A-23DF-4FBD-9987-399176AE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96B533-6078-47A1-A32A-104C1EAF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108CF3-F507-444A-A381-F55CADED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70FDFA-E46D-4A70-9445-38C54349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AFD909-9CB0-44B9-970E-17B3E792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F93B8D-D2BA-437C-B9AA-9B8BDE05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57F0B0-BC81-4413-B5A3-CFCBD4F7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1F9DBF-50CA-4421-810A-E24A858E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4BDB7E-548B-4166-911A-CF42E3CF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78F013-E1AC-421C-BA8B-05FEBC60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961CFC-6899-4010-BC3C-FECF2546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E5A4BB-101D-4D60-8716-CC3A5EBE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35BE75-E4C9-4FD6-AE67-419EA902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6EE559-403A-435E-9BB7-B78E70E0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9E4882-66AC-4703-9625-915C2C84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596A25-2277-427C-A61E-7D1E83CD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FB7866-F542-46AD-BA32-164B6D1A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BFD159-DB26-42A9-B702-FDDF4915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D8B3E1-FF0A-4715-B709-29F1587D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产业链拆解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578532-469A-40F5-A704-1427EE03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EA0F56-C349-4162-A884-D433BBBE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AC9CE4-EC4D-4832-BE64-87AA0437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79B523-B8CC-4970-82DF-566216B4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EE9C4C-E696-448C-B1A9-BF053F11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D96942-CDA5-4E4F-82B0-CF3A381E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689658-80CC-457C-88B8-615152AB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10070A2-42A7-4955-A565-C8FAB9A7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产业图谱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73DF47A-38FE-4DC8-BF3D-6620FC0F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上下游关系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C43AA3B-9137-4556-9BA8-E9F37593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3140A5-AAD1-4F89-8EDE-E9ED3165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AC913BD-8105-4A12-A3AB-0F26870F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链路证据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8484BF0-FB4C-49F4-89C9-A505493D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来源 / 影响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7363136-A1F5-4774-902B-A2D5935B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B4ED93D-3CA4-48EA-97DB-535E3F22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45962B2-51AA-4420-8BC4-69792ABF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核心公司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76FCBBB-9E42-4286-9075-23213506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龙头 / 弹性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CC0C666-CE93-45C9-B8A4-A4EE65B6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5D76474-00FA-4F75-84C6-5F5BF5F3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E09A1E1-0F7D-42AB-968B-FB0B6374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风险传导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6ED9B7C-640B-4C59-903E-A2DD8C86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主题退潮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B496733-90CF-4D36-976E-1B34845D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75B5993-1B19-4BFC-B3C2-2ED14F73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3CC1F8E-9770-4FFC-88D2-8D209ABE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加入选股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9F8FD9D-CDC7-4C36-A881-5A2B5D1B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主题候选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5C1A051-8A4C-48A0-84F6-EF098F6B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96BF3D4-195D-4F38-B478-1ED8353F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A9545B5-B482-44B2-881B-142E2D14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产业链拆解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C607788-97E9-43D4-B18C-CF8CA90C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6B0C8D5-5F2F-4759-A811-24FB353C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0CC230F-70A9-44C0-BCE2-DC43B22E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产业图谱 · 链路证据 · 风险传导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5AD0344-916D-45DD-89D3-6B571C01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AACA58A-E025-4469-9E54-A78D0B5C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FB9F9F7-1776-47AE-92BB-8A6521BD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AI 算力主题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A1F4BC3-8785-43B0-8A5C-D1872628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0B53B67-18DC-4E0B-B311-CFDA820E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3F207EA-042C-4E12-A33A-D95749B8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证据链在线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5FF71E8-5271-4A3C-A0DE-57B53093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21 · 产业链拆解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D836949-76F2-4F89-B681-2952EC19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风险传导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2FEC8E7-895D-46A6-92FC-56F50A75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主题退潮 · 原型页内所有卡片、按钮、表格均为 PPT 可编辑对象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2A71F6F-EDB1-4B3E-8DAA-344216D5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B9117CE-F1FA-4D1C-9023-C35C6202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2E81E0B-D887-44CB-B3B7-F0CECF2D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3ED4D87-9A97-45B0-A74F-39452B7E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产业链拆解 / 风险传导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CC8D744-FBFB-4318-AF82-85B0682D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E40D181-AFFA-402D-BC04-63F3F2CD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主题退潮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5D38BC2-7268-402D-AB7A-70898D2C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1C8BBF1-9BB5-47BA-8F46-A0AB0667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证据链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DC9A3FF-5D77-4BAC-842D-E2C4C9F8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2783E31-D902-4D07-A361-2731B5D3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96FAA30-26F2-4BF5-BBC4-4A0124DE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CE27B39-F226-44C9-8B7E-97AF304E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7B5EB5A-7AD8-483B-8FBC-73E23592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815ED9E-B25D-496D-91D6-6DFDD10A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风险传导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F531E9F-DEC5-4BD4-8DE8-866194E3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F101ACB-258D-4048-B0F3-AFDF10D2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证据链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B047DF3-C034-4DC8-B422-C5D43785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A363B9D-00FA-4953-854A-A1F91774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年报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293D1AB-F8AB-4B91-A113-84406368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9A382B7-B9C0-48C0-910C-0BED7906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调研纪要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48F0FA2-FE7B-4010-83CE-EB64827B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4B2933E-1B18-47A9-A234-5F4C3EF4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314DD1F-6F58-466A-AC35-C7BC9B73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B35E035-C2B5-4906-A1E9-7D83F105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3 条来源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43FC1C6-5195-4E90-A7A4-22B8D8E2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4730EAC-BD7A-41C7-BBA4-9A2278DB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年报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D44474A-2E2B-4A79-A668-221620C6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34074AF-A43A-4E1B-BE96-91668D74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调研纪要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5759FBD-C3DB-4023-AC0B-425E87D2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2503431-D10D-4169-9E0D-7CF08AF9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推断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87E81F5-620E-4F52-ADC5-2E3DD3D6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06C8B58-372F-4E94-AE51-DD6B09FA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E957D27-2537-4B6D-83C0-C2C6AF93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1C8BE07-9549-4E6C-8ABD-024A05FF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71B2CE9-9D66-4CD9-B63C-DB53CD15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3CF52FD-3D6A-4F66-AE5E-137E87F9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0A6964E-6A63-49A2-9F85-6A2D94D8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3 条来源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E56F653-39D6-4E6F-AD8C-365D981A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E07BDD2-91F4-46D9-A690-BED95368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提交复核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C915415-75BC-4D46-A5AF-A9868B45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36309A8-F180-49AB-AFFF-AB16F753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年报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D093359-A937-4EE6-B13A-CEDF19D4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A7AC286-7507-47E8-A12F-D93FC677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导出证据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2C348B1-297D-4545-9577-048ACC4B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B24452C-3AC4-44C3-BD72-70C7C7D5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调研纪要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B00F0F1-E7EE-43DF-9077-6B3E4877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E817E77-3359-4172-9061-DF2A6B30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重新检测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64E617B-A193-4063-B38E-D023FE5A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4D5A82A-AF8A-4CA6-A175-DD91087A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D19AEAF-58D8-41EC-B585-99D0147E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E7BEE8A-885F-47CD-852A-F3218ACA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提交复核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B9C2700-7EE2-4D57-9D80-66C05F16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31E2527-903F-4340-97CA-14D7A4DC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导出证据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175D343-0CD9-4586-BAA5-AFDEC2E4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1E6984E-5AE7-4E12-8A04-B33E61C2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导出证据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980E5ED-035F-4A3E-A6FF-8E8870F1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972ADAB-4F82-4E71-85F8-66FBB679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重新检测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53D44C7-8A80-4139-B86F-B490EBCA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BB1402D-4713-4FDA-ABFF-94BDE167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重新检测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4A6A355-F1AD-41B2-9701-08CB3A4C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01F0670-BBB0-4547-B396-8C23514C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写入审计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4603F96D-8BE2-4B04-974E-C052CD95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文件：supply-chain.html#risk-spread</a:t>
            </a:r>
          </a:p>
        </p:txBody>
      </p:sp>
    </p:spTree>
    <p:extLst>
      <p:ext uri="{BB962C8B-B14F-4D97-AF65-F5344CB8AC3E}">
        <p14:creationId xmlns:p14="http://schemas.microsoft.com/office/powerpoint/2010/main" val="97001233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45AE75-407D-44FF-A681-9ADA56C5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32A8E-F57D-4FAE-BBE9-825BCA5E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E0553-3B04-42C7-877A-DC91EC31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A0771-4C19-45DD-B9F3-EA30D19A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10814-F86D-4B59-80F5-7B80E5DA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9FB0D-CEDC-4270-B152-22B2FB54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D545D-B25E-4F14-B29F-6DDE9B9C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82705-954E-41E9-85B6-A20985B8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8F5BC-2787-455C-AF34-FCD1012A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DFF20-D03C-4783-BEF5-74913502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6DA9A-A15E-41CD-8498-E2CE0ADC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85ACDE-823E-44BE-B1CB-58D28DB1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4B3021-AA87-4BA6-9902-7A2447FB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3140F0-2F2E-4D27-B7CF-C8AB778E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81927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F3FA1C-5796-4E8F-AFE3-B935AD4C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产业链拆解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73BC1-FDD3-4664-9B07-64531299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E90903-1A73-4DE2-957A-6CF15FD0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C6B783-517A-4CA7-920D-95BEAE86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58462E-5759-4861-9CAD-94D728EA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B169B7-F1A5-46CA-9FCF-1AB61B40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2D0588-5173-4966-89AD-E3B34FC5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F33DC3-D5A2-416D-9307-18B3BF16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FC2534-16FE-400B-9149-FD47305D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0DD31B-8C19-440A-BCF7-FD5D6D6A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C30B38-B414-4299-855D-DEAF790E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7F0B5E-CD44-415E-8486-667490BB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C3DA9A-0FBE-4A45-AA94-02C37EE9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BEAF65-ACDF-485C-A894-B64A8A8F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4BC2FA-A2DD-4871-8FD3-1275AF1C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00EA2F-B4EB-45B6-B0A1-7FCE5921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A726E6-F0FB-4416-A6C5-2E13D74B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16036B-0A18-49BB-B039-EE49C37E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871E9D-E1C5-4176-BD45-507FD2BE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C1498F-E875-4F8B-9E66-A648EE4C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A3BC3E-0B05-42D8-AFC8-D32D1C6A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032A92-18B3-4DC1-A256-352F32FF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321392-2935-489A-BC4B-345FB105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B01163-1494-4815-83C7-A6ACBFF7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9145EF-E8ED-429C-B4E3-2AA1B6A6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E1A336-6607-4F06-85B3-D07F3A2F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377D04-134F-4732-B7DF-F6EB0526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产业链拆解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0DFEB5-98A8-4755-89A0-708BBE74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33DCF1-06E4-49B8-A188-299DEC0D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62CC00-9A97-48D5-B7A6-1EBE30AC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A8B21B-E0FB-4E0A-857C-DFA72614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6D1266B-DDB0-41E7-B704-DA772C4B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0979F1-9BE0-4D39-B388-5517C777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891B2A-A146-4F81-95DE-FCD2CC18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5D2AB7-6321-4AF3-ADCA-9C7E7FE0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产业图谱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1883186-0732-49D2-A868-C51A828F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上下游关系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76B17D-9842-48A5-8910-F468FA08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E31E2C7-9724-47C1-890B-28496D3E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C4B98CE-C55A-497F-90DA-66DD23B6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链路证据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C1FFAA-5710-4BFB-AEFB-170F42AA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来源 / 影响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6802364-DBC8-4CEE-8AF3-8F1D2A76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805E657-EB2A-40F9-A5A8-84DFDD60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CFFE81B-675A-4FC6-8F07-647F5A1B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核心公司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5DDE800-1750-473C-ADB8-E2E41CC1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龙头 / 弹性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5972276-B76F-4971-A8B9-2EE05477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F403503-C946-4619-9D74-A7289B5D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277924D-6A2A-454A-84FC-8CF84A4C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风险传导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3CB2BBE-2591-4CBD-A330-ACD82079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主题退潮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8D56DBB-6D8D-4992-8506-2AB9F38D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A2EF2A0-5EDB-4FA0-B4C5-4EF07444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BB990B3-C1F6-407D-9CB6-3CBC0EE9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加入选股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2FE579D-2C8A-4C8D-BDFD-6B3830ED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主题候选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54BCD4D-8013-47CA-82DE-B65E7933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8DD351A-D1CA-4220-B440-2F95EE6D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D7B7DCC-D5D6-45A8-8E1E-D3947CD4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产业链拆解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DAB0EDA-D245-4BFC-B2D7-7965F4F7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051D851-7FF1-4A8F-9107-D31FD2D8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E4506A9-D793-4BBE-BDAE-773E5FFE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产业图谱 · 链路证据 · 风险传导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19CC4BB-9593-49BB-B35B-C55E4FF6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B2D86EB-492B-4501-8450-8C1640A2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1849767-6FE0-4914-99B7-A3CD3807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AI 算力主题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B862B83-D21A-4938-9DAA-BFA1AD9D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D5D9A38-749B-4F51-8E23-2A217A5A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7C94B2B-3E85-4EBF-A170-4A0C4360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证据链在线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32D3ED1-39F3-415E-A88A-FA5C65D6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22 · 产业链拆解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7361B98-B0D1-43A3-88FD-F3DB8DAA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加入选股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61EB369-4B62-4406-907F-B665DB96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主题候选 · 原型页内所有卡片、按钮、表格均为 PPT 可编辑对象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9BA8E3E-6E0B-4BD6-89E4-164F1237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1F3F0AF-E869-4152-B153-B68D7254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069B21F-EDD6-454A-87FE-D5BB32E5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2BE2346-6A31-4579-8D0D-9983ED6B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产业链拆解 / 加入选股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33FC980-F368-4E71-A002-EA392DE6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E4563C8-5EEE-4537-9978-DAE730D9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主题候选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150CF50-DF39-4A31-A98B-ECDFE4ED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270AC96-BD4F-4A12-A843-CAE065F1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承载本页签核心数据判断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FB54D81-8769-4291-A6A3-D5659E41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54B94B2-FFE6-4522-B60F-A6F09A27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A3B6335-3B0A-4B41-A282-BB37BDCF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BA9A4EA-22E3-464D-BA56-439709FA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CD07C3F-5FF9-45F8-A346-1F876D9A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A089A4C-7D72-4522-9DB4-1E040745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加入选股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F339ECE-0E77-4045-BD58-F8BFCA0B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A230BF8-CF62-459D-82A9-DD30CEA2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产业链主题先沉淀为本页候选池，再由明确动作推送到智能选股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FE9A17F-5F66-489E-9E74-A8FD14B6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44EDC95-A169-4C73-9669-5F2E8D23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算力 / 光模块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3F9A656-7E86-43B4-9235-2B3322F0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7F69D85-DF06-4D08-8CA2-8348F65E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中际旭创 · 工业富联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DCC9047-F40C-4B39-A044-3405A1EA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107EBD8-B125-4636-A85E-4942ED26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46474A6-ADE5-494B-9497-2357679E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DCCAC9B-9E81-4D3F-A716-D6017830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产业链主题先沉淀为本页候选池，再由明确动作推送到智能选股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6931EC3-DBB6-4763-AB6E-40E89A04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C41AEA5-C3B5-4864-AE31-34E39554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算力 / 光模块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5367951-5BEC-49BB-91B5-47F1AB25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F732A9D-203F-47CD-9C8D-E093D7D4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中际旭创 · 工业富联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5385CDA-6846-41C8-8459-A963A3CF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51E1A19-62A1-46F9-9B4F-BDD7689E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二线供应链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793C30B-98E7-4701-9429-FDE8A0A0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AFF7B53-CBD1-4A66-8376-66F1A5E2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C921BFB-4BB2-45F2-8D6C-006433D7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30A4C2C-2BA2-4710-B02C-23BFD40D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CC5DE51-C0DE-4DBF-B7E0-87A6B735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8458FAD-73CB-4842-9C3B-24A3D93D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5936A7A-D855-4C29-A79A-C4D294E4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产业链主题先沉淀为本页候选池，再由明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B569D9F-87F2-432C-B02B-D4E164A4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6A398BE-5775-40B8-A18F-08B8337A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生成主题选股池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688E8C3-948B-4677-8F29-E3034690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E5F183F-3EBC-4BCD-9422-E4F9DCF2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AI 算力 / 光模块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AA09959-03D9-4EA8-9DEF-E691F9F1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E55149D-02C0-4944-9305-801A311C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打开智能选股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8692504-CC38-429C-8D8F-4CA65548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F07E632-9713-4664-BF7F-65A3762B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中际旭创 · 工业富联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6C642FB-8E2F-42D5-A09C-439D4EFC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9B6FE84-62B8-4271-8F47-7C90A46F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仅保存产业链名单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4DABF35-8464-42E5-A399-A27A5D7A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0D760C2-CB56-448C-A237-1D83A563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154017C-C274-4F42-AF0C-FA50A366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4DCDD53-963F-4F5E-85C7-B116076A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生成主题选股池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FA6FB61-9700-4B21-922D-47015AA6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8BDE91A-CD97-4DDE-BDED-13028999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打开智能选股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78A023E-3995-473E-BED5-E71CCDF4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4CF9A1A-93CF-4B7E-8D99-6F2262B3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打开智能选股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5D04BB3-17DA-4077-A966-09E282F2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013FB93-4DB6-465D-B9FE-63805D39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仅保存产业链名单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E66E8BB-1B1A-43E9-8329-0FA6F4A0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C59DB1A-31BD-46EB-9D70-22D72EDA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仅保存产业链名单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80A2C57-869C-48D1-AE71-EB7F6E22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52A936B-AD5D-4086-A155-CEF9D966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加入自选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F7C65AF-FDAF-49E0-AE1E-00AFF880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文件：supply-chain.html#screener-bridge</a:t>
            </a:r>
          </a:p>
        </p:txBody>
      </p:sp>
    </p:spTree>
    <p:extLst>
      <p:ext uri="{BB962C8B-B14F-4D97-AF65-F5344CB8AC3E}">
        <p14:creationId xmlns:p14="http://schemas.microsoft.com/office/powerpoint/2010/main" val="20432458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3E262A-EBB1-42DF-A757-F6A35AFA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D541D-F8BA-470D-89B2-91C1E1B6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D55D3-A0C4-4422-83DC-C5B12ED8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893D7-EA14-47AF-84F6-414AA28F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0A725-C12D-4127-AFF1-607EA90B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4163A-F1CD-4BC2-9E11-B23BB324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CFAF5-C5C9-41AB-8F85-494B7F46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B127C-A34C-42B6-81D0-1CBE2A52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603DC-2974-4A03-A1D9-819E2841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F2DD6-A615-48B1-AA50-E0FA8E4E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9540D-90C5-49F9-A3B1-B44BC534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81B82-F637-40A0-A907-2A1AB66A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868E2-2C2B-45AD-8EAC-DAD03F64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D34AC-7178-48B3-859B-6846CBAD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C97A73-5AB6-4B9E-B843-0CC23E6F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23D73-5CF0-425C-BE64-A904ECAE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11455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352AC8-7914-4B0F-B5DA-9DA75723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K线预测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555A2F-6B3C-434E-B161-DA22F2AB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627846-0FDC-446C-A1DD-428D8997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E4135A-C36E-4FE7-BF15-9F16F597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7B9C81-5C5C-4848-98E1-F6AD5492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983DCB-432B-4122-B68E-2446AD9A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BD5A44-EAC0-4FFC-9FD0-A8CCF9AA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5C178F-28A3-40F2-80D7-BFC7D583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7CD118-65AB-44E6-83BB-97E3AD31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902541-23C0-43A5-AD60-2A5E43CC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D0F3A4-18F8-4CC3-AF9D-290DC6B1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A946F3-4DDD-43EB-8281-5C539BE1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FEF18D-63F6-40B5-8CA5-59E6CCA4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CFEF3C-7E2C-4219-9BA1-9FD258D9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994D15-8455-4A81-86BD-07BEBF17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6E5C52-D097-4EC5-8D0C-B226B959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EB7D19-DABE-4DFE-88C8-0167CC3D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56D61C-1297-4BFF-A572-8E9D5D9A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FEA803-5328-4C2D-A1D4-5DAF762B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281E02-B6C7-49C1-8C10-5DA69180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E51E59-76DC-4A02-9C28-9554970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506197-E8B8-4330-BC87-2D91F244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5ADA53-4E1E-450F-8E79-D1DAB1EF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E8D5DC-167C-4453-83DD-32C214DA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CDA179-7CBA-4E21-B9C8-5527BF65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K线预测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D63353-2AF0-492A-9D06-D1325950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772474-F4F7-4156-8786-41D7B939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FF8233-0744-461F-B3B0-B4471C3D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C41FE4-A165-46DC-A252-A8053B7E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75FBA7-7F2E-4C94-AD87-C9D8F9B0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06FB021-7CD5-4E71-AD3F-16BB51FA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72B057-4BA3-4B16-BCE6-32B2D02A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1814A6-974B-4B40-A889-06374648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标的选择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95FC65-6E30-4575-AA2F-CB79C3A1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股票 / 模型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D55E62C-46CA-4874-980B-714929DD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ADBFCF-FA6C-42EA-8D95-D36164ED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4E3C2FC-4D0B-4227-AF37-CB85D7D0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K线走势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58BEB2-0D55-4092-9160-4E9ABF34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历史 / 预测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3F20307-DB34-4623-97AC-1DF739F9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DE067CC-89A0-43E7-BE1A-AE406DA4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DA13BF9-4AC6-4A95-B144-098B4375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概率路径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AC403C-C5E7-41A4-BDCC-E50C4664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30 日区间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2B0B8E8-D448-4E70-B68D-AA180A53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D80813F-5A8F-40DF-BDAA-6B40A76C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099F9CF-2684-47F0-9532-56432AFF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关键价位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AAAAD81-31E8-4910-8A4A-F20D1756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支撑 / 阻力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D3923FE-4D7D-4668-A497-33EAB940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EBFBE5-2E49-442E-BD5E-D1B73EC9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AE9B87D-82EB-46FD-AA68-A96A3ACB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生成信号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5DADCF6-D70D-4876-9704-39857A5C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执行触发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D0C9A74-F623-4ABF-BF41-94DE95D3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50E9D2D-9C86-479D-B5D1-CAA7BBE1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B5DA0A2-9167-45DA-AD35-86046B81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K线预测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8E19E9E-82D9-41B7-BC90-7716BA2F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F4B9ADF-6675-4BFD-A04D-B0D6F5FD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EC84E5C-D551-40E6-BD63-7BC888F4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标的选择 · K线走势 · 概率路径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744FE30-E8AB-4ABE-86EF-02462CBB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F1D5431-6991-46D1-9400-F86C2AA0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6CE67EF-FED2-41D2-A112-F4BC8181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30 日预测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12E8249-0ED8-49B6-9EDC-FCFB30C3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40769D2-FCF9-4A99-88CE-3E4A61DC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28E0EBC-8DB5-41A5-8E1D-50360BD4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模型在线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51AA683-069E-4955-894F-E2B774C7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23 · K线预测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FE592D8-0F90-43C5-A3EF-6D14A8A2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标的选择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1AE35A9-15F2-4C94-8ADC-195209C3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股票 / 模型 · 原型页内所有卡片、按钮、表格均为 PPT 可编辑对象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0DF5291-CB9E-460E-A265-C22519C6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FF93134-0BD8-46AF-885D-139AA4B6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7A70F80-C499-4AD3-9848-5A40D02D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147622F-1606-43D3-9B06-8E9F8B63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K线预测 / 标的选择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687997A-5985-4A7D-B459-8A021C0A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CBF628F-2433-41D9-9142-4D1E92C5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股票 / 模型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C46A06D-106C-494A-9B16-C2CA4C6E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265DB65-8C34-45E4-AA3C-8AAFB2E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A864382-5DF9-4B92-8B1D-2ED948B1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D8B7415-A47B-49BB-B1AC-215B1F7C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4DD8B07-2B48-4F1E-A1C7-8CC504A7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4936259-9575-4B6C-B4AD-6ACA0F3D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08B0ACB-BB3E-4657-B71D-C6E0804C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93F5EF7-41CD-4F80-83F7-BE2A71DA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标的选择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F1133F2-0C30-4AD8-BC53-69D08030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901730F-50D9-4C4E-8EF5-F4E126B2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8DBA47D-765A-4A79-B989-DD5B7463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6F9A86C-A26A-4EED-AA6D-B2B63213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 Kronos-base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5511615-B0BF-4110-B430-A5ADBBDE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0520C28-E85A-4ABA-8556-CC618BC7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联动结果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6E99923-03D3-42D8-8778-CD5CFAF5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C5E82E1-55C6-4C4C-B187-C94A747A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2F653FF-50A9-425D-8017-B02D9158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105DDF3-B771-4E2E-8F77-DD2E6DDC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id="target-selector"&gt; K线预测 中际旭创 300308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1E36358-09D2-4849-98AA-DB8AF437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FAD89CC-C2D7-4E13-82DE-A63E6E42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 Kronos-base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B7D3FCD-0F33-4A8A-BEB7-C4B24FEF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8D8E4E7-5967-4657-883F-EC5DD53C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支持空态 / 加载 / 错误态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AC18D25-A831-4D25-8EFE-9CCCE320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80F725F-DAC4-410B-8ACE-9BB3A56D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C32834F-A383-43BA-8150-E874BD71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91389FF-B198-4E45-B65E-8677160B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C8E785C-2DA8-4FB1-AB89-E785BBE0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BFF6BCC-FA5D-4C0B-B13D-5FB9B908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160D076-3B83-458F-8087-7E0951CC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5252D8F-5858-453F-9C0B-E2D42E56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999FAEC-7542-4173-B933-18944232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id="target-selecto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BD5D039-E2E8-4EC7-BE0D-75CCD574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661B44E-0DFD-4806-BA6E-2A3C7E56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日线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B2E7ECA-E264-4422-ADA4-BD7BA202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4EA5423-C209-4CEE-BDCC-2F630945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模型 Kronos-base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138B985-249F-4E1A-A653-85EB824E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1C55E70-6B44-42B7-97E6-F22E0C3F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60分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CCD9CA0-AD0D-45FE-A751-ADCF2F70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F54ABF4-2343-41FE-A7CE-BE9754C3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标的选择样本 3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7F23925-8335-4638-899D-B50E4A26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11521CE-6A60-4DD8-A431-DB07A880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15分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A6DE1AC-00DC-4025-B6A4-87653001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5110AE7-1F7D-4A3C-A6A6-16D1FF22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635E8C1-DFD3-4C22-874D-64839E62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01FF93B-12C1-48DC-8FF9-3C630FF4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日线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DE274BD-349E-43D1-822D-F8508CFC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83B22AC-CA9D-4D4A-A176-687F033C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60分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C4D69D7-7E50-458C-90E1-CC4459FF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3C80969-547A-453B-A99F-A78413D4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60分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812554F-BAE6-4352-B7C9-3AE6B21C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002AB43-6B7B-4A44-A455-72A2AB4B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15分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FF582F3-486F-403B-924E-80D38D9A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A91B73FD-8743-41DB-903C-9A9652E7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15分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860BDB5-8600-4E75-81F7-BC209CBF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D20A08C-0C4E-4DB6-BC1E-9767E95A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保存快照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CEB8FA4-015D-4CF9-9015-092C30C5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文件：predictions.html#target-selector</a:t>
            </a:r>
          </a:p>
        </p:txBody>
      </p:sp>
    </p:spTree>
    <p:extLst>
      <p:ext uri="{BB962C8B-B14F-4D97-AF65-F5344CB8AC3E}">
        <p14:creationId xmlns:p14="http://schemas.microsoft.com/office/powerpoint/2010/main" val="5891443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35EEE8-D43F-46A0-98F9-983C03A7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757A4-D1CE-4FE6-A471-F3360E80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5DA1F-7115-4C03-BF4B-98645405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EFB70-2AFB-4689-9612-3C938CD2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AFAAE-B0D4-4851-908E-9CF2AA21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FE171-D3C8-4C0C-874C-88BCBC80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E94CC-AE9F-4B61-8624-0279470B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66C24-20D4-4461-94C6-6A42EE7C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864DF9-2416-4543-ADA5-2917D574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9EDE4-D1B4-436C-9EDE-2CF53745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1238A-43A2-4B15-9E4E-841CC84A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4B168-280D-419F-BA42-7F311349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83B75-A39F-478F-8E64-5A8328BB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1747F-1BA1-415E-B20A-193ECB3F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97DC7-506E-4019-992F-D2A46449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0CC4DC-BD79-47BF-B256-7E9156C5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11455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395D4-C805-4097-9B4F-089CD8C3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K线预测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558249-D4D5-4FF7-9530-90CFAFD4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8F02EC-45C0-4870-A148-A8E3E8B9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23E7B4-5537-42E9-AB64-5646B89E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591AFC-9D6B-40BF-A6D4-8C40870B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9FE630-6607-47FA-8A08-13444CB9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D1CF22-8B4B-419A-A51A-D9BE64D9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A752DC-649F-44D2-AD00-CCFE00D9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6C5EC1-747B-4E3C-B510-900345DE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B5883F-F29B-48F8-AE36-4F1F568D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C8E85E-3619-4F67-A2D6-A023EB13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6B8985-DACC-4677-B953-048B4820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E1DC85-389C-403E-B1CF-4051583E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644F66-6040-472B-ABFE-9EB8A6C2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412B57-736E-418A-84C0-7B5AE493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6178D7-E206-49C5-B6EE-2098CD3B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ADEDE1-30F3-4850-944C-8C7BF559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AD5472-29BE-44F7-B8E6-1F7ADB49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655AA4-C735-48A7-841D-D803B1C3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84308F-D879-4078-B39A-1F70BA72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E5545B-3BB8-4588-8C38-1BBF364D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671151-7BD1-4827-BF41-43395B28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87FF35-A2F5-40DA-9D10-C27586D4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64FD56-C788-4226-A81C-88275CF9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4BB459-E0DA-4F40-9D47-3FAD0627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K线预测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0608D9-7044-4BBF-9ABC-F5D1D915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6BFD3A-D322-4B64-AD31-0284E7E4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710C7A-B6D7-482B-861E-BA0E1D6E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E72D70-06A5-4E0B-8B56-E437E8C1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0A2DC7-F16A-452E-BAF2-0D2A8BB2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3466F49-4E8B-4769-A131-12979D14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18F64E2-651C-4DAF-8F70-F13EEC50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C946C5F-8F21-4BD7-BBB0-CF3C5EE4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标的选择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E30702E-A6B0-48C7-8DA0-60DEC95B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股票 / 模型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F84B62D-5C99-42F1-B5A7-DC8D4EDD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5E465F-AC62-4406-96A4-C8F59802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DEE83A4-1C36-420D-83EC-42858135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K线走势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6A829FD-D00C-4934-A294-511AD3AF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历史 / 预测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86BF630-8CC3-428F-B0B3-49DDFED8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F9B5A7-8933-4348-87C9-AD10DF7B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036AF65-9C8A-4348-8A73-15CB8396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概率路径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ACF144E-5EF0-4C07-BC66-00A557F7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30 日区间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D66A5CA-CD01-40CB-A506-089894A3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88C2A20-BD72-44F7-BD33-7CE72846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184A607-6CB3-499F-9154-AE58B0A1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关键价位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38BE7B0-4B11-46F4-94FD-88FAFD0D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支撑 / 阻力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365868E-E483-4893-9695-5301C528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000886A-1559-411C-B271-2DC1F064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6811CB1-46B3-4011-A732-6A8DCDB7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生成信号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F6B1F93-81D6-45F6-8F30-0DF88395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执行触发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C75385A-F65B-4304-9F8F-7C14DF7B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6EB69B2-FBD5-45F6-9290-6B0467AB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0907105-530B-4BB7-953C-400471EE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K线预测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679C5D7-4B3A-40E9-A235-5A48A54A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5EE95F2-A675-447B-B347-5AB72889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3F02594-74B8-485E-86A6-2B0BCA02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标的选择 · K线走势 · 概率路径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0805ED4-E444-4C65-9E8F-C6B8973D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598EC11-D02A-43C3-8039-F732FA91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5AA9E61-F695-4B62-A7A7-66DFCD9F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30 日预测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46DF230-BE84-41E8-9D10-88939CBE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338E0C3-E0D2-4B19-AC6E-D6187A81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D449ADA-2C5C-4F5E-AC35-CFE7F919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模型在线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160C2F8-4980-4271-9BE5-47D2D7B4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24 · K线预测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3AC0FE7-4699-4A8D-B560-0DF06698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K线走势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702D4C5-1C7D-492F-8D06-F06207E1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历史 / 预测 · 原型页内所有卡片、按钮、表格均为 PPT 可编辑对象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78894EB-1DBE-4323-9033-91CC7C87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139CC8D-E03B-4493-BE16-AD7BEAE3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DC7ECCA-0D52-4FA5-83FD-FD63A046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0EDCAA8-7ECD-4C30-9AED-FEAD3375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K线预测 / K线走势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90552DB-6934-42A7-949F-64B5F350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595830B-8572-47C0-9DF7-141894F5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历史 / 预测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5C510D3-5C2A-4CFF-B985-C45418E9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7BFF8F0-A153-4626-A329-257247CE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K线与预测区间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26AE8E2-B94A-45D8-827A-738003C9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0F3D1F0-5952-44FC-A7F8-345073BF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3E8EA5D-7C57-47A3-9003-10731E27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F03C66E-8ACA-4409-8F7D-EBEB3F5F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0B5C326-37EE-448D-94CC-4EE1533B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631FDF2-C51E-4609-8E02-91EDC008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K线走势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9C71981-2CBA-4EA2-A8D3-03773ADF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BB047B8-8F47-49F2-A861-885F4C9D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K线与预测区间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7700828-D210-477B-AB71-7B8D374B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97C806D-40FB-4E2E-8D17-16517987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id="kline-view"&gt; K线与预测区间 实线=历史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8584B7B-39A8-4CA3-8915-9BF570EF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6024059-71BD-4991-B920-9E5F2260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虚线=预测中枢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CAF8052-AC2F-4E1F-B8F6-C7FE26EF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C7F6639-1125-4522-BD4B-29117E81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91B63A1-1C01-4FC7-A460-9B0C9357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4A23C28-3AED-482B-9BA6-02EFDBBF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实线=历史 · 虚线=预测中枢 · 阴影=80% 置信带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C8439B2-AE28-4716-A228-2D4294D7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EA93437-FB85-45ED-8DD9-A37BD259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id="kline-view"&gt; K线与预测区间 实线=历史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BDDA2EC-F399-40E2-8B7D-E56C9A30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0FC7B44-9726-49CB-A3A6-DB15B595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虚线=预测中枢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DD8890B-04C8-4FEF-8E79-AB3DB9DE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43D2D58-4C5B-4BE3-A3AA-843DA2A6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阴影=80% 置信带 预测图只生成条件草案，实际交易必须经过信号确认和交易票风控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8AACEFB-F4DD-4B75-9061-EB9D9E89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32BEC5A-8FDC-44D9-93E0-2149D1A3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2431F84-EE9A-4771-B1DD-8A1F0FD9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AB66E44-05B4-4CB2-8640-7F8D5B62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8A7DBE8-398E-4263-B9FE-6BF1F0D8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D0FF21D-384D-4062-B11A-FDD79429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87B29D6-BC80-441A-AB6A-D24C69AA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实线=历史 · 虚线=预测中枢 · 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BDBDA06-087C-4CAB-8773-29998F84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FA57455-DEC6-4240-90ED-399D9A5D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保存预测快照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D5A07ED-84CF-4DE7-9DF5-748D4137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672BE48-AB89-4E23-8C51-94F2072D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id="kline-view"&gt; K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CE9FC67-BAEB-47FF-944C-D44497CD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88F94DA-CAE9-4875-8B17-CF60426D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生成触发条件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E1A515B-CCC9-4604-899F-0847E4E8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0DAA9FE-E1D9-432E-A8C2-911953F1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虚线=预测中枢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806F310-582E-4C98-9953-AC670222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62899C4-695D-4A31-B2A1-69CA4080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78EF2FB-1512-4010-A6FB-53D7CF32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1AD8923-DCB9-46C5-8CD7-7C8ABDA2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15F4805-05F9-4594-BF29-D7BEBC45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78F8D77-5530-4F0B-8D21-66A92B50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保存预测快照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8BA6725-E021-4C9D-A1B3-2742CF60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B3753A4-DB84-4988-9021-B011E156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生成触发条件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037F78F-C753-4566-A53F-479A14B3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5255233-E0AC-4A7A-B6D8-B2042533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生成触发条件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0032974-1BDD-4F01-B26C-42BA3E6F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28D225A-D305-4DA4-952B-5A337EAF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FE69FD0-5441-4CA4-AECB-6643C2F2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A102D2FD-3B3D-44F1-8F42-E3AD98BD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B43385D-941F-4108-B0A3-6BBCF99E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2484177-51B0-4C53-A5BF-7850C517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导出数据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C09A1E5-B1D8-4C8E-AB13-C5296952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文件：predictions.html#kline-view</a:t>
            </a:r>
          </a:p>
        </p:txBody>
      </p:sp>
    </p:spTree>
    <p:extLst>
      <p:ext uri="{BB962C8B-B14F-4D97-AF65-F5344CB8AC3E}">
        <p14:creationId xmlns:p14="http://schemas.microsoft.com/office/powerpoint/2010/main" val="2566507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D3123B-86E8-4ECF-B285-2BB08623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C64F4-11D6-48FB-8C2D-4E8D9A35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2ADDD-889D-4EAB-9D29-AD691AD9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9D95E-3B66-40B5-9D52-BB394ED5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BD2BA-47B7-4913-AE94-9ED72CE6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E1C02-366B-414E-A2F4-3F84C656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D9C54-5634-43E4-840D-7E6D0A34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91901-1D8B-4D8E-974A-C395BA9D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AFE48-829B-4C67-9077-0656F40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F45C2-FF5E-41D4-B072-CF77AFBC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61912-F1DD-46F4-B95D-0E6AA8E3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8C7C8-37E6-4E4B-87A6-A90D2297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62C38-26CF-4DE6-9311-9A2D856B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8C957-44EC-4DD4-93AF-27E766E6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BF240-112B-4728-AE50-1EE67B5F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AA91DE-C86B-42F3-8CB1-9F872A5B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11455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025CCE-3B8F-4286-B3C2-0E628493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K线预测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876A4-1CDC-4CEC-8464-5AE44FB8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F1FB4-286E-4CCB-B3F6-314CE413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39C98E-833A-48A9-967F-EF2DEE7B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21C547-F580-46A1-A2AC-D0ECED99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A7FB8B-6C53-453C-B3A3-25B55975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D82B49-FCE7-4625-BEC5-F4FF5349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D25DE9-3848-4809-966F-3F73AE4B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287327-1DAA-47ED-850A-41A804BC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655F5C-1340-49A9-9707-09C048DE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203B6F-63ED-49B4-A706-DB60D114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6014E1-D222-4317-9E25-C735E155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8E409F-C81E-410A-A0E3-94431A73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138AB5-DC45-4E36-9923-EB7B680C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E4D9F3-BA18-4A13-AFCF-6D5937BB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118071-C6A5-4A63-9B1B-5361492A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FAEFAA-65CC-4F00-8687-A90E6DE8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8FF4D8-7974-4FE0-97D4-7AD3FB3E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58AE68-853C-46C4-881B-B5018666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23FFBE-02FF-4FE0-B30C-56831071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EABC61-4909-4481-BFC9-A2E34F68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625685-C6B1-4627-BB5A-F96BB4B9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0E7E23-B937-4182-BD19-EEF3B592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EEA7CE-B346-4AD0-9350-0A1CB5FA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AC0DD0-A3D8-453B-950B-AF7CEDC2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K线预测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F9626F-801B-4DC6-BC15-6A58F9E7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C501AD-504A-454D-AF39-95F6E9ED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F643CC-1A1A-48F7-A81E-9C431CCD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64C531-53C4-4E59-895B-F5632F87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F2B460-7C3B-4917-974B-81D98FC0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0DDA8A-C8B4-4492-BF36-09050CDA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DAE3F76-2AF6-41AB-BF41-B070E1B3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BFE7D8-7A09-4138-94D2-26AC9876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标的选择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E48784-B4B8-4EAF-87A0-294DDE1D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股票 / 模型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47F064-A4F2-4491-9581-899B682E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D7BDCD-10B1-4E73-95B3-14B3BF94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4E031C-364D-49F6-8958-854075A3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K线走势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27851AB-FC99-4F4D-860D-6BC6481C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历史 / 预测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1F101E-FB63-4C63-A589-DD9E1F18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37DE36-DC93-4F26-8F7A-496BA52D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24336C-153B-4308-AF13-0143F2F4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概率路径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B9C0D35-4128-45D0-BBA0-2ED38D65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30 日区间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61F80D8-E604-43B5-9011-4CC5C0B1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CA2FAC9-E8C6-447E-9CB1-074A6244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7F64C5C-82DD-48E4-966B-056607EC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关键价位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83D4E15-A2BA-4EC8-A679-3EE9832F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支撑 / 阻力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9D3595F-B9B0-47C1-B384-0ED8B0C9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6ACB76E-743F-4B5A-B468-6C182926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6D6317B-C202-4653-BCB8-C352094D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生成信号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982D914-E759-402B-B755-17B36C37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执行触发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833165C-B5BC-4976-8872-7F141DE9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158F488-8F6F-4717-BBD6-2BAE2798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078F7FC-3429-4510-AF2D-1BF8CDFC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K线预测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5935710-C61F-4A23-8829-E4CA4423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F5686E1-A8E5-4579-8F94-8D01C139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EC46FB3-B2E9-4B99-BA71-6190424D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标的选择 · K线走势 · 概率路径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1055367-5BE2-42CB-B829-834C3C78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F249093-B503-425B-8C52-8A263AE0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68A5103-5201-46A7-8865-416777E2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30 日预测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B88BA3F-CA10-48DA-AF8D-9F017790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B48DCFC-7CDC-4F5F-825A-923CA05E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80C571C-3DF4-469B-BED3-DB2C3707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模型在线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AB6F1E0-F413-4FC8-8E91-45E4F630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25 · K线预测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F1BCEDD-B3D1-4C2A-A12F-E52B8B02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概率路径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C1BE0C5-D1B3-4DB4-9244-9B803F8D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30 日区间 · 原型页内所有卡片、按钮、表格均为 PPT 可编辑对象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4D78350-7331-46EE-A7CF-924E4A94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D35D845-E74C-419C-A745-730316F2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B0113DF-FD2A-4764-AECF-B4AE8D2D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77771E0-2181-41CC-AFFB-D7066D76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K线预测 / 概率路径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B3F423E-D10B-4DE9-982D-FE3E8E55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A2E4DF0-EBF6-4D33-A5E8-8ADF4365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30 日区间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987CC5C-5380-42C7-9B14-9E65AB68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6C5C5DE-88F9-4565-AC29-E110E4C8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5 日预测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459DBA3-E93B-4482-BE81-632EE155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359358D-54B9-4898-951D-EA1C8A17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D128E68-A5B5-4FB0-991B-BF78C99F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FF6E105-C221-4214-988F-8805F89D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E8B0DF1-5590-4A54-AAFB-7F9B2FBF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DA357EA-945E-4FAB-BCC8-5F346702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概率路径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E4B0263-A64D-41C6-AE6A-658309F3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C6B8B30-730C-4C36-B1E6-E14F3E49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5 日预测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D5F76AD-5070-4F25-8FF8-221B15E1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687AE91-229E-4479-8632-6F06F0E8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当前价 156.20 概率路径用于决定是否进入信号草案，不直接触发买入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147DFA3-C680-485D-80E9-FE37813A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8755251-91DB-4259-9C1B-F0BACBC3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保存阈值 加入跟踪 &lt;div class="card"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71E03DF-28AC-410A-82B0-9C06AD6C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8EB8907-D531-484E-8AAE-104A0634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E9A1AB9-88E6-4909-A9C4-4FEC97E8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951898D-847D-4A01-B24D-FCD3188F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置信度 0.74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72CACFA-1DAE-4AC0-9EB3-B9CF09DA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F3556BA-26DA-4556-A557-F622B54A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当前价 156.20 概率路径用于决定是否进入信号草案，不直接触发买入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EC818B8-40F3-4FDB-ABDE-BFEFB59B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65075E9-DC12-4CCB-A17C-FDC8674E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保存阈值 加入跟踪 &lt;div class="card"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52E6649-827B-49F6-84E7-F1EB922F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D88AB81-AA93-4342-AA3B-9E1670BC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927B610-B656-4B46-A2B7-18E184A5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28558A9-127E-4699-B602-5182AA87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C9491E5-D179-405C-BA9B-55FB9A26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F667A79-09C6-431A-878E-567025C3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03F65EC-7CE9-41EC-B22B-454D7E26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CE6EECD-7BD1-4B19-BB89-27EE1CE6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15BD408-D27B-4450-9EEE-784EEB7F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置信度 0.74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2C3418E-4D01-4604-BCB2-8A0766F5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4296EE2-39D1-478D-9D70-2C87A178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保存阈值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FC59B2C-0798-46E9-9FD9-61ADB530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5C4C55D-75B7-4A7D-9D6A-13328A12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当前价 156.20 概率路径用于决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F2AF699-BB8B-4286-9496-0B346226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D066CAB-D6B6-4EEA-85B4-932554D5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加入跟踪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0AC6DDC-5AF9-4BDB-9384-ECCD72A5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C11200D-85A0-48B2-A150-3827EF04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保存阈值 加入跟踪 &lt;div cla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D699958-05ED-4737-BA6C-70E4BD75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94DE995-437D-4F64-867B-73D1EBEC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A6F9B7E-FE4D-4D84-A657-0F7017A6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F738C70-EE92-48B2-B0FA-3B98C475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182B672-5771-4847-9158-CB8DF8B5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98BB795-0FAF-4F71-954A-82D028B4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保存阈值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C4E61B5-48E5-4C3F-8771-E8F9D7B6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65EDE49-5CA5-4397-9357-3C2431C3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加入跟踪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5D7D959-4809-4F80-95BF-AF812175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22C82A9-918A-47A3-83EB-48F10797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加入跟踪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02BC7FA-C33E-4FB0-9D78-447CCE41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6395D1F-CC89-4EB0-B168-6624ED59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B8C5C88-F35F-4023-9C6B-52821DA4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762864E-1D19-43ED-9981-28B0AF2C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2B62515-6B0B-4FE0-A3BF-8EFF4F1D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9D768ED-08FB-4BE6-917D-DEBC532D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导出数据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39D671E-E59C-4D66-BDB8-7C4919F0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文件：predictions.html#probability-path</a:t>
            </a:r>
          </a:p>
        </p:txBody>
      </p:sp>
    </p:spTree>
    <p:extLst>
      <p:ext uri="{BB962C8B-B14F-4D97-AF65-F5344CB8AC3E}">
        <p14:creationId xmlns:p14="http://schemas.microsoft.com/office/powerpoint/2010/main" val="135584888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ADA9F2-27E2-4E41-96BB-87DF898D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5917D-02B7-4D87-9936-73B2DF15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0E466-0BD4-4DA3-A0D3-3552959D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7D217-EB29-4504-AEEC-AEDEEA4E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B11B8-9664-43D1-AA49-855E6E18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D15FC-B2D2-43BD-B3F5-4FE0D4F9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7094E-D22E-4B5C-AB00-3CD9781E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D1543-3763-41AC-899C-D7573F2F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B6CA3-B08A-4D9A-A24D-33E16EC6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4D0CE-C0E8-4C6B-9DA0-18A6C744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A5751-7F5F-4D48-9CA6-BE3D3D71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FCD53-12D0-46C6-BF39-66C1EE32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E66B13-57C7-422A-9660-3DAFE09F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4A07FB-89AF-4349-BE9D-0CA87E1D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BBF86-8B70-4975-926D-90158DA7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75A596-F8DD-45CD-A2A8-71F1B78D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11455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21ABCE-41D2-4D97-A465-DF533BAC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K线预测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BB810-4C5C-489F-881D-54E7A75D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28B0A2-E153-4CD6-BB6F-C8FE1416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E6F211-8B3C-4E90-91B0-BB6F998D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BBBBCE-4DE1-4E8F-BDCA-BF2F884E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4E4255-AB47-4F7D-AA13-1A2DEA68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DCB628-8D68-4C84-927B-40605BDD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0E7B2C-86E7-4695-868D-28B77888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42DC29-BA43-4DE2-9C70-DF6DC032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646EDF-CB66-4834-A15C-82261E6D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890E05-E5A4-4777-9A17-AB76775E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6A0F9E-591C-420B-9FB5-4F276A89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DC2A38-E158-4569-AFBD-93B1A390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662C30-EED1-40F8-99F2-F9945AB0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FD88B0-FD97-453D-A9B6-5E5A62CC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B498A7-05E1-4290-8603-3B1273A4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9A68C8-E824-4F6C-B98F-6AE5FED2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B0F2E7-7BE6-4D5C-BE0E-47882DBC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499F26-1D8A-42F5-9DE7-7458746E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194E7D-D027-4625-A87C-44C8B9EC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BEFEA0-650D-48E7-8336-2810C287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16D05F-7A63-476F-A47F-18D0A029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198009-D673-4EC9-BFF8-EB84893D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D79DCB-7512-487B-8422-0EB7F2F6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2123A6-9C86-43AA-AA75-ACE9C0CA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K线预测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870EAE-C8F1-40D8-809D-957CED1D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025FE5-F787-4FA9-8998-428A20CC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52F688-0365-4C01-A44B-4C894A1C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D5F05B-3785-4D83-983E-270CC833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F09358-7B09-4F55-996F-927244BE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137FBC-3F3E-4127-BB82-3D026632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EE95CE-B4D3-427B-85A6-126B63AC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4497B7-8ABF-41EB-B008-B304425D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标的选择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03F19A-F900-4084-A1C0-724384C8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股票 / 模型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D1697B5-75E6-4CB5-AFE7-688E6BB1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2B0A3C-DCB4-4CC9-BC68-71B47C07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224F98C-03CA-4CD2-9B8F-A82023CC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K线走势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09F08C-3F8C-4197-896D-328E4BF0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历史 / 预测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476B843-0E71-4FAA-BB49-2C14E016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AE54A54-10FC-4E7D-82E0-18EABF1C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D34A19E-0682-4B01-A60D-8897AC1B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概率路径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4FCFD7-C5A8-4DAE-91A4-3C507334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30 日区间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A11EFE8-A350-4F6A-8209-48058998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842416C-4306-4E6F-8EB3-C45AA3D8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143803E-91E1-4185-A33D-2423EB14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关键价位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DD2CF82-E8D2-4DF7-8FFA-9DBFEBA1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支撑 / 阻力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1260FDC-B515-4545-B290-CC2C86D7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4AF1BF1-F2C7-4D3B-93CE-3CB0BFB3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FD7871B-0B91-46C5-BBA3-6D8E6FD4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生成信号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4BCC804-556C-44FA-B807-E81FA2AD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执行触发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F4D87DB-6B1E-486E-BDCA-F7C3E122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C706DD7-307C-4CC4-866B-AA6AC355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0F57B8D-8344-4E82-AE22-6534D214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K线预测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94B69B4-9ACD-4494-B396-469FDCCB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90E1E19-2DEF-4568-96B9-55BFB52A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EC62714-EE3E-4C93-840D-9D7556C9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标的选择 · K线走势 · 概率路径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35FE1D1-D410-4335-884B-2C338BD3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32F1F3E-E171-49EB-AAB1-9EC7DDAA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A748F0D-AEA9-4934-93B6-E1FFD091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30 日预测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8DC364C-9201-42EC-A803-97F359A0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D3E5140-565B-4160-B9C9-12EA0A74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69BA279-D7AE-47CD-B705-9FF059D7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模型在线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41B86A4-66AD-429D-BAB6-8400DDDD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26 · K线预测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43C789D-5012-487C-A15B-03841F7B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关键价位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4D2FA54-8ACD-4F4A-9A71-E92D543B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支撑 / 阻力 · 原型页内所有卡片、按钮、表格均为 PPT 可编辑对象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111D1FB-F4F8-432D-9FF0-17E519B4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BF8039A-D9C0-46C4-9360-86DE6B55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480AF29-9447-499C-A88C-3AB57981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6DAFF61-21FF-40BB-ADD4-E1EC4C66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K线预测 / 关键价位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965D600-2DDC-4148-B1F1-B8B17890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A2F0C25-6BDC-4FDF-B40F-EA7A69B1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支撑 / 阻力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B2173AD-F967-4E64-A4BB-A3117AD2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1E1DB30-3AF4-413C-8AE5-6C411BA3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方向概率分布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C78E38A-0E09-4F2B-8505-47F2DFD2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F9C9B6B-AF7C-4FE2-A38B-D081549B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D090118-07B7-479E-A22D-2865B268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6D9E121-7D6C-48CE-997A-31B5889A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F60FB68-59B4-407C-9A3A-A2656E93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9D1591C-1BEF-4BC7-9D93-BC06D6FB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关键价位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863D4B1-368E-4872-BB72-2B302C93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EBCA398-62C1-441A-952D-3FE16907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方向概率分布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0FA5090-B6D5-496B-80E5-36329254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7B7EAEF-6240-4542-AEB1-0A5F6A5F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多模型对比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81DD8B1-41F6-406E-81D0-B95B7AC3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733F3B5-E819-4D1F-8E5F-29970F3F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中性偏多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B7ADA25-BA8B-4388-9140-33BC658B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3691B7A-9A66-4E78-B59B-3BB8A26D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561B482-AA71-4448-93A8-2B917713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9272A42-70AF-4ECB-9310-3156820A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同一标的 · 不同模型预测中枢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7D5AA86-E019-4574-9A60-DC9170A4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F1CBB86-77EA-4798-A547-50A8A9FC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看涨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8DABE4C-E026-401E-A2B1-D3F35A74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A9796AA-4CD6-4031-811F-5425DFF2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中性偏多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0249FD9-175A-475C-9E93-23584EB5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E7458FB-3F0B-4DDB-92ED-D99BFC77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写入交易票 多模型对比 同一标的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8A6A899-1D12-4027-BE76-18D6401E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CB9C75D-522C-4EBD-BB38-6B83CB9D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44749FA-7E93-4462-8BF1-E95E5664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109568D-EB6B-4DA6-8A6B-D04D2F12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434BDAE-7FCC-413E-9DC0-7B65310B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1ED33F5-5A46-43A8-94DD-1CCFFB11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8C81A49-8E1E-4DD8-9326-05467A76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模型 类型 目标价 预期涨幅 置信度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E58670E-DF5F-4739-A939-6DAF0686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EA9213D-D89E-4C36-BFB8-7A34DEBC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写入交易票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20CD3BD-4FA5-4912-A967-7DCB668E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5AF66EB-5F0A-41FB-8259-862852C9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Kronos-base Transf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4CBA099-6F2E-4D27-8244-953E2D67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736E4B5-D2BE-4A34-A596-83B45693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D1956E2-535D-41E3-9D7A-75895F20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1C96294-19FD-431B-902A-3D7D9333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CatBoost-1440 梯度提升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0299B14-2B05-428E-AD7B-9BECF7C4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1A7E119-39C0-49C3-98E7-A706DA5E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导出数据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A7C9762-1AC5-4378-AE1D-FEEF2A36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56C3CF0-7575-484A-AC7A-65CAB92D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200E2D5-D3C0-44A5-B760-2713B487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DD7A8ED-23B2-416E-BDE0-108B8CD6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写入交易票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1E1AC2E-66EC-4CD1-8569-DE0F33CC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5927DF0-CAC3-4002-B757-4DF1330D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297D3E0-1808-435F-A673-6EBF9059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9661847-2886-4BFD-BAE1-E2FC4277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BED7589-73C7-484F-8740-2020899C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2CA90FD-ADD6-428C-9ABB-7F1D35E9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43787CD-D602-43DD-BB7A-9E770A6B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F76DC63-17AD-474A-8A79-792717AF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537192C-B59E-4B73-B23C-349DE43C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DFBE552-51DD-4BE2-97A6-6BBF1127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刷新状态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3078949-4827-48BB-8D0C-923E145C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文件：predictions.html#price-levels</a:t>
            </a:r>
          </a:p>
        </p:txBody>
      </p:sp>
    </p:spTree>
    <p:extLst>
      <p:ext uri="{BB962C8B-B14F-4D97-AF65-F5344CB8AC3E}">
        <p14:creationId xmlns:p14="http://schemas.microsoft.com/office/powerpoint/2010/main" val="103101997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5F512A-035C-4699-995E-1926A5D5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E0CE4-41E2-4456-A65E-0202613C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D7387-A901-48F5-A5AF-5EC75A99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9DDCE-EBD4-4D6D-8D56-EB6B2F53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7D5DF-0654-44D5-A7B7-6E5FF894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7313D-93B2-4F64-801E-E7008DD3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2894F-E155-4707-891C-23E7A249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D37D3-4984-4023-A6B4-7D9EF849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28B4B-E6C0-4862-B51F-94A50222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502B1-4A50-45E7-A773-C8B09C61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E601A-1BB4-4805-B601-1E7B4DC2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7618D-3873-424C-A34E-93D9A0D1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B4925-F266-42EF-A532-45D80841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AB1329-D417-4A89-BAD8-F05AFF73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1EBF21-76D6-43C3-A915-10D53190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2C634-22BA-4B5E-8DB4-85357BCC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11455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33ABCE-FD4F-40D1-9F75-B4EDA1C6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K线预测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41D965-BE66-45DD-AAED-8A8639EB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3C72F-BD75-44C3-8633-DB947F2D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933884-8807-44F5-8D7F-D8CADCCF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4BF036-D893-46D3-AF8D-62C8EFC2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578552-7692-4430-9597-A5F693C9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034A52-3BB3-460D-B8C2-7AB298F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4B0D0A-66FD-456C-B8F0-5505F47D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103883-F94B-4CCA-8098-E8C1B33B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54621C-5366-48BB-8DCB-5B506036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1FD4A4-7D3B-48EB-B88D-7503023C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A3A3BB-B874-4986-8B8A-9C7004C6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B56453-A491-4EB5-A95E-4BA34AD0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B57FB9-9AE9-48DE-AEED-3C582A9C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E1AA46-2D83-4324-BBEB-486C91FD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003581-A114-4404-A7ED-229083F9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C905E0-3AF7-40EB-9100-359AD236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015954-2D3F-43FF-972B-469E156A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0A812D-BBC2-4A94-BA71-4E9D6F35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BA787F-CF03-4955-8E79-7348E83C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9F99FF-0B48-486C-B531-CAD5BDE5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872AD3-9207-43C3-A268-47971FE1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ECB619-B987-4324-85E9-6E0EA7A3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E2009C-A711-413D-8EB0-0D8E89DC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45B6D5-C430-4B8D-9013-19C6D2D7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K线预测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3BF9EB-F638-4322-A0E2-98612F3F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475C41-E8D0-4102-A44C-7DA6A261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8ABC13-ED40-4E00-BF12-5B496192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E22149-D169-4AF1-BCD3-764AFC4C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D19DFA-A30A-41E1-9ABC-41D5F0FE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CBF2552-9403-493A-91BF-B47C6753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291B06-87B1-4744-BB04-F5B91075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4F0ECAF-A213-4CEF-AB70-A2873005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标的选择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752A22F-BEB5-4371-926A-F6E10671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股票 / 模型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2A27873-A6B8-478E-BCD5-7708F8BA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5278B8-F83D-410D-A693-345F9F7F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58A6E0-A62E-440E-B120-0F60C483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K线走势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5AB3E5-9FF5-4803-93D1-0D3A6723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历史 / 预测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4A4C408-D0C9-4BE6-A795-F4A571A5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7A6F5D4-C9F1-443D-9A32-B40E97DD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118186E-04BE-4C39-B337-0A320C9C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概率路径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3C144B9-621B-4427-A341-0853E951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30 日区间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723137E-5713-4FDE-A2C9-7C5A89F3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77FA18E-B3F6-454B-9655-39E1551A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EC93277-F80C-4250-820F-4C1CD5C6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关键价位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EDB8639-5DAC-4AC3-830D-9B8F13E5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支撑 / 阻力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75B54B6-13CB-4299-ADF4-E64D5A39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D0884A2-5099-4326-973D-8E3E44F2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9268CDE-2D30-424F-A9DC-27765AC0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生成信号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5B60834-AF4B-4937-9243-1981FA77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执行触发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B6A6504-2820-46D9-9AA7-0E3F1E83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F8D1603-9CA2-4207-BAFF-3CE4E794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C027B14-29F3-483A-97E2-5281F3DE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K线预测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61C748A-C137-4DA0-AA6C-76357443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75250ED-2D1F-4D46-869B-63157E97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431DCCD-4FBD-47E4-A753-951F5A00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标的选择 · K线走势 · 概率路径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3FC346E-F215-462C-AB2C-D6BE9845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DFEE4FA-D865-4FBC-A24E-1D3DD6EE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079471E-9B6F-403A-B39C-9986CD06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30 日预测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81B7F2E-1517-410F-9855-018367EB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64C4CF2-D8B8-4FB1-B0BB-F2F07727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4A29B4F-771B-4482-A674-15ADEE79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模型在线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08FB54D-3FC8-483B-AE95-DD7ED71E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27 · K线预测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BB7259F-7833-4C52-B6B0-6A31894E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生成信号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63F627A-8CF2-4784-A3A5-C512C656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执行触发 · 原型页内所有卡片、按钮、表格均为 PPT 可编辑对象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3B1F255-8D82-46D9-B146-B692B197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D55C2A3-C5E9-419D-A46F-BC1A8C79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D12CCA5-0725-49E1-87C5-46EE4327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FF0D45C-4D1E-4313-B898-0E143E02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K线预测 / 生成信号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C38BCE3-84DE-4178-B5B9-AA23095F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B9ADC75-29F3-40DC-848A-BD152A94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执行触发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6036E00-0413-4315-B72A-66E43DF8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9845375-15D7-4D6C-9739-332578D6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承载本页签核心数据判断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E824768-9D05-45E0-9A6A-690D1622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9B6D640-D1B2-43FD-B5FB-187DE48C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61B0398-28C7-42C5-8674-AA9E5C91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2FF09A9-C34E-46D9-90B9-0884CD66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72D039B-81BB-4D99-A0FA-B2CA0F44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9BDAB53-76CA-46C8-B511-52638A03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生成信号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ADEEB91-B723-41A3-80A6-66847392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D39FA2D-3704-43D5-B5B9-927B59AA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把预测区间转换为交易信号草案，确认后再进入交易信号模块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217BD29-351D-44DA-B17F-94EEA7A2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84A30B0-26FC-4303-9852-4E2864D7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突破 60 分钟压力位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9793948-72B1-4E7B-B212-3C89D6CA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0FF7574-11B0-44F7-9B64-D3FF9EEF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低于预测下沿撤销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0DDA1E7-4521-47D9-8EF1-5E18AB18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5D15365-9BC3-4DEA-95D3-D1C2EA3D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74C8228-C3C0-4E98-9A78-D663A740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17EDF21-D09E-4D89-9CD8-1F52CC86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把预测区间转换为交易信号草案，确认后再进入交易信号模块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4398BE3-CE40-4321-B601-CDCACC96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8D16509-7D02-4E01-8B44-3305D565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突破 60 分钟压力位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FA906ED-CC34-4B9D-BECD-40362492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DFB6209-102F-49E0-A509-3FBEB81E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低于预测下沿撤销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4B0EE81-18D2-43E5-9B24-BCEE9413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44F9CB8-A316-4429-A25B-F17B022A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单票风险预算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1F64429-E931-4F42-B0ED-6B5F79BB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20E905B-DE1F-4980-A78F-FF1BA63D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57F01D7-C1D5-473B-975F-F9F615FA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8F3777F-59D8-48CB-9154-BE67D512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B31B69D-A1A4-4D7F-9554-D570F900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0345202-A28D-4CE9-89EE-F82528B5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F2E580B-352D-4127-91FA-3037CB4D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把预测区间转换为交易信号草案，确认后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6D4ACD2-B595-4484-85A3-05E5F979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9C652B0-AF23-4E84-9A26-F294860D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保存信号草案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D0E38B2-F8AD-432B-B1BC-9161057A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DB6AA7C-F0A8-4281-BB20-EE19D3F1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突破 60 分钟压力位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F26D6A2-36B7-4999-AB4C-4199F297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019A1B5-39FF-4398-B496-E9A4D729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打开交易信号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7F07F05-7E1F-46C9-AC50-13C6FFC4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95FA7AA-6EC7-4F84-924F-5504F3FD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低于预测下沿撤销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A48E9CA-AE3F-40AF-9B54-E802D2BE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741A933-14E6-4AE4-81C5-FEF5A548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复制触发条件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BA659F5-DD42-4B4B-A4E5-5EB57CD8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49FC8D8-6671-4A65-8304-078141C0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9BD8EDA-3891-4B48-A82B-5CD4D06C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BCAC365-A6F2-43D0-91D8-7E202496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保存信号草案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59EB7B8-E54F-4747-B160-C223B3FD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CB199A6-2952-4B12-B2AB-C898397A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打开交易信号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585FE07-0B22-48BA-968B-65EC9F65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FBC65CA-0138-4EB9-A66D-D50AE344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打开交易信号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90B6E4E-2157-4DB8-904D-91201D68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C135979-22C7-424D-999D-2F494927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复制触发条件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BB59045-687B-4B38-8F92-72B359BF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95FA590-098C-48F1-B40D-387400AE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复制触发条件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4A6ECA2-B91C-4424-B2E0-609C080C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2F2DD51-0E69-42F2-82B2-2D53E481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生成草案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47B6ACC-760E-4D11-9A7B-FA7A8BCD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文件：predictions.html#signal-generation</a:t>
            </a:r>
          </a:p>
        </p:txBody>
      </p:sp>
    </p:spTree>
    <p:extLst>
      <p:ext uri="{BB962C8B-B14F-4D97-AF65-F5344CB8AC3E}">
        <p14:creationId xmlns:p14="http://schemas.microsoft.com/office/powerpoint/2010/main" val="4975791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107C58-CBC5-4139-8BDF-5488B455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F6B-B306-4E97-B39E-5FB85D8D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D5863-CC7A-4C36-ACDF-3E5B3175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6D956-AFFA-4093-B7B9-10F61F9D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7DEBE-FDE8-4101-B1D0-C1A9C634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82DC5-A180-4CCE-B833-88A6A5BC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5A336-210E-4C7F-B092-D693C8B6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354B0-41A8-4E00-A454-F9A3CAC8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79F8E-3870-45BA-8BAE-AF40C1EF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93545-17A9-43E2-B496-CEA4D05A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0219E-6A28-42AA-8291-BCDDFF0D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63429-366D-4082-A176-51697B93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F2BAC-55A3-42C0-AA0D-DEB10866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2F4DA-1EF1-4F4A-B21C-41B10E6B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7860E3-DACE-4793-BE5E-EAE585CB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19B2F1-DA73-40AD-A737-212381B0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D5834A-3AD5-4879-B520-C7A4F0C4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323E62-DECC-4055-8FB1-C7F17BE2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40982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22EE2-0B59-47F2-89DC-2D62C716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322783-893A-4C3E-8A6A-49C2A894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4454E8-49D4-4731-B628-A42358C2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499911-CC67-47E1-8E03-DFF1B798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5AD373-DF64-4E7A-991B-A7809C4F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85F7DC-51F3-45C0-9F51-565E37D9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F17F71-860A-4F5C-90DE-CB727C1B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59BCB7-58C2-4486-B609-BD9566AB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67ED82-106F-4C1D-9373-0E4AB115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8DB405-12F5-48FB-838A-0840588E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0E177B-A7B9-4AAB-A042-14A3B901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C3277-31E8-428C-90D0-42CD4618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193F5F-7438-4BD5-BD92-E913158E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3F16A0-03E9-4DEF-91A4-3B00933B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66395A-2AAE-4254-B0D1-3D81D673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763E26-8F5A-4CF5-B729-B4F4456E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A8A684-EABA-4CC8-8816-B7BABAB5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D47E02-21FC-4717-9E51-8EF937FD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33754D-52D0-4559-B256-756BBD5D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76F859-F4EC-4D63-B03F-49D9A7BE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7AC037-FDB4-4A08-9750-FA8856B0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05606C-E0BE-4A3E-8304-27CBAC59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3E3FFB-A4DE-4D9C-8750-FF3374B0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方案管理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30E04F-8E0A-4AEC-9E41-66EFA252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D62DF8-4203-4730-A000-61F254A7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6ADB70-7D8A-46A7-AA86-A931DA01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441FEC-5FDC-4E7A-BF22-88F16750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580538-F695-4B9B-8E3B-96DDCE46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37518C-C29A-45B0-BAFB-76496525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F1074C-18E9-487A-9EA6-77ABBAC3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B7E707-67D6-4C80-840F-A8844E95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方案列表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B58438-2099-4C79-A499-601586AC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策略库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4B0133-DE83-42F8-A591-12E04B0B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806C964-4320-4C60-8952-44635389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9F47F4F-93B5-4E13-8FA3-EC5209E1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参数组合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AFC15A1-EADC-4992-B5AF-B44222BD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仓位 / 止损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577D74-47B3-44A5-8137-B4AEEA42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EF17E9-65DB-4D16-8E86-ADAEC419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757687B-109D-4F1D-BC4A-D078A749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执行计划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1A69888-E422-4690-8697-144F6CC7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交易约束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518EFF6-C6C0-405F-AD69-1C9DB789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000B31F-A749-4D2A-A6DD-D5F75EC0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34DCF03-2D5D-4F2E-BF93-5477E10B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回测复核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019F2C3-DEE7-47ED-81D3-2726FBE5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收益 / 回撤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0DFA7A6-BA98-4103-9AA8-207565CF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B9B61F2-E780-4F83-84EF-90DA7E8E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0F6E340-243A-4C87-B855-2FE29CCD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方案管理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9DF7A59-621C-405D-BB84-793ADC8B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C6FBBEB-B7A9-4FD3-B4A2-3CD1D566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CAB370B-19A8-4A05-A2AC-C1699F7C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方案列表 · 参数组合 · 执行计划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995DAE3-ED57-4840-A952-4B96ABB6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8971F78-11EF-49DC-B859-D4189693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84F69B7-C62C-4B31-85E0-37361518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4 套运行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FBF5349-1ECE-4CA1-94C0-143E4518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BD9D2BE-FC45-4CA3-960F-142DFA39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BC54994-3B78-41FB-B93F-F2940089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策略库在线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77F2A25-8762-4FF3-9DEF-9C4B0DAC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28 · 方案管理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5A3A0CD-7B54-4B6D-877C-002A9B99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方案列表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863D11D-75D0-4BF1-958D-7CE98860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策略库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03E1810-82C0-460A-B91E-C60D274B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77B67AF-FE4B-4970-9091-9A5CCAE3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0E1028E-2E7B-4A31-9A23-FBF19E37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3AACE5A-19A6-4806-B7B1-55A48BB5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方案管理 / 方案列表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F002AAE-7047-461B-BC62-35DC67ED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243F1BE-2892-434A-B535-2E1DDB65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策略库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BC573DE-3509-41FC-94EA-495D0CBD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0A59421-6365-4B8C-B694-0C67C2D0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id="strategy-list"&gt; 当前策略库支持启停、回测、监控和编辑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96F81F2-F05C-4313-9F74-3E7CF573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5F87F33-2D1C-4DE5-B13D-8709068B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8731562-7353-4E69-81B4-3F40687E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8C21722-0032-47D1-9BB3-8A15F21C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CF8992D-FB96-4A97-913A-B54F6090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4C81F37-A934-4130-94B8-4F429C90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方案列表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6135BFA-D66E-4D1B-AFD2-3D6B6038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08089AE-7BA3-492B-8959-AE5898A9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id="strategy-list"&gt; 当前策略库支持启停、回测、监控和编辑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C5747DD-0D70-4F5A-BD3B-04442CC0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E9E85E1-9CEC-4474-BFC8-7DC55539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批量上线前必须先通过参数组合与回测复核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AB33337-098B-4825-8186-F72532D5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42D9ADA-7108-497E-AE6C-588AE536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批量操作只修改方案状态，不直接进入自动交易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FBCD3A7-EE66-4661-8123-831E89A1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CFD8CDB-186C-4487-AC00-45453FE0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3FCA623-B9A5-49CB-B698-E6E0AF18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69C0396-BC30-43FD-8F0F-F787782A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id="strategy-list"&gt; 当前策略库支持启停、回测、监控和编辑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CD16818-B101-4689-97A4-1A6A76AB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68FE7AF-EC02-41F2-8F8E-655DD4A8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批量上线前必须先通过参数组合与回测复核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83959F9-8622-4374-A92F-8B3B3DED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BBE6B04-C26D-4E13-A520-1F85B56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批量操作只修改方案状态，不直接进入自动交易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0AF2C37-806C-4EDF-89BA-9B231C67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0F298AA-057B-4A15-A8C1-D8572944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批量复核 导出策略库 &lt;div class="scheme"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D3A42AE-BF69-4550-8258-D308CA2C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000D25E-05B9-4D4D-BBA2-3539403F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5C86240-B261-4FBD-A134-0D64BD61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AE62960-1BF5-4581-8730-069CF057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46F93DE-5463-4627-9590-19D65377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D9B1A6D-FBA5-493D-AF02-660933DC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6BD67D5-7B86-48E1-919E-3784B901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id="strategy-list"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E5B0EEE-D430-4A8D-AA3E-C6EBB693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D1D3B3F-3078-4C97-B9AF-4AD190A6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批量复核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AE6D3C5-26B7-43C4-BF94-FBDADBEC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23988A2-201D-4F14-9540-DA679D5E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批量上线前必须先通过参数组合与回测复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7FAD260-91FB-4472-A02B-AD34F59B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AF49AC2-EA1C-439C-95EB-39EEE2E2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导出策略库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FD6B0D6-1CE9-4BC6-8355-4D1FF8D5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FD61055-A4C1-4234-A717-9EF11EC8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批量操作只修改方案状态，不直接进入自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0C4BFF5-019C-496E-A4C4-FDB1F276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A403F99-A37C-4AEF-B809-B5256780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D5C507A-C72B-475C-8418-775D8F02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DF0BE2B-CF91-42DD-835B-03470879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1342FD6-D60C-4803-AA67-8A40364C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BA0A8DE-8E4E-44B3-8638-0B269157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批量复核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8FF3C03-0042-4D48-9A71-95B57802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AA1029A-0BE2-46F1-A72B-EE266374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导出策略库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437826F-0935-4E6B-B317-085CB404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E7A1871-3C50-418C-A7B9-7556F636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导出策略库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26341FC-BB9B-4561-BB5F-4E0CF57F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5352ED5-6D41-4100-B9A9-6A4B76DC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947B445-DF19-4734-873E-AC9FA21E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54A7D83-983B-4F34-9F2D-F948269A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297215F-2915-42E1-B1DC-F7F6B98C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8020151-09D0-42EC-B184-6E67CDBF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导出数据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E8CD1D6-E166-4D8E-93B1-71D9561F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文件：strategy.html#strategy-list</a:t>
            </a:r>
          </a:p>
        </p:txBody>
      </p:sp>
    </p:spTree>
    <p:extLst>
      <p:ext uri="{BB962C8B-B14F-4D97-AF65-F5344CB8AC3E}">
        <p14:creationId xmlns:p14="http://schemas.microsoft.com/office/powerpoint/2010/main" val="181400567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53FCB1-9D0A-4BA8-8F2C-31158D88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84047-08C7-484D-87B1-2FF3C326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FBBCB-6DCD-400F-ABED-22768B3B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BC648-AC93-4548-A996-1B6F79B6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512E4-2B43-46B5-B314-5A42CC64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F88A7-F129-47FA-B6F0-E2D9F90D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E6D04-EE8C-49C0-B946-8A681EC4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58998-6E66-4B8A-BDAE-72F9A127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92549-B673-4CBF-B08A-610467EC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123EC-73A2-48A3-9963-F1D7EA3A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0CA73-BBB2-4660-92B8-F58D8AE2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5D719E-C8BD-4DFD-BC8A-0E7AD45B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E588E-F6DC-4F2C-A823-668BF175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AACB0-A832-45AE-B781-25A0176D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3C6DF-8C42-4FC7-8E1D-94F59EDD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773A76-ECB4-4B14-BB4C-27E83398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C0A5E-562B-47A6-B3E4-789C79BE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253211-0087-495D-92EE-7A8D31DF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40982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29B654-27B4-41C7-8F78-1779094E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BEE740-C8C7-42AF-8C1E-0FD89CDF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D16989-976D-434C-9284-97AE17D2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8121BF-0D44-4C90-AB1C-6E56C5C1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F3DE4A-4B39-4A5C-9FB0-1A4C6F75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C9CB9A-A9ED-4D68-8F55-2F2E9878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CCEE3A-1D6D-4630-87F4-CD364058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448871-E5F5-416A-8AFD-80EE572F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CF33AB-6995-4F13-8BAD-1286DC78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875CAE-8785-4572-820F-A59E8C11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582AF6-C3B9-40EC-A287-E8AAE267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C42309-E2EB-4F05-BBC9-04B965C3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1DA9E7-CD1D-466C-A77D-0DCFBDA5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ECE020-438B-4CB5-AACC-0A8B4D29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613122-C87E-4560-97FC-018AF231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E7B26A-E376-4060-82F9-E4C128C3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DF093B-A284-4A53-9D31-5C732154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C5EC9A-5C67-4402-AB43-F3FA068F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8FB67C-4784-423B-AD10-A55A444C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5200BE-E41E-4923-A8E2-59337DDB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D752FA-337E-4470-B8EF-5A768FA5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B25965-1E72-402F-8827-4BFC34DC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A4711D-A90F-40D6-A91D-8D1BEC16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方案管理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7063A3-7832-454D-97D1-150E33B6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885941-3FB6-4521-89A0-C842ED72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939D13-B5C7-491B-BF7E-1A10D33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564AEB-0A2A-42A9-9B88-C8ED0F24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8F5D26-34CC-499F-B6BF-E97DCC4C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3DE280-851E-4D82-BF82-595DA17D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D679FF-131B-4EC6-9219-15D5FC95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44871A-36CE-4B84-A2F9-3CA0CC64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方案列表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FF5BC5-C903-4CD2-A0FC-6D26A894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策略库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70786D-367A-4C63-BE33-B794809C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84C0534-04E9-4C73-A6C9-75C5A458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70DE88F-34D8-42FC-8734-D33B72F2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参数组合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78A35D0-6AAC-4703-924B-1AEBDDE0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仓位 / 止损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C899BD4-9BBE-4E63-BF9F-7F6C378C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A6BD77A-7A8A-47C1-8BEF-D75B7161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5DDEEFA-511F-4FDF-9A99-AD51C812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执行计划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C7EA0AA-3771-44E6-BCEF-9CD367A0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交易约束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BD737F-B71D-4973-8334-EDAC2FC8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2719F66-45E6-4903-A107-67AA66BD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BD71C7B-D292-4935-AB70-4B75138A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回测复核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B0AD436-AB13-41E9-A362-F60145A5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收益 / 回撤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4B8A05E-A085-4EEE-9DAF-54B4422A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7662250-00A5-4D1D-ACAA-6BB2CA80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C0A66EE-CE8A-428F-AB5F-A94ACE49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方案管理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D22BD1B-780A-40F5-8802-B60F9DB2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1BEA867-A011-4F1D-A313-30E1272D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4E4B0E6-0281-4BD2-B64A-BE49F555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方案列表 · 参数组合 · 执行计划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309A4B2-982C-4DEF-8254-42D5980C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88DB36C-3E1F-4647-8ECF-F2D3930D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CB7C0F7-5F8E-48BB-90E8-3FF353A5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4 套运行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AECD362-5348-49DC-8E37-0D179573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63654BD-AAE3-40EE-8E20-AB934322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F49F270-41D6-455F-B4E8-368F7F76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策略库在线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EFD7104-507B-4D05-9429-66A1F1F3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29 · 方案管理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A6F410E-352D-4496-BA26-0AA7B3B9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参数组合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DA71E8A-3FBE-4110-ACE0-4766710F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仓位 / 止损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101C5C6-CFD2-4A11-8B32-A7EF9581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FBDD5CE-DCCB-4B39-BA16-92F80762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974E8E3-7270-4E62-B3EF-A5E6B293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09BBB60-89F5-4569-8259-E2972FE1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方案管理 / 参数组合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D655F27-BFFF-4EDE-A824-C8264B98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93F7DF2-7A46-46F2-A957-98A2A8B9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仓位 / 止损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BEEB2EE-FB04-4C10-991E-1413CE04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689DAC2-C155-4914-A67B-F4A353E1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卖出 3 当前策略库支持启停、回测、监控和编辑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F232589-35C7-4BF2-91B2-04D4759C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7D9B530-9188-44BA-9655-EE8B3EE5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B5073DD-2246-4786-B0B3-3F2FD6AF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2EED9B7-C187-451C-A787-B648C3DB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D82E203-09A8-448F-BFD4-B9AF70DE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0FCF3DD-CDC7-4972-BBD9-B559D62A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参数组合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487B2DE-2EDF-48F5-BB29-CFC12B03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9A85651-B04A-402F-81F7-01019BDD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卖出 3 当前策略库支持启停、回测、监控和编辑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2F92D94-02FB-42E5-A3FF-0BEC31EC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2119B51-BFE6-45D0-AA5A-1608FCB4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批量上线前必须先通过参数组合与回测复核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F009587-DA0E-48DF-8A61-8E18E056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8108BED-9CAE-4DEB-8FC3-FE9188D6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批量操作只修改方案状态，不直接进入自动交易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EBEBCB9-8985-4317-A71C-4565D149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D6E24E9-8F83-4E83-95E6-B9ECE17E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CABFD3F-727E-4BAD-B237-02769876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A31AD3E-E4F0-4BC9-A818-46D341F0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共 7 套已保存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319EF2D-72DF-4664-8630-491AB7E7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751E64C-7191-4753-9CA0-FB138C18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基准沪深300 +3.1%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7FC654A-5D75-44C8-9D77-FDDCA7BD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E0B65FC-C8D5-4B2D-8F51-69DC2928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分布于 4 套方案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FE6CF95-4F81-4988-A9E4-EB748383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6E0330D-1609-48F1-B1E9-3EC89808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买入 6 · 卖出 3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597D5C8-FA95-4435-9A30-C871C536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193E025-FBD2-4172-912D-EE84F9DA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A7E482B-29DD-4F0E-9CC8-679A690E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7D268E9-B6E1-47C6-A427-3D44BF12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6C0B216-B0D1-47FB-9DD7-CC9D45FD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1F86E0B-1C02-408E-86C0-59734662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A14B64E-4069-4FE7-9209-A7ABC3D1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共 7 套已保存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459D702-7216-421B-8D68-FCBBA88B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08CAFCB-397B-4DF1-8D6E-D35A5A13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批量复核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EFDD177-8117-4F9E-A870-F52E22F9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DEF278D-B9E6-4B86-ADB9-90AE0467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基准沪深300 +3.1%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194E30B-2D8D-4757-AF96-9ED69441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520AA9D-FC1C-46C4-B7AB-9821AEBB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导出策略库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A4F5A8D-FD79-44E3-A4E0-F32DCE24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6FAE9EC-972E-4F54-B185-13C54D61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分布于 4 套方案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10491B1-4215-46EA-AA27-FBE97156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21DF82E-FE43-4D05-A665-104B3722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270ADAC-ED2D-4211-88E4-9E5FD1CA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8C79A9A-6A27-4D52-8608-B90D344A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D92804C-7FEA-40CB-9A64-A8F50F8D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CB4DBDC-CE6E-4AB3-A3EA-C44A9E74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批量复核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CE24603-5E4D-47DB-84ED-08153E9F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4B227B4-7416-48DD-9576-342B1E16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导出策略库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D8F11B8-A890-4431-89E7-B88B4A42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4BC20C6-DCD6-4EAD-A733-5F3D727C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导出策略库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4E0D716-B45B-4BD4-9147-7DBB99F6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0A33B65-6B27-4C6D-8D72-09B31369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0C5C21D-03AC-418F-9CAB-7D1E6178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AFE1DA5-4800-48E1-949A-2810FF76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EE2A99A-072C-4657-B8B9-DEC4AC0A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95A2B37-76DB-484D-A0F5-1B67CD3A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导出数据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E72FF1A-82E1-4C42-8FAB-496F22E2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文件：strategy.html#parameter-set</a:t>
            </a:r>
          </a:p>
        </p:txBody>
      </p:sp>
    </p:spTree>
    <p:extLst>
      <p:ext uri="{BB962C8B-B14F-4D97-AF65-F5344CB8AC3E}">
        <p14:creationId xmlns:p14="http://schemas.microsoft.com/office/powerpoint/2010/main" val="116954146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2CF69B-6940-48C9-ABAD-0EC7AF23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BF780-B81E-460E-BD20-5D3555D6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3119B-436E-4A3F-A0F7-B24B9AD6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17431-EBD0-4AE0-BAB3-16334544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1EE46-22EA-4B2E-A32F-13B19373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726DA-4FCB-44E6-88FB-FA1F3290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129E1-624E-48BB-B5BC-23653EAC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E54AD-156A-433E-9223-9C7DD149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A0C93-3866-4337-AEFA-03F98910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5591B-4F31-401C-B5FA-74F93B8E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42AA2-5038-48C9-8FD1-90213F4B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F39F6-8134-45EB-BCEB-2EEEFBFF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037ED-C7FD-40A9-9406-43CC26D2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BB32EA-5302-41BE-8623-B7F39E66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AAD357-5DB0-4ECD-99C1-5DE6B3FB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66065B-EBBA-4F19-8BEE-B8C8B899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A12FBD-DC4B-4557-8B5D-EE133F82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EE4B7E-B0DB-4B11-B481-1CF5FC02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40982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223C2E-9E02-4115-B8C2-171076E5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C7AE53-FEC8-4CD2-9B9A-9CD9A7FB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EC36F4-E806-42A1-B17F-49308AB0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0F343B-5EC5-463E-836F-883AEF01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A17BBC-C575-41B7-88DC-E5712E87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2DE590-A761-4E2B-97A6-19BBD668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EDD6B2-4DF0-4F12-8582-641E1226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49D56A-3B65-4840-846D-2381B55C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FAEFE4-06DB-4ADC-9563-40D177AF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4AAF86-72D1-4003-9899-2F355F65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4E082B-051E-425C-90A3-6C6F0FF6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45144A-22D5-49EF-B53B-A8C75EED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45E714-BCE9-495E-9D95-A727B3C6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C6256C-8C32-4A1D-9BD6-DF1051D5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C127D0-4361-451A-9AB3-833BFAA8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07061F-5137-48A9-A298-03082EA5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C3EB8D-3C01-45F4-AC32-D57787D2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A95592-4049-400E-8A19-67C12098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6FA144-CF54-460B-BF1A-E06BB9CE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22A3A5-AEA8-4924-969C-2C881DCA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C321C5-949A-4554-8CF2-A6062475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1F957E-448F-428E-B0C4-BBEC6675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E311ED-CF09-47C7-9969-50116934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方案管理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433C60-BD92-4C15-A76A-9D7CDC9B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F690DB-A4FF-40F9-837B-3AE46731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A066E3-C900-4226-BB5B-EDF16534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B6EC7E-1981-4D23-95E4-F91D3CA9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23B00D-A1B4-4D9B-99B9-13A6414B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6D50BC-BC42-400B-A3F1-7A8DC96A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08821F-0692-440F-BAC1-75140222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0EEF413-1285-44D5-AC85-CABB5A9D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方案列表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81B688-0BA5-4FB8-844C-DE37BFA8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策略库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A8A447A-6E8F-45D4-8510-BC7665F9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F29FB54-F4EC-4752-8CE9-E955AB56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8B1EA4-F7DF-459F-B85F-66D1A26F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参数组合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2D367D3-3DDC-4350-A0A1-38D1099B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仓位 / 止损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3114EE1-E11D-4F41-A623-5730B96C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CD11E6F-8E72-450A-BE38-6C2B435B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2719377-0A73-461F-8493-B0200A5A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执行计划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358A88E-E0DA-4368-97FA-04A8EB4E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交易约束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A6D19B3-8829-42F6-BB88-D7CED818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544569-95B4-4B41-B8C0-DE04EEAE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D8FD9DF-9A71-4435-982A-537C8046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回测复核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6977F67-F5A8-46E6-8528-6B013608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收益 / 回撤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10D19E1-5283-4FF7-9F0F-F4A1ABE3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58C7471-9F2B-4A3A-AAFA-80A4B1BA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3AFA080-C58E-4702-BFF6-65C31941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方案管理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0F54C7B-187C-4A22-9F19-351AA4A9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F849701-7E57-43D1-832A-8FC5D4AF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55F4E0B-7FDC-440B-B63A-A9B69B75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方案列表 · 参数组合 · 执行计划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62728EF-58FC-47A1-8933-3056BAC9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2F2BD6E-942D-4432-8BCE-8CECA354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A33003B-6987-464A-A20E-90A8E4C5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4 套运行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471C114-49CE-44B5-BFE5-B4746418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218D1EE-E7B2-4553-A485-499F0FDA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D355F8F-B2B1-4D6C-A680-EB47A1ED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策略库在线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C2B2665-1A86-4185-8536-06ABD32F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30 · 方案管理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E58BBFA-30E8-4C06-8FBA-B2D9E55E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执行计划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E650C2D-E912-4B6C-A42B-01923BD3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交易约束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EFFEFEC-97AF-4633-8845-5DF31642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87025EA-1261-4D4C-8648-84BF1E0E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5059B1E-A9C2-4ADC-8815-DF73567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4C5689D-3386-462E-8030-8CA4F40B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方案管理 / 执行计划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2C67D76-98FE-425C-835B-8EE5BA9C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BC5F3C6-2D43-496C-BB18-1857F254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交易约束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D755673-A28B-4C5E-BB00-3DAFDF6B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1CF9BA2-B83F-411E-B4A0-81A69507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承载本页签核心数据判断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51E8BDD-3941-49D6-A469-2076F9CC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B08AB89-E433-4DEE-83E9-8627EB7A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93D51D4-8FD4-4D8F-9D92-C1530487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450752D-809F-497B-B0A7-83850E14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88EB50B-9E62-473C-A662-114BD67C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51FC3A5-8CCA-4DA6-9A56-6BB9D765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执行计划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CE14B93-1563-4E4E-B9FC-23B16A9B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A0C5346-59CD-4DA7-94FF-B09CC060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产业链共振 + 主升加速双因子，聚焦光模块 / 算力链龙头，日线持仓。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D49E1C7-3C6A-4148-B3F6-EE528F59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CDA2706-3D14-4A02-8748-6F05B222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低吸潜伏，周线级别布局白酒 / 银行高股息标的，作为组合压舱石。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873900A-4D89-4D59-AD1E-01B5F9E7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76DB867-88E7-4FAF-8A63-C61B904F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竞价抢筹 + 连板高度，分时级别捕捉情绪龙头，T+1 快进快出。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DDE6DFA-A9DA-4752-A725-D04BAC0D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325D220-0B77-4734-8EEA-A3E52C0F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9EB7180-0EB5-49CE-8D24-1A92D5A6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D460BA4-DCBE-4E8E-BBF7-C6673535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产业链共振 + 主升加速双因子，聚焦光模块 / 算力链龙头，日线持仓。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1DC2B46-8B86-4FC5-8C15-217C6B83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E800094-1767-4559-B5FE-C42073A9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低吸潜伏，周线级别布局白酒 / 银行高股息标的，作为组合压舱石。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0017E0D-5855-4A32-9F5B-073B113F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A1CC6B1-9C1B-4EB0-8D14-20B67BBD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竞价抢筹 + 连板高度，分时级别捕捉情绪龙头，T+1 快进快出。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D299156-46DE-4A89-AC3B-56CDA31E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8705EB8-EB1E-4760-B953-0E4CF8CD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产业链共振，覆盖电池 / 电控 / 整车，趋势波段，已暂停运行。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8C4C607-1CAC-404E-9B9E-866464BD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187B619-FA79-4C5B-AF58-F8263920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9058995-49A2-4C0F-8A71-E3CAECA9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7DF6A67-C210-45F6-A35D-22E7B31F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CA8D942-9C4C-4960-B004-6E06D76B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3C53244-5349-417C-AC80-63B80CDA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079E281-7667-4912-A108-7B0CC8CF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产业链共振 + 主升加速双因子，聚焦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8D9A28F-2BA6-42C1-9309-A9060CB1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78AAF88-6FD7-4476-9330-400E11D0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回测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D3E8A79-FC16-4FE6-B53E-FE137471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3C99A32-A5E9-4EB6-BBD2-3A3672D5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低吸潜伏，周线级别布局白酒 / 银行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B074776-ABB8-4386-B29E-DB7D38B5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205B3C4-8616-456A-BE7B-7D2DE1B6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监控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D6E4E37-4415-4AFC-9CC0-79CC36A0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FF97DAD-21BB-4EFF-A5FB-AAFB4E0F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竞价抢筹 + 连板高度，分时级别捕捉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8A8C3FE-CAD5-427D-AD4B-3857F29D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5834D29-306F-4235-A354-F4FDA55A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编辑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86E1C81-03FF-4216-8154-F3C951A3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4085E8F-CADE-48E6-9FE0-B82DA155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A98A2CE-9EC4-4AB4-A3EB-E3976D4D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F425BC7-F4B0-4E4E-9297-648DBBEF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回测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C871A62-4B4D-4E7C-AF80-489257A8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EEBA838-4B77-429C-850A-0321129E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监控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3955B39-A223-45EA-8AA6-96F6469A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BB6B051-0582-49E6-BAA5-A485C767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监控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836795F-268C-4B33-986D-A19E688B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09EF528-A973-409D-9263-1B4CEC70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编辑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239EE0E-E866-4232-8C53-DC56F7F7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5BE22E8-6EC6-4CD1-B79B-AB6260E7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编辑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7AAD89B-99E9-4B7E-B038-9EC3B356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2E32DBC-4970-4594-9130-50E5A19D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生成草案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95DE806-E353-4B7A-8FD1-D788B764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文件：strategy.html#execution-plan</a:t>
            </a:r>
          </a:p>
        </p:txBody>
      </p:sp>
    </p:spTree>
    <p:extLst>
      <p:ext uri="{BB962C8B-B14F-4D97-AF65-F5344CB8AC3E}">
        <p14:creationId xmlns:p14="http://schemas.microsoft.com/office/powerpoint/2010/main" val="1404577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AEFD7F-A7AC-4874-B356-007D5652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E48E8-4646-46E7-8AE2-61980AF3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4F13A-7461-4F15-9E01-B8E6C4E0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E1F21-F3C6-421F-9C74-93704D13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6E20B-DC67-461D-8C2A-A00A8CB8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5B4A6-0CD3-406F-B940-C35439EC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80D78-0601-43A6-AA4A-582F6A9E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EF26D-0C73-42FA-B542-0FEE7FEF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6EC63-32F1-4D15-89E6-11035289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C082D-6BAF-4F67-A747-8D83F021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7AB2CB-F573-431F-A733-921952F4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0ABAE-C0C0-4D06-A867-92868088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70FC82-F308-4A1F-B833-F64F3AF3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3A908-B692-4A65-BE4F-89C72062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13CA2-9587-47A6-BD3B-3CDCF1DA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A7026-3148-435A-8F23-3C5CAC1B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A78762-1137-410B-B6D3-436F744B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6DFB0-16CC-4EBF-BF27-5E770EFE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40982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E8BAFF-E679-4848-A2D6-B57633D0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方案管理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7941E4-8F42-4860-95D9-4BA56B95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E9BE47-AA17-409E-AA1C-97689028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F33C17-011B-443F-8E48-F1E130C3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D98773-27F5-4749-AEEB-24AF66E8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773E90-4BAD-41E7-AD4C-210B9360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3A102E-E169-49B1-8787-D8955FD8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517F70-EC55-4850-8466-38C8DCB5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E2B0B1-E69B-414C-8BF3-9B846B54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E249EA-52F4-4DD6-9FA8-A12FB573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5A225F-5B6C-4294-9E7D-23A65A8A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36CB43-4574-4DAB-BCFB-7EACD023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E42476-2B10-4C72-A217-13B1E5E4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5B8E34-022D-4725-88BA-47BBF7FC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C317DF-BA88-4736-8166-79D157B6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F36788-0209-4E9D-96BB-A6E609F8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8175A8-D715-4FB0-A07F-CEEBF72D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59BB6D-C542-4643-8201-0C25D67D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7E8FB4-5CEF-4CE2-8CE2-87B3878E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0C66F2-8A70-4A0C-A171-3B2452FC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827021-1283-4212-95E0-229A73CB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D9D5AD-D620-428D-8CE5-7197B66D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9774F1-4C85-4B0E-B549-BCDEF79F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方案管理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C3957D-4CBB-49E4-96D5-A4CBC251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D54671-5AC4-4BFB-80B4-F5C0E684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61415A-0F84-4AB2-A785-78A7CB8A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474EA0-339A-491C-BDC6-F70B1D75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DF1481-AA6C-4E9F-AF7F-52A7D277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4BB8A2-5D79-4C7F-B53F-C3BF0EA4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37672A-E54D-46C4-A36E-E062989E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118C11-9313-42D2-872A-16D66217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方案列表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5E5FB2A-B15F-40EC-BB41-EA71EE78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策略库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AE69A4B-B0D1-4F05-84EC-FC7B6564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57CA3AB-31C0-4BC5-B885-C56B5E0B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049C59-7C35-4C4A-B7DD-9355C54F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参数组合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F54C67-6B54-45A8-A9BC-91A5FE39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仓位 / 止损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96C2C9F-65BA-4A08-9323-1A7F0619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035E6C-FC87-49FF-8950-E3CF77F1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5A840A-F973-418C-8F01-4F1F8E3E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执行计划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1D0C8FA-B6A0-4ABA-8A87-A8B9B403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交易约束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6CB6059-97CE-4457-9655-87ECC2EE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062DE4E-0E98-4E94-B92D-2F41652B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CD560C8-925D-443D-B3BF-F2586191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回测复核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29FDD3D-F024-46B7-B359-A2DEE84A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收益 / 回撤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2C3A37E-C7F8-46A9-822B-8222A158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0DF5309-57CA-49A8-AE28-4D80832A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811D425-C703-4181-9C91-69EA9E9A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方案管理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236C10E-2CD3-4A54-A7EF-8C87615D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BB2B557-3837-4826-8819-B34D1FC5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8248EA3-7D1E-4DBE-8FF5-A251D45E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方案列表 · 参数组合 · 执行计划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DCE57CD-7A0C-46BE-BA5C-40F71007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A1F5888-B42E-480D-98C0-3F98C6E3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41ABC6A-87BB-4BF8-A368-576CA094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4 套运行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F3B8FB2-2CA2-4503-9427-A7A5B809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9861F0C-D628-41A5-8950-1B4C9C22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3AF37C3-5D4F-4940-AD71-5CB84233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策略库在线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257D2C8-3805-4A8D-AB3B-C101BDBA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31 · 方案管理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63D18AF-14A4-4369-B7AF-1FAC021E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回测复核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288B19C-70DB-47CE-8D7B-A3BEB6B8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收益 / 回撤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0A4A7B9-6FF5-4F9B-8F93-8A60087F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C9434E3-F0CD-483B-B77F-6563C18C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70C6D3B-3C90-4050-B4CB-A84D0568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E2033A0-2512-4AA6-B764-AE4E5ECD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方案管理 / 回测复核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2C040D9-9CB4-4138-B82A-1430CBB9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25E7CD3-BE60-456C-AB56-E3254E62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收益 / 回撤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0CDAA06-C018-4179-B3CF-F868F45A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48A1870-EF61-4C4E-A1E9-8DD6076D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承载本页签核心数据判断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BE97203-CEDF-4017-8AA7-3D668B19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0DA28AF-BFCC-438E-8E59-1131BE25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9C66ABC-3ADA-4CAB-A7A4-E7A7BE35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47865DB-E5E4-404D-86FD-D9A64D29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CC700E4-8964-43AA-8954-6E31A399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C3AD61B-DE00-47C1-A4E4-60AD370A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回测复核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4094C26-B6C5-42CE-8D68-C0EC9D99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886F8A3-2699-45C9-B5BF-443442EF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方案上线前的收益、回撤、交易样本准入检查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7713B66-E154-4E7C-8E98-77FD5EE6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E3F376F-9AD5-4C31-82A9-2F7DCC7D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2024-01 至今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FE4E640-5554-4A37-95EF-FD2AAC02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2BCDCD4-A087-4AD7-BF53-C33BA9A6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低于 12% 准入线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6FE4161-99B7-4B49-A299-7B0385E4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4FB3638-000A-4DF2-8A8C-7DB0582D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56030FD-28AC-4632-B31F-6A423D81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330AD5D-FB60-4323-A6DB-3B59D4EA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方案上线前的收益、回撤、交易样本准入检查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2B4F779-18F8-4A1A-BF86-88579154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AA7FB9D-3E3A-4EF1-8452-8B8A1352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2024-01 至今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68A0AC9-A084-46FF-84D1-B4B81E22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EE90929-646A-4137-8B53-117F4160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低于 12% 准入线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F9E95B3-473B-4AD1-BD1B-9B7EAE7A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6A44E5F-F87A-494B-A082-33B494A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样本量通过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67C390B-579F-4DE2-B755-40D31323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C2A9B60-E4AE-4A2B-9681-D88B4336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37B7025-393F-4F05-96EE-397D17A1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FEA4C6C-952C-41F6-8369-C1BA1541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9562815-0464-4889-9118-5D169787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15F751C-6996-4523-B2DC-6F42CCC6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83B6AD6-90D4-44AC-84EF-E217BBDE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方案上线前的收益、回撤、交易样本准入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7F3B65B-668D-4DD5-948B-B22A84AC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FD4074E-BEA0-4C06-808A-20A00050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提交上线复核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DCA1568-8577-4A8B-A5DE-C9C19441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FB11BEF-C1B8-4EA9-BDF5-4A09420D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2024-01 至今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DAD2326-AF42-435A-82F2-C1BA20BD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00378A6-D2B3-43B9-BFF9-063BBCF0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打开回测分析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3259E73-6BA5-41B3-8613-73709AB6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FB5C547-E1BC-4A01-830C-7EB11E3A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低于 12% 准入线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F2D808A-2B3D-41E4-82CB-57E38875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8C38632-A368-4B75-AD03-83A467D7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保存为草案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C0BA2E9-23AA-4BAA-BEA8-E18100A3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E25CB19-028C-4B6F-93B6-37B4944A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65E8856-1E07-45D1-ADA3-30ED2D14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099A599-9499-49C1-B97B-94813B06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提交上线复核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C959434-5068-415A-95B2-DB856BFF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EA31C7B-883C-45B9-AE2F-74ADD00F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打开回测分析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53F4F83-6D53-40E3-9E9A-9B1B9D42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6ABDF6B-F921-4F75-A81E-50DE65FB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打开回测分析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CAE196E-1D0F-42D8-ADE7-54ABEBE3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7E79FA8-B605-4A59-9318-CC1990E7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保存为草案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E7359FE-1D7B-41FF-80CA-46D8DC8C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E0866D9-66CF-454C-BAAA-B47B8317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保存为草案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B58282D-D100-42FA-BD1F-D130CB9C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9B83C25-3939-46FB-A77D-722AF708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保存快照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0E3571C-1E49-4B92-B6FB-C0BB95B7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文件：strategy.html#backtest-review</a:t>
            </a:r>
          </a:p>
        </p:txBody>
      </p:sp>
    </p:spTree>
    <p:extLst>
      <p:ext uri="{BB962C8B-B14F-4D97-AF65-F5344CB8AC3E}">
        <p14:creationId xmlns:p14="http://schemas.microsoft.com/office/powerpoint/2010/main" val="47474731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4B2B89-6401-4A7A-9611-24DD054C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86DA7-3B78-4527-9302-AC88530B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725B7-7FE2-45DF-8F6F-9741B155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C6D19-BCB7-44A3-965A-A2BDB4A1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94E9A-03C1-4921-AABE-DE4E4027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1B9C5-32BD-49A2-BB5B-1529C28A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A5C82-9BFE-4FCF-9185-5E7A98E9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815F8-CF06-40F6-868C-4861F4BB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BD847-21F7-409C-A464-AC874572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B6072-4EF8-4686-9B73-558583C5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96EB2-0D2D-42C6-BC78-ED1BC700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82EB9-3232-403D-8378-EFCDECEE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6D7FB-656F-4B30-AD5B-91CF54C4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66DAF1-6FDC-444E-BBFA-90B3F09E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9F2E23-F6B1-4764-951E-0347B657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DDDEDA-CBB6-4351-BFE7-B4783C34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44DF1-3725-4916-8777-BC0C0DF3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81D3E0-5CF0-4548-846A-C333084C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25E89D-7B44-4670-8F5F-83252DB5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EE3271-AF4B-4D96-8071-3E837201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70510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97D39B-0D00-4ACF-9A20-CA7BF804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4FF4B1-0639-4156-BF54-CCB41E97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A97A44-85DA-4899-B4BF-FC8FF7FD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D72B8B-E0FA-45A5-BA6A-32E5D59E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6C57A3-545F-48C7-A855-B8ECB311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843304-1DD8-48FD-ABB9-A9A20D03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73B4FE-1DE4-4325-8973-A5DF71AF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FCAC02-CC51-4137-AF99-13AF0091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9CEDCE-8D4E-48B2-BEC4-C7F68848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97056C-C787-4875-87AE-712F31A9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551A2D-99F7-4CD7-8F16-9FF6F15F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C9F0EE-2120-4562-BDB1-122F553C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9E5B6C-2E50-471A-BA40-CCE0B00C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5ACFA1-B0E6-4465-9D1D-4E59BB7E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DE9365-A02A-436E-9B39-90649522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14E8AC-0FB9-46D4-AB26-258F47B8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F1EE5C-BC99-4361-B3FB-B10B145F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551536-092C-4E35-81CB-3497E71B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5764D9-A9A6-48C2-BBDE-8A177AA3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4AF043-8BB6-4D79-B571-C914572E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788756-4F0D-40CE-9DAC-22EF78BE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交易信号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1F5FF0-EAF8-4A9A-932A-AF8EC922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DCAEB0-E819-4CD2-AD1B-651258B5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A84C4B-7BEE-4615-94FE-5830BDA4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7EF4BF-A314-4F5E-8F6B-38E78F24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E119E5-D14A-449C-AF72-425AB405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C50222-6211-42DF-B247-1F49F55B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77F3F2-0B09-4F72-8A01-219590ED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4B4DA88-A01B-418B-B670-4AF79216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信号总览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7E897D-11A2-431B-B725-3DC062C1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未读 / 已读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E3173B-C5B7-4E29-A721-AF0DA386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0ACCD1-0B81-49EE-B3A9-9EB4471F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B0810C-A199-460A-87AE-F1C4534A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买入触发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E3E971-CA72-44A0-B8FF-14A2247C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强弱分级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557DB4-0D04-4840-BD1A-7B486ED2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A9D3030-7FB1-44CE-B1E9-162756EB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34E531B-15EC-4389-9C01-68A9BD5F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风险提示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9870AA-BC5C-4096-930F-A27DA544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止损 / 止盈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A0E1E15-E535-4E3F-B7D7-23E0EFA9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E3BFFD0-30CA-4EFD-A693-75CE3EBB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51F7996-2E13-4AEF-B61B-1BDCDFFA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订阅策略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F5A4DF-2A60-4B1B-9CAE-4B10B9B3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策略开关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308B69F-41EE-4DB0-B3C2-A8237E33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0BBF716-1E59-4473-81EC-A86AC5DF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3687C50-60B6-4BEE-9A25-7CDC92AA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交易信号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4369574-7266-4A3A-8AD0-D9CA13F1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F2C2EF4-53EC-4B89-958D-CEFEF75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297A065-5CEF-4B0F-BB80-470C9C60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信号总览 · 买入触发 · 风险提示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9DFD4EA-26AD-4C45-A9C4-381755A8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B59A3C1-357C-40DC-9C58-1070B2B2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E3FBA39-D7E8-4F6D-A9F0-DE567FA8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3 条未读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CBD1DFD-4264-486D-A586-3E42530B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13E79C6-569C-4B25-B0B5-9AA33DC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0A14DAA-4D37-4179-BBCE-9FB18E45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推送在线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26F0C6D-C3E5-4A1C-829F-51130333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32 · 交易信号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B479584-9A96-4C3F-BC22-B909913F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信号总览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A042FFB-7A6F-4751-8FAA-F4D138B6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未读 / 已读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767D524-2E5C-48EA-973B-896360A6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9C1B0FE-F20A-43A0-AC40-DCE05647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D8BEB83-91F6-43EC-8E51-4A64DD85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EF44110-B948-48C0-A551-64B504BE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交易信号 / 信号总览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168C8A1-3FB2-40A7-BB23-E41C0F23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B8616DC-326A-4AC2-98CB-7D77AD71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未读 / 已读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3E64174-01E1-4DE5-AA37-7628D0E4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EE16164-AD82-4850-B353-843186C0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今日信号流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4B26564-D06F-45F2-A773-C5A8AE9F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9846040-3BD7-4348-B706-5EA8C816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3001027-4C06-48DF-9785-1EAA22D3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B44CC59-3F81-4805-8F64-33905655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1F973D6-5F85-4C67-ACC8-7593FA1D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AA6EBBC-3F09-4328-B08B-A987411F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信号总览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ECBE2F8-A763-495A-B9FE-50BA8A6C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C6E2409-D246-47C5-9B59-6BD30D3C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今日信号流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D82B2F1-404A-4444-8748-62A4C33E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885D6B3-6E84-4917-9065-61F9FCDA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id="signal-feed"&gt; 今日信号流 9 条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EFEC759-2D55-46E6-9B15-54F64767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A3B43DD-5BEC-4175-9A51-B16AFECE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3 条未读 信号总览先处理未读、分级和归档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739AD75-30DD-45EA-A5AB-E9B1C7AF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D7086E4-EF82-44A6-A68D-E982B961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7AB0E92-845C-4A30-9160-0B7A855E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54C3E3C-F0E2-4841-A725-6BFAFF21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9 条 · 3 条未读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41D2E9E-6E47-4216-9D76-088667D5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D8FB7E2-BF17-43A3-9E34-E0033DD8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id="signal-feed"&gt; 今日信号流 9 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BED66CA-9645-400D-9637-64CAD585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5A80CD8-B544-4E78-8667-C83D310C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3 条未读 信号总览先处理未读、分级和归档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FBDB727-59B1-4A51-988E-531DE9A1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02421F2-A6F1-459F-8AA1-809A5688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买入、卖出、风险提示再进入各自页签复核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3BD19B6-E1B2-4CD3-BA2F-C786E094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7A5301B-CB42-4BDF-A662-1CA144E8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73F2BB9-0F3E-40B2-846B-778DA81E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54EAB84-1AE9-4CE2-BEE7-04AEC022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C358A57-A48B-4744-A859-F0EC0DCC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54624A9-4268-4432-907D-6CEDF50C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CC0956E-D46B-456A-93B5-A1D66CBE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9 条 · 3 条未读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87D9123-3B24-430D-936C-C0DF09EB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8BEC182-D711-482B-80D1-2F04B36A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全部已读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6478B40-1F4A-48AB-9728-E57DC622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415B0AE-45B4-4769-86A0-56340309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id="signal-feed"&gt; 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12F0C03-9A85-4B6A-BAA4-EF9DF0B4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5E2A731-95B1-4604-9677-1DA8E4FA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导出信号流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0BCD5C5-8BA2-4732-9ECC-032314E8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88DE5B4-8FBD-4512-B297-E5483750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3 条未读 信号总览先处理未读、分级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32CD870-7D02-4390-AE4C-E0EB1BE9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5826C3C-9FB3-4748-9FDE-DF63CF31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生成草案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9102C16-544D-40CE-900A-06B75F65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EFE6E08-0353-4D94-8BB3-B03CAAA7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39ADBA5-E1DE-4008-B899-F59321EA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FF8D9AA-3716-4FD2-B14A-D5225FC3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全部已读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43F6FF4-C489-4568-9ED2-F5EC6990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B6BA634-469D-4CA8-B936-5D565112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导出信号流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89FD260-FB6E-44DE-B671-82912FB9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09905E9-9B72-4D95-95E1-48CF0049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导出信号流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59B3C80-3108-4873-BD5D-E8EAE583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3578A8B-A828-4EB6-9AFF-A86BE501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生成草案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F56D8C2-697E-41A5-A891-4A73A0CA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2E5ED04-D4D6-4113-9B9C-00281365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生成草案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E93DD3E-A099-4D8C-B9AA-1C51F695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AC5343F-E3F9-4EB6-97A9-B11B52DD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写入交易票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7D2F317-5063-49A6-BE65-66210980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文件：signals.html#signal-feed</a:t>
            </a:r>
          </a:p>
        </p:txBody>
      </p:sp>
    </p:spTree>
    <p:extLst>
      <p:ext uri="{BB962C8B-B14F-4D97-AF65-F5344CB8AC3E}">
        <p14:creationId xmlns:p14="http://schemas.microsoft.com/office/powerpoint/2010/main" val="81810364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3EE081-BC0C-4BF5-8297-826E2B83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C8FDB-BFEA-4A4C-85F2-DC25872F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4B8AC-4D1F-4338-AC2C-2AC4D64E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5F148-50B5-475D-A3EF-A7BEDF8C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4E6D5-3E40-4BF1-9BC3-80273ABC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892B4-724A-4A0E-8156-DEE9DB85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C0ED9-67FB-4254-A8E2-C5178E1B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744AA-7633-4A13-91A3-1CFBAD0E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4E75C-68D9-4F69-9F30-9991CAE2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F0D45-6E78-4639-AF91-F189731A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23FBF-AD1A-4E41-B080-19327A3D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4EC95-37AF-4108-AA77-15E4DEE5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CB39A-8090-4718-AE07-A7761F39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64C57-BA94-4FD4-9717-B5B341A0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BE1F3B-8A12-4A1D-899C-9945639B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2FAF6-D484-4BF0-8FAE-0B89B06A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251FA-73E9-4ED7-8361-518D6EBF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3E9858-34FE-4E57-BE52-78DE0188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E28BD3-7853-4AC7-98B1-81807B36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9DB33B-9E82-4618-952A-373F3389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70510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3BA23E-5CEF-49C7-BD3D-C47590E9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992213-E621-430F-8C62-026DE9C1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3C0C3B-D4DB-49DD-A773-43737B8C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7D8498-C2A3-42AC-B134-2C3F63E3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EB35B8-075C-477C-9494-B74CBA5B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DA10DF-C926-4682-AB8E-F58FA64E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C889BB-11AE-4F56-958D-7F8A119D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F28488-38FE-453F-B2E8-A21AF97F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D07A83-AB68-4D49-B1BE-BABB0302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656538-81FD-4B97-843E-F3A6A9A6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833E20-4260-41BB-95AF-CDF0577E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D35CDB-051A-449E-BE39-DA55A14D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75B496-0757-4A5B-99FD-D3F4EF4F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89EFC6-DBC4-40E1-BB1F-8FAAF79E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78F87D-9655-49B9-B538-C3811704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6187FA-186C-44D2-80FA-FA33CECC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E2B9DD-642C-44B4-941C-FC307C7E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33FEF5-DE61-4263-AC72-4AF64217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799651-A101-44BD-8F21-3DA16E76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5A748F-07A3-41DB-945C-EAF2B9A0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8833AA-749B-4B0E-8405-A45527CA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交易信号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15F09F-D6A2-4060-80FC-6B42A6E0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BF8039-5920-4291-9D5B-FFD7EA81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A17B34-F6D2-4FAC-A681-85CA9922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23CBEB-8732-4149-B106-4A268BA4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E437D4-47A3-4B68-A04F-1F182171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53A47E-0B1B-4FFB-A5AF-C020231D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BC8EAB-AF37-4BDB-B26D-8202475A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C48B525-1891-4456-B3DF-BA447DA3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信号总览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312FEE-E6D1-442E-BE25-137AB410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未读 / 已读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33EA26-F322-49E2-9DD3-21B50046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4B82855-2453-4462-AE19-3BF5D86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7C08B1F-79DC-42D1-B9B0-6967D91A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买入触发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F23ACC7-1A71-4D08-B74E-B5082671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强弱分级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6125071-C301-4431-B32D-A282CE9C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BAF8FF6-9F41-4D2D-8D62-7F7292A0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A18F60A-81EE-424C-92EE-EE26D4A8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风险提示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8C2340E-20C3-48ED-B966-046B5E00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止损 / 止盈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3CAF669-528E-40EB-9F95-811975BF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82C8296-BF83-46BE-B830-9B5BB59E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FDBBD87-3234-4BA2-807C-6E137DF4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订阅策略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7871C63-713B-4DBD-9E70-6BD68AD8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策略开关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09DB1A7-D264-4B38-92EB-35801382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AC26C96-D8AC-4090-8A29-C4679504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E70C70A-458F-49F4-B296-28631980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交易信号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5D09FAA-98CE-4AF1-9ECC-D9BE7FDF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1EC63C3-E75F-48AC-A1F2-4F3AE0BF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43FF33B-4821-4AFB-AF9B-C7410A03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信号总览 · 买入触发 · 风险提示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3E60BA4-3C5B-4144-ABE0-E2B98701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EF9B4F2-A2B0-4AEE-BFB7-05E7625C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E3B7549-D8C5-449A-A003-32620F8B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3 条未读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5EF347B-F9B0-4E9A-9493-0B54A087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76C8564-B0C7-45B1-B34A-CF2B58B5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BD39259-C67B-4C5A-8F5E-52387EE5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推送在线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BC6ECB3-F98C-4669-9878-EFE72D25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33 · 交易信号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70DE531-CCF9-44AC-9457-D44B6382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买入触发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1F124FC-1E5E-4EEF-8ED6-6656A81C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强弱分级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3DCCC7A-EA72-40A6-B0A4-2F1A4CD8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F2D6C57-D302-46EF-B168-19AEC004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B451A04-986F-4774-A1E5-2053D3FB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7D98865-89C7-46A8-8F82-E1B2386F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交易信号 / 买入触发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E26D024-47FB-4A68-B886-7E868FE9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6128182-0593-4B61-95F6-B1D0F874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强弱分级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B78BB51-FBA0-45D4-84DD-E15AA154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AF04A5E-D096-43BD-8CE2-DEB04917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id="buy-signals"&gt; 买入信号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22AAE92-235F-4BE9-B54C-9A2363D7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A96D210-7D5B-4145-A729-0C553CD6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0E92AAE-CA17-497C-A0F2-38EC697E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6C452A8-469E-4A3B-A28D-2FA7E84E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FA1E993-0A2A-4F7E-8B11-C12C5B20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769356E-8C55-4151-BF39-AD48CC27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买入触发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57F1FFA-A816-4BFE-9E15-53B59970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252DB18-1E65-4FD9-A0F0-1F3DF786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id="buy-signals"&gt; 买入信号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15E1CE9-C691-4472-AE6B-44E5D5E7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CEBB88E-F79B-4729-BBB7-E8D92E82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建议分批建仓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2937817-AD89-4012-8043-0208DA51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5F1C76D-A4F4-4F39-B9A4-E2F911BC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立即买入 看预测 忽略 &lt;div class="sig-item unread"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9F766A8-52E4-4A0A-ADE5-4750B413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1BDC0DE-CB02-4C54-BE32-866F22EC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C899DB7-CCAB-469D-AB36-BB4DD8EC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EE8690C-7C58-4321-B3D7-4E671C73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id="buy-signals"&gt; 买入信号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0A7931E-3C33-48E7-9346-30BDC079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14A11CE-13F5-4D9D-BE46-3BB0D92D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建议分批建仓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79F00B3-53B2-4EDB-8C70-78490D7B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49FC5BC-9794-4D82-BA43-8D9CF560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立即买入 看预测 忽略 &lt;div class="sig-item unread"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B5469AA-DC7F-45EF-9D0B-DC62ABC3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D3FA33F-422F-48F8-A47B-B87D2120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5BEB6B0-5E00-496F-82EC-76618B05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B507D7F-24F5-4079-AEE0-322B77F0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CEA4914-D1F6-4AFD-A853-5A047F7A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B32E6F5-5288-4B4E-B31C-0D7EDF5C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9953A87-E0AA-4B68-A9D3-0B40B95D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A1C4B81-DE77-4B89-9E76-3ACCCA25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865270E-A601-45BF-A184-C5FD2526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id="buy-signals"&gt; 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5F03B9A-E3E0-4BCC-ABC1-DA0FF2DA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356CACF-04D4-432B-9DE9-D679634D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立即买入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36F774A-2D62-485C-A9D3-5F521A8B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BA4B06B-22AE-48E8-B8F0-25E11BF0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建议分批建仓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E7D37B2-0A52-42C7-B080-9EAA59A6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534AF24-0EA8-43D4-A87D-A08CCA39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看预测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10CC6DC-25D3-44D8-9AF8-F0193621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40B037D-18FC-4ABD-B98E-6BF7ECA3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立即买入 看预测 忽略 &lt;div c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79B9B93-C8A4-4C90-BB98-3E1AE089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0675B3C-CF23-4915-AE27-7048FD1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忽略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4A3FDAB-0B94-4E49-B8E9-097283A7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66B6251-F9B5-4A02-ADFA-EF8691EB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D286A67-72DE-458C-823D-D3F56EAC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55981DE-C905-4E43-88A9-E998369E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立即买入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0A3125D-199E-4467-B738-E4F883FC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4095B91-0544-4E3C-BA64-577C9F09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看预测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AFB4E3C-CDC8-4BD9-B8E2-B947349C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3914DC1-7968-473A-BC46-43A52E32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看预测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42B8BD6-B906-4572-9860-16823B6A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9DA4AF0-98DB-4117-A556-C2DA1AA3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忽略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F6DE866-38DD-4B96-8AF4-E5B3154D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364F2FA-9235-4690-A74F-00AA2920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忽略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5775F95-8954-4F0B-AE3F-6CC08CF1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4F61577-1287-4ADB-9FB9-62320EDD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保存快照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BE21618-C65C-49ED-826A-B60C8750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文件：signals.html#buy-signals</a:t>
            </a:r>
          </a:p>
        </p:txBody>
      </p:sp>
    </p:spTree>
    <p:extLst>
      <p:ext uri="{BB962C8B-B14F-4D97-AF65-F5344CB8AC3E}">
        <p14:creationId xmlns:p14="http://schemas.microsoft.com/office/powerpoint/2010/main" val="209348265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6C03F2-5461-4A6C-94D0-15F29185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D0CF0-EBA2-43F9-93FB-D3BA8BEE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D6E7A-4429-41FE-8F53-BA90EE41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A006A-A3EE-4279-990A-EA6F64B2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208C8-4524-4895-9390-257A5233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348BC-A3D7-4E26-929C-8B47BD9D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8D995-A377-4D7F-BE25-5CF6706E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7E606-A4E9-4DCA-BA65-11BB6B2D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66A90-62FA-4758-8F09-7EB58ED8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8936B-C0A4-4B80-A99C-5A7E54ED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5E1FF-3D17-4F9A-9D92-1C12D4BA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AC8D2-F0A4-4F76-AAAD-B24FE3A0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2C030D-FFF6-4744-A191-8223E468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80BF9-77D6-4070-82ED-AF9AE11E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DD7933-6123-445E-81E3-7B3DA3FC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DD3EA-8F2F-4E87-BE1D-1EF981C8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F9D628-722B-4CAA-B860-A4F81C12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4284E5-DD56-4C06-9576-01CF802D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6FFF63-CDA8-4BC3-97A4-E1D5E052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AFCCF6-6430-4818-AF6B-9F6946E6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70510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EAEE4A-F0F5-420F-9EC2-3C10F862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EBA21E-A918-42CC-A7F0-193A158D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3FFE66-2A24-4E52-911C-F35DEC7C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7FAAFA-9610-4A90-B974-1A101FB1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27AE74-6942-4118-AD64-5D1D47A8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FA8068-1C4F-4770-9803-D05A805E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6F7EAA-7E62-4C2D-9BAE-89A8526C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D3A313-9FE8-431F-A15C-36C44228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57783E-E296-43FC-9926-DDC0107D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65C7A1-572F-45DF-80C7-72B03EAF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1937A7-F146-4725-B5D0-FF84AA34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187912-76A2-4E3F-85D4-DC20D9C8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AC41B7-EA53-4775-B8F5-AF219737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75232E-9311-4B04-9C87-25F32449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A3EFA1-2981-43AF-AD80-EC522E4C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BCEC5E-C7B4-4A34-A522-EDFD9BA7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318780-D5E9-4948-9641-31E3EAD4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231699-3055-475F-9423-A3F5EA83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1C5FC5-D0CF-4AA9-8AFD-F47013F3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C99D0A-090A-492D-BAE4-30617FFD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F94C57-77AA-4E6F-B072-23588472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交易信号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844B0B-5C67-4656-80F8-507CF360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B9B37A-C375-4CCD-A125-6B6684C1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A7F28D-DF29-47E8-B74E-D4F1D471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8BE8A4-BBBA-44DF-A20F-121E5DE6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65F93F-A854-4612-AFC3-C0A70929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83B752-339E-42D5-9CCF-A8BB0EA8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04F465-8983-4B9E-80CA-C4C1BF31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C9D46EC-856A-45C0-BC7E-A648008A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信号总览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03220D-2222-4686-8433-D2F9B31E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未读 / 已读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3099EF-3BD6-406C-8D28-7A3DFCDF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4FADC31-AEFA-47E6-9190-25AA98B9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F1F20E4-E319-48D2-B2B5-5664391A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买入触发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5A0BA9-4E34-491A-BE1D-57F26A2B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强弱分级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BF91BE4-ADD2-45D3-8212-F4DF5CA6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2B3214D-C4F6-40EB-A172-3A933018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D8B677C-6109-4F12-A299-D370F9E5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风险提示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7E24339-91A4-44D9-B89F-B5D9B055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止损 / 止盈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4DB5DAB-8FDC-475C-86E4-96408E0A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59A01A7-CFA4-4440-8981-37A93E2B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DD8C130-E7C3-4B84-936F-D4A52B74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订阅策略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1F8CDAC-FD25-46D5-8537-BACFB49A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策略开关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D7892E2-A9E4-4C32-849A-7901ADF9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CF856AA-F0BE-4F2F-85F0-E87EB009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774CCEA-DA5A-4FB9-9377-054E3871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交易信号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58C9638-6F4A-4D52-AF34-0CB51B57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F719282-6CBD-4881-83E3-85EF61DE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6742580-1230-4157-A976-76B20B1A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信号总览 · 买入触发 · 风险提示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E069B1C-E9B5-453C-A977-D8BBBC27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FB3F0C2-E2B1-4D4F-A4F7-FE6FA7F4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7A38503-9E18-4605-8CED-74DFFE95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3 条未读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504A03C-0AE0-4792-AF56-D5A6B60A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D39FA2C-39C7-4B62-9CCF-4F47C9F5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57425B0-B7E1-48D3-982B-1515CFDE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推送在线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578B9E1-FDCD-4E57-8E81-A65979C8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34 · 交易信号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AFCDE90-FC3C-4039-859D-42983446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风险提示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A2DDC98-3D7B-4B0A-A398-D63F99CD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止损 / 止盈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D7F82A5-4305-4710-9011-5CE40851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8857C44-A0F5-4989-9A0F-2C7129B3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97EAA4A-660E-414C-81E7-B122D02A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A05F3D6-804C-4291-90E3-D38ADBFF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交易信号 / 风险提示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5CF9463-1FEC-4542-97D5-728C8FDB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5C2A372-2163-4620-96BD-A89DAEE4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止损 / 止盈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D8E3237-FEF3-40B9-A68E-D0A1F3F3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D0F2F30-53AD-4F6B-A6FB-D682432A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id="risk-signals"&gt; 卖出信号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50E296F-91C0-4036-AFEC-C9BA6F0E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86D1478-B436-4B54-A927-C82C58E0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4E057D5-B365-4D03-AF9F-38804C42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D8676B7-BDE2-4A13-B580-E5B32865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BE57A05-F92A-431B-B8B3-AB79C4C4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CA4DF09-FCB7-451B-8F75-E5212CEB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风险提示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49D2F29-4659-4F3B-B5C9-C038AF78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C5187E7-0DD1-4888-9C8F-F8EEE6B8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id="risk-signals"&gt; 卖出信号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F653312-476E-4C20-8D3A-B5B386AB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871EFAE-21E4-4D40-9CDD-AF79272D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建议清仓规避进一步下行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DB9F915-80B7-4145-8224-090C38C3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80AAC77-ACC3-4827-AA9B-33A6DB84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立即卖出 忽略 风险提示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6CE30B9-7369-4305-8B29-C8231B7E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9A2A7C7-0DA4-4EA0-B3E5-10E32A35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D0C09AF-F0F8-4EE0-85F5-548F7B1E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21D6128-AD02-420C-B5FE-9EA61593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止损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881E1E6-A91F-43F1-A36D-1848C77D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C0FD60B-AF7C-43A6-BEC7-CAAE716B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高位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6202E2E-CB1D-4010-B26E-BF0A9642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98C1EE4-03AC-4E65-907B-8C5F3B3D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id="risk-signals"&gt; 卖出信号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42D139E-97D6-4DE3-87C7-A8297B53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BE53C78-3067-4E61-9CB2-1958782C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建议清仓规避进一步下行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160D839-EB53-4BC4-94AC-C855F3A7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C81DFDC-3F33-4F21-9EB7-DEBA7ED6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4473EC7-F583-4B03-93BE-4F4192F6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776DB55-AF35-4960-9671-755EB272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80686C3-7CA5-4297-9B4B-771A0151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0164388-8099-454D-B9DA-FF22690C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33C5054-740F-41DC-9AAF-9D8EBE47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止损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D42557F-647F-4118-BADB-0B34E62C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4B1BEE3-688B-441F-8E07-EB754C2A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立即卖出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EA6F2F3-40AD-41D0-BFFC-4FDEA929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34A9205-BF99-42E1-9290-62595AAE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高位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C8AB161-4574-45B2-A47E-51BAE0E8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6C41EA1-EF69-4A01-81D2-ED1D001D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忽略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91A9135-F971-48FE-A415-9D251C76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8AAF0A8-C7A1-438E-BF02-0DEE12EC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id="risk-signals"&gt;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A46E60E-D2F3-47B1-97CC-1655DC5D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34F2F41-8E1E-46DA-B398-E9186FA7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查看诊断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0EDE776-FE99-4DB4-8795-E0972B0D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F8381CE-D488-4246-B191-6783D118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77F634A-D786-46C7-A828-042CE0A1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D10AF6C-5036-4CDA-B161-35B79F46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立即卖出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2B495E7-7F1D-4CC8-8AD2-1CE585C6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FE3875E-1AD9-4FC0-9298-3E1FD0B7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忽略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AD448CC-BF41-4CC4-9C09-41495A90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9790A40-97A0-4B20-865A-10919A97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忽略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4871156-4BF9-4FA5-9120-69A03EDB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B85D06C-1798-42CF-9074-BCD718CE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查看诊断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4AE4FC6-C731-4370-9944-C6EDCBDA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7F6533F-D628-453A-A306-6D9089D6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查看诊断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F6E149E-FE06-4B6E-92BC-DA20CA65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2D33EAA-671A-43EE-B428-60B18F39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立即买入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27D9C6C-FAA7-43A3-B08F-F9D99B63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文件：signals.html#risk-signals</a:t>
            </a:r>
          </a:p>
        </p:txBody>
      </p:sp>
    </p:spTree>
    <p:extLst>
      <p:ext uri="{BB962C8B-B14F-4D97-AF65-F5344CB8AC3E}">
        <p14:creationId xmlns:p14="http://schemas.microsoft.com/office/powerpoint/2010/main" val="96428490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4E4AFB-7B66-4EFA-82D8-D3F76D46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9A4C9-52F0-4C33-9C70-B55F45C5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2306E-9C71-45D5-AA39-17D4E542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49019-F37F-4236-BA22-5078FDE6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17547-FC05-4D75-853A-CB5D2C41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B3982-C309-4A84-B04C-3738CEB6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21D68-9911-4CB9-A130-8A674FF8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DDECE-5779-4F2C-B6FB-4777F78D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C875A-8360-4004-89FA-4612434E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A3D25-4DA7-4253-836F-E010AD8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D7108-6FE1-4B17-B7F4-5059389B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0958A-ECF4-4D0D-A5F8-241A1438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CDBF0-578C-4000-BF62-A4714D60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3CAFA0-5191-414F-923E-43C3A072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91208-B5AA-4257-8A78-59882AC8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43602-6387-4B74-9AC7-AA6EDA18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339B28-A26F-4E43-B37C-DC990C4A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473ED4-3BA2-403C-84DF-B2801FCA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FEECC8-11EA-4AF8-81F7-9D886EB6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2E9C6E-28F2-4EAA-AE26-D18BACB5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70510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BB7F35-CD7C-4B65-96DC-E0B2A3C4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交易信号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BB4310-3D2A-496A-98A5-6B876B78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172D4D-A2CE-4F11-A051-B2F422E2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2B9CD1-E13D-4D78-A6BD-ED25C1D7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B398D2-B3B6-4059-A1AA-C870514C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8EB64C-8D71-4711-BA5D-2C04B63F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DEE852-6D34-463D-B836-0483C1DD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A5D2EC-DB84-4284-9174-DA811D42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AA3F0F-D62A-4F08-8967-1C136FD4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7FA64B-01EC-4261-B1C9-495E4C4B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DCE469-30F6-4515-9EBE-25EE421D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D26907-FD62-4F61-82ED-23C5FC6B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B7F356-BBD6-416F-A104-53330FAF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A27E26-7B5E-409A-B93F-D83A38D0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D11331-F460-4B33-B830-829FD892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3D3910-634F-4B2A-94C7-1691CE16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B90197-0C07-473B-837D-1145791F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6495E7-C887-499F-9BFA-76C70593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D5C069-901B-4AE5-A56A-920E0694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5877C5-F9C1-478C-9DF4-BDABD6E6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5CDE09-82E9-42B1-B838-6C343FE6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交易信号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457367-F6B6-4A10-9F41-A45F4C74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CC85B4-2EDC-4026-8924-0821E92F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9B4A41-5F57-4200-9380-113B0D79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CD0199-3D64-4862-9CFA-B7CD202D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9BEDD4-0BC0-4A26-ACDD-AF33F087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67D269-F986-4825-82C3-7D323439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CF0B52-34BA-45F9-A202-FD25D90A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E794368-3680-4844-AA3A-1A646D30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信号总览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48D29E9-010B-4123-9BEB-E6615218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未读 / 已读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EA8DB04-5E5B-442E-933A-11867A97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AD03C7B-725C-4776-B863-5FC8A151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0846DB7-0C49-489E-93F3-A479625C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买入触发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348445C-E2F8-4849-A3DC-B44E4611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强弱分级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B860540-81D9-4129-B598-9D0DEF12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2AC97A7-DB5A-4C5E-9DB9-3EAFECF6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4D6DA82-5CA8-4301-BCC2-CF1714A6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风险提示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796618A-1322-4074-956D-EE00F9EF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止损 / 止盈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CFE5E1F-61D9-4AAB-BDA1-BB66BD6A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5BCDE26-5C4D-4023-B61B-7FE332A8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431AE59-83A2-4721-801A-5B0EF2EF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订阅策略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EC9E82E-3122-4F2B-819E-1358F32F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策略开关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9E96B3D-6DC9-489B-8500-D297820F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510CEED-B02F-4E76-92E4-9DBE7F40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50A62D1-7788-44DD-AFC6-E5A5562D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交易信号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B99D9EC-0EE0-4CA8-B1FB-43247A25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E6F18DC-9D15-43B3-ACE1-BD9A9795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0F3029D-8DBB-4CB9-B67F-C72C1C8E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信号总览 · 买入触发 · 风险提示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4F8DC13-ABA8-4DBD-A671-2A2A1B30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F522F8C-C9F3-4DE4-B0CC-6DEC096B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1F38D37-6AFE-4411-AC04-691FD595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3 条未读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3B49980-5FF5-479B-9F0D-9AD8733A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7969F6E-733B-4505-8CE2-6692C53C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66029CA-D1EB-4EA6-BE6D-15B1B990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推送在线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1B810A9-9824-46EC-9A94-32292413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35 · 交易信号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72B1FAD-F3F2-441E-82F8-3DEA4B04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订阅策略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4A02AC4-864E-45A7-A94A-1E8F51D7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策略开关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476CF12-525D-4657-BFE8-9C793DEF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A996C4F-5ED9-4B1B-882B-B31DA4D6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C557374-D6B1-4A4A-AAC7-131876A3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77373BD-2C41-44E8-A02E-06C741BE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交易信号 / 订阅策略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024E01F-8819-4B6D-BF9E-F04DCF91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F4A2750-93B9-4C49-BA4A-5F4441DA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策略开关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5AF4661-A96C-499F-A90F-9014B855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904B9F2-CD9C-4D11-8D99-0CF79B4A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今日统计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0D78914-5B43-40FC-8DFA-5B64C022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E6F1BE4-3740-4477-9DC2-97D34177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2CB544F-8F73-4449-BE43-4648CA45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7BDE5F1-05BF-4327-B880-3AC9849F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8B41F43-D803-4633-A40F-7EAFDDE2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A5FA99B-5A60-4931-894D-063B8878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订阅策略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D2A214E-BE0A-4046-A57D-ACF066CF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6211D5C-98D1-491D-8E26-C065902B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今日统计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4EC3302-1823-433D-B44D-104DE02C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EBD2CBB-7E41-4F70-A389-37F72983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信号订阅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DB3EE0D-624D-4EFF-B82B-AFBA7F55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95AF402-F409-4DBC-A5A6-C7E90408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联动结果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F508F46-7494-4AE0-9992-751C67BD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3ECA365-367F-4B89-A116-32575FA3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25C4021-F805-4B66-9CCF-3B0A0707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E1877FD-0229-48DF-9961-6A5BAF56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保存订阅 恢复默认 © 2026 速赢AI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4DFEBF0-7956-45FA-9443-D6C4E226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729CB2B-55B3-4D2F-8677-E0973210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信号由量化模型自动生成，请结合自身判断决策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9E58EDC-B245-4BBB-B500-A8746C6A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B265C4A-A120-47FE-8260-E9DCCAA0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支持空态 / 加载 / 错误态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B3E35E0-CA5B-44B0-AAB3-F1BA341B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DC12620-3921-4999-9B05-02E346EB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0ED652A-3BD3-4DA7-BBE4-987AE1E0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185CA4D-9731-4783-BDC5-D6B369A4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4BF23A2-FCA6-459E-A08F-0CFEFA62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40525D2-1BB2-4FA8-A105-8B13FE55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5AF4DD5-5684-480B-B039-90CAD361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1C74D6E-DBDE-48B2-A8BA-C15AC40C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D57E3EE-9C4B-41A5-BF05-98316AA5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保存订阅 恢复默认 © 2026 速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7F5DEC9-4F25-4707-A198-38A81CB7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91C99AB-8BFB-4D23-A4B3-59AD25BF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保存订阅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759CFC6-7BEA-4645-B5E3-851A45A5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4C897FA-D8C5-44B9-9D09-C2D015AD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信号由量化模型自动生成，请结合自身判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23B8B59-7377-4FB6-BBC2-659E44F9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BC85D65-AC22-46C4-810D-8FF98A2F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恢复默认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5B173E3-46A9-4C73-BC69-BD4824EB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965D741-6AE1-438A-AAD1-9AA7E7C0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订阅策略样本 3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C0B3A81-1B3F-456C-9C8B-36A30FBC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FC5ED4C-2AC9-4FCF-AA5F-9B197405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A4CC4D3-35A8-4241-8B17-AC4C1491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1CAB539-4214-4A77-9C15-BA8D3BBD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CA97950-FD4E-451C-B3EC-F9091F8D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960CA07-B7EB-496B-A7C4-8D92F9FA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保存订阅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04E8965-EDEA-4FF3-B804-6981AEE3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A5A060B-9C70-4426-BEEE-807A84CF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恢复默认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BDD6A5A-AB3C-4C2F-96F0-3A6EAED5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E807E62-4370-4849-9A6D-6BF61AA2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恢复默认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50EF6AA-BB5F-4184-8FA8-FCC6FD0C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629465F-2CAA-436E-A8AC-83212D56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4F0AC24-4AB1-4576-908A-7108DE4C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80D0CFC-0871-4A88-939C-B5FC46BB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543C4A9-64E3-48A9-9F54-545F23C1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905FF0E-6072-434B-8470-DC5DDCD4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导出数据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FD2F949-B744-4E76-87DA-B7A9F26E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文件：signals.html#subscriptions</a:t>
            </a:r>
          </a:p>
        </p:txBody>
      </p:sp>
    </p:spTree>
    <p:extLst>
      <p:ext uri="{BB962C8B-B14F-4D97-AF65-F5344CB8AC3E}">
        <p14:creationId xmlns:p14="http://schemas.microsoft.com/office/powerpoint/2010/main" val="13467561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CF51FB-3655-482C-A097-870A56F1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E2199-C2A9-4B8E-9C6E-BA0C50A7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0AA8C-D1A0-4329-8C0C-D2B57BCC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0A042-F969-4E14-A17C-1821361B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78588-27D5-4EB3-A7B5-ED209378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0D1D6-3479-4BFA-9BCE-071B2E37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CD63E-AF30-4AFA-BF05-9973B903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BABA0-27E5-4281-A234-E11C9FC1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0F8D7-88E3-4B84-850C-9B189BBF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B1AFB-C381-4AA9-815E-E7495FFB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F46BE-1844-4BD1-99EB-E99E6C3A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B714CD-2866-401D-A5CD-72C0956F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BFD142-2DFE-422B-929A-C08D3BE0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1E76ED-2D5A-4284-A132-31ADCDEB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989410-5490-4321-AF5E-C616EFDA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A8107D-9534-458B-B152-24273888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B0028F-ED97-420B-A7F1-FD73B04E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432A6D-ABA7-441F-A560-DA76F41B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2C4FF-9A02-42C0-BFF4-37F16707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DE5E89-BEF8-4DD3-9D48-2C06EF8F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1CF340-8B08-4E34-B4F4-7193037A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813805-BCDE-49E8-B6F5-A4FA9495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76F890-B12B-4DD8-83FC-BCFA0267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5FDB52-C7F1-4474-A458-E36C88EB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FFC5A9-AF4B-474F-B623-E3D4850D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20992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95423D-493A-453D-B9EF-27797A0E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E839DD-7686-4487-A853-E117A88F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F629A4-E094-4052-A590-8F26BEFC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57CFE2-7024-4A67-BA67-4C0E716C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327E7A-DD35-4C3A-AC37-80D93166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29826A-46A8-4139-B667-F5B13D3C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5332DE-4C77-4B2C-8354-56095191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26611D-DA39-45C1-8087-77FD7489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07F148-A7FA-42DD-8634-6FC13CAC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1E4A08-29E2-4C45-B82F-1DA8D107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61E4D9-B502-4203-8D8E-AA2C34EB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260774-CDD1-4112-9B93-6ABBA551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0C4266-4387-473F-B681-BC8BC400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54945A-AA65-4A4B-9F83-D3A342EF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8BD70E-20A7-4F49-94AD-CF200C3B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68C30D-1A80-4589-B5E9-2394D9E9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交易中心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935320-97C4-40EA-B8DA-B27BE74C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3322B5-96FB-428C-96E3-1833F8CE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2E12FF-7A36-4F95-A71D-1C53C68C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A71719-2831-4D18-A3AF-58CB26C3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6A716B-C2BF-4DD8-940D-821B6AE5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F7559C-21C5-4BD5-B716-88A32C46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1B1FA7-EA23-451F-A48F-543E3FAD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65148D-7F35-4280-915F-D19288D0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交易票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134C734-1D77-456F-BF73-BA2C54C0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买卖委托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CF564D-1D7B-44CF-96F2-37EB5B98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4768DC4-B491-4BEE-A7DB-289A6B15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7B2B12F-2215-4E26-ACEF-068F7A0F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风控校验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C57F74-2413-4BC7-A7D4-5DA8299E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仓位 / 余额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06C8152-A663-4FDA-B78E-730FF11F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0DF2D92-513F-492B-871C-F4B87B96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2A015FB-73E2-431F-BE0F-B437C172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持仓资金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0EB3156-7D84-494F-A910-9D11D2AA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可用 / 冻结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D80E177-1762-4534-8252-2BC5E613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2291979-CA23-4E92-AEC7-B8618274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980BBEE-EB5D-4273-A540-C201B2EB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委托回报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58422FE-9D9D-4BE4-96B6-8AE09837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状态跟踪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AA9D5C1-F7FF-46C1-82A2-25A513C6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160B113-B1C2-4646-8EB5-28FA5AA8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7D44019-2EC2-4709-92C4-35F7D955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交易中心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BC715F9-253F-4291-BF2D-22ABABE7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F157003-3BAE-4DBF-9DD0-CABAC0CD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B74723A-22CC-4E6A-9F0F-1A7F12AB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交易票 · 风控校验 · 委托回报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EEA15B7-AF56-4656-A705-7A6F431B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EE77377-1B43-4F1D-8C7D-7FCE68C2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6D803E3-61A9-47AB-AB33-28EF1B67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半自动复核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3BD55BC-2FCF-4C5A-9C28-72E2B4CB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E5C94DA-2B04-458F-9174-ED8BE9ED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67B4AA2-6DE9-4B32-92A7-301D63A2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交易网关在线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14518AD-08B3-4B84-A135-F1F4C1A2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36 · 交易中心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17A8755-116D-490C-A4F6-7A079B41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交易票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EE2E059-B890-43C2-8494-A3FE11E1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买卖委托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9AF61F8-863C-4240-AB79-0DE15AD7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A43A5E8-29B8-43F0-BFD3-B09B7D54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A217D7A-79A6-4254-AA9D-CD610C22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480A0AB-C88A-4001-8F5D-6A56D8CD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交易中心 / 交易票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4FBC639-86FC-42A6-AD48-D1069118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94A90B3-FA37-4EEA-8D60-6A709196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买卖委托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6BA3C2A-FE71-433E-83D7-30C2BC44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316F010-1E7E-406E-8AFC-883F648F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快速下单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BF3EA3F-F6DB-461F-B543-259F536D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5CD5499-BBCD-4117-B198-8AC0BD83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5E21A6E-1365-43E4-A6C6-DE360DE7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7997CA5-62AC-4749-B171-3785DC89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B947782-BC5B-4F16-BDFF-898E55DB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3A4F1E5-E1E3-489B-BD8E-10AA03AB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交易票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AC64160-3444-4419-BADD-2457096D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370DE5D-AAE1-47CE-88A1-FB916FCE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快速下单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3266225-FB8E-416C-96C8-A0F898D5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43397E2-A5EF-4F29-87A2-3FFB685D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50%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81B3635-92EF-4F8D-B5AD-168DEA32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F67087F-8D8B-4259-AA0A-2D23F53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75%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76F6279-6F4F-4361-9262-AF387C30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510CD7B-2606-4540-9760-9E33F52A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3E3908B-90FF-4889-9960-88868292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C9E2501-0201-4048-9BDD-2FDF029D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25%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BA2D4A8-84C7-42CF-A56C-1B60B798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8A1552D-DD1A-4104-B797-A905D2E7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50%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C00C620-C18C-4A60-A7DE-7478666B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B393452-E82A-431D-9E83-E86B4B54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75%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D2BE2E3-08D2-496A-B68F-F3EA0FC1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30652D1-DB8A-44A8-9B4F-D4831555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全仓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06FEE0F-0253-4603-A95B-7FCFE964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F2CB871-6A33-4FFD-A2CC-84778647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254BF64-0FE0-4076-96AB-4BC20C8A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9A4DAB5-A3B8-4896-AB04-514205D9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73FDE72-24C9-44CC-A6EF-FC1F08E3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70730BC-D5E0-45EB-822C-6C9AC5F7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DEC1DA5-F0A5-421B-BB25-C965FBF5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25%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2CE4BE2-F95A-4DD2-9898-B5AA85B5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A3E3CD4-7A59-4131-8669-5D4F272B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买入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D312330-77D3-48BB-AC33-552FF279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B46031E-786D-4521-804E-66438EA0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50%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D2C3C36-47D7-44BC-B551-341E5A5D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A87FC16-9DA1-4E58-8DE0-7BDFFA3F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卖出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A7EE5AB-63F2-48B4-9466-59E65AE3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90A41BB-ADDB-4040-BBBB-F4F664F4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75%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6CDC132-D640-48D8-ADE1-CB473D23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C86C007-832A-41FF-BF60-EE878C92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生成草案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5224617-74AE-42C8-9611-526ABA12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AC1DFBA-535B-441B-98E2-F3B997D1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1CACFE1-9B31-4103-90A4-FB3A1A76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BC753A3-D9E9-4A54-9334-C9A7E1D1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买入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D3DFE0D-5126-4D1B-AC9D-38660A80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4021FB8-D0CB-4816-9E55-5B4274B4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卖出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1261FA7-740D-425B-9DC2-5BA3CFB2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5D98709-F651-446F-89C0-D4187754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卖出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0FC575D-6BDD-4D49-A1E1-5C1774AE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2E854DD-C209-4FC3-8366-4E46E28B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生成草案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7336646-59BA-453F-BD4D-0C70E853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B91B15F-BE18-44D7-866B-3CA883E6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生成草案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0EF5952-CC29-4C57-86BF-2B7FA53D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6C6F9CF-82C1-4B31-A275-585D958C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写入交易票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FF303B7-17FD-4C1D-8943-519E0E5F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文件：trade.html#trade-ticket</a:t>
            </a:r>
          </a:p>
        </p:txBody>
      </p:sp>
    </p:spTree>
    <p:extLst>
      <p:ext uri="{BB962C8B-B14F-4D97-AF65-F5344CB8AC3E}">
        <p14:creationId xmlns:p14="http://schemas.microsoft.com/office/powerpoint/2010/main" val="45675426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FF221F-61A0-4AAD-931E-7B2D0D26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B92B8-272F-4D41-94CF-C0C26A00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44FB7-848D-4E43-9799-A8EFA91A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A1E5A-0403-469B-97D6-6C7EE92B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47856-82E2-46B5-A513-8864773B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50CC1-671F-41C4-9824-05A43342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9B9DF-87E8-4B2C-8016-E23C84E7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A2542-7D5D-479E-A6A5-B1AF6E03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5CC6E-6178-4948-B3B0-E71FF315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83BE9-17FC-4FB9-9876-59EF6EBE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9B33F-5919-4DA7-982F-B015B5E9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F8520-E3C3-40C1-98E0-A5FDBD61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85C1F-7CCA-40AB-8B46-358F0E09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CCE3C-69DA-4149-884B-C20264AA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4A4651-455F-4FF6-9577-CF3A115A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1FD54B-A0DB-45DB-870E-A7CF21AD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AFCE5-C787-4C71-9A67-5BD8FECD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A4B9B1-6409-4CD1-87A8-6B8CB7EA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814461-35E1-4F53-86E1-4496E328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61E309-C3FE-41F9-9FA1-505DC174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5D154B-05CB-4F85-B562-3842FAEF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A339AF-2C86-424F-963E-AD128177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60A65B-3B10-4827-83A8-B83FE62A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12C8D2-BB09-4D97-9A11-C9D54C06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191DD6-2E29-4573-999E-55CA2418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20992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CF8AAB-9652-4BA7-AE41-39EE24DF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1461DC-3086-4710-A74A-1BF52C75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409573-32C5-494F-A129-06EBCCCA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7C6CAC-D55A-4A71-AB86-010D7F3F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60C4EC-D578-4451-8432-E60CACDD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16901F-768B-476D-999D-CD9EF3AC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8ACE70-9F7E-44C8-8871-8DF9BD4F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ADE963-AF12-4C3F-ACA9-EC0CCD40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96AD33-FA61-4239-8173-AB4B6FE9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75DFB0-ED32-428A-A215-B54DBBA9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695192-DB69-46BB-9D9F-E9F2E984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4E2C36-B15D-45B2-951E-2F21AC37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761BDE-51C0-45BC-BF32-35A684D6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E1EAFA-68B7-411A-AFE6-01E007B6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A278C2-2FF4-4932-93F4-CB5AF86C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03EFAF-1212-43B2-9EA8-044B4E95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交易中心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726291-798C-46A2-88A2-5F0712C3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9517C1-4AC4-4017-8811-AA70FEFB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5C26F7-60F0-43EE-A538-AF9130BD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612988-9EFA-478C-BAEA-BEE9B9EB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C08AFF6-683C-43EF-8A5A-7231A831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357D61-29C0-4977-9060-7DBC99BA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4276D1-4AC7-48CA-A241-01FCB132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630A24-82AF-476F-A265-7F038A7B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交易票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002D38-D618-48C0-BFA4-81CDDA71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买卖委托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E2E019-42EF-4C50-B449-8E90940E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55D1F8-0786-4987-A883-8414B552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0931C73-2D76-4ED6-97E7-F0E571A9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风控校验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7913C8E-F055-4C0A-8B22-D4286BAF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仓位 / 余额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EF64AF-2900-46BA-8C1C-A1E73449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3BA9413-F02A-4AE9-B142-1463F615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4ED3C68-4889-40DC-8618-104E89DB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持仓资金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0CB38BD-A798-4B2D-9AB7-C1BF08C4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可用 / 冻结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14EA3AD-6DD1-4ABA-97E1-D138D042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B9AFAF6-5A6A-47FF-96A1-AE19A5AB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AB93FAE-2524-4F44-8BCC-F84D24AF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委托回报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0E5AFB7-E871-4D7B-9F28-E6055860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状态跟踪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3AFEB8B-737B-49CF-9899-934232D6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38438E8-FCE4-4E60-8A2A-08C36EBC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024363B-25FF-4789-8684-15321944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交易中心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DD06ED2-5103-4765-9564-A100E6EF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32A62D6-DD54-466D-92A8-DB797939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6ACAEA8-CF0E-40CC-A1FA-E899E569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交易票 · 风控校验 · 委托回报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DE81AE9-DC41-4DDC-8873-F1A3F29B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D7942DB-8083-41BD-85FB-ED7236C6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798187A-4A09-4CD1-969C-236FB5DD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半自动复核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4ECCC0C-3F71-43A4-B5B5-5D847DD8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4874CBB-2FAA-4DC0-BDB5-93930E48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6781AC1-B8C7-4BA5-990E-BECA9323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交易网关在线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5E9F413-E928-4083-9C08-5FFE4B39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37 · 交易中心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AFC2CFA-7201-476F-9852-E0A2A2D0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风控校验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A7D5C35-EB8D-456B-91B9-08E7DFBE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仓位 / 余额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8EA1138-DCF7-4606-8FD8-CEB063BA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BF6FA65-FA88-4952-ABDD-6F3E2754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30680A1-E4B0-4B3E-8359-E8539A10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A3E1F5F-0FD8-42C7-B462-C2A68942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交易中心 / 风控校验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4E3BA8E-1DA1-40B9-BF41-9DF8FCB1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8523606-9965-45D4-B5E6-BA3A96EF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仓位 / 余额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25A25FD-307E-43E5-9941-F080C094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FD7590E-13C5-4431-95DB-5D8FDB45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承载本页签核心数据判断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2B7C4CB-66A8-4A32-B41C-8721E41A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F3A1568-082E-4E34-93EC-98B380BB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C826894-B21D-41EF-9F24-6A9F34BC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ED28FCD-197D-4BD6-BC7E-09C409D1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639C9AF-E94C-4E04-8559-1B33B5FE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B434919-B971-48F7-84DF-23A8CB4A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风控校验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F2A05E6-FB8A-4554-A1BB-6949601A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946C176-AFA7-4054-BF7C-AA86C6F7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状态摘要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6C14C59-9FF2-412B-BA99-7FAE05B2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F5DFAE2-7CA8-499D-B439-58352DCD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明细列表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60BAA59-73B6-4BB7-94E6-D478642D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AF8AC80-E933-4A18-93CD-DF40B803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联动结果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BF53B3F-CA0D-4A80-AEEA-BF0DC6E7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A742B39-9904-4C81-B7A3-A7210DEB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BBF634A-2298-4659-903F-AB0C3ABF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BACEFD0-35D0-4E41-8324-F9FDCBBD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数据在线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9AD06A2-A0CF-43D5-82CD-FA2E302B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51B741C-13ED-4170-914C-5BD053D1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风险可复核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8BB5179-C4E3-4703-9ED8-397C7123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BFB16B3-7A75-451C-9E71-76E046E3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支持空态 / 加载 / 错误态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35C4CDB-CEDA-44C3-BAD1-32E4AADB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218DF57-5E25-49A8-B0A6-8A638351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C819089-0552-4B4D-8992-EAD9692D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CCFD323-458F-4689-9496-8AAA3ED4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E0DB494-1AC1-4998-A7C6-B2C0E43B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730EBB3-A75C-4E14-B4BD-E0ED9071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A67FC61-4859-456B-94A3-F003B29B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7FD891E-A90D-4E76-BCD8-648162E1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CEABF2B-5192-438D-8E57-706A4339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风控校验样本 1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2811CE8-4194-46E1-860B-3642F692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A46C19F-AEB9-4882-9FB8-E031E34B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确认买入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6C64B5B-11A6-477C-9E24-4ED29B56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D4CAEEC-A7D0-4E4B-BC7F-58B67899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风控校验样本 2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7861733-BC74-40AB-A877-BABDC214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30EA911-C830-4984-B56F-FCA2DECD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提交复核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F09CB2E-9FB7-43A6-9660-93253365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212D8B5-CE0E-44F8-A1AA-AF260A70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风控校验样本 3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6CFF09F-7DD8-4DD5-B6D7-37AE2662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FE5BA2A-6280-4CC3-8DBE-38B4A522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导出证据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B6B1C42-1399-4650-AD11-25545C2B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88ADE3B-13CE-4127-A8B9-04F286A6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BA13210-9857-4956-A9D4-682E0F3B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8A13991-6812-4274-8594-756231DE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确认买入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5BEDF76-DED3-481E-9F6C-C76D89E7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CC0711D-66E8-4BCF-8D5D-C4D928F2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2785BBE-D28D-4840-9126-769EBE54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9C0842B-6CD9-46C9-B5DD-0FC5F22F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7728ABF-B74B-47A2-8819-6E3B4693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3E4FE7B-AABA-4BE9-9986-4AF6AF51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导出证据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925540B-6136-4E1D-95CD-412881FE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037E957-757A-48E3-B208-99D8A630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导出证据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89759D6-38BC-4818-826E-1AEC8D69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D0D215F-DAC5-467C-ACBF-DC76B226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重新检测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E69A4BF-D571-4C97-BE83-AFE1B224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文件：trade.html#risk-check</a:t>
            </a:r>
          </a:p>
        </p:txBody>
      </p:sp>
    </p:spTree>
    <p:extLst>
      <p:ext uri="{BB962C8B-B14F-4D97-AF65-F5344CB8AC3E}">
        <p14:creationId xmlns:p14="http://schemas.microsoft.com/office/powerpoint/2010/main" val="161192573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99BDA6-CD0A-468B-BCA0-1067D1D9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FD88C-07A4-45C0-9529-E62B6CBF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4B80D-674D-4A7B-98FA-310005BA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4D89C-181D-4876-B92D-6275BF69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3E44F-D862-4D01-9CD8-9AEDD463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E5494-215D-4496-8581-FBDF5771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FF771-5F03-444D-8448-B80387AD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B2648-B925-4BD8-8D8E-957322CE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866B8-63D1-4BD3-9B19-2D858A0B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821C1-1A88-4A70-99B7-BC45A0F8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205EC-6203-4E38-B47E-F0FA70E2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147B7-0816-4A02-B23F-0361CA5A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EFE6E-DEC0-47A7-9DC3-B66B3B2A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0896ED-06D3-4651-8A24-DECA751E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E56FEF-962B-4428-B046-D8D0CB0D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A0283-8E10-4B96-8FD6-B2A89E11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A00D92-BB4F-486C-B1F4-49DCE751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44701-3093-4F2C-871B-E87428EA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379B58-DE07-4A27-86CB-1AC58E75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D20C74-8E90-4FCD-9298-8C012F3E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922ADD-AB61-4A74-A1CC-2BE1C3C7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46141B-1898-4F15-987D-52E8039B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274F25-253C-4B5B-B376-0501167B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621F71-3862-4262-922F-D4B18078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15EDF5-9A00-48BB-8B4C-76D6E93A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20992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2F248F-6EE1-4AA1-953E-BFE1EE97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614436-F376-483F-89AE-9D79F7F6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87FA69-23AF-43AE-9C59-18A19A6A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C61186-835A-49CE-92CC-961227F1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595834-7B51-4A4D-8949-3ED71DD0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22D83D-E906-42E5-8D82-69DD8F90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7EBC4A-FFE8-421A-AE0F-32DD43E9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9E5506-F766-41FA-A971-894B325B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BAA980-1151-49DF-9F84-B7ED602A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3C418E-AC8D-4D0C-B874-FCB02860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2DAC65-256B-4031-9B6A-CED2000A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15D30E-D85C-4948-8B77-4890E3C0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04D23D-9F4A-44C6-ADE9-867722FE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F28239-7C76-4E86-BB72-9657DDF2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29E787-596F-48C6-8F66-FEB40F07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2082EA-2939-4C8E-9C34-ADB48E08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交易中心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5C2B8F-84D6-430B-92CF-8D48AE70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7E4366-D304-4D78-8962-B66DB70E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717247-544B-4015-B039-B91D2C00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B79AB4-A34F-4D32-9ACC-DA4E81C4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7D0ECF-A98E-400A-8535-E22C68FD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5810BA-18A8-4F2C-A9C0-FF454CD4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67E1B7D-866B-40D1-BC5A-B3B88A25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06989A-182B-4C7F-97C8-8B1B02C8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交易票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8714487-A117-4232-A734-63693A16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买卖委托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74FDB4-8AD1-4CC2-B453-A7332328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76B47B-3694-490D-B9E1-584F39D5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CE64E1B-52B8-4D67-A1F2-B1EB4255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风控校验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08EA715-B1F2-4B2A-A0B7-64C15E27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仓位 / 余额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6C5FBCC-3A9A-44C2-A4D8-8238DEDA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2CF5FF1-E40C-4CD0-8B05-BCC97FA3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7754B03-2AA9-43F9-8D13-4A384432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持仓资金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9BD84DD-D7B6-4B30-88CD-EB860D1B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可用 / 冻结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AD711F4-530D-4DD6-B2A0-EFD1A202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B9E76DB-777B-410D-9A36-B5B83E69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0415E70-96D1-467F-9A13-B285FB15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委托回报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35E059F-C0BC-4D7D-945E-8C38A236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状态跟踪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C009563-BF6F-47A2-928A-9BF35369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6047FE2-B309-4131-A316-B83125F0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71CE436-76B2-49BF-9FF3-320F0A59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交易中心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725AB42-865E-4859-B6A1-0767D85C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AF2F4F7-4A48-44CF-BF84-21E12762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5156961-ED73-4163-AA42-15B8E449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交易票 · 风控校验 · 委托回报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C7D96EE-8894-45E7-A365-1D65606D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A9E3207-30C5-444D-88DF-2D1A27BB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A38AB16-4CF2-413E-956E-9BCBE2BB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半自动复核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45C3DFF-A103-4F72-B508-EAE5985B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FCE98E5-D8EB-4856-B1B8-CF783EF4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D38ADB1-4A1A-4F3C-9024-4D9ADCC7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交易网关在线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2E20DAE-77CF-4287-A434-B24AC2F7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38 · 交易中心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92E417B-249C-4CC0-9ABA-00ED897F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持仓资金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D49B6DD-F206-43A3-A572-2DE271A6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可用 / 冻结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864D6B8-911C-477E-948D-E968CCDD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222D7DF-DDAC-474A-A70C-96EF28D7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5659014-2871-4B15-BCD0-C88A40CB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8E707FC-4F09-4A7E-97D0-4A7BA94B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交易中心 / 持仓资金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A9718DC-018A-466A-983A-3FE72C29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4BE5CB2-F000-4514-B69D-93B06B13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可用 / 冻结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AB63527-5460-4F74-86CC-B0A41F1E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9399A7D-F946-4F7B-AA8F-2C2B8674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当前持仓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AF38150-A78F-47C0-BDC1-ADA692D6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2E318E3-77F1-4B5B-A81E-965F700E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7898AB1-DEDB-4CF0-B5D6-51D72EE4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DDB3604-6608-4F8B-BD13-222D2799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F3080EF-FFBC-4F68-B336-43C29964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BC1B1BD-CAFA-479E-897E-709798C8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持仓资金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A638420-E32E-4D01-974F-D46AA56E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72A31AD-6AAD-4ED4-9195-4C33B148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当前持仓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EB949BE-6BEE-4882-846C-B3FBB3B8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A30909F-3F97-4B72-91BC-3544E879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id="position-view"&gt; 当前持仓 5 只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284FA4E-E02C-4B79-903F-A6905BBC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09E3B62-7A27-4406-9C06-9300FC11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联动结果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A035325-6139-4F62-9149-DAC69642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FCD6FA5-9A7B-43A3-AC17-72C645C4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A1623CA-AC8A-46AE-939D-7F6D279C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B1A33B1-426C-4D47-8FF4-AFC89FB7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5 只 · 总浮盈 +86,240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158ECCF-3ADF-4B11-93AF-AC630B73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FB42DE7-D83B-4B7C-8A2F-488F2679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id="position-view"&gt; 当前持仓 5 只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7318FA5-A4EE-4A74-B4E3-38B03909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654ECB4-87C6-4618-A85B-81BBD8C4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支持空态 / 加载 / 错误态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A368B9A-1B2E-4FB6-9004-E48CA442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7A4FF11-4052-4F1A-9C7A-81774D3A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827A184-19F5-43DA-9DA4-806E3F01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02FAB97-728E-44F1-8CD3-7AAA23BA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938425B-EFE5-4295-A0F4-42BEDAEC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81D9829-D682-4857-B12F-7FE77CE9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95EF850-59A4-4832-97A5-344C61E2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E9DEB5C-5500-4985-9C8D-A449505D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421E306-3268-4584-8877-42A1B4BA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代码 / 名称 持仓 成本 现价 市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6DC819A-5466-4481-9F7C-588B9846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4D68C35-F13C-4DDA-8F34-C80EA499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卖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16BB273-8EFE-4B41-B221-7BC163CF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86E614A-F0EC-4786-A8ED-216EEFF4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300308 中际旭创 2,000 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C43D519-EC97-456C-A6D7-8BC9F6F1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7DEE3F7-D838-403F-B070-800B68F9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27A0620-3527-4E2F-8737-832A5B4B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EC32E49-474C-4ED0-9D25-956201F7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300750 宁德时代 800 23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A48CFA7-C17D-437A-AC80-35E0C5A7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37D8D8C-F443-41C4-BB55-C0918BC1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导出数据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463A74F-B5B3-401D-8ED7-663FFE8B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7F8390B-0336-4551-871A-83615AE6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4306D1C-6167-4EA1-846F-47FEA468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2EEB1B5-1BD4-448E-87E4-C1DE9F45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卖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E8E8B2E-2C92-4D4F-BEC8-847FC022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20E2497-A582-42FC-BB19-44F26B0D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6C68E56-568F-42F8-A1BB-2336F100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59DF524-5DF3-414D-A9D1-6EBEB535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C4C6735-789F-44D4-B0A4-939CC5E3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C17DA0D-1284-4989-AFD6-11D35736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4267F8A-2AED-433A-B3F9-EE5DC7DF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E081E31-0EC5-41CB-B5D7-029952BF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7DEFA29-8A85-49EE-9172-DFC57491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E134A92-4566-4804-87CA-B4337F2B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刷新状态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506E0B4-EE7B-4EA0-B8AE-6D5ED663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文件：trade.html#position-view</a:t>
            </a:r>
          </a:p>
        </p:txBody>
      </p:sp>
    </p:spTree>
    <p:extLst>
      <p:ext uri="{BB962C8B-B14F-4D97-AF65-F5344CB8AC3E}">
        <p14:creationId xmlns:p14="http://schemas.microsoft.com/office/powerpoint/2010/main" val="214154215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FD5BF5-2BE8-42A7-A739-282A1E1E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30A05-48EB-444E-B246-13476B04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F5BBB-3330-49B3-95A1-221B157A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BDA0F-CFFE-4E8F-B93A-D1EE7010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F4C3C-23A5-447D-895D-E59EA406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559A2-BB30-454F-BA38-3E8E73B5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C7D1C-68B2-4394-BA00-209CF398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1D2C9-25AF-4A40-AC58-64F86967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935B69-CB19-4C48-B426-0BE5C213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4250C-AF43-497B-B078-8C6C6B8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B5166-A51D-4904-A732-CD11F18F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F0C0F-FC57-4A02-84E0-C23D7CF5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EF151E-269F-4823-B02D-2FDAE16C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FEA03-96AC-412C-86F3-8D64CEB4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2E70C6-B799-4775-9205-FF3CC54C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62FE11-6AE4-44FE-90FF-4740841C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9C65E-A7B3-4A3D-BAD4-A0E3CC4B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FF6803-F50F-4539-9357-1043BAA2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E09449-99B1-4DF7-B9E3-BE542861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A63583-1007-44B8-99E2-B6C4A471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8A3D02-33C4-489B-BF64-86FAB70C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B9F936-AF3B-4B88-A24E-8FBC7DAC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FA50A5-08D4-4D9B-AA73-A5875774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75FABC-2275-4236-AE6D-B0226FB0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9BCC98-B8FB-4AE2-A659-528BBEB2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20992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6A0C69-F3EE-478A-9CA2-0BC6F29B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交易中心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94C7C8-E991-4270-95D8-DAF6D8A7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72A130-295A-4B87-A871-1071E7E6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C1B63F-96FE-4086-A283-631B425F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38ED74-1653-4217-B95A-608F24BA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59D783-B8D8-47D2-9EB3-E496A2D4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468FE8-4D5E-4063-A761-1DEF60BC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978428-E4F3-453D-9C3F-A97281E2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403C35-3C60-4DB9-9BDA-37CB33D9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681BB1-9178-4E46-97F4-8ED84C31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787095-6789-43A6-AEAF-7B5FD8EC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627C8B-8767-445B-9C20-5316B508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268AE6-802F-46F1-B6BA-B42AF67E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58696F-5B5B-4F76-9FCD-57C0A55B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F91BC4-3B31-444E-B31B-2CD27BEC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61F206-32DF-4B5D-AA67-1071C1D1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交易中心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5252D6-E6D5-4E4F-A9B3-5757A3CF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137D41-DA15-43B1-86A8-B5CC9BFC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D7D77F-EE33-4FEF-B89B-350A5FCB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06B661-3B4A-47D9-A8A2-04F62DE7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DD5C79-E25A-40B3-AA45-CC093036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4372AD-C2D3-4658-9EB9-C74E61F5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5DF1A5-C88D-443E-A004-6FB4A519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E517BD-0120-4547-ACD9-328ACD41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交易票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B7486D-1DB0-4B0A-9AD9-EA51ADF6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买卖委托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C7FBAB-24FA-4B27-8742-CE54901B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DCB0C5E-A928-4AFF-936F-63592748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821069-1ECF-449A-8E00-6B3E03F8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风控校验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AA0FBED-2841-4AB8-B023-170D6A4A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仓位 / 余额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EAB25BA-6E73-4213-9699-EE29BAF6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19C532-E332-4E48-BCCD-64E1D587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5985F12-CC6F-4FF9-9352-F427ED24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持仓资金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62F4BC8-1FEC-4B7B-889B-72CCA038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可用 / 冻结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7843FD3-5D23-4091-8BAA-8AC22B40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7EC76E4-1461-4920-BE01-E85AC68E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40B4C8A-CCCF-4514-BC15-7F529024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委托回报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8BA1039-4C3D-4BCF-A3E7-96DBC454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状态跟踪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EB4E8C3-78DD-4CAE-9460-E977BC1E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AAAF498-E74D-4658-83CC-3BEC27C8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5898232-2523-443C-8136-C8D95D9B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交易中心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021E30A-4DE8-4207-B641-7A8ECB2D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1CAE3D9-8DC0-4A6C-BE4B-D206D96B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ECD67DA-0955-42E7-8BAF-8A0C153E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交易票 · 风控校验 · 委托回报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5EA1B93-BDE4-4DA7-8F1B-A81DC77E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9B34164-9FBA-4803-B641-796CBBF0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98B0828-EC36-4265-872A-385EFDA2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半自动复核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3B622B3-2DA1-4B21-AD5D-CD9C6541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F039CE2-62EB-4BC2-96DB-BEFEB8EC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774DD19-9134-411F-BD7B-03B57F15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交易网关在线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2E9F0FE-2EBD-4732-9927-7828B847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39 · 交易中心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4598473-1805-4709-B8F4-8E08B418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委托回报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9203C42-589F-41BD-A003-C400FAFE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状态跟踪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2D556A4-E0BA-4249-8A81-18CFDB1E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D042751-18E2-4AC6-B5C5-D805F6A4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88BB193-4386-43B4-8C70-BAD1F0A6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64F5015-2266-4269-B58C-FA2A37FE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交易中心 / 委托回报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0D3CBAF-28E6-459F-A552-03C01089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88D6FE4-C271-45EC-B2A3-C35397DB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状态跟踪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46F9D9C-CEA1-45B3-B722-53940243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5896139-E401-4A10-A984-DF34442E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今日委托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6AA40EB-6C37-4888-8EA4-E107B1FE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CC8247D-05AE-4B95-856C-7CD9AC88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F4258F0-E576-412A-90DD-EF6A2E1A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23F1BB2-F831-42BB-A5E9-E765BAEF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66D0E59-846A-4785-9862-CF20A40B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40DE032-A5F5-41BE-874C-98A5D009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委托回报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F744DB8-17DE-4D2C-8596-4EA38324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C773BD1-BCCE-485D-8CFE-C6194EB9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今日委托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15674FF-C7A0-46C0-ABF2-7518B827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71CE94B-46C1-454E-AE0F-6439C5A5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买入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94AAE10-9083-4C35-831C-AE74004B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2143163-D25B-4C83-BB72-5EEB3ED0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全部成交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26C8F88-92B8-455F-912D-A383AA82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1C72DFD-AD11-44DD-9F36-70EE15C2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5A7FB71-C911-41A4-B593-D11C0FA4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525F8AB-4665-41BB-8C2E-B601710F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4 笔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98E228E-460D-407C-83D0-395FF5B2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BFB4422-AF38-4D0E-835F-F0244E63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买入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71EF40B-B6BD-49D6-B640-C474A235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D4608D2-B798-4734-9CA0-48DA1CF0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全部成交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4CC310E-2ED7-4C45-B5DE-5F220C97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28577B0-05DB-4E3C-8B92-D81F846E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卖出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2C31C16-F86A-4B4B-8B26-7C532442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E475BBC-14E6-4E27-B394-F92A46F3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20C1C95-CA8B-45F1-8CDE-8F55587E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3F48C0E-E09A-4E78-99EE-B9286307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8DA061F-0222-4477-BD2C-32676732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1B8FA48-0158-464B-95E2-31CCDDC8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DBB110C-B6A9-47DC-A19D-4BF98366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时间 代码 / 名称 方向 委托价 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6F5047B-7053-4A3E-B308-9E56BFCB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DCC0554-0721-45EE-A2E5-6D51478D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生成草案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16A5FB0-6641-4F5A-9B83-9651B6BB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8850922-5CA4-445D-9647-44FA79C3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14:32:40 300308 中际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55FC480-D816-46C8-8046-D05DE327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E36B044-5984-4B92-867F-8A60C4C5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写入交易票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BF7D60C-3272-47D4-AF4F-784FA018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8612793-E8D1-4D87-91A3-97F634E1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11:21:03 000858 五粮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D7F2632-8121-4C99-9BDF-06CB0030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F202E52-67E4-44A8-A8AC-87EEC9A7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提交复核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00871C7-BCEB-48D6-9D97-F507A67D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23AF7AD-E513-4060-ACDE-A00748CD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808F75E-1874-4E1F-A4CC-57891572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564FA4B-5DDC-4866-A55D-E995E0A8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生成草案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6FBB260-30DD-4BF5-87A7-59131432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8B7DFE3-56FD-439E-A525-51A8ED4E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写入交易票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FE38AD8-3A1A-4AC1-9BB7-5289E9A6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58493A1-4CB5-4423-BB75-366DBD5C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写入交易票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478785D-5C9B-4277-B7EB-A07B002A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516F0A3-FFDF-4357-99FE-0AED1E5D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AAFB414-5FAE-46DE-A581-0DEB4BEA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E303F5A-0F6E-4F28-B20C-34607525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4972371-BEDA-491B-8D26-F4206FB8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4DF78C9-5213-41BB-8EC9-3D2CF303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写入审计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181194B-00A1-4721-8112-F3185CB1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文件：trade.html#order-feed</a:t>
            </a:r>
          </a:p>
        </p:txBody>
      </p:sp>
    </p:spTree>
    <p:extLst>
      <p:ext uri="{BB962C8B-B14F-4D97-AF65-F5344CB8AC3E}">
        <p14:creationId xmlns:p14="http://schemas.microsoft.com/office/powerpoint/2010/main" val="95675578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BB862B-C166-47D0-9102-A7D35E9C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4216C-1BDD-4945-BDA6-0DC829FB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7E96F-6DB8-407A-BF06-315047F4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99DE9-745B-408B-836A-3E56A194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C9C63-097C-4AB4-B555-62B31E88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726F9-A389-4BEC-AE59-6EB5E591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D9EFA-7ED0-4B6E-85F5-40ADBA70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BEED6-6FC2-4AE7-93D2-33091E3A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5957A-DDB7-4C68-8F59-B2E34663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38793-57F2-42A9-9851-31ECF74B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E1A63-083E-465E-AA1A-72B2E906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9A7867-09D4-4669-AAEA-7F00E746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F7298-A7DB-45C3-B885-8A2974A7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302C2-E09A-4A8B-B19D-B0761F4A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02FA68-84B1-4A69-9AC8-39802600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58984A-056B-46CE-9308-CE0AC6B8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12001A-C3E9-41A7-AED0-4B5A02B2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D511A3-059F-4760-B06E-86A6F0CE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E4BD0-3D1E-41BC-8FBA-84D68BFE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F23E7E-F635-4814-819B-9D073A19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5E6269-0F72-46B5-AB33-95340DFC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EA47CE-43C0-47F1-9B60-3AC4F10C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042A64-E656-4374-B5DB-74A0A96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190044-4223-4DAB-BB8D-8C831CD9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A0472E-06BD-49ED-9F75-2442BA7A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743310-7AE1-479C-9D67-A6BB325D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D11B61-5761-4F2C-BE31-0E0F9B52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50520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7B07E9-FAD8-4601-BFBC-E130BE49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FCE1BF-D8E6-4305-BB92-A74E7FDA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762BE6-4B7F-446C-8116-DDFAFCC8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24FB35-B90A-4841-BE08-FEA7D6BA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379AE7-DFD4-4022-9EA4-85556D04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9F2375-78A5-493B-B106-9EA6786A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6D177B-5A89-4F96-9E30-709DB37D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6B99B8-E840-4272-AFF5-648FE233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CAC248-A328-4190-A65F-21C9966D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2DD434-E879-460F-BA81-80D7D948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555F04-B4AF-4755-824A-ABABB6F4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D9EFA9-441E-4520-ACDD-C12C62AC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33E0A1-5E65-4392-A7E7-E22902FC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51F1CB-886D-49AA-A1B1-B7F243EF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量化交易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7C025F-4C31-4725-BD5D-79F27FE5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1FA1B2-48A0-4F1F-A38F-6274C9D6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7800E8-88D2-45FE-8CDF-5E47752A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56D903-BF6C-40E6-BEFF-767DA2FD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0EA4DF-2DB2-4E8F-97F5-53344D97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D16C6D-3616-4C1C-8F0F-F77E661F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1BCF580-B740-4E14-9CE2-CB6D3CAC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40E996-17C3-497C-9A1F-BE41E9C4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策略实例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9603CD-E31A-47B1-AAD2-A050F4A3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运行策略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7BF03FD-C9BF-4D77-BAB8-2B54A290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B35B5D0-1A81-41C9-9560-E68123BD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B01A7E1-4274-4894-9B6F-99F4EA96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运行监控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B791CFA-E4B1-4F2C-8117-7793ACBC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成交 / 延迟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8A60452-0407-45FC-91A2-ED98FAA2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D615AC-7ADD-4DD1-B1D3-F2AB4E45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1C56206-8B0B-4EAB-B870-889DF0EE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风控开关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4B2420-E027-44EA-B715-57694172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人工闸门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1C8CB96-EB91-4D80-850D-286C4320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3F980BA-36FA-42E8-9FAC-766E67EC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4C74C6A-6C23-42DC-A7CA-B416F56C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执行日志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9105534-837F-431E-AFF2-CBF6E728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审计记录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1125ADB-1749-4281-9651-B60331C3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7D38C1F-9D1C-47B4-BE69-DDCD04BE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1CFC017-9C6F-4723-93C0-FABA3C77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量化交易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91DAAF0-649E-46C6-A15F-83711EAD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3382A6E-143A-443B-A81A-E044FA5E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DAA929A-B58E-4487-9C29-80B095BE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策略实例 · 运行监控 · 风控开关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4C17BB3-207F-442B-95AA-58E80460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823494F-E146-499C-9126-86E26CAE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E2E247B-2356-45CE-B43F-D3F068A4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3 运行 / 2 暂停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085AE41-A838-441E-856D-32E45445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A0EAB43-F3A4-485D-AA24-8908A5E2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B92269B-7E35-4609-A6D6-6B47A6ED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执行链路在线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97622D9-7B72-4034-9762-98903402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40 · 量化交易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32A8C92-D88A-4BC5-8EEE-98B36E42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策略实例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F2881CC-C0A9-4159-BD75-DC21FC09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运行策略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4E9F3F4-1786-4B77-A02E-21A00047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4CEA957-7C8A-48C0-98BB-DF2417AD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A7B73D3-D5EC-4366-935A-5E7621C5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F75822B-C3B9-4A5F-A1E7-64738013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量化交易 / 策略实例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ADE1E31-4A10-41FF-AF03-FB2EEDE3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3D5BF0D-C710-4225-8F0A-03B53D05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运行策略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CE6ECE6-37FE-40E1-908E-256FEAC9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C4BC9E2-E4C1-49BE-A999-D1F16598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运行中的策略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A796EBF-4568-4805-8319-8D25424D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0F0847E-0483-498E-915B-3B9E8939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1B941B1-B4C6-415C-9E4C-77BE60D8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0E2FCBF-5FFA-4DE7-A2AF-3828C095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E446AB9-47E3-48A4-BCA3-E2F51703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41A1614-262E-4F9E-8FA4-63BD35D5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策略实例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B3B5FA9-E9AB-41C0-A666-58CDF81D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D4EBAEA-57E8-4D3C-A1FF-A78A13ED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运行中的策略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11E104F-09B9-4AD5-9B98-7D1A0368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C1F241D-45FB-4494-BB9D-1A48388F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运行中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F9FE60A-CD11-4EC9-B278-EA93F2AA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9A22A8D-C6BF-4F4E-98C9-E6FB1F83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已暂停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B46E976-8929-49D8-BCFA-0E32DC22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543E5F1-D045-4A4C-9E46-1F4FEC92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69479FA-BF9A-46BE-9298-44851751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7FE3794-ABB7-4A3E-AAB7-B94B90DA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5 个 · 3 运行 / 2 暂停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693973D-A502-4830-A55E-BDE9C374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BC09CA9-1011-45A7-B7D3-53F274A0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运行中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8E21B43-858F-431A-A9F0-CFDBB1A4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2B10964-CF5E-416C-9D40-9CA6E4CB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已暂停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DDCE2D8-CC36-459E-97C4-BAFD4F87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35B6C41-FCF4-4E9F-82F0-FE55B20C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id="strategy-instance"&gt; 运行中的策略 5 个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578CE04-33E9-4C58-9FBB-F45BF58F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881D1B5-CB04-4F14-8F32-D5C785E8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0429233-9620-456D-9BBC-1B615D7B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A5E55F1-47E5-41BA-860C-92A77EB1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4573B80-0A01-40AC-A7B1-082E37F4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FB5110D-4A73-4236-B7FC-7F9860AC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43CF9EA-BFF5-4362-AF61-140B6875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5 个 · 3 运行 / 2 暂停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E9FCA6B-75EA-441E-BF70-46FCE761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48839AD-4432-42F6-B11C-99A8316A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克隆实例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218503C-3CAA-4E53-80E2-A0316266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5AFD700-4488-4DAD-AD46-FDEDD295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运行中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2104065-45A5-41E0-9C3E-32A25217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D5A2F0D-935D-43B5-99D4-FBCD0468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暂停选中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EA95956-11E8-46FF-88AF-E8A28567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998C6D4-D1B4-4AF8-97FE-E9D452E0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已暂停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AE8BBF6-6185-4F35-B27F-9E0F6663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DAB7427-F3D5-4AC5-98A7-4AA962E2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ED320BD-503D-45B3-A308-362F2019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D17E79A-F95A-4669-BEEC-B36643F6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F49FB52-7BA2-435B-B946-C0D9C455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8E4C71F-9425-48AF-9F5A-81B6105A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克隆实例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913FC5A-3552-46AC-9BDB-CDA5F5D7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EB258E6-1E25-4832-B8A6-43613EA1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暂停选中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71E3EFA-1575-45E0-B7BE-605C2338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E702D07-B30A-4243-A3B8-7BB26B60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暂停选中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111E723-648D-4458-AFEC-E0A084F6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FA59B47-49A5-4DB7-B425-0BB0EDB2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985BC8E-3123-485B-83D9-D077BF3F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B3A9EE0-C88F-4E55-9203-DE773BB3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2B9C947-23F5-4401-8E32-8DBEDDB1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2A3EA78-17C0-478C-8CDF-71027B43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导出数据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3148FFD-0359-45B6-BE27-AB9F6037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文件：auto-trade.html#strategy-instance</a:t>
            </a:r>
          </a:p>
        </p:txBody>
      </p:sp>
    </p:spTree>
    <p:extLst>
      <p:ext uri="{BB962C8B-B14F-4D97-AF65-F5344CB8AC3E}">
        <p14:creationId xmlns:p14="http://schemas.microsoft.com/office/powerpoint/2010/main" val="177653999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FDDB21-405F-4F37-ADCF-26E2B07B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976BB-56D2-4155-AD33-6FABBBF1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32FCB-89A4-4F80-8B1B-FD0CA6F8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F1FC8-1673-4291-8E55-F1E5681F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7CD92-2AD4-4678-9EC9-A5D9D3DC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E5DFA-AC87-4A00-B9D3-BCE92761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9A4B0-F5EB-4607-BF72-8FF8DAE3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44A96-1DA8-434D-A185-7B08DE45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CCB3B-8EAE-493C-B224-7A8C3DCF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89F4D-BC13-4A99-A939-420DF2BF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A9E90-1A0B-46A1-B414-8386A41B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C5F97-3A8C-40F3-AF2F-D0124A5B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95068-24BD-4DC4-AA14-49715723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29F3B-2BAC-4F07-94C3-111D543C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256B75-AFB0-4A98-9391-40D3F0B4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37F27-D5C9-4041-8F33-104BF37D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4E59B5-1956-41F1-BF9A-D7563B07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1931D9-0842-475B-977C-F2B460CC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76E323-1DD1-4785-8D42-CB925BB9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FA2AE6-4595-47A8-B3AB-7BF88F7E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6F1129-BFD7-4D31-9BCD-AB1B04EF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9F5A71-EA2F-47BF-8C5A-9403D9C1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1234E2-AFA6-4E7F-8FAA-67D5ABA7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26D77F-FB3C-4A2F-9906-36A61E88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E1F5C7-302D-44B1-A351-88FCA90F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CCF9B7-1D41-4CBB-B9D7-67AEBE1A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1DAA32-12FF-4F26-928B-36E38E87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50520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DD9540-6007-4276-B727-D37EF6B7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BFD464-D0B7-497E-889A-B4489C22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F6D7BF-94B8-44F8-8E81-BE32943A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8992C9-08CC-45DC-9AD5-0514A1CC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AA66E5-19F2-415D-AAAB-20256B04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5FF32E-B4D4-4DDC-B76D-BABD506E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E6F250-78B4-4A4A-929B-30BD6B24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8EC922-4E10-4223-A661-92DA1002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1BCD5C-2232-4346-BFF5-9D061AB4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646A68-DAC7-4202-85B9-57B39A44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FE112A-D815-42DC-A2DF-6F8C5BE8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6BECC0-1629-4F45-8156-BFD480E2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AF25BC-7A83-4EBF-BE2B-B89E832E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BE1058-68A5-4743-9479-0B933252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量化交易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7EFE3B-09CB-4269-BACF-A456449F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1BEFE2-4B83-4530-9785-89F2ACC8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ABBA2C-851C-41D5-B52F-0BA80F15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A16836-6879-45FD-B9CF-43B8CFE2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A8879D-23F4-4DEC-9551-55BE2EA7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CDEB22-338C-4715-AD7E-FE2B2892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69DF64-21DC-4A52-ACEB-DC9ED14A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65B9F4-4F38-49B2-9A97-8FF38B6B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策略实例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81EB5E-CC7A-40BC-8120-C4552413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运行策略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1968649-89AA-4F7E-878D-BBCFFD3F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604EAD6-D2D5-46F9-A1E6-FD55F5B1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2279EE-6AAD-4458-B832-086D6BEF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运行监控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84FE2D0-0E6B-4155-AEDD-6CD1C0A6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成交 / 延迟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C17311-C5D0-4EB7-A8E4-86E619FD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5841C84-144C-404A-B697-6516F470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9D0272C-468A-450D-A596-EFC768C1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风控开关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D1946CA-38E4-4724-AF18-07B2D11A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人工闸门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F3E1318-DCC6-4D38-9C47-B9E69F7E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1C34C29-60AB-4187-90D9-981E49C5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D1D0949-01C1-4827-87A2-FB5D8A23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执行日志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F1D83F1-4CA8-4996-8D7C-6CD2E695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审计记录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126BA36-20AE-40A1-A3F6-B0351B4E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17E0072-7634-4BCC-9455-2286946E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1AB8711-7BE7-4FEC-8C69-0D3DFE89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量化交易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4392841-73A0-46EB-9E4F-D0285D0D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FBD2E5C-BD1B-445F-A163-B00F1526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D696C92-9FC2-4142-9ED0-0EFFDE8C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策略实例 · 运行监控 · 风控开关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6350DCD-D140-40ED-A196-67F1A517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5C561D0-B973-4FF5-B52E-20DDFAB9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55366B3-A3ED-4119-A547-D75DAAD6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3 运行 / 2 暂停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94212C2-8002-4790-938B-01858DD3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0A68A67-547B-4727-96B3-4ADFA121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DDA6D3D-A4F4-4EDF-A601-EC75A0E7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执行链路在线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B1FC1E5-F780-4D5C-96DA-562E6DA2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41 · 量化交易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04B163A-248E-46EB-BE3A-E737286F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运行监控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5E87DE0-DC3D-42E7-8DE7-807168FE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成交 / 延迟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1304085-6229-46F6-BB70-315C4A10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6986575-2EFD-4F0C-93E2-BC0AA6BD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E0DC829-C608-47EC-9133-428026FD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9248227-6C5E-4050-82E0-0E4D5870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量化交易 / 运行监控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A2435CC-2F33-4A5B-8CE9-1362BB43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BB322C4-DC6A-4D46-83EB-CD092772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成交 / 延迟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E5941BE-2F2E-4954-81F4-5FD8FA9C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37DB5EA-FD2F-4DBA-9136-DE88006E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策略净值曲线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D86D719-8718-44C7-9875-7E6FE916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6A4217F-F831-4745-80BF-EA935B55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A157E75-145F-40E9-90AA-B732C9C8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97B7084-2F93-4876-9ABF-5791DB38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438B492-94C4-4A88-BDFE-547348DF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AF7F445-5D0C-4CFF-AC15-9D034126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运行监控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E551C80-66F9-49B5-846A-49A84909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3AED4F1-1032-47D8-9207-707C82A7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策略净值曲线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CAFBFA6-5E62-44A3-89D1-B93D0DDE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A87078E-B08A-4A5C-8638-E474E7F8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id="runtime-monitor"&gt; 策略净值曲线 近 90 个交易日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F7242C7-8F0E-4BA6-9D97-8D853195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DE0E5ED-ABD0-452A-A889-7BB475BC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对比沪深300 运行监控只允许暂停、降级和导出，参数修改必须回到策略实例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1D43357-6D46-4FE8-A535-B0BFF169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420D80F-BD7C-4E5B-9D61-85517D82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2A93192-EBD0-427C-B3CA-004FA9BD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582F0F1-1F0F-43E9-8C54-8E64EC02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近 90 个交易日 · 对比沪深300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FE7867E-EAFB-42F9-BAD7-C38378D0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5A459CA-C1CA-4118-9DBB-7E338807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id="runtime-monitor"&gt; 策略净值曲线 近 90 个交易日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1DBFAFD-48A0-4B1F-983D-B1B81449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BB3FFFC-0883-489D-90F7-1768050A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对比沪深300 运行监控只允许暂停、降级和导出，参数修改必须回到策略实例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0AA974A-FD81-4ED0-A56D-D8E49BB7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B5BBED0-E6E3-4D2B-83BB-45508437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暂停策略 导出监控快照 &lt;div class="card"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84FDE13-A417-4D93-A369-54ED6BCC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22FA731-0A8C-437E-BBBB-8280C472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2DB7AAF-667F-4227-A471-DE2015E5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ED6CFF0-9C26-488F-83AF-BC8B5918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E90E1A6-C3F9-4FD0-AF72-6F4D814C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FF352A2-7E1B-4EEA-9433-F347EB9B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1853188-08B5-49DF-AA62-C3EB4FE7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近 90 个交易日 · 对比沪深30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23C776B-DA53-4FD4-9C40-F567A968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57AC968-34E1-4635-B6AF-5623C099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暂停策略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0F93404-2C1E-4304-9B93-BC13E3A7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B21E3EB-8A20-4B95-8D24-959A47D8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id="runtime-monito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C4C3584-61AE-4CD1-8730-210A17B8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4808692-79B7-4B6C-B124-42797EBB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导出监控快照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6E2BFCC-8E23-42E1-A400-EDEF55B9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694610D-DE51-41EC-B284-E4C7FED5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对比沪深300 运行监控只允许暂停、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9BC590C-7060-4614-94BA-73595DE9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E36809A-A599-4256-9CDC-AB19970E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B7C4926-5998-43C5-9F3A-6FBF1F8B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F9E1BA3-AE9E-4D73-B363-B738F4FD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24DF0E5-5938-4B59-92E1-4C2AEAD4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282A555-53E0-482D-B386-2BC59758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暂停策略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E0EEC91-0D10-46B5-B489-D2D47C8E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3C875F1-EE8C-4D35-A6A8-127DEB60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导出监控快照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9AE01FA-68C3-4E04-BE94-BE3F1CA3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8E0B27F-716A-4174-BF6E-9FCF3890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导出监控快照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7F95E63-2109-41EC-97A2-5369B0B8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B4CDCB8-FCDE-47AE-89B8-59699B37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CF4AFF0-F506-49D1-8E38-847670FD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E28A7A0-3C4C-47E7-8932-C362189D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7597C50-2F55-471C-9370-04CAAC50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1752528-DEB1-4617-A733-C114C7F3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导出数据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0D36436-4647-493E-B823-47980F8A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文件：auto-trade.html#runtime-monitor</a:t>
            </a:r>
          </a:p>
        </p:txBody>
      </p:sp>
    </p:spTree>
    <p:extLst>
      <p:ext uri="{BB962C8B-B14F-4D97-AF65-F5344CB8AC3E}">
        <p14:creationId xmlns:p14="http://schemas.microsoft.com/office/powerpoint/2010/main" val="19363602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DEF24C-F84C-4736-8577-622FC323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10724-8EF6-4ECE-B240-967EDC96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B1733-D6B4-4D76-952E-E7ADCA17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490A6-463A-43D4-9B82-DDD7651D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1157C-1050-466A-90FD-DBC06025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A8281-F791-49DD-AB95-A9B35B5E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752AD-0EEA-45D3-A875-9C4B7144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8CE0D-8438-4B39-A39D-A034E969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BB619-689A-4732-BD80-5C165DC8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13DCA-EB59-4144-BD93-8A98E714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1AB69-6145-451C-9F2D-D650DACC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8D007A-2CD0-4510-A1EE-B4B84A5D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D242A-8478-4BE5-B090-020B82D9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EB50D-A4B5-4C4C-B532-EA87D095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6144B6-C085-419B-A5C4-6169E60D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1435F5-2B20-4380-8C1C-FC0FB4B2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348426-1A35-4530-841D-DD7F2A94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B3F6AC-E9D8-4725-BBC1-28A629BB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930123-2BDC-4B2E-BAC9-D6E8A61C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73FE2B-E3B1-4254-BB22-385D89FA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FEB9E5-3670-4184-8A2F-7BD37728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D5B9A1-4398-44D8-9BF8-0FDDF33C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352A7A-B18D-4A2D-BC46-7E31B726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BC8997-8C4D-4F1E-8F0C-248FDE14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FD208B-8D1C-47C9-9413-EC8C52BC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DD4CBF-A77F-4626-AEAC-936C8581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781B67-95C2-4675-8364-BFC65AA7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50520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697D77-0B68-4687-A566-A6EAA7B4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C783D5-EC2E-4BAC-979C-BCD3E2A8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A940F4-2EE9-45C5-8497-375ED6DD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A32FDB-0D51-47E7-B7E7-3ECDC3B9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FF7C81-8F64-4E5E-ACB3-7701DAAF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CEA20B-6693-4565-9018-FA3EF14E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FADA1D-5C00-4CDB-BFBF-1A1CBAF4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F7721B-CCA8-4FE5-94E6-5AC7942A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F7B922-C182-41F3-BEC5-39789FEF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7224E2-00F5-467B-8B41-03AF23DA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0EB8A3-B16E-4792-9698-7E9525B8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F1C52C-B19A-4886-AAA8-70F115D3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0322F4-C037-4E07-8C89-234AC902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898092-1A83-4327-AC9A-0DA78D3F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量化交易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ED9B30-F7EA-4493-B598-91D899D1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01F920-C6A4-43F2-AC3D-70C69461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F95BA3-1097-4732-969D-E81CD963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FD38B5-8EEA-4D95-A52C-367A8F66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0FA1DB-C61D-4429-B125-CE44CC90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60C7EF-89BA-438F-8096-CFF3E03B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5D89F1-9727-40A0-A268-07C9F2B4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B7F216-1666-4E63-8149-E0B22A62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策略实例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AA1B86-7D05-4C63-8D67-46EEEB17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运行策略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C44245-89EF-4DFA-9688-7499B390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EBFD33-8071-4382-87F6-C354AEDA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332DA4C-3C6D-4896-BB95-8C205EA2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运行监控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76531FD-2F05-484D-8B64-26A62A7F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成交 / 延迟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EC57C14-338E-48E1-BD79-97C33977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2FA442C-4B88-4A29-8A66-B4D1A597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9185BCD-D49B-4010-92F6-633CA2FD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风控开关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F23CA85-810C-4760-94CD-A86D45E4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人工闸门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96ECA0E-D765-458B-A56C-00347356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46A15A3-546A-4283-8EE9-AF6D3E0A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09D3209-562B-45A9-B270-A6C7A007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执行日志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8402100-D4B2-4BAE-8D75-2BD61D97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审计记录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CA46F9D-D766-435C-A31F-3610F4AC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3772BD1-8CC1-4ED7-B0D0-AA5AA94A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1A6CFE3-20A9-4E5C-B877-D718B320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量化交易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992505F-AB76-46D9-B4C4-1E12EF6D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B2894E0-556A-45E7-A553-FC9E2FDA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9DCC696-F971-44A0-89CA-C17AA283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策略实例 · 运行监控 · 风控开关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C2DBC7C-EAEA-4C1D-8379-5A88FD22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B21EAE1-2124-49FA-8FB8-9E0F2D70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E83DBE8-D9FF-453B-BBC2-56FB5BD4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3 运行 / 2 暂停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B28CF2F-3A6D-49DC-9187-27154D20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E0C96F0-B24A-47F8-83B6-933C545E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D27EA63-2F29-4EE3-8858-509BF205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执行链路在线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ACA5019-87A7-46A5-AEAC-BF796247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42 · 量化交易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B2802CE-7ABA-47FE-9FB4-32FFFDCA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风控开关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BAF89FC-27AF-4E16-898E-FDBB1AAB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人工闸门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5B31987-6D2F-4E33-A99F-D0B40640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A1CAC5B-391E-4FB2-8500-B15728F3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0A3438E-521C-4339-A038-AC0FECD1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7E29727-1F40-4E4C-AE8D-D3C660A6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量化交易 / 风控开关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E939B64-D224-4A4F-A2FA-C7267A0F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A589573-4919-41FA-BC6D-B43353BE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人工闸门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075A56E-B890-41C5-A251-878B7904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A18CB5E-D0E1-42BE-B5BE-F4EC13CB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策略净值曲线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1D19235-532A-4A45-8E7A-255130BA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37D1E37-8EF5-4FAB-8EDD-08B50203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519169E-87E4-4AA7-987C-ABD50D2A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08B1ABD-FD31-46EA-AAE1-7C2F57F8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F04E35F-1671-4607-85AA-6F301B2A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DEA86A0-167A-4469-9EAB-C103BAD4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风控开关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143054F-1F77-4D69-BCCE-5380A302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00AFD12-4491-48F7-AAE5-BE96EB47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策略净值曲线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C74321D-33DD-4B91-AAAD-9269261A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49304FD-61B1-4ABC-A117-22A368A2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+¥23,640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C311FA3-CE9F-4A1D-9787-FF59FCFD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8D0F6E2-679D-45AB-9C7B-3CF25FDA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夏普 1.86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F4402EA-23E5-4146-8215-C3DBF07B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280EBB1-8C6F-46CD-8E97-ADD0B7D5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DEBF6A3-2E8A-4B2D-98D3-E1CD8C17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88A3F81-8AED-4FFD-A662-3E56B68B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累计 +28.6%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F3053E0-1B8D-4CCF-9DD7-6FF469BB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63F3E56-6F12-4A1C-A1C5-F4D5BC06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+¥23,640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7BAC427-FCFF-4921-AB52-A70C0FB3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CFFACE8-0271-4A08-8DC1-93582BD9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夏普 1.86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D8BA44D-B0AF-4E8A-918B-10AC7EAA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9BB7622-F83D-4EE9-B239-82B3B837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今日 · 胜率 64.7%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518FF37-B6C4-4576-AA68-80337C5B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BAA79EB-A474-42EA-9002-FA689F1D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E350019-EFAD-4227-89A0-C7F81780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85645A3-9C80-40BF-8CE4-D74494AA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D9AA2D7-2B8C-459C-991E-94410854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80D69CB-01DE-4EB0-9B78-901C6C7F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1B4529A-2525-4A14-BDAB-416DE4F2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累计 +28.6%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12E9A5C-5A51-479E-9052-D19FF62A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8E5BCD6-0148-485E-9E1C-11304756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暂停策略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CA4D645-4217-485C-9E51-E53A34CC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38593DE-8616-486C-9B9D-E9A6E161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+¥23,640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1006A74-38AB-4789-8F30-7D7310CF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CBBB037-85A7-47A6-988E-3FC417EB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导出监控快照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1BB4331-5418-41D1-90F6-76B0A25F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2BDC3DB-B20B-40FC-8F6B-C9D93938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夏普 1.86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38DCC1B-6C66-48C0-BD6B-B15C9963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5741288-52F5-40E8-94C5-591212AA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ED8779B-9FD4-42BA-829D-FE9585A5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FF458F7-43C2-488F-89E5-8CAD5ACA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EFD90D3-82F1-4D17-B064-716BEC8B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018106D-BED9-493E-9AEB-1F954B7B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暂停策略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192128C-29F4-4480-94A2-696C359D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0D5E5DF-9179-4DA8-B44D-F1AB2160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导出监控快照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38026B9-6579-42A0-B038-A62202E8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33786E3-C469-44C4-982D-E1F1F372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导出监控快照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1847D67-CD5A-4B05-BEDD-FE57515B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1A30670-4A28-4054-BEA5-7C970193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E7F054B-6D31-4371-B466-D1C56ACD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C864ED4-94FE-4655-9F61-18A91D9F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C4F21BE-EC45-47CB-B1A1-B3DD7FBB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BC8871F-F552-493A-B7E3-73CAAB1C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导出数据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6ED101E-41E4-4296-93B2-409EEEB8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文件：auto-trade.html#risk-switches</a:t>
            </a:r>
          </a:p>
        </p:txBody>
      </p:sp>
    </p:spTree>
    <p:extLst>
      <p:ext uri="{BB962C8B-B14F-4D97-AF65-F5344CB8AC3E}">
        <p14:creationId xmlns:p14="http://schemas.microsoft.com/office/powerpoint/2010/main" val="162879667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18030F-8DDB-49E7-910A-46306604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5E07C-EB60-4209-98DC-92BE3001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68308-2477-4623-AC6F-78B14E6F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5EE55-7EE7-4596-B6B9-8E21B1A8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7C1DE-DC54-43F7-ABCC-6628A9AC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85372-282E-44DC-BE4F-49FD942E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A4B82-63CB-4E3F-ABC0-B781A38B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D4947-602F-480D-A6F2-5C20FCD5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7EB2D-0E65-4641-B94B-44511587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578E8-07C6-4AE8-A546-02502ADE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61FC9-C57A-4D26-A2D0-F45CF1BC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56402-60E5-474B-8797-4560D029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1244B7-08CE-4967-AE88-71622162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E0D06-74E3-4E8A-A6F0-070B8A32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085FBD-BB0C-4304-BE88-CFF5AAF0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99A5D-54A8-4043-9E3E-891F050B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78290E-6540-46DA-9EBF-C3AAB904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F470D8-B386-43CA-8491-805CFA01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2DB336-A571-414E-8FBB-22865B5C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1A4DDD-D5B2-42B5-884F-196A3AF9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9623B3-55FE-4C15-9996-866B5781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5176F8-3A55-4496-A153-0141603F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2C60EF-FBC8-45C2-86FA-BBA11A0B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AF6D58-33A8-4AFC-9923-CA7F7B4E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8FC8A8-12FF-416A-9832-D9B18CC9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F06F4D-8F41-4D2A-AE28-BAB4B34F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CA1CC3-5542-462E-B3C0-D6E9B8C9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50520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58023B-6776-4E37-AE8A-A5147B2D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量化交易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AD3BB3-0E15-432D-8288-8FDA486E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B7090D-E6D6-4160-8C45-1F87BF3D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5FF32B-9340-4B32-8F8A-289D29C3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303831-D410-4277-87F9-E73D6601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2B1C3F-1B1A-43CD-8006-5B43ED7B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D77170-A9AA-4F23-BFCE-CF8AE49F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F550CA-458C-4836-A360-9DE540EE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05308C-C7EF-415E-BA04-30AFAEDB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279FF9-EE24-4FF2-BF71-297F905F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F18AB0-B278-42F3-A321-A4031D15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1F8A14-CBC0-4A82-919E-95CD12F0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767C2C-745B-4440-A63F-145B6EF9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E5D1C0-9A10-4D83-87A3-CE8751B2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量化交易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31AC0E-7236-4904-80A6-80C81C19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374712-0C96-4944-A35A-A9DAAD37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711AC4-E35D-4318-AB13-44EF5C2C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762619-7872-4B64-BBBF-2624A004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38E169-2CEC-49B6-88A3-53E639C5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233B1D-AC8C-445E-9B8B-291EBD7D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B49FEE-A704-445E-979F-9AB2F981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BAE1C5-F7D7-4DB3-9F7B-3A82985D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策略实例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718334-1296-4718-9343-EE56EA05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运行策略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F9AA6D8-D551-498B-8061-39B86A2E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560081-0F0D-4F81-A154-BF1B907E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27B113-9BA8-47E4-A496-410153DD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运行监控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375DE2D-7904-4EFD-9E6F-9EF8BD21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成交 / 延迟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3E3B54F-83C9-46D7-84E1-2F9F34EE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BB9A9AD-6603-40FF-8E18-0A27787E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8D071B-0BBD-4D07-A8CD-81469F09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风控开关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2B9E5A3-2625-4FFB-A376-2520864D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人工闸门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C4EC754-340E-47E0-89D6-414D8213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B3A2B53-4613-43F1-B587-823CE0C2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B44F9F3-6512-43AD-ADE2-A82AF3C7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执行日志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A50BDB7-2BE8-405C-9A7B-7F20DE0A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审计记录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D69B947-C3B5-4206-90E8-9EE799FD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E33C8F8-9E22-41CC-94A7-092B9DB9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FA623D3-B6B3-4030-9AC0-87FC235B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量化交易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6AEB0CA-2BD4-4B96-A94B-D79DF39F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8844640-BD31-422F-A212-710C7FA7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62D34EB-B306-48F9-B869-CAF883CC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策略实例 · 运行监控 · 风控开关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B24C47E-7882-4F7C-B3B2-364F1C43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3098B25-E8F3-4B56-B43B-DBBAD5B3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0B35B08-35A9-4886-94D0-35D2EDA3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3 运行 / 2 暂停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7B5F021-F1D4-4BAD-BFF1-4F55CC09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FBFC9A9-2326-42F1-BDAF-80744A38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F7036BA-06AC-4CC8-96A6-7B8B29FE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执行链路在线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D9BA704-FEE1-4E50-95C0-15CADE1D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43 · 量化交易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7D3BDB0-2327-46A7-919A-0CCB8B08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执行日志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306ABCD-11FF-4E4D-B001-2C5C45D7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审计记录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2235ACC-8823-43DA-B0E2-56BDE8E5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00C345D-B6FE-4F24-B0EC-E8EEC947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6007E8E-7A5C-4169-8AB5-01EFC28F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1A9B51A-A474-4D41-8EF6-58776686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量化交易 / 执行日志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472FA83-9348-44C3-8792-97D6A0CB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DB8CDE2-A3F8-4B3A-BB52-A627251F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审计记录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27E400F-D801-40C4-B163-122338D9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A6B5F50-093D-483B-8179-A8A7365C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实时执行日志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E217D85-4C48-4850-BF70-7285F04F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37FF508-6AA0-42AF-B2BF-B985FB17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904F743-8720-408D-8C90-C088C9AD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CBF05CF-074D-46F2-922B-94B9F733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E95C143-282A-4CE1-B10C-0444453B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75F0E7D-99CF-4CCF-A713-2AD027A3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执行日志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0C7222E-CCB5-4C0E-A04F-3E75B3B5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01C2BF9-BEF0-4D0E-A76C-AA9D782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实时执行日志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23F544C-1978-4C01-9249-86E8F8B3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B940C92-DB87-4293-B553-ACD115BB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运行中的策略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4AD1DEA-3187-401C-A817-D1292426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B77009B-B5BB-48DA-9248-A3F9C2F7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运行中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6AE77BE-0FAB-492E-9069-04BE1047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25DA342-3414-4EEC-94F2-EAF192B8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5C777B7-EF46-4014-BAC1-BB48A0D4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13DFA95-373F-4327-A397-7C97880E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自动刷新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0A92AD2-27A4-4E0F-ABB9-01EBF146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EE0B618-9397-4345-8BE2-B059A357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5 个 · 3 运行 / 2 暂停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7BE0A7D-18A5-43CB-A6FC-64205778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60176BA-72B3-4555-8AED-343361DA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运行中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191CF30-40DA-4B2F-8F1C-BE791215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8E9900B-A2F3-45EC-8BD1-1706A395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已暂停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530A81E-E5D0-4B92-AB0E-2A17BB51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FDBA6C9-FBDB-4ACF-AEA1-1793FAC5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89B3E95-8954-47C7-983A-77BF33B6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28604CA-909D-4BC5-A995-39AD5944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5964835-7D30-4D55-B9A9-57305957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733D462-472D-4AAD-A083-669325CC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2809ABD-85F6-4ACB-94C8-416C0F62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自动刷新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9ACF5F6-0E6C-466C-B2CB-0A439E3C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1D4DF08-4096-4B1C-A3D3-F28E07A6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标记异常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90549EB-4140-47DA-99DA-A869BA50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2BE090E-EA78-402C-97AC-8C70B31B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5 个 · 3 运行 / 2 暂停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56C6B33-15BD-4A80-BCE0-883A7EC3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14C6E52-131B-4DC7-BEB2-ED80A8F8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导出日志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FAC2D72-018D-479C-B330-B9AF5FF4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30CF876-0B99-4E61-96B4-2D979676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运行中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CE94473-DA93-49D6-9798-14C0D9A4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4484E7C-9540-4420-B061-33AB71BF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克隆实例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3E6DEA3-FEB8-47FE-BE17-2C520AA8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0C145CB-11A6-46B7-A70F-C9EC8F16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4CA9490-5673-48B8-A12C-020EE7A9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1CDCD3A-D310-469C-9BAF-E381BBF7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标记异常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5427F3C-56A1-42EA-95B8-0B08CCF6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7A0B4F2-B22F-4067-9D58-BE760146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导出日志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7048A43-9345-477F-8333-59030342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6FF4C98-CBF0-4482-B1E3-F59B6255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导出日志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BB73083-7F80-45BE-94E6-D9808A0F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22CB863-D120-45F1-BB15-57EBDE9E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克隆实例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09E090F-0C0C-491C-868A-F2596253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0ECE60B-4030-4EDE-8ECB-16BF0985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克隆实例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C7DCC58-15BE-4F58-BF08-A9613F94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0601275-9B21-47E2-A002-5B38DBF6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暂停选中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A12FEAE-2144-4230-B29F-DABA9C3A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文件：auto-trade.html#execution-log</a:t>
            </a:r>
          </a:p>
        </p:txBody>
      </p:sp>
    </p:spTree>
    <p:extLst>
      <p:ext uri="{BB962C8B-B14F-4D97-AF65-F5344CB8AC3E}">
        <p14:creationId xmlns:p14="http://schemas.microsoft.com/office/powerpoint/2010/main" val="29671090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109861-B58D-40B8-807B-BC61234E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FF5A5-7CEE-430E-8162-92173362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CEE59-EE38-41F5-9CE8-4261191B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BE39D-113E-4FB3-9DA2-65079FB3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147A5-1498-4891-9DB2-21D13953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E4D61-7FC1-4196-A3F3-BE5B549E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9603A-9656-4632-8462-4BA23B37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D36FA-4135-4D18-9E2B-CA31D39B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9AF2E-C55A-4BA4-8942-E780DBBE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06BF2-E430-462E-9F80-CF3898AB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C27F6-3FD2-4F0F-8011-8EC93C0D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2A656-846E-4550-821C-A3CEB6B2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E59C1-8DBD-466F-A35A-BCF511CD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DC2EA-692F-4B0C-A997-42C529D1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356CAF-54A6-4BD4-B697-3CA3C4BD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3170F-6589-4820-97D2-F61BB088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D2B5CC-A387-491B-B316-7AC4BE65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72F9B9-4757-427C-915E-706DFB5A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DDF628-4652-44D2-84A3-0B2835BC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FBCC36-73B9-4BC2-B817-0C4455CD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12AF5D-6D51-4D03-A209-3F591658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3D7318-B850-412D-B602-6D0B79C0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2FC9DD-C29C-448A-A360-7D7F5EA9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19E33A-9877-467C-B4B3-ED077FB0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19299B-FC31-4AE2-92FF-8D666B6A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9B2FD3-87DD-4870-9190-6B95F706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132DCD-CF59-425C-97C4-40A8A7C8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6DDA8A-3241-4E1E-82D2-CDE41AED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9721FF-D0B7-4058-91EF-C6DE6D7F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0047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59E899-5154-4459-9FE7-FFD21962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B51C16-A9BF-475A-88FB-BEF70665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33AA77-04FC-4A80-92AD-015B0B62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F61A99-03A3-459B-83EA-8C55F247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462955-72F1-4ACF-B845-7BE21CFA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4EC0DA-683D-4058-AD1E-8A3B86E8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C3BD9F-FFCB-42B6-BD25-BD4191E2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6C2078-6E45-40C5-A3A7-9705AA77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3EB319-F820-4567-853E-8DE820CB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F451E3-74F3-4749-8F4E-582AE417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6AEB4B-D78A-480D-AEEC-4D310011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EFACAD-28C0-48D5-8027-A4BF5CAA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回测分析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AB78C4-A65C-4122-A26B-8070D8B5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4915EC-5C4B-4251-AB32-8FB6DF99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01A9A2-75D3-4F03-9432-6EF9143E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FB3919-5787-43BE-9FE5-1341CB82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587EB0-F99D-4898-B4CC-56DF5D26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6286B6-87CE-4AE6-9A75-9095CABA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489254-8B30-44D9-93B4-401D7835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83F62A-9CFA-438F-A91C-97369C1E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回测参数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7294285-3B20-425B-878E-CD6A1778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区间 / 资金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01B51C8-10CB-4D89-9791-FFF9F8E0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7CF878-E25E-4A88-8D3C-3EDB5FE9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3C1EAB-6969-4E8E-A173-1A65327F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收益曲线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DBA4ECC-0C78-4860-B24C-B85348A2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净值 / 回撤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8ECBD63-5D1A-4712-92D0-E98EC751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5FF640A-2B9C-4643-874E-0BA1B707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A50CA07-6EDA-477D-86EF-295D9FB4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交易拆解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7B9D60-70F2-485B-8E19-54F6180F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胜率 / 盈亏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63BBDBF-BF47-4C9E-A0CE-42F09A2A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A58EE96-832A-40E1-BD63-5009EBE2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CF43980-0B2B-4BCB-A6E6-35936C79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失败样本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8241DAA-67B2-47F0-A8E1-18043571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风险解释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EA75F9E-41D0-49B5-885B-0A72C018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1FD5D45-B9B0-4FC2-9D2F-11BDE422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C79397A-0F3E-4876-8FCC-51807982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回测分析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9D5E13A-06CC-4CC7-A468-C1C3CD00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71D69B7-57D5-45FB-B2D4-CE09504D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FBFFC3B-95B2-4630-BE3F-6EE304C7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收益曲线 · 交易拆解 · 参数复核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6E592F3-67D5-42EC-8EBD-9D65EDB4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71DB87C-0CFB-4CAF-B3BE-FAE12913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665EC36-FB68-4E4F-8D9C-06F76225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策略复核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606FD43-46C7-4BEE-98B5-BDA25CCC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E0993F8-E42F-4586-BD06-9D5C2809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D3E0C37-CFC7-4061-A6FD-0C0C8ADB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回测引擎在线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DAB298D-D940-4DD2-BE47-49439835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44 · 回测分析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BFABC30-1E6B-4623-B309-FCEDCC9D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回测参数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634CCA0-D4ED-468F-9B14-6A715B31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区间 / 资金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4D2F02F-E96A-4DBA-A534-5A6977D9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FC5E1F9-D4E3-4C46-A205-ADADA221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A16864E-ED3F-46F2-8AD4-1D10299A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649BE91-4034-4066-AA35-50E2AF1C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回测分析 / 回测参数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70DFE8E-5FF4-4BB1-A1C5-2869CB58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B29FDEC-BE3C-4972-A945-EFE4B6D7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区间 / 资金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77CCBD2-2366-4C4B-A93C-66652AB7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5FE8AA5-ECCD-41AC-89FC-287E37CF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承载本页签核心数据判断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FBB6D48-86A9-4ACB-84C3-3E8B4AF4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CE4CA3F-8E56-482F-8BE3-E6E2DB3D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5B194CE-28FD-4777-A484-8200BD0F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A7E7E45-8DB8-4F11-BF45-988A565F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A64BCE9-2D88-4F6C-9233-B92384C0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EFA61D5-6DD5-48DB-9C2D-7DAA8C3F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回测参数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523905B-963E-434D-A4EA-C0983137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D086EA7-C390-4305-82A2-0C53C4CF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状态摘要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C1FB9BF-8FE7-488B-AE94-3BB4DDC1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668C63B-1D68-49CE-9DCB-0D2F759A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明细列表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5F2F9E9-A6E1-493F-9432-3974667C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84A5863-05EC-415C-A662-5E61C817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联动结果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49BA8A6-501B-46F6-AF86-A8E401B0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BEAF47C-0F29-4F20-8432-52B9B1B4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938CCAB-BCFD-44B9-A2F8-116C2098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E8F06FD-0032-4500-A868-77D1A9B8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数据在线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2C25487-EB32-4ED7-8263-B16B9D6D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87C5AD2-51D7-44D6-87FD-C01FC1DC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风险可复核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9751867-AF2E-4601-A0CA-199D9340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EC75303-F9C7-430E-9084-8C119CF2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支持空态 / 加载 / 错误态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77CE286-86A4-4BA2-9CBB-61A2BC1B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1C40E5F-DE62-4286-9DC7-82961DA1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9BB1B82-C435-469C-A5E8-767EF103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94C169F-08BD-4F0F-A00C-EDF1BC7F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82AC7A7-2161-42FA-9624-56D2DD78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36121CE-DADB-4E33-908F-D81B4E18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4C0C159-0BDA-490F-A82F-761E22FF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D5BFD17-356C-4C99-BD04-561DE358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B50BE45-43D6-4281-B8C0-C63DACEF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回测参数样本 1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D0229F7-583C-4C5F-A357-5004ED94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F07CEE0-16D6-4212-AE9F-98C53F31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1B3F5F8-412F-492D-AC22-AFA71C2C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A3276AE-C43A-41E9-B8DF-CA65AD19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回测参数样本 2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138D4FF-F998-418F-9AD8-E61BDD6C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9D9AB80-9110-4AE0-8622-9DEB354B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导出数据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A7C9725-F560-4DAB-9C2B-44A97E92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BA01217-EAA5-4D18-8130-46204ED0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回测参数样本 3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4BE64D0-4A16-48EC-A402-7237B68C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FD12A64-1C2F-4FAB-8D83-066D11E1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刷新状态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EA80BB4-1BA3-4E69-A6B5-D6ADA5C4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95D50A9-C497-44D4-B65D-7AFF60B8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4641190-649C-4DAB-B40A-091417F9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2B42EF8-ABEA-45CB-A240-58742B29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保存快照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F2060DD-DAD0-4813-A165-A1720455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64974B5-087F-4E43-B0DF-2935073C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E038489-E26B-4A77-931A-2B930EAE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99B1B43-A9F1-4DAA-8973-B0DF3E9A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F9B4B02-B9DC-409F-B671-85A405EC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F17E1AC-57BF-42CA-BBE9-7FC1D05D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刷新状态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FB990FF-1D77-42E8-9DF1-6DCA2A8B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A39EBC4-0615-4BC1-9F22-21DA10A5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刷新状态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0BE90BF-98B9-4852-B125-41236A33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8A2544E-A04B-4388-A867-A204F893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写入审计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28F4D28-9728-44F2-A0D1-197ECA45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文件：backtest.html#parameter-review</a:t>
            </a:r>
          </a:p>
        </p:txBody>
      </p:sp>
    </p:spTree>
    <p:extLst>
      <p:ext uri="{BB962C8B-B14F-4D97-AF65-F5344CB8AC3E}">
        <p14:creationId xmlns:p14="http://schemas.microsoft.com/office/powerpoint/2010/main" val="137844077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71FBBB-1173-46FD-AF79-AB171EC1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502DF-8EB3-4153-8D86-03A968B1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5C51B-5C83-4F28-99A2-22B3DDBE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5D0DA-EF5C-4564-A204-7431291D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F4ACA-CF90-4A69-B602-B34931AB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F81B3-9F61-4B16-9311-FD15F114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45BD3-2540-4D30-9CD8-D6994E4B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E08FB-15DF-4A6C-9A02-DADD108D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9912B-B1D9-4920-BBE6-F27A2D64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60ADF-B8EC-4276-86F9-E7DA2261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1250B-752E-4FCF-ADA5-5763EB9C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8E0A8B-BBB2-40C7-9F21-283F92A3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710EBD-32A6-4128-BCE3-DB2D37C8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7FBF8-B8E3-4030-A5A4-F9C016DC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0C3471-1303-445A-95E5-43476F13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17AF17-E6BF-408C-AB72-8DDB1635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7509FD-2E3F-4157-B633-31E2A082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B79242-824A-4BBF-96D1-3C3FF00B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B17A3F-42DE-4786-B679-A1FD5003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89A71D-1E50-4F6E-A6F3-7AB4A089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0E6994-D907-4051-9FE9-A0EF2908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D0C400-E6E1-493E-95A2-51871A0A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A2B25F-2BD7-46F7-89FD-B9F2175B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999550-0865-4BBC-9599-6F6047DE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B8EE10-AAE8-4762-9EA2-1A97AD74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DBAC5D-5946-4467-B02F-345F5CC4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7E136F-9B8C-4D31-B2FB-848CE73F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70A858-598F-4A70-89B8-71365A0C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A0ED2D-553E-4E43-84E7-B0C58A68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0047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D5900C-F908-4F23-8CD9-B2BDB81F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284FFB-D29B-4CD0-8028-5A73B7E1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94A714-28BF-4C69-9949-888C2877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7FBC69-D7E4-4F82-BB5D-6259721D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4C7D28-BFA8-41C4-B368-34E5CE20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8D3D6F-63E1-4A2D-A451-0F4490E1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3221E1-4328-4ADC-9844-C3BC061A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58CF83-38D7-4D3F-A175-B0ECB778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2A3E60-DF06-47B6-9B0B-DC188141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CB5067-E028-4FFE-9356-B698A53A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0562F9-6AC8-4694-A547-9409CF30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A6DF63-1661-4893-A1B6-E8993A35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回测分析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C3FCB6-A9AB-4BED-9F6E-99EB2C8A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106CB5-EC68-4779-BE8F-8FEB3601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93BF30-3ECA-43B3-8B58-E68916D6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CFF154-D8DD-4B55-B21F-CD6ED747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3C55B3-E327-4B0A-AACE-4D255EA4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055A58-D91D-4E3A-85B2-7BDD2682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428E3EF-683C-415A-B223-8DDB890A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36C2E4-AC13-4962-8147-45C6A9D6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回测参数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EC5BC3-247B-45E9-924F-57A0F4DC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区间 / 资金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815470-40F5-45E0-A812-1A5D3EC6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2982DBB-095B-44B0-9980-EB3E16E6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677425D-7501-4262-96A8-848EB3E3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收益曲线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0548A0-F70D-4DFC-9BFB-21DABCDC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净值 / 回撤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86F986-F1E8-4452-86F3-A24F0F23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1E7F4BC-52C9-4E7D-AF76-1128D8B1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73F2F64-5C9F-4B1D-B55D-4823EACD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交易拆解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1B77A1-F4AE-47AD-8518-BB1734FE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胜率 / 盈亏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1544460-9388-4AA7-9C9F-52CA7689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4BF5422-C437-4FDF-A84F-918C1017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4044D06-ECF3-4F58-84AE-AD4FB736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失败样本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C76FA7F-C4B6-4395-BC49-1AB07926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风险解释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4D22E54-D32A-4623-A565-48E34FD4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1DF97C7-7F75-468D-9082-B5BF589E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2A01DF9-297B-4C04-9969-BB108264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回测分析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0601B62-E19D-4EA9-B4F5-1BAF2818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31BBD68-FC48-4D9E-87A9-755C154B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98E50A0-A552-4849-A9B4-6B3FCAA2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收益曲线 · 交易拆解 · 参数复核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09F7783-604E-451F-B681-3C52D216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A34DBC0-10E6-41D7-8B29-027E48B0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6AB821D-2338-4296-B49B-E9AB4E5A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策略复核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D391538-A651-4652-A2A3-1588385E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B65EE3B-70B2-4050-BD3B-A32E3FCC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5C76B33-872A-482C-9CBE-A62CCEC7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回测引擎在线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3206F82-0E17-4932-8E5F-DF2CC560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45 · 回测分析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B7C8D61-0B3C-4C87-AB99-A418F4D6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收益曲线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FF4B8A2-4A26-41EA-87F3-DC9D99BA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净值 / 回撤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F3EDF75-5979-466F-B2BB-6D2AC150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C8E9EBA-BA2D-4ED7-B6A2-98D6F4AE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5ABE245-6FA7-4CF2-8C0E-A33283A8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78AEEEF-745D-4F2A-A1C9-C99A1CBC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回测分析 / 收益曲线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698A51A-8F53-413F-9883-54BB166D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730EFC6-0191-472A-9FC2-4D3808AC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净值 / 回撤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8892AEB-B2E1-407E-8514-DD0D0142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2EEC25F-A489-4993-8DF8-9031D2B2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净值曲线与回撤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6D396F7-5544-476A-940F-09D6922D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F406D9A-54E4-4288-9B23-0987C9C6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F10419B-71D5-41E4-902D-72817735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16EA0F8-D5C3-408D-9993-EF368D2A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ACCB5D7-17F2-42D8-9FD0-24639256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8244025-43F8-41D8-A950-58C1F95F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收益曲线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2BD3555-FE5F-4286-90C3-CAE1F4A8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A680906-9190-4743-B91B-184DAD51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净值曲线与回撤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9A95DCB-019E-42E2-96E9-D648ED70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0D92CBB-0AB9-4DDC-9C76-04CB317B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生成复核摘要 导出曲线数据 &lt;div class="card"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FCCD838-8DEA-4D69-BBEF-A3088E70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A8BEA92-B029-4493-ABED-53E8A3EB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联动结果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35DA3CA-1D0A-496C-A391-420FC5B9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6D8A036-593C-476C-AD8A-BC49011A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581DF22-ECF7-4CDC-AF9B-117A8A98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390472A-86A7-434B-AF8E-193D33E2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策略 vs 沪深300 基准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D563A49-7B05-4D5F-A219-1E5A084B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F1DBE71-152F-4F91-86A9-7A3A8497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生成复核摘要 导出曲线数据 &lt;div class="card"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68184BA-7987-461B-9A12-79271E1F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4247730-12B1-44C3-8E7E-9CEA1C68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支持空态 / 加载 / 错误态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EB68119-58C1-4697-A1F0-59220C50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93F9D9B-164B-4481-AAFF-DFCB8ECD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BBDC966-0608-4DCB-90FF-C1750E6A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ED9926B-C8AD-4E54-B9BF-69387BD5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ACCD6F3-6D0C-46A0-B996-409AF19A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8B6AF26-5192-479C-8B7B-BB2FAD24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70517DE-BB76-4E5C-9742-FEC89EEE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ED301E7-358E-4822-B4E3-CECF1615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4457E02-7AEA-4EE2-86F2-B77E9897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策略 vs 沪深300 基准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167F0C2-5233-4AA5-B57E-36EDCA9E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7EE388D-A615-4784-B38A-8E50D67F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生成复核摘要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9AE4D6C-CCB1-4E4E-BCF3-91CBD22F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E15704A-A187-4C70-9104-5D0AFECA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生成复核摘要 导出曲线数据 &lt;div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12EC7C8-FFD9-425A-8937-CA39D25F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969CF4D-9843-42FF-BA36-371382D1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导出曲线数据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C1C0105-9966-441F-BAC8-2744BA5D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8ED720F-AA67-49D8-89B8-99C89ED8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收益曲线样本 3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2EDE0CD-9383-414F-871E-8D817FC3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3092195-E2E4-4099-9A7A-5D8D88BD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8D93145-A130-452B-A6E2-48200705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A655B80-2653-4D95-8305-5FEDB403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8AF9612-A084-46E3-A1ED-152AC36D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C8C6542-C037-4FE0-9085-40AD6C5A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生成复核摘要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74DD0C1-81A1-4DA8-B764-5F528A8E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F4D00F5-E5B3-496C-A37A-B56511C5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导出曲线数据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20E5F85-339C-442B-8AEF-15FF9078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CDCBC92-029C-4F18-97FD-29A6E7D2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导出曲线数据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B476BEA-3D0B-4831-93E4-F28AB19A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923F958-D550-402B-BC4B-D4F5402C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1F8C0AA-A3D8-4640-B955-B172B495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97089C2-84CD-4CEF-B458-0F92103F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FBB1E5E-A606-4D8A-A1B7-1113DFB8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C307101-6A96-4755-94B1-72270FFE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导出数据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6C6268B-42D7-4EB0-A8D4-75F65404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文件：backtest.html#equity-curve</a:t>
            </a:r>
          </a:p>
        </p:txBody>
      </p:sp>
    </p:spTree>
    <p:extLst>
      <p:ext uri="{BB962C8B-B14F-4D97-AF65-F5344CB8AC3E}">
        <p14:creationId xmlns:p14="http://schemas.microsoft.com/office/powerpoint/2010/main" val="192608137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673900-7109-4FB5-A8C3-5D89E50D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64360-8884-48CD-BE7C-3A4202A1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E100C-535E-480E-89AD-05663CD9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7DF94-89E6-434D-A964-8E0F3D1E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70D27-336D-4284-A5E9-F71566DC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40B3A-169B-4F90-9936-F84D352D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B4CDD-42C1-45C6-979B-BE1799D5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07424-B1CD-4639-B2F9-E8459323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49ED5-76CB-4A38-8B7C-BE8B098E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3E564-5D97-4EAC-82F2-3B14A598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4F95F-1890-4BEF-BD81-E7CA32D5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A3AAE-F276-40F4-BED0-9BB01CF6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F6E9CB-501B-4B03-8263-39D7536E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E4F7F-1515-4583-BCBA-DEF68FF4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BCC02D-8CA6-4B1A-AA07-74F3056B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C6D702-7684-41FB-8C63-D700E506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76DE5C-9F08-4EC3-9374-7B92D1F3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63D671-FE02-4456-B646-96136797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ADFB87-5C78-4A81-9737-9B064D14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15939E-F5EC-483A-8782-FE1A3BCA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DDCCC0-EE68-4AFC-9AE5-3D2DDDB9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6116C5-41BD-4109-99BA-6079F246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5C147A-BEF4-4F8B-AD82-48755955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9067F4-8CAE-493D-9660-B3C8962D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B392A7-690D-452D-8ADD-BA6211EE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ABE7BB-A532-40C5-AD2B-3F085419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B8D7E0-7F96-4262-B0C8-CE8920CF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C61A9C-84CA-4A78-96B9-8DACAC38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A2E57E-0FDA-4EC6-AF9C-E751E04F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0047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175B1F-F051-469A-B771-67BDBADC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CF926F-230E-4064-B75F-E984B117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D2A6C6-4FAF-4F94-AF5C-1E335654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4C6921-4501-4279-A029-919EA325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DA0C6F-EECA-4374-8B5E-8BE43B90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A1431E-5602-48E8-BEEC-11B33D15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8886B5-BAA7-4395-9B72-11D09375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AA970A-5874-4779-8A2B-2DA92139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D75621-D08A-41C7-BC0C-105DC91D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B405D8-AC1D-4988-9C22-230C0A8E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73B1E9-5684-486C-994E-4035CF10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449449-21A5-4C20-AB73-C9DEB86D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回测分析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C0318B-5D20-432F-8031-E00A5F4E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203256-343C-458F-B07D-6047A092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F66E50-1A46-42F1-9C30-84835C81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89B652-5C62-402C-A24C-F6EA5426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043FA7-CA88-48A1-9986-4D872D9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BD38C7-0C06-44FE-9E55-695B9D07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26E923-FC00-44F1-BA4C-732510AC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9FFE25E-829F-4F28-BDFA-361737F2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回测参数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CA6003-2B24-4054-9F6C-FE5154A1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区间 / 资金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33F166-2D2C-4A32-A1DE-580D1118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9EA517-B65E-417E-B6A3-07673F12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3FB7132-3151-454D-B04F-561CCD92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收益曲线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F85278A-4E62-478C-826B-EF05617E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净值 / 回撤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522484B-26E4-4649-AE41-5E1FC686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ECFCF6-6EF3-4A14-8E5F-CCAD538D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DE65DD0-0C7A-4CDB-8655-9C95B025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交易拆解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B52A51A-FC87-40C4-9AD5-BBA50C5F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胜率 / 盈亏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65A77F5-1BA3-47CB-884A-F58012F8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EDDC8AD-F7D0-406A-BD79-F6C5C338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218CE5E-CA36-46D6-ABD0-322FEA49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失败样本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4A90DC0-60F5-4911-8E69-9949BFE2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风险解释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BCC4705-AD4A-4EAA-A17C-14F3107D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6792BE1-3325-4635-BF62-C05BE076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5B66813-4757-4E1F-83D8-F817F970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回测分析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7DB4B8E-5A1E-4CB0-9F95-3700AEAA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9DE19BE-5F4C-4310-9BE2-5F08855D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F0CB159-9A3F-4DB3-8033-7F755A24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收益曲线 · 交易拆解 · 参数复核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EA6D99C-7F51-41B5-9BCC-5398F3ED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5E975A8-36A7-465B-AF29-8334F65A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57BE636-06BA-49F1-A302-C5E3FF9E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策略复核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DBDA55C-CC06-436A-BF6B-FE972DA6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9A9EE9D-3929-4915-A39E-0965FA52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80E9033-C8A3-4087-94C6-D95FC7B7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回测引擎在线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4FECB55-2039-4FF5-9F53-8FCB44C5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46 · 回测分析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57D7905-0084-427E-836A-9B08FB00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交易拆解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12B4853-6F8F-41D9-80B0-A94287C6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胜率 / 盈亏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453E81D-967F-4D36-B06C-79248D44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4B25D60-6A4B-43EB-9967-10F908A7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4AD5120-8F39-4B2E-A859-69AD278B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E848CEA-3BE6-45DC-9732-271AC2C2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回测分析 / 交易拆解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312D172-0599-4504-8F67-C423C2C1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F79B53B-5975-4665-A318-3831F979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胜率 / 盈亏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2870AD2-E28F-4FFA-8E29-489F63B7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74C2BFE-518C-4579-A99A-338F7BCD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交易统计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2C40313-A9C6-420A-8B3E-C7C3B8AF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67F81FE-EE2C-4D7A-B2EE-B489AD24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33C348F-46F7-462C-A79B-03E92838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4B9F7FA-6F20-4B9D-BEC8-959FC30C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CD073B7-575D-4287-B855-8742A920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998A628-7FF7-4011-A2C9-1A495317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交易拆解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039B5E0-58F2-418A-9BC4-53799FF8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DC6D816-A6DB-4228-8EF4-0629647B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交易统计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1B79997-BACA-4454-8BFE-9687A089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58DAD66-789E-4290-9F04-41AA92C5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明细列表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661C53F-F690-4C62-8E59-05BB15E2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58A4EF5-E2C9-4722-92EC-17E5B6B9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联动结果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E0CCCF0-CAA3-47CC-A273-F24E6574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64B738E-01F3-4835-B6C0-973FF38B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399D3E4-A15A-41BD-A6D7-751DEBD3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3A844F1-4361-4C60-B105-C360F28A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加入复盘队列 &lt;div class="card"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B4BA079-31AB-4D23-B447-B0CC4E18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F9E7894-79D4-43FA-9636-4A633FB4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风险可复核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39F8FB8-CCDA-49F5-BF85-212128BF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A2C2FBA-55DD-488D-809F-2DB2BF49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支持空态 / 加载 / 错误态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B00178F-247A-4699-8BAC-7EB7C492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879B2EA-7F2E-41BC-A5E3-D94BF460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F20A19C-6FD5-46BD-88B2-1B3A3851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2276818-0956-4E84-8118-71D29E6C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7A6D5D8-868A-454C-96B8-5C31C7D3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BDCE625-15A1-45F7-960E-B60EAFB3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C505554-E189-4BDF-AC3B-C0778EC4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E56AEE6-B860-499D-96F8-02AD1740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91C3AF0-CDE0-4759-8E44-1682910E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加入复盘队列 &lt;div class=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0B4F86E-D877-4C63-B031-20491705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513A1C3-EBE8-473E-BA6E-060D3CF0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加入复盘队列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0A4E45D-E840-4C83-8539-F923E984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320A4F2-A833-4911-B990-2925107D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交易拆解样本 2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DFDFD36-A8CF-4D1F-AE2F-923986E5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CC8EB87-9D9D-49FF-B246-FCB7FAD5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生成草案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3EF0294-6414-4520-910D-56B398E6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501DA36-222E-4567-930E-63AA6DCB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交易拆解样本 3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75114BF-FE60-418E-9780-7CD94DEF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51CDBC5-D79B-45A1-9648-F35A35F5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写入交易票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A3013A7-F09A-46C1-B268-F49BC1F1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2E5BB06-E30F-403D-B7DC-C84A6DE5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552744B-F078-405A-BBDF-B7ABCF63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359E2C3-4725-4746-90A6-1C70E01E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加入复盘队列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5549E60-5F3B-4ED9-94F0-C96703D0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9258087-C68C-4DD4-B516-F2FB1172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生成草案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7FCCB4B-CB5E-4ABA-A89D-55DCEE17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5EDE01A-1AD2-46D4-BD40-DABB1E9E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生成草案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55F44E2-2EE8-4941-8FB9-28C8008C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FD96DB1-AC6F-491A-A014-3BBAE61E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写入交易票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340F91D-67E7-4CCE-AC24-63CC4654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4194CAC-B385-4DEB-8434-2325C99C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写入交易票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18A685C-67CB-41DF-8427-FE62A073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40623BA-EC89-4DDF-A67E-D90A0866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提交复核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71B954F-7F1D-406A-9FCC-3C4BD898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文件：backtest.html#trade-breakdown</a:t>
            </a:r>
          </a:p>
        </p:txBody>
      </p:sp>
    </p:spTree>
    <p:extLst>
      <p:ext uri="{BB962C8B-B14F-4D97-AF65-F5344CB8AC3E}">
        <p14:creationId xmlns:p14="http://schemas.microsoft.com/office/powerpoint/2010/main" val="177356379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B334CF-421B-4641-AA25-E5F9AE90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5B14A-3DCA-47EB-8D46-0AE43769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D5D43-C794-4316-B815-CF71E1A4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E455D-54B4-48A5-8705-ADFE2342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7B2CB-AE50-408A-A62E-08167101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B4D56-46B7-468F-BF21-F476A8EC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663AC-9B08-4E54-8EF2-353BCED4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BB64D-E290-4839-A0A2-110BF425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3E297-2FA0-4997-940E-2C8ECAD1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EA336-07F5-4846-88FE-81A2304B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7D38A-07CC-4A10-9D92-BAAFBBBC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0AAA5-6690-467E-B85C-C6F5FC36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2E8EBA-577C-4B94-9AC6-461D6F16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B8F10-51CF-40CE-A637-E0BFB7F1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FF7FFC-C599-4B55-A016-9B8E6C9E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A0B9A5-31FA-4064-8831-7284B1B4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9929B-2509-494D-9C4E-D1E123A7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F59F06-7CD9-4127-9160-44C13660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96E7B6-A161-49C6-840C-5AA0D0CD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AAB6E7-F163-41AD-AA48-099C66CA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2F0B7C-34B3-4169-B569-53578403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0ED65E-D1DE-4DAA-838C-108B2574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96002E-4D37-456E-AE42-1BCC6D63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8462A3-756F-417D-9559-196808D0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28AC67-C207-4A73-A28B-40502556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4ADC56-9B7D-4D37-A349-782FB7BE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9EED17-1800-4642-8195-EAC09E56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F0F8E3-FE9D-43AA-9B29-0F57C832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2C3CED-6FDB-4125-8854-9CB49797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0047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DAA1FA-3510-4EB1-B753-27731EBE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回测分析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A9DCAC-7AAA-4BAD-B91F-FABD6C71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039131-F822-4F97-89FD-79E19422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3BD231-378B-4D1C-ABF6-D0B95918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88A4A9-7DF0-4FE2-AD04-4006C077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18CD89-A32A-4C24-ACE3-BC805A7C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58DC6F-6539-44E5-BFF1-AE90E16E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399748-F9BA-4743-82E0-7C1CE75A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DFED98-4684-4F0A-93CA-66F285C7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1CEAA4-3E44-4E57-9EE2-7EED08B1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77D53E-D44D-4C8C-B079-1D1605DD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D8150B-79F5-41BB-B63C-1B551D53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回测分析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8D8EE5-27E3-4734-84F8-D3BECB67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ACC50B-E92C-409E-B92F-FF943241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873A11-68F3-4BD5-8BDF-833A0FFD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2B5916-A49B-4DFD-A680-5DAD4631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95D347-4D53-4FC1-9683-FB6DD71E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0304A5-D385-4E1E-A850-A01A5AA6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7348E0-2D2D-4488-A421-BEE51CD2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1C5434-6037-4985-A697-3EC0D56B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回测参数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27E8CC4-9480-455E-9B57-E2A7A660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区间 / 资金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A81523-2142-4EFD-A102-74B9D60D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B94A5D4-D3BA-47A9-8909-F8D5896A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DCC72F-E368-49C5-A286-715E0D9F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收益曲线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5A96613-168C-4FE3-85A0-7858B8BF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净值 / 回撤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AB5B25-A390-4E37-99D0-3BBDC0A3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DBB747-8334-43D7-9AD1-7C892FFC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37C2A4E-C03A-4576-9E5E-FB794286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交易拆解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FCC686D-FA6F-44C8-BFA4-A2E482E7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胜率 / 盈亏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3328972-73D0-4857-9C2A-A037B029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23F00A7-795B-4BF3-B396-DE5678B5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4C2E488-8021-4140-9B8C-FD3853FB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失败样本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EEE10A1-99DF-494D-9CD3-C22CF0EC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风险解释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67B4273-E5D0-4A91-8459-01EFF9C2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F589BA7-7A4E-4049-9ABC-41672D38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DC39E04-2A6F-48A3-9951-39A382C9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回测分析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F7DDE8F-50FA-4288-8C47-3515F756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0079538-1AD7-4518-B95E-D6C55760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A0C95EC-E2D9-4F03-B143-A3B6A7CB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收益曲线 · 交易拆解 · 参数复核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D610517-8616-4278-B3DB-077AFCDD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25E3125-D9F8-415B-B21D-54CA1EC0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AE76DEA-C1DE-4A6C-93E9-5489C743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策略复核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0651F64-3E53-4E99-AD8E-1AF06D79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BD492D8-0C6C-4690-BA7C-31B0C2F1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38CB8AD-F73B-4349-BF32-E1770AF6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回测引擎在线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EE26BA4-7DE3-48C0-9370-76E4602B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47 · 回测分析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F24E27F-778A-4D9C-AEC8-473535AD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失败样本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2D92183-434A-4B8E-B230-55686CA3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风险解释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72F8DA3-05F2-4A97-861E-F8BADD6C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9239ED9-B81B-40A3-8B33-BBB55C87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EA1D106-FDB6-41EC-9161-AA0DA9BF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F565ED0-826D-4D5B-A4B3-9B27F5C6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回测分析 / 失败样本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AACA9F3-18A8-42F2-975C-18F9CC5C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F439418-C63C-43F1-A79A-211C3417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风险解释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6231937-A2CB-4419-AFB6-7A2B2B7B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D5132A0-18C4-4794-A418-A8CB850E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月度收益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5D2B443-32CF-4FB6-903B-BAA8D1E7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4F02BF8-BA0B-4AA7-9F42-866DE316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6BA9E23-D975-4A1D-AAB0-473CA214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C6A90F9-1C9C-4E7D-B8E1-A519A798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82CC47D-46E6-4600-83E0-793F2785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35B76AF-8D35-4168-907D-C4960078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失败样本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0CAA7A0-355F-4DCD-8E21-4EF4E170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423DB86-9F68-4355-8B84-DF4CBE9E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月度收益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0378789-E0B5-411F-B6EC-D56638CB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9CD618F-A9AE-4729-A699-B2509E8F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生成失败样本 导出月度收益 © 2026 速赢AI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5712AD4-01F1-4BA3-B5F9-9301035C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41BD0F5-51F7-4ADC-B8D2-6A36BA81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回测结果基于历史数据，存在过拟合风险，不代表未来表现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4EE00A6-4883-49CC-B206-6FFDB167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77CCB21-6DE0-4EDB-9D67-1997573E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D04F9A0-1CA2-4C10-B8A4-C8A01C94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F40F980-B519-4ACA-AA2A-D71E8AA7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近 12 个月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EBD52AF-46DD-4299-A65C-2A3FDBE3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D5ECA34-7B82-4A8D-8097-8FF1EBBF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生成失败样本 导出月度收益 © 2026 速赢AI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FC3F141-4CC7-49D2-B427-53E1925A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4233AA9-6914-47D4-897D-C6F7DDCE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回测结果基于历史数据，存在过拟合风险，不代表未来表现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21D3DBD-8B50-4B2B-8946-04FE140C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A7C537D-2002-45D4-8188-37CEE755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8E22813-8AD3-4D0A-8D3C-55B66B2E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F66914B-D55F-4B10-9920-D9363DF5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F47D98D-5367-443E-9C41-76183EA8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32628AF-225D-4E7D-9211-C31F44B7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F91AE71-8C07-4975-A7EC-E74C989B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710017D-4D3E-4AA4-802D-5DF1B745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86C8052-A6D7-4DA1-9EB8-BE92B69E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月份 策略 基准 超额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05C65CD-AB58-47E5-9913-C83CBCBA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94F6030-D440-45C1-85ED-03E6C086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生成失败样本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9691C7D-977E-4F0E-9966-BEE09DAD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5940A58-3068-42D7-AACF-896F6CC9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2026-06 +6.2% +1.4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4C9F14B-54DA-4A42-9A91-983A5521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2999898-AAF9-49C7-B62B-8A8E4FA8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导出月度收益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0C8CBA5-D193-471B-B9E7-53BC67FB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900778D-0AEC-45C9-9C5D-1D2DDD1C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2026-05 +3.8% −0.6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54C464F-ABC9-4167-A1C3-AC12755A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F14815D-AF16-4E62-A695-F6334289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提交复核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1A1E0F8-1228-46A7-854E-9724814D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DC13B57-31BA-4BE8-BD7F-B1148E00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229E944-3753-49AF-9827-40B1CE15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3EDFC0A-E3AB-4167-AF53-C0FED3EB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生成失败样本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70405BF-9AB7-4006-866A-1B4FFE41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B35CADF-E18C-4764-B4B9-5A48419A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导出月度收益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8D06CB2-1B2D-4D47-80C8-182BB301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CF115A1-7BB1-49DA-8001-A90CB313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导出月度收益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2465491-175F-4204-A784-A314D0CA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982C023-39B3-4F58-9F88-9837ECFB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4A58661-148C-412D-977C-DFB61E21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47A6B26-FBC6-4317-9B04-6CEE5ED7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AE9F0C6-0B04-4858-A2FA-3EB2401E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68F0335-7FCE-4C83-84EA-6D455373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导出证据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C1F5FE0-06E2-455B-B625-A5499847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文件：backtest.html#failure-cases</a:t>
            </a:r>
          </a:p>
        </p:txBody>
      </p:sp>
    </p:spTree>
    <p:extLst>
      <p:ext uri="{BB962C8B-B14F-4D97-AF65-F5344CB8AC3E}">
        <p14:creationId xmlns:p14="http://schemas.microsoft.com/office/powerpoint/2010/main" val="134464245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741351-2C9F-45C0-B9D3-A8352FAC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28CAF-C774-4DFF-AA86-09B84B5A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C5416-D764-4FD7-875F-98587303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8D5FB-5623-43FD-BA86-5154F891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7BB61-A204-4A58-94C3-7B67DC47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3D541-2B1E-414A-B9B6-EB1AE376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03A5C-82D3-4C42-97C3-8B5D3BDC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B22C7-773F-4DAB-9E09-5F4BCDE3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46D7E-2EA1-45E1-A306-41314E78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23D68-E5AB-4EB8-A1D9-27CEFD07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AE37D-9174-47D0-AA82-37B36611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43AB8-014C-454A-B8DC-6772624F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576AF-F4EA-4413-AE16-7406E1A1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DA76A3-250F-489B-B529-0633E973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BA2CFC-9BE7-4588-8037-AE501DEC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42E16-4CB0-4C74-8533-D6C1B477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9D8EFB-6FCB-45E7-AFF5-BD7DD32C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E59F29-4E92-4803-817B-684C331C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34A3DC-6A13-469E-BC1E-518E6AAC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970394-B823-48E6-942F-1B9E6B6A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EABC22-AB74-4D44-B80D-773670FE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C1E778-E2BB-4D44-8B8E-2348CC24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D9A7D5-D5E9-4042-B8F1-F727B873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DCCF1C-3F09-44D7-9DD4-D07C5D3B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97F2C4-11DB-4E4A-98A1-8580436D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9A2381-FAD9-4EB1-AC8B-B8CCBFD8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A0EF11-1A1A-4F9B-8EB6-86A5CA1F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F7CE15-F233-4782-8367-2B6AEAD7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223B25-E4F6-4B43-8F93-BE235C7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931056-9E5A-47A7-86F6-B3782CA5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A6F748-4579-4BF1-A2E6-789D693B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9575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02B369-E03D-4AA5-89F6-D539656F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00282C-4C05-442C-ACE8-F51258DE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1274BE-9D9E-4FD1-866C-1D1B1387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9A862D-03C6-400F-BDDB-F46D5FB0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1F6017-2071-4393-86D1-76D4F022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FB8F35-F01C-44D2-8CAF-31049921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54F090-FD69-431B-A627-9FC1B0DF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64B313-5224-45E2-A95A-1C84F4D6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1092A3-DB72-43C1-B408-AF6B6E3B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1E5A2D-2CDF-4D1C-9B43-02D33526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个股诊断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D95583-D8EB-45A8-86B1-2DE62276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8A3091-679B-4180-82CA-5BBBA484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1EEAE8-4E6C-48E9-B71C-5C42856F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74FF1C-67D5-4634-836E-B7865A04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68408B-4925-42CA-A24C-E0C42289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79F248-09A2-4392-8940-735143B2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CE299B2-21C5-4C5F-83E9-6DE14863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12BB43-388B-4E8C-845F-E71B435F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个股画像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7D4A2DD-9037-4170-A742-0BD9A0A9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基本面 / 资金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8A6CADA-02D0-4907-8C06-C9ED246B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873758-F74A-4598-B482-D2092F1B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2F1C775-4140-4646-BD19-93D5E939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风险雷达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B14F44-C26F-4FAB-9E04-B99233EC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多因子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DED29F9-0E35-4044-8077-18FAEC67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5C39AF-AF8D-45D2-8C54-A14AF435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D4C5CBC-8FAB-4D4B-8949-1BBCDC67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历史信号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B051B36-9AF9-45C6-8DB2-7C5E7890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触发记录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2DDFC4-F460-45BD-A177-45D65F96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6311EE1-4412-4097-967A-08064A37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D8A9F73-3D67-49C5-92D6-5A9E7B05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操作建议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308CBB9-F798-485D-87BA-8260A43F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观察 / 执行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82E1CD2-45BA-4A5C-BE8C-6052034A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A95560F-B12D-4297-AA45-65572D4C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1EDF961-5B7D-4348-B693-E06A4F85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个股诊断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BB47197-856E-4D69-95C0-975B3452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31CB22C-4E27-46FF-8E02-FC538A67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9C9A03A-E4E5-4CA7-834A-40A79EA3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个股画像 · 风险雷达 · 操作建议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97F5B90-A829-4036-84B1-F4C759EB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4A223AC-7438-483E-BFD9-F04CE9F5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73D2958-282A-43E8-AC2A-191159B0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中际旭创 300308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1041230-EA5C-45D9-8CA2-83E2E58E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6BCA4B3-6847-4029-9BD2-59B13922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B239550-CDA2-43A8-977C-6134E66F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诊断模型在线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D9A416E-EA04-4FFB-A8BA-CE53073A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48 · 个股诊断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2BAE802-91C6-49FD-A278-828EEF55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个股画像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DC1A926-89DA-462B-A328-5C6A5956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基本面 / 资金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0A53AEC-0BC0-4E62-A36A-39FD8E49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0F76FB6-EB3F-4B3B-B273-4C327BED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2FE8EE4-6CE4-4D99-B661-4A5D4632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FAEDB73-E3A6-4A71-A85C-3A066980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个股诊断 / 个股画像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C510201-DBA3-4A92-AE7D-29A364E6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9B92DCE-BD31-4CBE-8943-D26EC4E8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基本面 / 资金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4F250B1-FC97-4398-9E9F-BF61E5BB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E95DD0B-4174-43EA-8860-343D7A91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综合诊断评分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5C17468-B1D8-4BC7-97D9-8BE92B71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35B53EA-CD91-4B68-94DC-51F755A8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22B35A1-F4B6-4E09-BA0D-B32FCEC2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3A3B86D-1E3B-4E14-A1B6-D16C812A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078E3DA-9416-4357-AB0C-9D708D63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FC77F1B-CD32-4966-BDE2-172105C2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个股画像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4B84AF4-143E-4DFD-B3DB-27780FAC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15BBB8A-1A0D-4D48-8FDE-F6B0A029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综合诊断评分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3D08893-6D4D-4CE0-B99A-640EE31A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9E2F024-D5DC-4163-937A-B80E362F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强烈关注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7CA79E7-51FA-4DC8-80AE-A93D2CEC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EF4824F-08ED-4745-A5BE-23CC2228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回写选股标签 查看诊断联动 &lt;div class="card"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C454F81-D16A-4BC3-B7E8-B053E34A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C50B2AB-A437-4A97-B698-2EDFE8C7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82EEB58-BC61-4E7B-9BCF-B4B114B1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5355FB1-8383-40DF-8462-BEF9B49E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 diag-v2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3FFAA6D-1C2C-425B-BFFD-3E69219E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60A8426-5194-4B8B-B07B-E8F40287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强烈关注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7888121-4ACF-43B1-9C0E-7838FDC3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C698ED0-3CBF-4A72-94E8-D6D039D5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回写选股标签 查看诊断联动 &lt;div class="card"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1DFCACD-9CE6-49B4-A63C-8B6B028D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83BD8A9-8E85-42B1-B642-8BDAF9E0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0746CEA-9C49-4160-ADFE-B510BEB6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FE93A50-2559-486A-960B-E7F75A33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F803BDF-4918-4878-8866-4BF1BA81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918D5FD-ABC3-4B2E-B364-BE8EA1AE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230E418-A281-4B7D-896B-50353072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37E1F72-8111-4994-ABD4-308764DB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C8A390C-0563-4427-8EB9-ADA9F2BC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模型 diag-v2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8BCF4A5-BD09-4BEB-A1C1-2079A09C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C6291E9-3A81-4E05-831A-5FCB52B3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回写选股标签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7D1FBFF-716A-4AE5-9534-C78E62F5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0FD91E4-9AB7-47DE-AE52-C8A7E091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强烈关注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C08394F-289B-4526-84DF-EC44E31F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2385C7A-12E0-4BAF-AB01-79D64FB1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查看诊断联动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D3255B2-B83D-4D03-895F-2515349E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512D386-7833-44C5-9855-34BBF927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回写选股标签 查看诊断联动 &lt;div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FB2C1E5-4BE4-47B4-B64A-40B9668D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3A4FE77-13BE-482F-A79E-616FA0CD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E446967-79A0-4DAF-8B14-25C4B648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862E9B7-5F5B-4CC6-8481-58FBE9C1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EA8F748-1C17-4003-9961-2AAC1698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20E28D4-6994-43E8-8350-4F575187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回写选股标签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3856F4D-6850-4F08-BCF7-0F63B7E9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97465B9-F790-4354-9D39-0B554DD8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查看诊断联动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1EE0E21-786B-4C10-B7CD-E66CF304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F1DD3A9-C809-4EAC-B551-A82DBF15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查看诊断联动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C2B485B-403E-4939-B54F-8EE05AD8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714ADC7-7B13-46DA-B507-E9756DC6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C846D31-D041-415A-AF74-729AA8BA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CE93401-553E-41A5-BAC1-866AD589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24A2227-29CD-4677-9FFF-6F48E7BD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304555C-68D5-4A3B-BCD6-1F249DBB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导出数据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764C7F8-E32B-4CD2-8251-5E8A0D34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文件：diagnosis.html#stock-profile</a:t>
            </a:r>
          </a:p>
        </p:txBody>
      </p:sp>
    </p:spTree>
    <p:extLst>
      <p:ext uri="{BB962C8B-B14F-4D97-AF65-F5344CB8AC3E}">
        <p14:creationId xmlns:p14="http://schemas.microsoft.com/office/powerpoint/2010/main" val="103313331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1C87BF-0966-4D01-BD86-1793A090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14CB2-0B7B-4E4C-BF9F-5C13A377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140D3-0094-4CBE-937B-64EC3447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A4525-462E-432B-8F54-D0B116D6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E842C-B245-479B-82BB-80DACB52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5C2AC-22E2-407B-9A84-4DA5CB44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462E7-6226-4FB3-99AE-99558244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3E4332-9E07-4F64-922B-12A27435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5DC124-0DB5-45ED-B2E1-C157B097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A0156-E454-454C-A048-A6EDF588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8F7B7-1E78-44DB-80D2-A9A139AA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554F7-DBBD-469F-95A5-9F525FC1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5CD25-2185-4035-87EA-14C3CBE3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31C83-05DB-4598-A304-2A8AD39A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EBB780-215E-42B5-A2A6-F416F2D2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3EA20-A9E2-4B1C-98D7-918FFB74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C46DE2-D2CD-4987-9344-03F4FE4C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DE0FE0-20BF-4E61-97FE-39C5BEF1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2A4432-A6A3-438C-91CD-29DE4BC8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EB6FE2-F3FA-4A42-82CF-62E8D833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7245B3-542A-4690-9BD4-BC8470D3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4264D7-0E36-4D6E-BA88-21A06434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CA20BD-D549-44DA-9052-CA12E0B5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61944F-BA9A-435B-B78F-FF8FD1CA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0BAE1C-A32F-4766-BC09-F30C371B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BB6E8A-F4B2-4320-9E49-C47B2B98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A003C2-D59A-499D-8622-6517381D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CDA883-7780-40BC-A338-DB4C8B65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4B68DD-6724-48F2-A579-59B2E855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78655C-968B-4790-9F54-9AC48F89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7792BC-6B63-4D26-ADB6-3EAD0CA8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9575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47CE97-8D1A-4D84-AE0E-4425F0E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CAC89A-5A22-49D0-9949-CD4AEF58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AF6174-E0F6-4D96-8F05-D8F17BD7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8D2CBC-E557-442F-9AF8-21A03264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CEA21F-2F0D-4B7B-A684-6E71ADD1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71061E-AD43-4012-AFD6-888A5423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ED77ED-E31F-4A15-A91C-A45F3E18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0D4EF7-8B9D-41C6-A25C-4AF5168C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011613-AACE-44D5-939F-559518BF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FAA527-4ED7-4D31-AA2C-0E2DD778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个股诊断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AC7E70-98D8-4206-B0DE-EB8A836D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C46700-E6D3-4944-8B62-0558101E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8E5A6D-3033-4894-B954-77E0115C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657159-5E33-41B0-A4E5-9A43E743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2638F6-DDFF-4E30-86B0-222654B9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C71037-A88B-43F4-B74F-0596E6F3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04062C-1CE4-400D-B1DD-DFEFC5EC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DC0AB4-581C-4247-B72E-2FD33097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个股画像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D474327-09E3-483D-9DE7-7205FC04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基本面 / 资金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872AFF-9FF8-42D9-BE93-DFC7F4C1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CA4A2A-802B-4506-A501-76F0BB0B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45D7E68-DCE5-44A9-AB08-DBABB8CB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风险雷达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CE7E2E-A2A2-47AF-B081-E8619149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多因子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DBE60E6-680E-4CC8-8206-4A43E654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9347C2-553C-4C85-BAC3-C0347BF3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6977995-95B9-42E5-8470-1A72FDFA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历史信号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8488505-412F-48AD-A3CC-35869AF1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触发记录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53F60FC-B040-43EF-9DCE-C01ABC52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A469E32-4903-492B-A427-E055D7C4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4609DF1-5184-4177-A05C-1C496E22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操作建议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0AC6966-4F7C-4C12-95BA-6E723BD7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观察 / 执行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355CCFB-7000-4996-97F3-609FEB3D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932CB2C-1F2E-45E4-B966-7BFF6385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96FCD88-CDB2-48B7-8F9B-ACC32413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个股诊断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6C3171F-7FC2-4859-A032-5DFE2581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7EB7A2C-64B6-4542-873B-490890B9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A72045A-7089-4E52-A926-CF91DB4E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个股画像 · 风险雷达 · 操作建议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01C5FCF-F903-4945-A6DA-5475ACFA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9050E77-0375-46A7-8918-584A0AC3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6B057FA-1C67-4EB7-B826-59BD3C24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中际旭创 300308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4C06016-87A0-4ED5-92B5-CA9E6F74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FF9E39B-3B1D-4D57-913E-17AA3BC6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EA369FE-E7E3-4472-8A07-7E72E2DF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诊断模型在线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6FC6A1E-97A7-4AD5-A2CD-DE366F9C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49 · 个股诊断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B4B4CD9-9757-4052-9E3C-FBBB6DB8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风险雷达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66B4DB3-9DC6-48A3-9DD4-AE5B5322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多因子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910D522-4824-44EB-8654-1F292B9F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818DD35-341D-47D5-8294-50438EB6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E8DB45F-63B4-4F54-AFFC-5842969A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331B739-E49E-47E9-943F-D501A2C6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个股诊断 / 风险雷达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84A4760-CB07-4707-A3BA-3EFC9870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A694D9D-5B20-46DE-A24A-EFC9B88E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多因子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558ACE1-B0D8-40B9-BBE7-B3281EFC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ACE5705-63E2-4644-86B6-F32E09A9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六维雷达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B403337-71BB-4638-84B8-BD9D0AC0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A3AF84F-3011-48C7-BFEB-1A483D36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12077CD-029F-49E6-B9FC-81C05DF0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EFB3FBC-E9F6-40E3-B920-BC8A5E88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69C3CAE-0BD2-44C9-824E-D2A0DB40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7254B45-BD02-4B1D-A933-38E0244B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风险雷达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B1A8127-3F27-447B-8D2A-E06BB148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BBD1C50-C63B-4B7E-BB64-91779C60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六维雷达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815E8C7-B49F-4039-A9E1-15668A56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E429579-E683-478F-ACB5-7BC64C24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明细列表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EE57991-9F8C-4846-ABF2-A912D21D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9ABAC99-D368-4C89-AA5C-6CA71828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联动结果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54BE195-E650-4EB8-B0D2-667658A7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CFECF7C-E222-4FE6-B46C-382BC810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B0F9910-BECE-4428-A6A2-4BB25C48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D42A582-B8DA-4F97-B5E6-DB662CBE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生成处置建议 &lt;div class="card"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AE5BB67-3DF1-44B5-8FCC-43E9B350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4E534D9-CBAE-4BB6-9AD1-25F90F89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风险可复核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E916DE8-A058-4B2D-B16E-B97520A0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35BE96E-5AE8-4A8C-A0B8-12752E3F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支持空态 / 加载 / 错误态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0E82972-B7EA-4D1A-848F-7938FC83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CC335A9-E743-4B2E-A11F-B52F1391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3A2F144-93BC-4760-85CA-38874DAC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CBEDE90-1D80-4009-A611-A7340CA1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05E24F2-11E4-4559-968D-3EF9731D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CC53186-5D05-4015-8491-365D14A6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ABDC366-C34D-4D07-B5E1-ADA889BB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5DA9E69-2E57-4CA9-9A9F-983B54CA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6A17497-9ABB-4967-BF70-52705D27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生成处置建议 &lt;div class=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EED7895-FB3D-40D0-B6B7-B16601B1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87C1565-6160-4D29-BD00-5E0AC9D0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生成处置建议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5BCC4D2-533F-4816-8144-5D57DC1B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159AF34-7D41-4254-80D1-31B250C3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风险雷达样本 2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8203623-CE80-4857-AF27-50E46DE7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28EF39E-6BC5-44F8-9446-555F918B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提交复核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BFE377A-CC65-4420-8827-4881F0DF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EFF88C8-AB32-431B-B8EB-D3B35295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风险雷达样本 3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C891342-2FE1-4362-8BE9-0931DE55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FF6C461-7155-4B38-B7CC-CAE2741C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导出证据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95544E6-6D37-4366-980C-68E8B2DA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903CF3C-FBCC-4FBF-92CC-44CB91C7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C401B2D-A6FF-4120-8CCE-9EC54F6E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CFBA104-CB92-49F0-9BD6-550ADF64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生成处置建议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32960EA-3DCD-4297-8D45-1A4EA353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61FD1BC-F342-4F83-BA5D-64329DE5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433FE88-5EB6-4E68-B09C-2AF44327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B146D40-FE0E-45EA-9161-6DF72469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805B107-0714-4455-A34F-88AED093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15CAFAF-D465-45A1-92B4-2E2A91F9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导出证据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4875CDA-1100-434B-907F-5724FEC9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F090556-F646-48C3-8600-B759CF0D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导出证据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3390A7E-D057-4A56-B0D6-717A1CC6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4290C08-7A59-4547-84A6-C0CCAB70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重新检测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BADA2F0-F86E-4BC0-989A-C7B022AE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文件：diagnosis.html#risk-radar</a:t>
            </a:r>
          </a:p>
        </p:txBody>
      </p:sp>
    </p:spTree>
    <p:extLst>
      <p:ext uri="{BB962C8B-B14F-4D97-AF65-F5344CB8AC3E}">
        <p14:creationId xmlns:p14="http://schemas.microsoft.com/office/powerpoint/2010/main" val="87974110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843E10-58E6-4042-B540-555A152C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5ABCB-30AA-4404-AA28-35E26CB8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7CFF4-E88F-4A35-A982-BD83741A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49682-0E99-4602-8959-67200E17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B388A-F9F4-4C8A-B646-97A4F1C9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45A3A-C398-4544-9D03-7B721ED7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42601-3D61-41F9-9F86-A6227F7B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E60AA-ACF7-4369-8ACB-79ED2908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BFAC3-293E-4A3F-9AC6-301BC845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AE890-4B4A-4FDF-BA92-22FC5A60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77B06C-856C-4DFE-8AD8-7B94B3B7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8F354-1CA1-4ECE-B386-11E1A512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2A4725-A3B4-4965-B7C4-50B042B4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9F7E5E-A23D-4D02-9A07-029577DD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78608-F3AE-4B22-BB08-A704238C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A6A44-8C4A-46B3-963D-D6B64F75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AD344E-071F-4CC1-8BE4-4DF6B1B3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E3F60E-BCEC-4EA9-B851-6F317FD7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4744A0-F9EE-474F-B0D5-10769A46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A2D967-EAAC-46F1-864F-9388E049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04E161-D30E-4C53-9C71-C277E46E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1B3616-2D16-41E6-8CF7-77595C58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4B0383-E8E5-422A-8F0F-CFE2CE6B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DEC782-6264-4990-9F8E-3AA79158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BF4AB0-2DEB-4513-BB2C-B4D685F0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CA0C52-D7E2-44B6-BB76-BB88EFB6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FE3090-6A7A-4528-86A4-7F9B6EE6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737372-B7A3-4199-B3AC-842F3F60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3729D6-7CF8-49DF-B6A8-5A65B8D1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C00D22-F8CE-4DD0-A224-8D306718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802556-E839-4051-BE26-37E93A78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9575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53FEA5-5BFD-42AD-98AB-0D650B7D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49DF72-19F9-41B3-8E30-80652A4A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CC4948-F501-446A-B909-E350BAA4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DE2ED1-7A74-4B26-9D08-68A0275A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4CCD45-08D3-4C1E-86CF-39B0B782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E3AD8B-D787-4444-A11E-00B219A5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28D688-9718-4B47-BB6D-AF719663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AB7C3F-3CF9-4B76-809E-3DF931D5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EF84AC-B822-4380-8D17-3530B5EE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18A867-4307-4DF5-B8CD-BC47FBDE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个股诊断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E3960B-31D2-46BF-B0E3-FA5DB6BB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409E48-3A6C-4B9B-B2E1-5C86763B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343AB0-6767-449B-A63F-3C675B68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49A6F5-9FE5-4501-8CEF-E69012AA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6EB4B7-149A-49B4-A883-AD617D7C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EF1A10-A646-413A-88FA-97F2A94B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4C0CA7-8E5E-4AC2-86D0-ADA25068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C7DBFB2-0F9A-4476-AFBA-C2CA5DBC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个股画像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EC02DE-6F85-4624-A1A9-6180EED1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基本面 / 资金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4D05EC-A9CB-4401-AEDB-BC665196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82516CF-8196-4C6A-A2B3-4DEA33C2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E8AB553-F6A7-4DEA-A00D-FFFD9F39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风险雷达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C571F25-3D1A-4BCE-958D-0742B91C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多因子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C760C5-E9DD-4C31-A9CD-28FB9A05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7D9BC29-8E5E-4DCD-869C-22D6C013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5020D8-7047-48A7-BF34-9CC70396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历史信号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39589F-A591-443C-B444-F2855D01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触发记录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4F22342-5990-42BD-AFF6-6FC923AE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D8B800F-715F-47FA-AF5B-836E7581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EEE6C6C-22F6-4ECF-ABE7-37E9F5DD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操作建议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B90148C-1673-454C-B8B6-59C6218A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观察 / 执行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BC1E0D8-0CC9-4440-BE89-1E60715C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F946B07-FDC2-4B7A-91E2-EE12C30C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19BDC7D-7415-4DFC-B49A-996B0754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个股诊断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EAB9499-5959-4484-B765-B281067D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3F40CE6-05E6-4DD3-969F-AFDE176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F5D4918-BDC9-4498-B48C-AD2B0182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个股画像 · 风险雷达 · 操作建议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A0AD6C0-A9E0-4483-B76E-75BE2C8E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0A81240-B0F7-4094-951C-28B31FE4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FE5B5CD-9106-4996-9972-102D59A0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中际旭创 300308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2A7618B-0015-4D6F-B011-7D986668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1FD40EC-D86C-4915-B96A-05F572CE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D033BAC-A341-4E93-BE47-5C3C7A7B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诊断模型在线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9E029B0-D2D8-4409-98C7-EE18C3B6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50 · 个股诊断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6F131B3-AB9A-47CA-A39C-94F7A532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历史信号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76E17C3-C95F-4160-8BE2-82DB2CFB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触发记录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733A301-1FA3-4D9A-85FF-DF7D9AFA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4B7E6FD-17D8-4F24-A7C8-62000A22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0E83C91-5B2F-4ED5-A10D-9B751066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D66FCD4-3D76-4F00-9634-4092860D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个股诊断 / 历史信号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27E42B4-1E84-4ADF-9BB7-43899630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3B8F458-8CB0-4317-902A-C080529A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触发记录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9534A7C-E81E-468A-9CDA-DF8DFD51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8CD35F4-DC21-4FC3-AF0F-3B546EFA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关键指标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BE9313D-6676-4044-B612-01136720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886514C-0ACD-4120-96FA-AE3CB25E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EF8FA00-31AA-47D3-9F8E-F595662E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79FD88F-1851-42B5-A98A-9045BBA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DA37ECF-D1C3-47F5-BF39-9C881FEB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8BE16E6-C040-4071-A070-C488D362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历史信号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54B71CB-47B7-4F28-B9D9-BC9A295E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AE39385-DE62-499C-B262-752EB1B4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关键指标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8B9727A-1C79-4986-A8E3-91FC639A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2FD5AF2-F740-4B25-8E8C-4EBC1EF9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明细列表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A7E7657-D14A-4DD3-83F0-E5C1D5EE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960BDF5-FD1E-4FA7-8590-B158E46F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联动结果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134C484-D78D-4928-8BAA-0EF84E2F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805A82E-ED8D-4F22-A5C1-C6DCA0CA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EB3D5EC-C5D6-47AA-A860-88D67F67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6B2DE99-325E-4514-A04F-5604FF8F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拉取 90 日历史 &lt;div class="card"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B9C1C93-28C8-437F-BAE9-DFB34322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78FABE0-C838-4651-8EBD-E977EC8F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风险可复核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EDD6767-B456-425B-9021-E0C32B07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24BA0D8-F417-415C-B363-315A21D0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支持空态 / 加载 / 错误态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A5C5DA4-0C9F-49F2-AA19-03A0BA0C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A2B2322-68F7-49ED-B3B3-787183D0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E1B8B4F-3E8D-4CE4-8B60-4E102FE0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8A8B3EB-05D9-427D-AD06-9D36DFF4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37233C6-6737-4E01-A495-D6354CC8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9FFC18E-50B9-4AC8-9A12-DCC8B097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AA54102-0AFF-4E91-AE45-3B2EB6EB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913C94A-6536-4FFB-9167-231B2ED1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AAAD111-93C4-4C46-B879-6F880AB9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拉取 90 日历史 &lt;div cla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2C70409-5A16-4323-B299-1FEA8134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39E2F4E-433C-40FE-9CD5-08BEF76B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拉取 90 日历史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E8D39A9-7357-4DB6-BC1A-995F1DE8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24D7050-8AC3-48C2-A64E-61064DBD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历史信号样本 2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49F2140-DF80-4FC7-A00C-D146DC98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D684E0E-68A4-402D-8562-55F2A866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生成草案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6427B66-4CF4-4FBD-912D-CADA9ECA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92CCB99-E5C4-47CD-A34D-F44269FA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历史信号样本 3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E6F8F80-8612-4606-9DCA-D6691A5C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7D38DE4-4F04-4976-A970-95F3D8BF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写入交易票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AB411A4-C374-4228-97A9-AA93C8BD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238D453-3A10-42DE-B655-11E60FD6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0CE90E2-0518-4149-992F-B463A4D0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BC9FAFC-0891-4527-B7E7-7A5CC866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拉取 90 日历史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405A76B-2C5A-4914-8D36-A922E6F6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86C2ED2-F763-40D9-A2D4-E82CBD87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生成草案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09A03DE-53C1-499E-90F8-8A662889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1BBEDD5-22D4-4071-A5E6-F2E7A9A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生成草案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D004027-4DB2-4561-9169-96D2E7C8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1DA3267-1E92-41BA-8465-84D82F99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写入交易票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5E776F0-963F-4696-B6F3-08C7803C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C60D29B-6685-4CAB-85C9-1FA67598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写入交易票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11C8C9B-2C26-419D-823E-284AD473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F731872-5DE9-491F-8865-91040631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提交复核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28F7516-C7D6-48AF-AC6C-BA0002D2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文件：diagnosis.html#signal-history</a:t>
            </a:r>
          </a:p>
        </p:txBody>
      </p:sp>
    </p:spTree>
    <p:extLst>
      <p:ext uri="{BB962C8B-B14F-4D97-AF65-F5344CB8AC3E}">
        <p14:creationId xmlns:p14="http://schemas.microsoft.com/office/powerpoint/2010/main" val="158999953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AFAB59-8014-478D-9093-E0E1EBB3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8D84C-E316-44A2-88F7-AAB228ED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2631E-80D8-4A28-BCD5-A5FDF27D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CAF18-6560-4C2B-B378-5825915B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14BE4-FD10-4744-A1F5-1F48C9F3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DEB7A-2FC8-4AFC-B5C4-33F9A149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3076F-43EC-4C08-95FC-3A085FB1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B0A1B-07BC-40D2-9B96-6A614532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AA3A8-112F-4E8D-B195-59E14CFD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2CC5DF-80C2-4E0F-BF5C-062C3310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4860E-B02C-496C-832C-7030279D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19190-AC73-4906-A0DB-CC3A5EA1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395040-0A26-425C-81E0-A9CFE4C5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EE7AF-FCEE-43E7-9196-F1D0714A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7E8DF6-0250-4FCF-B131-8F399B63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58727-0831-4291-86DA-B9B6E5F6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AB46D8-CEFF-458A-A27A-C90536A0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51F224-1BC6-4984-AC4D-4D023334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7BE917-3ED5-43E6-966C-61A2FC83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70F3C9-9CE0-4238-9FBF-5653D811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02E35F-2734-4F01-8DCD-F37D3007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C9630B-1121-4339-8658-B0AF2B2B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5805A2-68BD-4E5C-BC10-F89AA289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62EE47-B032-4331-A910-D9FAFC54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33E064-C083-4947-968D-0B6DFAFD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DA02F9-3BCC-45DD-B4C4-7EE2DBEA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177EA9-7BAF-45B0-AEA9-8B3F1D45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30614D-E86F-4883-A9DA-F02888B9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9F9C4B-837B-4242-8ABA-E00876F8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89D026-D4B3-4A3B-998F-1BD06E66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CCDB64-6AAE-4B58-8E25-D40FFFAC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9575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CD08BD-622E-4D99-B07E-C4F86C64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个股诊断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3C0012-4802-4B1A-8D6D-7CCC0FE4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CC78D5-301D-4FCD-966B-8910A191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6003DB-B8F6-41C8-8DAE-EF71101E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550099-0105-4DF7-936E-297BADA5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58F568-F60A-45A2-9D7E-024EBFB5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937D28-DB48-49B1-ADA3-B7F54FF9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D06CF6-92C4-44EF-B1E4-8ECC83D7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1CB622-3675-43B5-9BB7-B7B80939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CDFDA0-D17C-421B-B90B-05D92B7A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个股诊断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A25421-BE29-4470-9547-423CD0AC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7CF6D6-20DB-4942-A1C7-164E9451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01FE28-57DF-4360-9AE5-74266300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E724FF-29E7-4F89-AB17-2EBB848B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5AC082-3540-4C2A-9893-13B91A63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27E71C-0C37-48D1-B91F-7E249D78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08AD88-56E7-4BB8-A892-06049164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845A0B-34EC-425D-9327-2D8C6993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个股画像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AC74F3-1BCB-4EB3-BC09-951ECC4A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基本面 / 资金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C97FCA-A1A3-4A39-92A5-770BD02C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C97C35-1EDA-4A1E-9C31-2DF59DA6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174D6EE-DFF6-4B6A-A09C-EC63DAC3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风险雷达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B46F530-BB6A-4E6A-A3D0-F1672D42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多因子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C212991-1E61-4E22-BF03-AF4A15B2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24E1066-AA1E-4C4B-9A9E-AD9BCFD4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3FBA9D9-321E-4C2C-9ED4-8E788E56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历史信号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0ED6181-799B-4F46-AFA9-FABC4DEF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触发记录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F5D211E-8DEA-410C-BAC2-37FAD641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8C562B2-ECD1-4334-B467-8BBD6A62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2BA6165-0C04-424E-A556-0DBAECE8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操作建议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7F002BB-86B2-40EF-98AE-0F4B3F71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观察 / 执行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8DE1494-46EC-49CA-9400-F1869D4F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7293639-4396-4122-A7AF-15AE65D6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7DA8154-F9AB-4587-A438-C5AE385D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个股诊断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780E383-80CD-4DFE-8D85-14E42C51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5978551-D330-4D72-B046-2E6B6B42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A01D338-B112-4BFF-8FA3-8114C5E3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个股画像 · 风险雷达 · 操作建议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B3B2071-4203-48C9-9085-178F3B1A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5C8A638-9977-42EE-8D29-40FA0BF0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55DA3B7-9BD7-4144-B620-24A4BD58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中际旭创 300308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4A294F2-0990-4607-A21E-F1DBDB5C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7F939AA-634F-4849-BE0D-3F5D2846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3D42F0C-6EF5-4098-B157-D3E65AC5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诊断模型在线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417498B-0D0D-401D-8C8C-69D1C856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51 · 个股诊断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3B0A9A8-B761-4D9B-B652-46EE37A6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操作建议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C9F76F1-BFD4-49A3-BD62-1ABF0034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观察 / 执行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396A869-3F53-4F3A-9469-2567A128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1FBA45E-5F54-4478-9E22-6894106F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A3237FC-5CC1-48F3-9AE0-2EDEBCBA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6E6583F-E65E-41DB-9380-5C17D707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个股诊断 / 操作建议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AD05C34-D565-4025-AAAC-FDA28964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3C88859-999D-4462-86C0-FCDFF01A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观察 / 执行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7F6EF51-A729-4D75-8CA4-4539EFBD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AF6F134-6179-498E-81B9-0279AE53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技术信号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F1BD6EA-00C5-43A4-B489-EA128FF0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3E2D211-C5D6-42D8-B101-B8C6B553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2AC577F-FAE6-4DA8-9BA1-39CFB17D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F63C91C-5E76-4282-9D0E-54ECBF60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19DEC4D-BB5F-4CCA-8145-4735A7A0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DD01453-E417-4972-A3A1-BC5227FF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操作建议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D6726F1-26D8-4A08-B35F-5EEFE95F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FFBB4DC-E19D-4244-83D6-5378CC2D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技术信号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8EA516F-75F1-481D-A7F1-E85D96FA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7DB2FAD-C763-44B6-90F3-3A1DA265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AI 诊断结论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60A1F04-36AF-406B-B033-E050359B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2EB7CE4-5055-46DE-97CD-7A4A5601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多头排列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3D07893-C2FB-40F2-AFAB-FAEA0CF5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65CC992-6361-4BBC-BB80-6B4356C3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9102DAE-A745-45E3-84E9-5B114CDA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749814C-61C2-4D04-9849-0B8B5320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金叉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A00B671-DB2D-4B24-B281-730F30D3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F508237-B4C7-4619-8AAD-0D1206BB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多头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D2EA875-B809-4C28-9A3D-5DF847EC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C17FAB6-6576-4279-A6C8-523614AF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多头排列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6478FBF-8320-412C-9BE8-E908F252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946D855-9742-45CC-9574-A18032FC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偏高 71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4895665-8F89-43D5-B843-AD9E918B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4CA0416-91BD-428D-AE4E-6C7803C4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E622710-0F43-41AA-8A80-55E4A2BC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93AC686-3872-44D8-964E-E3D60050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CE39077-A7E0-4417-B948-A4F268BE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F29BEFD-8991-44FD-98DC-7485606A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503C70C-6F34-43D4-8AE8-F17D5571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金叉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4AB149F-37A5-4D25-9606-08BDD4B5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9EE812D-403B-47AE-B176-2FDCD359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前往交易 →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3F0AC79-4979-4214-9328-2180A56E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30BBBF0-4B2B-443C-BC1B-F52EB5F7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多头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2898025-A013-4BF9-A9C3-6EC6D301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E993A1D-6861-47CA-81EF-A490DD0B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73316B-FCF7-4CCE-AB0D-02BBF383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55321C8-6BAB-4487-B323-13F63937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多头排列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FD463A3-299F-4725-BB2F-5001C68D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2622F51-5A92-4381-9DD5-65C9249E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导出数据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9E00BC0-529A-4D08-8F6B-A2DF5C44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CED8744-9BCC-4311-AC29-4AD87600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94D55FB-3BFD-4451-8FC9-2EE0184C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6FEC14B-B816-43B9-A277-C4208B7A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前往交易 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EB998EF-8DA1-43C2-B4AD-1418F77D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D59317E-70F3-467E-BDD0-00639FED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9824EF5-55EE-4131-AB2D-3D880CED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0DDD7D4-3181-4DC7-939B-B5801DED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1B96E61-0AA3-4A08-B9A3-AE01D4C2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D69C29D-3296-4C35-A07F-57511218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9F20A4E-02A7-4E31-A1C6-ED2C1EEE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AE1F35F-B545-485C-A5F4-37B9E89A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导出数据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AC8DDF8-1698-436A-AED8-D698A717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103BC49-E02B-4458-BCBE-D220A452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刷新状态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E53E670-ECE5-4BCA-9E95-7FF73B3A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文件：diagnosis.html#action-plan</a:t>
            </a:r>
          </a:p>
        </p:txBody>
      </p:sp>
    </p:spTree>
    <p:extLst>
      <p:ext uri="{BB962C8B-B14F-4D97-AF65-F5344CB8AC3E}">
        <p14:creationId xmlns:p14="http://schemas.microsoft.com/office/powerpoint/2010/main" val="1453976439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ADAF03-D1CE-41A1-972A-6BEC5230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8C6A4-3458-4FA9-83A4-FCAF8D21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D433C-9ADF-45BA-9C21-BFEE7CD2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A1884-DA28-4BA1-8F3D-1EB6E133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A3871-F872-4455-A8E7-2329239C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941D9-E1DD-4423-896F-C8CCFF9B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E739A-D42A-432F-91EE-9AD37062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38959-1A76-4603-B4A8-EDA5FFBD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76C01-4A52-432D-BDAE-A48F3597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5ADF0-F4F5-4D9B-B6DD-380077D9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45B61-6C4F-4216-93BF-B9F7C87C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804A7-D12C-41CB-BA3A-7C99B02E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BC416-EDB5-4F72-A2D1-8D2A8380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4363B-086E-48DC-BF34-8E5AA4D1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5EB7EF-1ECE-48EE-AFAB-B1E08301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393FDC-8433-4A0A-B9AA-A99F1671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78A385-1AB4-4BA0-A44E-BE14C867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15FF11-BE05-4EC0-A84E-FF4F280C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6F5236-FD19-4E3D-82E5-FA889141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ADD490-8A7F-4A6D-B543-286295E9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452005-4592-47CC-9501-0C0FA24A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560DB9-F2D1-4CB7-BE8B-74B32286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477CFF-4B49-4670-8805-01D77008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FBC31E-E04A-4C7B-BDF5-1AC0E97C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505303-A8C0-468D-BDF5-5FE4E518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925536-9EC5-4FF9-9364-9B7AE126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71290A-2ED1-4DCE-9121-E94A87DC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AFC45B-D167-40AD-A50E-1A3CA161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58ED06-96A8-4D6A-8F1C-978370AF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97EE6C-2FDC-4213-A331-FC3FFEF7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47CD26-44FD-45E1-A54D-8B354D8A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D8A0FD-E7F2-481F-A4B1-B7257200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BA46F6-06C8-4452-965D-325E7062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1AD4D3-407D-4A89-8D5E-29A670DF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60057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F2FD9F-115D-4F38-81D7-788D5A22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76D6AA-3ED8-4AA3-A8C6-0EB0DD7D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BC4B6C-9AD6-43CF-B108-45746BD8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1A09BE-532E-46AC-AED9-BE36C2D1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BA85A5-9573-4241-8157-4E74353A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C5B0D6-669B-4D76-894D-9F0046BF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06DF24-0E01-4A0E-8F4C-15B265AE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模型训练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42DBA3-D90C-428B-9DC4-7DCAD1C7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C953B0-3562-43A3-B605-9686A6D2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D8B2F9-7D88-4366-889F-788ACF73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DC4147-61AB-44B0-A428-C22AD719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D78E24-772A-4DA4-B6CA-1C0C57EA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CF5254-B364-45EA-A748-3464EEB5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5D0D8E-97A7-4B93-B1A0-2241A7D4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3E5FFC-E39B-4929-B50C-CD9C2E61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训练任务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479B36-4BEC-4057-9FF8-6036792B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队列状态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D63BFCF-33A6-4809-B9A8-E01A8DDF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F1BCFF3-B12E-4297-8367-9F8C7189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745728B-2F21-4309-8339-5104BF59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损失曲线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8C863F-C8DF-45BF-95C6-7541F8D3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训练质量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35FCC36-D9D9-410D-A3DC-69939156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0F9AD64-2713-491F-971B-22E41892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0996098-515B-4682-8E4E-5ABEA3CD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数据校验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C99B44E-BB8D-4719-8741-2CE2114C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缺失 / 偏移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0B1016E-318D-44A5-ACE3-76192784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0CC4562-01D5-40BB-84CE-B4B2663B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B452CDC-0767-424E-AB44-30E08462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发布闸门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14FF431-A3DD-4251-91E5-FD153913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准入检查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88ED028-FD97-45DF-B8E7-92E87FF9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90226D5-2888-4244-B1F5-E2AE7FF8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CC55E50-BF59-4296-ADB7-A2DAC032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模型训练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1A800D2-E874-4472-BE40-076CADE7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36BA52C-21F3-4D16-A97A-99CA5BF4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33D5F90-3F6F-4300-9A05-8CD4E24D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训练任务 · 损失曲线 · 数据校验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D322B02-E720-4C38-86A9-A80728A5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172E952-45B7-4DE8-B0BE-81D0A3A8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594101F-4673-4073-A404-78E93290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1 个任务训练中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7584077-E74E-4961-9915-F92E979A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F706029-0342-4FD8-B3B6-36558DBB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8AB9469-EADD-4597-992C-9155622A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训练集可用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11173FC-2094-41DB-A9F0-950B3016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52 · 模型训练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DAEF74E-3736-4F55-A47A-ED633DFC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训练任务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1814FF5-26DB-49D6-8EF9-FD10DA27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队列状态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23B256B-34A3-4A6C-9DD5-A8402946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3CEBAC2-7D66-4AC3-9C12-0B65F2CB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9ABC4FE-8072-40C2-897A-EA896C54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804416A-2D2F-4E31-BE19-8F30DA51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模型训练 / 训练任务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0F4B509-5D87-4F34-964B-6E34BC30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3164F8D-51B0-4817-B23C-FD311DAD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队列状态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A107357-7F62-4897-A74B-621B149B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5BA78D4-1EAC-4321-9A73-D5A9C44C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当前任务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7830E74-9190-4ECC-82CF-C9E30193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B8D6F6C-E672-4D05-98A6-3E2CC071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6217437-D71E-49BF-A967-28E39F5B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33555D0-3E44-40ED-A518-EA8982A2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914B9DF-73B0-4049-8470-D25FF222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A99A4A1-22BE-4A99-91D0-0961BB73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训练任务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9357FAF-E2FC-43BB-9011-A70212B5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9264725-F4FA-408E-B8F7-E9124EAB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当前任务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14AADB1-99A9-4141-815D-937365A2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256E730-CAC7-4215-A2FC-58B6B195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batch 256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2FA6E0E-AFF7-44E6-890B-2F2C69E2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2411093-56C6-4967-94F6-933AFC7F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depth 8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C49842B-A3C1-4282-A5E6-3057712D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15EEEE8-9321-40FD-A273-E713D174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B65A7A7-7728-4B0D-80F9-5247E4E9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C2C4F67-E5FE-4486-A1AB-30422E1D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排队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F7F6B0B-00F1-4C35-B6D7-8E063C43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A6153F3-FE65-4C6F-B1A1-EFE8F621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batch 256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C7AF049-A6BB-4903-A2D8-CAE5F6B0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3D132AF-5851-4314-A633-AC0C7263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depth 8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24AC54F-749C-4239-93C7-6E319529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A80A57D-E94B-4F0E-B5AF-9EF52A0A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等待 GPU 排队 训练任务可调整优先级，但发布必须经过数据校验和发布闸门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6435456-0A1D-495B-B316-E01F5D72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D8BE384-E82D-47D2-BF35-9C0A521E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5EA2C9A-07EF-46E5-8844-0862F104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E8B64EA-851D-4772-878D-8E7EC66F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A601503-00CA-4E76-BC2F-44CB3E1E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EFEE29B-BE8D-42E2-981D-92DAF91F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59AB130-189D-4413-B20B-5E417CD8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排队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D1B6634-D382-44E6-AD81-0BE6B96D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CE9F35E-60AE-4115-A0D6-911537B7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调整优先级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95D225A-BB4D-44A4-A0DD-BCAB4B10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7619D8D-10F0-49A8-9A88-E90F6F91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batch 256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69441CC-CCA3-4E6B-80BA-72724521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6DF32A3-DA32-42BB-AE94-8B000142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刷新资源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E9A2491-D8CD-4DAE-9470-84291580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A732D87-6127-424E-8C19-623757F8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depth 8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AF2695D-4596-44F5-B8CA-C049875A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FAA0EF-EA57-40F0-B2B7-038C760C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提交校验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F52D2A5-18C6-4EB6-A891-724C7903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ED48495-8726-48FD-9718-EFF7FD94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3E9778C-4CFB-4DF2-8FAE-C3996A6F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EC4EF73-5952-4809-AA91-DE5478DB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调整优先级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7F93C1E-C9CD-4B9C-AE8A-D97A18CB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3A3E8DD-24B9-4C74-AEE7-5E8ED4C9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刷新资源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6BA6DD0-1E94-42FC-B899-EBD72283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197171B-845F-461C-AC5B-174A17A0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刷新资源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A5CE036-A00E-4A2B-BCE0-4581CFB0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7E56736-EE61-457E-A4D8-C8828497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提交校验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7160908-A9A0-4155-BFD3-4FF1273E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534BE96-4EAA-42D1-B2CA-166A73F4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提交校验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6E75006-DA9B-428A-BC89-89FEBDD7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E9F4189-913C-4CC5-9ADF-A7DF6ADB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进入发布闸门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1E477CA-7DD4-492E-B24F-5326D724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文件：training.html#training-jobs</a:t>
            </a:r>
          </a:p>
        </p:txBody>
      </p:sp>
    </p:spTree>
    <p:extLst>
      <p:ext uri="{BB962C8B-B14F-4D97-AF65-F5344CB8AC3E}">
        <p14:creationId xmlns:p14="http://schemas.microsoft.com/office/powerpoint/2010/main" val="395632447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400C92-B37F-4FDD-B52D-8A1636DE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34126-5048-498E-B107-55A16616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8C465-E93D-477E-A896-376F1B2B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51647-38C1-434A-9F55-1D858E7C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80EC0-2230-40D9-BED2-8DC5AF9B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C7A24-1788-4F4B-AC09-FCE5AB77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82527-4B61-420F-ABA7-328E8E42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C4872-83EA-476E-A782-6521E88E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A35B7-9B01-4C5A-B80D-C7E47807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ADEBE-5E28-429D-A62F-8D37D18A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DB87F-FF64-43E1-B645-D7C84E8B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789B2-22FF-4D5C-882C-1BA17F7D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CB619-A6C6-4E07-8B6C-3313F779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A0DC1-1F2A-4636-A032-B91166E0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04CA4C-9187-4CEE-B116-BBB9C165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3EF8E-93B6-4628-B8A7-F413946F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B7604A-486C-443B-8805-E73C3DE5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BEE9B7-4007-4897-9C9B-0339DD99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431F3F-ADEE-4DEB-B7A3-15826C86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430DD2-345B-4CE9-A365-BBCB53A7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652F1B-8B6D-4289-8F1E-EAEC0552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003E7F-6C5B-40BE-87E3-C40E44EF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FF9144-EBCF-42EB-A06A-7BB97257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03E9F9-6281-49EC-AAF0-3FF6145A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D364B2-D6BE-435B-AE87-77FA61DE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467993-4FD3-4055-92CD-0CD498A0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8C3E4B-AD00-41B1-B3D0-5C2E316B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2306B3-FFB2-4F45-8B90-DE43C946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B426EB-1C1D-4ACB-83B5-1F34C19E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A50560-A7ED-4708-BCAC-CDFD3A1A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13C479-DE46-4FEF-806C-2B415532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605E65-EBA9-46A1-8749-560F61ED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3E7C7D-CFEA-4EBF-B206-4D77277C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6DD082-DBF6-4B8C-A52B-30BAFDCE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60057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3CDB19-A052-4A70-9AB6-555D6CE8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BD9BFD-3427-4644-BC9C-CB80FC46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1BDC2F-4889-41BF-A073-5B5FBFC7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266C58-5724-4687-894E-4A1D2FDC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51DBB9-4B0A-4188-9DC3-3C759306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8CB849-5083-4FED-B8D5-03C00A09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B26448-FE29-4C3A-AF79-A05E2FB4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模型训练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3602E1-5154-4397-9425-BCF82204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2B941B-37FB-4970-B0F4-903BBD4A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3AEEA0-EC59-476F-B3D3-34A809AC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E6E27B-FDF8-4BB3-A030-F28EE644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938014-4F62-4AC7-8241-3769C17D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BA00B3-C9B2-46D9-B5E2-CA94CEB2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4A92C4F-11F4-4EBF-935A-F7D94B09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1E34F4-4218-4462-8164-24AD760D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训练任务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8130E9-FDB7-4C09-909C-D2264941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队列状态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69C0DE-11A3-47B9-9E8A-3E37DA1F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31F545D-B671-4C98-A2E2-A0E0097E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7E0F605-9FF9-4EC8-B36A-8C4EFF3D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损失曲线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D0B8FB-4337-44E0-85CB-49F71BA9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训练质量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677FE0C-E577-4A34-A117-0E50BDA1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C6BDD3F-8E06-4122-99CE-29A68169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573E5CA-57F6-4236-8DBA-6F208A21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数据校验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FE15792-F2CC-4E2D-A6CA-582EE2DF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缺失 / 偏移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FD606A0-4F0F-4C5C-BBE0-D3CF329F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65C3A36-5B0A-4435-B9CC-C543773A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3B8C6BD-6016-4893-A6CC-A5E5EF1E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发布闸门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3BDDD92-87B6-4284-93BB-DE949E45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准入检查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2E34F4A-EFB6-4CB9-A5F0-A647B67E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0E4B682-1A71-432B-8EAC-6D6AFB26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300C884-904C-4FD8-A8F0-A38570CE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模型训练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C23E68B-AFE4-4E38-ACD0-84FD739D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99A9C69-56F3-4EFD-8EDD-B39EB352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CB8371F-AFFD-43CB-8823-C0F822BB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训练任务 · 损失曲线 · 数据校验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88D3C1A-1CF7-4E96-BC45-7BFFDAAC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9814C03-0978-4754-8FEB-64442B9A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0EF0FFF-25A8-4D7C-BCF4-C4162E6C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1 个任务训练中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01E0EBA-6FCD-476C-8DE4-631A0734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B73D6EF-213D-4CE9-8087-3BF18AA7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6840FDB-189D-45AF-95F1-5916FB3F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训练集可用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4BB96BF-2C58-4AC5-A0D5-C128E3F2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53 · 模型训练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A93FE5F-BB18-43BC-942E-19E4D880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损失曲线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6320FF0-BE3E-4AF0-8B7C-E96DC244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训练质量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92727F2-75BE-441A-A4F0-546604BE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8C0FDB8-BBDD-4785-AFEB-7D47CD76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4EC33AE-DD1E-46B3-BADA-1F047BAB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64351C0-E327-4D02-934F-625FF5BA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模型训练 / 损失曲线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D99CA90-4A5B-4495-B290-4569D48E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23641AC-9ADC-4CD5-8D77-6E85BEC5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训练质量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D311ECD-8047-4312-BA25-74E5267B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7221D66-A91C-4232-AF89-3FFC3A65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训练损失曲线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9DD8895-B6E7-4B57-AFE5-EA9D0116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03D2D47-61E2-4020-B464-8BDDF7F4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F4B784E-89A3-4EF4-952F-4137A47D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9434F13-14A5-4C2E-A739-A68556AE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6589AA7-44A8-4693-9D16-D8B8B8E0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70C727D-89B7-45CE-AC91-D1131FAD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损失曲线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BA7DF51-FE51-48D6-8F9C-1F3C7D15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8F0D55E-D432-453A-9E39-2BC9F144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训练损失曲线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A55234F-CB23-4D15-8EEE-C45E1CB1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436392A-A2A4-4D26-AA56-82797A54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当前任务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5805D96-9858-443D-A47D-E63A3938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5EF2F8C-4C1A-4483-85FD-585CEF44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id="loss-monitor"&gt; 训练损失曲线 Kronos-base v4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A919337-9A78-44E8-BA8B-118CC080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BF69684-7882-419C-BBC7-61A996F3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D86BD87-6C0F-4F7F-BF2A-21BCF384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47EF554-4A89-4E00-851A-84C64C6D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Kronos-base v4 · 进行中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33D36F8-2B38-414E-9425-92098E73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F656416-76F7-4DC9-9321-01697FF2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排队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7DA5CD0-8783-49C1-9E28-AE5830BC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ABD6BEC-C8E3-4364-8E5A-34ADAAB2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id="loss-monitor"&gt; 训练损失曲线 Kronos-base v4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1005962-AECD-48F8-99C1-90816821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DE9425F-BAD6-4B69-82E2-8547D186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进行中 损失曲线异常时只能暂停训练或标记复核，不能直接发布模型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4509024-9296-40BC-9D3B-AB22C7B7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A90A1E1-FF7A-4B3D-8EE8-578C92FC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BD4FA9A-CA5D-4DE1-B3B9-4BF9E098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B27F7DF-C149-4AD7-8955-10F836F9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36B2E06-9744-4138-824C-CFA701E2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6335DFF-AFAD-4D7F-8C9D-2556FBB7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14F01D0-F35F-4820-A722-8D64BAD6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Kronos-base v4 · 进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79D0C71-09B4-4B76-9E1D-846F1AB0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00B72BF-AAC1-43CB-8E2E-AB546125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暂停训练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D700776-80B1-4F0F-8C2F-DA71B3BF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C7EB1EC-9751-4264-906A-D95DD975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排队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579295C-EEE6-4300-84FD-0B11F405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67A8506-1B6F-49C4-8EAB-E4F6A879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标记复核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EA79BD5-C584-4021-A5F4-CE8AB194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F745965-30BA-433A-A751-0E0A5C95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id="loss-monitor"&gt;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08CABC3-A5D5-4DCF-9C77-6F833951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A3E220F-9850-4045-8738-5603E276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调整优先级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0D7EDE7-BF0F-48C0-8D09-6902BF06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65F544E-5466-489C-9B0F-A0B241B0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08CF499-555C-4055-9C94-002ECCEF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8D23D1A-C926-49C4-85DD-B465CD53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暂停训练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6DEF29B-0C03-4D39-BB75-3A1D5722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CE41EFA-6DD2-4E2D-82D1-EEF1A948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标记复核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140FD99-D8AF-46A8-B4B8-773ADAE8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928F282-BC37-4D7C-8EF4-5BD27896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标记复核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DA88B51-9CE6-4A16-B137-0652A261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D55060C-A9AD-4889-BB8E-6B5EE983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调整优先级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AFA3902-6B7C-4756-B4A5-6FCFE882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0176FE6-5FA2-409B-A66D-1EE54B40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调整优先级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303FF27-63C2-4BB5-90C3-56F83898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CFA81E6-28D1-4187-B612-22E7D8F5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刷新资源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D241068-5AB4-4972-8556-0BB70BFD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文件：training.html#loss-monitor</a:t>
            </a:r>
          </a:p>
        </p:txBody>
      </p:sp>
    </p:spTree>
    <p:extLst>
      <p:ext uri="{BB962C8B-B14F-4D97-AF65-F5344CB8AC3E}">
        <p14:creationId xmlns:p14="http://schemas.microsoft.com/office/powerpoint/2010/main" val="95652222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4B614C-DC4F-4218-AA40-E9759FA6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CEDBE-08C7-4937-B8D2-E62AC8C5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BECDB-14F4-43DA-A5AC-3AAAE653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183AA-4EC8-4BA1-B377-BDBA647E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6212D-3E7C-429D-92E2-FB1481BF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516BC-AD6F-4B92-8421-6DDDB46E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C5D55-E037-4E37-B91C-AA9DD7F6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8B2B4-4E14-4CC8-8371-1B761F78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42C7A-B198-4E6B-A270-040A9D4C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88C25-6A1C-4280-AD03-2EA2A532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AF078-12D5-4D78-BAD8-FCF7631B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69CCA-1C98-44B9-AC68-E66BE4FB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235DA-2762-4C3F-BE09-AC1DA3C6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49243-B8E8-438E-9779-208A3F99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73A03B-06E7-4F04-A752-18738806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530D69-0746-409F-A4F2-AB5301A1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BF9628-C005-4084-B146-A090CFF0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EDAE54-ECFE-409E-9CC1-C369751C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34764B-A799-4761-9C82-F0021FBF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11A511-05D0-4ECD-9BCD-B2D310E0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2A020-3027-4E15-8577-DB38A575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53CF71-6471-45CA-90F0-231B3084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D40EBD-B750-4196-8F47-E915239B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B22E46-275B-4609-8616-61CF4AE9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009EB8-9EC6-4FE0-8C13-BD92CA17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62B366-7D12-4D51-95E6-85702E0F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1968DB-22AF-4461-806F-7503B059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3853A4-08FB-4DFF-92C9-D23A6306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E16C69-3E59-4053-8AA9-E5B740F4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8EB419-DA55-44AC-BD7D-08F18FE7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5A52AD-8F2D-4693-91CC-95F51E64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6CB5EC-258C-4DF1-A81C-433895A0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A8330E-FC53-4D7E-8E09-8B6FC2D5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EB757F-14F7-4FF9-9EE4-5E21A40B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60057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2D030D-D6CB-41FD-AB7A-8899D6C0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5AC171-2C7C-42A1-B7C9-1A4438BA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3E88F0-E82E-49AE-8D63-12E620D3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EC7E3A-E028-4D94-834B-98CD40B0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A714D1-4C7E-4E0E-A4AB-D3B6F1C7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344550-0477-49AB-AC1F-2A5B5E3B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17C22F-3FE9-41C6-9001-8A1A8C76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模型训练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5F2A8D-F7ED-4E7A-9546-7B207A98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7ADECD-069A-49CF-A43A-08092E90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F5FF46-042D-4CAB-9FFC-23C21CE3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ADD522-254A-45C7-84C0-328E590F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D8B10E-E5B2-44ED-8D7F-6453392D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51D59F-04B0-4E0D-A3A1-F2078D41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07A90D-9CFB-4C44-B7BA-0888005D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C5D1A1-EB06-4C40-90BC-2284F0AB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训练任务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831367-C8E6-4FD8-BDBA-D89D1956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队列状态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EA03470-B6A8-4786-B264-9179500C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06A8DDC-CEAA-4602-9468-6B08D465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CFD8A86-1B4A-45AB-B0DF-9DC03E65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损失曲线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13230B-8ECB-4552-94F9-A02D8BAF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训练质量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D1A1EF9-B009-478F-B3BD-0E7066C4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B227176-1613-45A3-ABC2-90473EB1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F307790-D824-4DEA-848F-B34F63E1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数据校验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A87BED8-6A4D-4036-9766-34471CA9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缺失 / 偏移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F50F60-19B2-4DF8-817C-579D7AD1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32F78E2-3752-4410-9D46-254C6779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4F4C563-AC29-4D82-AF7C-073313DE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发布闸门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F435BE7-A7BE-4260-A761-1BD5F7D0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准入检查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D2CD622-B020-4EB9-B98D-036E92BF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0863E07-CBDF-4B8A-92D4-0B6F9BCB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3ADB281-05A9-4417-93BB-9895B4E6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模型训练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3FF4EDA-D202-40EA-9786-4F538E60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7CD6AF7-2FDC-4A80-99BD-A1115480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E841FE6-F833-4308-86F0-FC2AA97E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训练任务 · 损失曲线 · 数据校验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67EDFF2-F665-4D43-B41D-0BC00CFE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4F9B56D-B5AA-4BB4-BC36-D9D79903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77C2E89-B2B9-4FC4-86F0-EB7DD4F8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1 个任务训练中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4A2F1A8-87B1-4E94-9384-14DE39A3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C1E3330-3041-4FBB-90B7-DA8538E0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F85635E-E239-40DE-B819-66DAC363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训练集可用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8897ED5-1F37-4965-A953-8976B8FB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54 · 模型训练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C8B0610-711C-443C-A6AB-38D1CDD3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数据校验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E48B4AF-5E99-44D9-95AD-97FC3C87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缺失 / 偏移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AD5692F-8A37-4246-9071-7DD5282F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0012DBA-B906-40BA-9499-D9646079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35BB206-8404-44BA-8B71-287BD1F5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237F1F2-FB5D-482E-9CEE-F9355D5D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模型训练 / 数据校验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B816ED2-BA34-4F95-9C7F-6836C311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0C56105-6566-43C3-8198-EE0D95FB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缺失 / 偏移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4CCB777-7391-4AFD-9C98-C637BAFC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DBA84F0-E13F-4C28-8AF2-65FE7B2C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校验失败会阻止模型进入注册流程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BE67138-96CB-4604-A9C2-D416950F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0484CBB-97B0-44C8-AC80-566648FE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25D8E85-83CD-4137-A93D-BD2BC091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3755F4A-AF30-4667-8681-A19866EA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4813BB2-9065-404A-81A6-1BDDEEB3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81509A3-8849-4116-8CB9-EB0B45F5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数据校验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4D7C968-A099-47DE-8806-FF6299B0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C7CE88B-FAAF-4C94-B740-3490A4C6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校验失败会阻止模型进入注册流程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3B56346-F731-4FEE-8118-6BA87A37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550102F-0E87-4456-8D7F-CB81B90F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重新校验数据 导出校验报告 &lt;div class="card-h"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B28491D-F5C2-4DF0-A364-F867B2ED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88CE09E-C504-45D4-9233-27B0913B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联动结果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DCBB08F-8451-4CB7-8552-879E6EFE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A4ACDC7-7FC8-449D-9E10-0B0FC9AA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9571C8A-CD32-431B-8169-A5891026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26B28AA-4D19-4FC6-BFAB-2DCC5C2A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校验失败会阻止模型进入注册流程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C0C9C1C-A31F-44BB-88BC-AF2614A6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EC34534-DF27-4A04-A37A-4C99FA92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重新校验数据 导出校验报告 &lt;div class="card-h"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8C5A9FC-B0D8-4DDA-A8F3-F0D453E3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06F31B3-05FC-43DF-83E6-A871E056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支持空态 / 加载 / 错误态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2180498-5490-41EA-9F8E-CBCE8D19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9F4ADC1-E9D5-4334-A2F6-076CBEE1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9AC9BCC-669E-481A-B622-ACE449CA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EBDADA8-AC5D-4D60-A1A6-310E4AEF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E10C7D0-847F-43D4-AD85-9899585B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930BD2D-8E82-4634-B81D-42756F41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C2FBE68-2FE1-430D-95C9-C9E550BC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E23CA5A-2B5A-4CE1-991E-6F6E6479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FB4B8CC-53DB-4F0D-8110-2D471247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校验失败会阻止模型进入注册流程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E35C1CE-ED7D-45FC-94C6-234B5072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9ACAC6C-E798-4421-ADC2-AAA33FB6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重新校验数据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6E9123B-1D16-43EC-BF9F-D22973B8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5105FCC-33F1-4481-9BA9-8570481F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重新校验数据 导出校验报告 &lt;div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9526349-055F-40B7-A12D-A774A872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157C86F-8312-448A-843F-76E9F320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导出校验报告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15122DB-EAD0-4888-8C97-8D92DF5E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713133B-8FD8-4BB2-A129-B84D9A29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数据校验样本 3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8257685-3340-46BD-B398-1E58D430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1C93B0D-E926-4AC3-A5D3-8A247344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提交复核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E244DC1-87A3-41EE-A9C3-954FDF69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B8864D2-21B0-4DDB-866F-CDB1D8B3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2A1F471-873D-43C1-96F8-232C9D36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15674A2-A390-495B-98ED-DE7725C1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重新校验数据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C89500F-40B2-4BC9-81D5-5A909B43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0B2E483-6A51-4F3B-9D3A-F33EA516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导出校验报告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9C53EF4-C713-46A4-8A29-015995EA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FE22F67-76A4-4D24-844D-80F382E3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导出校验报告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CB240BC-36C3-4716-A3F1-752C9FE4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2A945D6-76D4-406C-93BA-B263369F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C70649F-C5A5-4612-9AE3-A6CD44EC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E68D789-C624-40EC-A3B5-710BB2B7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372CA28-A75E-4AC9-A4C2-75BA0462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A2BC6F4-EA3F-4319-AB09-909B7C34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导出证据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6BF962A-3297-451C-B37F-3C5F10BF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文件：training.html#dataset-check</a:t>
            </a:r>
          </a:p>
        </p:txBody>
      </p:sp>
    </p:spTree>
    <p:extLst>
      <p:ext uri="{BB962C8B-B14F-4D97-AF65-F5344CB8AC3E}">
        <p14:creationId xmlns:p14="http://schemas.microsoft.com/office/powerpoint/2010/main" val="92528286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66055D-6B6F-4E15-85F3-4BCDBD8C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58972-57A5-408E-AD78-61F9CBC3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887DA-1CF5-420C-8EB1-639DAC11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D0369-E239-4B94-96DF-D33EB32A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98709-E33E-423F-BED6-06F08F22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C169A-C4CD-4CA6-8387-6C9C8A92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72F5A-CBE0-4B77-B60D-414C5921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0EDB6-8CB1-4035-9DF8-B3149600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37209-F7D6-4986-B043-7E94282A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4E0E5-7C32-4DB8-8280-B6598D83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00303-0A9D-4CE1-989F-47A215E8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5EB8C-50CE-40CD-97CB-BC1A36E6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629323-0ADD-4D7A-98C3-0F324A7F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633572-2EB8-4001-890A-03A88E02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E92962-8FC7-4FAD-9DE1-60D489C5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973F81-83DB-4784-BBC8-BFD27AB4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CD6BB0-26C1-4B44-9AC9-32283DDD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2BE944-67D8-43CB-85B2-014C2696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DA2E44-3C55-4614-BD93-EB061CC5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BFFF31-75C9-43BB-AC29-BE0FFB8A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76D888-6786-4E12-84B9-3AB99A97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3EC99F-4596-452B-A58E-500973D0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C564C2-1841-48FF-9153-CC949CED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108A1B-43A7-4EA1-8264-820490AF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3507A7-8DF7-4107-9257-4495A607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6A2A37-E9D1-4EA4-8A85-01E3ECEF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CA6A1E-26A4-40F9-98D8-7FEF2B1C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DF616C-1537-4661-B3E2-34AE03FD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C6C474-5ECC-4BA1-BBC7-2AB58D6C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219797-95B5-4997-9555-D00C401E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C90AA9-8678-4BD8-B9A2-E2EB54E6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3C103F-F3AF-462D-B107-242CF4B8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CF8FC6-B398-4FB6-91FB-87D3795F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F3CA52-3680-444F-A07E-5A23E674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60057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BE96C6-88A7-4969-B4C7-E69CBF93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模型训练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1DB591-8506-467C-B108-34336E74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0AAC83-83C2-442F-87D4-CBE25D59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8EEEA6-14DD-4836-9628-76FB92E6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65680E-BF5F-4902-B044-38E4BF3A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D05757-BA35-4610-B3D3-D4C5AED6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B8FACA-72D6-462A-B91B-57B8B748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模型训练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DDBEE0-30A1-4E2A-870E-A969900F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F1E2EC-8326-4097-9E8E-A6961D7D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858513-48DA-48E5-922F-D889DD0F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C73D76-CB8A-4ED5-8C97-1C1341F4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C598F2-FFEB-4AC1-9DB1-D901C1B3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848087-33A5-4FA5-95DF-623ABDF0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33FEAC-3A2C-41E2-B3C0-E27EEE76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5560F1-0758-487C-BE47-19BB0512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训练任务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555E005-59CA-4047-8D37-5E3525C7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队列状态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2377B29-2F3B-4D1C-923F-554D1E4A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D95E48-45D4-498E-B80E-565535F8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E9A0436-FE09-451B-8820-6EFFDA9E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损失曲线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879353-5DD2-4AC3-930D-58E2E572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训练质量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C6118CC-6F92-4A70-9CF4-2AC5315F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149B88F-083A-4B07-972A-5741970A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0EE5E36-E6DC-4426-A2F4-FF0C3920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数据校验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3BF4073-1886-4C88-B156-88E96321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缺失 / 偏移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CC27898-4282-4A70-B5C3-F4713562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30D6A70-ACF4-4419-8062-9083C991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59157B4-E2A7-4BCD-A87E-280367CF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发布闸门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31947FB-D75D-4DDD-8423-3A5320E3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准入检查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78E9896-A912-477F-A0E4-B9BA382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F93619D-CE4E-4089-9DA0-2D7D0E62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C27746A-ABDD-4DB7-969D-34D39D0F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模型训练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F954027-9AFA-4278-8246-FC084E22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3AE8ABB-9A1F-42D7-ACDC-272A5AC2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42FF3A6-0983-48F1-886A-DD2880D2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训练任务 · 损失曲线 · 数据校验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75CCD9E-F407-4324-A0BD-921C0485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B8ED739-6EFC-4409-B8E4-27661B49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AF2579E-CDD0-4C28-87B5-95F28B7C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1 个任务训练中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A2BAD9B-FE42-4078-92B8-D793F5B0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8E948B9-E860-43C3-A747-A77B1D6B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EC559AF-4473-4645-BAA0-48B229D0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训练集可用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0AD0612-9425-458A-9C16-C341497C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55 · 模型训练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3E83129-4323-4FB2-BB09-171BB411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发布闸门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FFD1209-EB78-4DDD-9360-B2589484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准入检查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883BAA6-A297-4233-ADE9-4E5864F0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4E1B8DA-3606-46C6-B0EF-31F73974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9321A25-3206-4D35-8B9A-9E33F58E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0AA5F87-94E7-4B1A-A5A6-FD65DA0F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模型训练 / 发布闸门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198BF55-F76F-4AB6-83DB-4B07FD5D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5301D55-CD53-4F26-B21F-0480C978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准入检查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95F7404-08AE-4CD8-A83D-3C4028F0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9A283CB-6538-4F3D-97F6-B552342B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训练历史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AEF732E-FEA5-4C32-8689-02EFCBA7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FFC3BEE-7EFD-4BDB-9439-CBFC8EAD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BEA325F-0EED-40A6-86EB-9C504242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CF850CB-6C71-49A4-B893-2A732445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DDAAC7D-D207-4B11-BCAC-DA170CDA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7647B3C-04A5-406F-A1BD-20BF8045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发布闸门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AE02A69-2B3A-487D-8220-ACC1FC2A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76A14EA-31AB-42ED-804F-6BB45563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训练历史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7499B80-D79C-48D6-92A3-78C9F696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2C10D17-2BC6-4A6E-AA4E-CA4934BB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已上线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BA9E589-B81B-4301-B5B7-DE500E44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30593F1-9B68-4239-B970-87455483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已归档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735C684-E9ED-49A1-9FFE-776D4848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E4DC04D-3497-4E7D-AEDF-E772C04A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04E20CA-50B3-46FD-8DB9-D5B4D093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3FADE7E-1D35-456F-81AF-306769FC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最近 6 次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9FB01B0-59FD-483D-9919-439F866F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2E8A085-2E3E-4699-ADE1-39027D07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已上线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9CB69F4-9567-4D94-89B5-D675E398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B50555B-0DE7-48ED-B148-48925114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已归档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AAA8E72-244A-4B38-9B85-13FAAEEB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0D94027-95D1-4229-9CB9-9758E078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已废弃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17A3F95-1721-474A-9EE5-258006FC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2310DBA-CBA7-4CFD-A3D8-BC7D79D3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2A572AA-0AB2-4063-9F04-EF15AA2B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4124FE5-5676-4EED-86AE-F5882A92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65241A6-7254-4717-9BEA-A830A51B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AF69F5A-B31B-438F-A184-E0BA5153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96AEACC-179B-4BD9-ADBB-85D39668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模型 类型 验证 IC AUC 训练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5B9EB3B-FBE0-4758-9E62-90ACEB0E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EA968CD-5FC4-4A3F-B8C4-362E99A9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提交发布闸门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652AC29-78F0-47A8-907C-95F49A95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6460973-93CD-4046-A97D-78766384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Kronos-base v3 Tra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5A6BE85-BEA6-4719-9A30-C29D564C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D922964-F6EB-4658-80AC-5D12AD84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查看部署阶段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FD6AACC-6EF6-4FC2-B37C-0E2385AD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ABCC74A-D9C3-4425-8045-CEB46895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CatBoost-1440 v1 梯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7E12074-CD86-4D9C-8108-59EABF14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19B3BEA-C6C6-49CD-9AC7-9C282E8F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提交复核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58A3C4F-2E41-44FC-B57B-74AAC2AD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98340AE-9E4E-4263-B983-84904E28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BC0AC04-7C6A-471C-A380-226B0394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25DBCE4-0F5C-4450-B83A-3C3D4AE6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提交发布闸门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09F6475-AA4A-48FC-B685-1CCD7CA1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E88D09A-4A7B-4170-8789-30606C31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查看部署阶段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5B3E8A2-6F67-4AB0-9BB2-3F41F642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550543F-23A1-4DD0-9A11-0515D7F1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查看部署阶段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E7A4032-7239-4AF9-B234-B2B75697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292B5BE-C0EF-44BB-B44A-AFA5F5F7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08672DF-12F2-4C68-805E-334AA9E5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08D4695-C685-43E0-9C32-C6182F4B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1814468-17DD-4DF2-963B-C1868A81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042681E-B20C-4CD3-8F1D-8FEC5F3F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导出证据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30E67CC-FE48-4BC2-B1AC-A5011368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文件：training.html#release-gate</a:t>
            </a:r>
          </a:p>
        </p:txBody>
      </p:sp>
    </p:spTree>
    <p:extLst>
      <p:ext uri="{BB962C8B-B14F-4D97-AF65-F5344CB8AC3E}">
        <p14:creationId xmlns:p14="http://schemas.microsoft.com/office/powerpoint/2010/main" val="22762394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B56E8B-A4BB-4105-951E-527124D9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7BE5E-118F-4C87-97A8-A318A306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F218B-00F2-4C03-A08C-5AFAC112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1800A-D0A5-4C46-BFED-4754FE6B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7987F-4AC3-4C45-A595-D1649E3B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62A3D-C183-47B8-998C-AC24B75F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BCEA9-1A44-409C-8166-E20A9F01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AA29B-A5BF-4CF1-8238-CF41D610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2C8DF-0A05-4334-B0E4-41A59230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A4434-3458-4A3C-A33B-F4076AB4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C6946-C524-485E-81EA-E5BE5F37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6A59B3-62A7-4A48-B8F6-5A4EA8D9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EB26BF-7C91-4BC8-9E65-FC873134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A7A7E-5245-47E5-9EB7-6C7E1BB1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638EE3-BDC3-4A1C-BD5C-9D5D0FB7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FF77A-5308-4F91-BF21-BC08D86F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210D8F-E844-4F9B-9F73-989662C2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64F0E6-F7C0-4ED1-A362-6B374297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F892BF-2011-49C8-BEE9-1B38C175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511AA0-C48A-42D0-B202-EBB30EC7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9902A6-D5EC-4B36-8FA7-75FF7FE1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77440E-0DF4-4C6D-94D2-6030F811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7BDDC1-8066-46D2-92F1-5A62127B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8E00DC-157D-4D74-A010-0DB2B9D8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DB1916-1BBB-4F1F-9F3D-57892816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47AF5E-EF60-4F41-B025-DE0D940E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5A10F0-290E-49ED-9213-980FAEFD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7A8862-04E8-4365-9E43-FF6D11B5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23F87D-0082-4B84-8491-4E65C7D8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8FA883-477C-4125-94A0-B0FF5F7B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204DC8-8048-4446-BBF4-F7A548CF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D53834-D0BD-42F4-B428-419D4872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E19C6C-36E6-4873-8DF8-6889BF31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71BC9C-9E5A-491B-B08B-D5FDCFDA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ED38CC-7E11-472D-9536-62CC37C8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0BDD7A-C67D-472B-96CB-329A93B9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9585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949BCA-987D-482F-B5E9-350E2F89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F46AD1-59E3-4AE5-98A7-EF88D4B4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BBCCAA-F153-42D6-B04A-CB0424C6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CD479D-C6FE-4BF8-93DC-D8F068E9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DE65D4-3F38-4DB4-A80B-A2ACA52B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模型注册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C056F6-510F-47EB-8165-37F196A4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F9AE22-BA89-4075-B433-7E86175A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D5609E-94E7-4A9A-9C27-B21C0F34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603CAB-5BC5-47CD-977B-885B92D4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589FCA-931A-42F2-B9F4-2014CEC5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180875-51C8-4A69-9E1E-CA5AABB5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C3AF62-50F8-4BBD-BD3A-F35CDCD8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0BCD94-D5B2-4DC9-85FC-6F29A39B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模型列表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592EAE-43F4-4A8B-9576-3793D7D7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版本 / 状态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0732D9C-79B0-4C0C-80C3-87FE1B8C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526C2B-55DC-4F76-9586-E7BA616F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DEAE16-7A47-4BF5-B580-19C5D559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指标对比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C6F6215-0336-4458-8215-C5C88B9B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收益 / 回撤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92F7148-B9BB-421E-B74F-BF4B38F9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C2AB60D-32B4-43F8-9462-3045912A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652DDF4-AFE2-4C5E-9288-14C80301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部署阶段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F1E9212-4E2D-4687-A39F-9C96C635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灰度 / 回滚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388040-F746-4994-A429-446C5AB4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8F50F6E-CD53-4BC7-B881-6334CC8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50A1DA9-2D1E-4BFC-9B6D-FF163B35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审计记录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25F76D7-D387-4E2E-A478-A12880BB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变更历史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C180001-DE5D-4EE8-BE1D-ABF135EC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CBC67B7-D9A7-487D-B60A-B317445B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37E79CA-A0E2-4CEB-9012-6F8F74FB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模型注册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73482F9-6742-4E00-9D70-23E677E5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680D430-38A2-4D34-A842-8209C48A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3F3B73A-622C-4F44-BDC8-E9C3504B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模型列表 · 指标对比 · 部署阶段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1020C36-54C2-4B83-9928-8E910333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317D95F-3034-4F88-9453-AEC2EB89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481131C-DED1-48DD-8123-C9043412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14 个注册版本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AAE6A01-49A0-49AB-A143-5ECEC5D6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7648145-2315-4E99-9FF2-1EB4BE6A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EA21A1E-0415-468C-AFF9-0EFE73CF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灰度通道在线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00E5D59-0D62-4CF9-B09E-319BF7A8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56 · 模型注册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2BAA5B4-93A6-47F2-8B9B-D8CAA622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模型列表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A74942D-5461-4D30-8DAD-E23A7669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版本 / 状态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CDC972E-2BDD-4B3D-A6C4-D8BC7888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3EFFAF0-1F4B-408D-AFB7-59590B7F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650E0A9-96F7-4D7F-A0B7-BFA4B405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3C7AEB9-AF8E-4D01-A54E-AF6272E2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模型注册 / 模型列表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3D0E34B-6D0D-42C0-B0A6-5C481171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96DD3F9-3C9D-4C53-8489-82B9DF8E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版本 / 状态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AD2D006-9E22-44C5-994B-BB2AA6B6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369F60B-BDB5-48FB-A825-A9DFE84D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全部注册版本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D232C7A-DF34-4CA7-B706-2EECA31D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A94087B-6847-4A60-9665-53FDB3EB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C3E6342-2F04-4AEA-B5B0-A428D528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22870A2-E675-4115-AEFD-82ACA6DB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17CC71A-0CF2-42AB-A82E-AA9F7E15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8E46E2B-3BF9-40B3-A29B-06D43013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模型列表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E030105-7246-4EE4-BF9E-2FA8636C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D99AE60-F122-4261-80CF-F691E125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全部注册版本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E0C7E7C-28E0-40E1-AEF3-9A9EF0BF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01A1484-884B-4434-8575-307DC52F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id="model-list"&gt; 全部注册版本 14 个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2AFCDA8-A751-4FB9-BBD6-7F23BB84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06677F0-805D-4B16-9301-1C52F4C9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含归档 模型列表负责版本准入和回滚入口，部署阶段决定灰度流量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FA7B694-EC12-4739-AE02-3900A396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6480866-1D43-4F09-9842-48B27499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3445AE1-F20F-456B-A733-6C561D72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25E952F-8AEC-4199-A498-D471A867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14 个 · 含归档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CC6947F-2BA4-4DE1-8CD9-1F9F86F0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1515697-2DC6-4637-BDA2-6C804B1C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id="model-list"&gt; 全部注册版本 14 个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7B615EE-725B-43F9-974E-49B4FD61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9C9A3ED-9019-4767-B298-DFE2BEFD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含归档 模型列表负责版本准入和回滚入口，部署阶段决定灰度流量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492A8CC-948B-44AA-AD07-272C67DC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51CC681-647F-44EE-817F-F5854143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刷新状态 导出版本 &lt;div class="card-b"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6CA2F9C-AF5B-4BC7-97AF-7FC007DF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726BE98-436D-401C-9764-A39049D0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749D62C-9AC2-41F1-A5C5-4BAAE10B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4412DDD-7103-4F0A-B508-CABB8C19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8C734DD-9449-4173-97FB-56938711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D483A0C-8E7B-4856-898C-A2AF0A14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85FA02C-2057-4A9F-9D6F-C442DD30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14 个 · 含归档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6960015-74A2-45EE-996B-86DC4ACF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09CA43A-8C5B-44E9-B018-968E2B91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刷新状态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CBB543C-EC63-4B6F-98F1-79347724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4DD9F19-8653-48F6-8B5F-8DE04F39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id="model-list"&gt; 全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5B0CB58-A13B-4B47-B1DE-E9519206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188836D-58FB-456F-AD38-64BF069E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导出版本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92B24A0-4C20-4DE8-AF4F-DC5EBBA5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82BA254-176A-448F-930D-A25C7C09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含归档 模型列表负责版本准入和回滚入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8E1C464-F44A-4556-9674-9050E9AA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5C7ECCA-75A0-4F0E-9179-AEF799E7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提交校验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24FA470-5CF0-4564-A840-3F2F4667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DF23C39-30DB-4674-AE5B-36F6D65A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3E10F6A-C245-4E8A-8963-90D3BB4A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8734262-229E-420A-81D0-DA128CC8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刷新状态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4D81A43-BE9A-433C-A46B-B00579D8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6A5F18C-F78C-4814-9322-93B9B2AB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导出版本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D90BB52-2E51-419E-A947-75C58D5E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AA66BFC-3FD2-4860-AC44-BF1A5C35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导出版本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34CF3A3-BB64-4D9B-B97C-4A4F0B7C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E883DA4-96F7-4021-A4B9-6D18DBF5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提交校验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4C02CFA-358D-48E2-9215-5CBC12FB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7293F20-26FB-4CE1-947B-1F061D1F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提交校验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6CD2CC5-8E7F-4E1F-9E96-13D5D795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8169CF0-760D-44DF-914C-B37E2447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进入发布闸门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6B82AAC-8959-4134-9FC7-C4ED8417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文件：model-registry.html#model-list</a:t>
            </a:r>
          </a:p>
        </p:txBody>
      </p:sp>
    </p:spTree>
    <p:extLst>
      <p:ext uri="{BB962C8B-B14F-4D97-AF65-F5344CB8AC3E}">
        <p14:creationId xmlns:p14="http://schemas.microsoft.com/office/powerpoint/2010/main" val="1858417576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46A53A-6B82-446C-967B-4FF79750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586CA-427C-432C-A5A5-94683EC6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B5F86-B870-42E6-B850-2438E63B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C20E6-A885-43EA-B784-9CD3F5D4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49491-2A3F-4CDD-AECA-C75F2826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79352-0E67-4292-9BDF-58C14E6F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BAE92-BC8A-4AB2-84CE-0CF5CB03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7AEA4-D3C9-4ADC-A6A2-69E7F203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687E7-CC4E-4D69-A97C-F0F9141E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58D12-8389-474F-8A41-DB2EDE4E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1604A-B564-4DEA-AB5C-5D18D2A8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41012-2061-4CA0-8E43-E1166D31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5F521-B344-462A-A557-43016EFC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D662F-F808-43BF-A15B-C364C6B9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A9C85-61E9-47A3-988F-9141E449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3A9A8-A191-4C6C-907B-17F5DEF4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8BAFBA-0E02-49E4-B463-3DB9EAD3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1D2A0D-7CD1-42F7-8D7B-289BBB87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2ED339-AE89-4CC4-832D-C7CDFAE8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DF4540-565F-4926-ABCF-A5DA01C2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CB5909-38D5-4743-B33E-2CD943E6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27D12B-49BC-4889-8E90-B5B814CC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1F1347-D62C-472A-8DAA-CAB04C88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0CB578-4157-47C5-AABC-FA909CF0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7C96E3-7C2F-4DD1-8697-3341069B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0DD706-0283-46E9-9620-1C89CF1E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866EAC-FBF4-45A6-AC2C-D5BF9C6B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73A25D-37E5-4C37-870D-BCA398B6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ACB375-3872-4DBA-A0CF-42C8A6B5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8B743B-EE1B-4DA3-AEF8-3C6A244D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68C41F-3251-4280-ACAE-F50F6950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873344-F099-4DF9-B949-6DB1DECD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5CF471-FA94-4316-8581-1BA9B41D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9713B3-80F5-45E6-A68C-8998271F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DDE089-C218-459D-B87B-98F37559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124142-FCBE-4174-A9FD-328FFC3A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9585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2D8107-335F-4770-9DC5-F8EBCEB1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1963C2-6D88-4AA9-8223-0D0725BB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63E3FD-1E75-4C6D-ADB3-53F8CF8D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57A59E-A027-429C-A059-2FEA60AF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7534CA-1EDE-407C-A7BE-FF2D9BFC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模型注册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A3B5D1-C3E8-434E-86E6-3B1D0FC1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0B6EAF-9E32-4F0A-9F2C-D656E3F2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06D0A7-8FF6-4686-BE92-F6320A5C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54C397-7481-4A9E-82D5-BD5A33C3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77FC7E-4725-4AC5-B912-4552E967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EBFCCB-A9A3-4DF1-A220-6C2E7FB2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B7420E-DD9E-421D-ACD8-06619EE8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939433-362D-4F44-92CC-FF88A625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模型列表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37D5244-EF42-4017-B334-B8BCE9FA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版本 / 状态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53A914-E5DA-4029-9869-E6F195E5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E9B964B-5DB1-4818-A604-2B7B86EE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877F92-D5F6-4BB5-BFF9-AFE0D51E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指标对比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8036897-3AEF-48E8-AE67-645D1243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收益 / 回撤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E427250-C529-4262-B867-E6A6AAFC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C802FD-848B-41C6-A76A-B9A20269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B44C0C-D7BF-4FE5-9ECE-F997057C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部署阶段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C4041A2-1187-4BB5-B91E-4D8D7F4E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灰度 / 回滚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56DED0F-2DED-44AD-BA62-B078F5AA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FE5A970-3B2C-4081-8779-5D882208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5AA08D6-DFB6-40B3-8CE5-98E93544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审计记录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1B6AB02-0D0D-4E10-91B0-BCB931A8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变更历史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46CF4A0-74E3-47F2-9DAE-F5CFC5A1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10A4F0C-41F9-447D-874C-A5A27746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6871E9E-B34E-41BF-8EF6-0AACE178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模型注册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4BB92BD-F416-49B7-874C-AA195F87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756F1E6-B59E-42DB-B78D-28FF4F13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6E8DF1A-CAD7-40F4-9384-FA4F5538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模型列表 · 指标对比 · 部署阶段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BFAA1C5-A7A7-463D-8E0C-53D94F36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8F3EBFD-AB60-4A07-8FFE-B90B02C8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20308CA-75B8-451A-9512-DA5ACA7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14 个注册版本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89365B5-51D2-4FCB-BDB4-5DC37CC7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A7F0953-4BAE-47F9-A61A-D55537D1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B9CBE0E-B510-4747-A52F-C2827BBB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灰度通道在线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3B22502-92EF-40C0-B11F-BCD004BC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57 · 模型注册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6FA2360-E1EF-4469-94F8-E7620535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指标对比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77DB486-DDC2-4F71-BC8B-9E0D1C67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收益 / 回撤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113EBA6-E13A-47AE-A478-9EA20D29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3BA0DFA-0C2D-4441-B5D2-EF5697A9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27D9E2B-79F7-423F-BE23-122750AF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A754BBC-DBCD-4EB8-ACA7-CD7AD149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模型注册 / 指标对比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00CE8DA-E6B2-44FC-8ADA-8BA3B580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2C0BA20-593D-48A1-8029-987B0E1F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收益 / 回撤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3D8FCA7-E027-45B9-B5FC-C5C495AD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045949D-3FC6-4C71-9C34-F78C48CB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全部注册版本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59FD68F-32CE-4D31-B6E2-D0B91278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9502C49-3CB6-427B-99D9-71D5930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F144657-FF5C-4FE1-B1A4-EC006133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A9C0586-69A8-4F85-BEE8-B6686360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E975AF5-F2CD-492F-9D64-8B511E0F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0C43A12-8F4B-4B48-A3C0-39B66180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指标对比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DFEADF4-78E9-4FD3-8E36-B1B39F04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71F7ECD-1D1F-4381-B198-92346239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全部注册版本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2F8980E-A48F-46B9-8B3D-4CEDEA07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420CB02-228B-49A2-9C0C-43FB3264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候选 · 灰度 5%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8E18A9B-7DE8-4EA8-8932-BFA00950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9E02B76-48E2-4940-8B8F-E35AC0B4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14 个 · 含归档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F5F482E-7E9E-4EC0-A69D-FA92332F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EF23687-8A68-428F-9294-02F89907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F16CB21-1793-4157-92A2-EC860FBA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92DBB52-0973-4E44-8AC1-CFB335B6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生产 · 集成权重 40%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6F20C20-E981-4914-82E6-200183C8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0D99087-C822-4630-BB81-6564C291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候选 · 灰度 5%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6FB938E-905C-4ACA-84C8-FE284B80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D4A74AE-1EC0-4578-938D-5D83946A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14 个 · 含归档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BF10D26-3F72-45F0-BE7B-9CBB197C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C64EBA9-2E2D-4076-BD41-FBC289CA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sha 8b1e07 生产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14A3EDD-20FD-4F13-9239-BD885C74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E2D32EC-4DE4-43E0-B8B1-AFC2D111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CF59260-A3FE-4D38-94DF-397BC033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4C72C88-56B7-489E-8133-63FD6486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74A4CF7-C172-4380-91E3-8C0E8E95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3394B94-DF59-43E0-A1E6-6611D7B7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E5A3AB7-BA7B-45AF-AF99-DB472399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生产 · 集成权重 40%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9654312-A680-4CA2-A007-F3D016F6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605CA86-B36E-4914-AFB0-A571348B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查看日志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6670E9E-622D-4ACE-ACD8-1D66A4CB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D967FAF-20F0-421C-A907-A096CD29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候选 · 灰度 5%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A961CFC-AF8E-49C1-B037-EFFFD915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06B9BCC-D036-4293-8DC3-E1D67FA4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回滚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D8F92A4-69DB-4C3E-89D7-063CBDBF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22F12F1-1B18-483F-B089-AA8D43E1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14 个 · 含归档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B4389DA-D681-4995-B21F-A4DDA5A8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21DBB58-A24B-4BF8-AEE6-E3433591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提升流量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0F4A38D-1C88-4344-B466-250587AF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7D5A516-F6AD-45BD-86D5-DFA35B6D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5E4275F-635D-4746-AF6D-69255456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F8BB4C9-53A8-4CC7-86D7-E7FFADA8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查看日志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566B020-5D4E-4C59-8187-B3E72F06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D23BD4B-7912-4FC5-978F-E817C812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回滚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BF4C857-72FA-4D42-B38B-C4E15577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C50FF70-958F-4F2B-9750-7D55BE65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回滚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A489702-D288-4FD5-ACA9-C7B997DB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E81F6B2-6D32-4CF4-AD9E-6643330D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提升流量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9F157B2-3345-495D-8422-432FE584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A8CFD68-B500-4E27-80F5-BF61D2EE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提升流量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8F2E814-A7C5-47B3-ABD9-A5E08768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4D828DB-A919-4B39-8699-D65A71DF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下线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38A2FDB-C4EA-4564-98DF-FFB7E1B0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文件：model-registry.html#metrics-board</a:t>
            </a:r>
          </a:p>
        </p:txBody>
      </p:sp>
    </p:spTree>
    <p:extLst>
      <p:ext uri="{BB962C8B-B14F-4D97-AF65-F5344CB8AC3E}">
        <p14:creationId xmlns:p14="http://schemas.microsoft.com/office/powerpoint/2010/main" val="446345459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7BEBDE-C97C-40B3-9F3D-C7D2A35E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CB73A-F8BA-49EB-AF0B-9D102B57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C55FC-C348-4CF7-9AF8-53D4DEDC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5EE91-EA7F-4782-A04B-70FF6C8F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E9A9E-71F0-4F1E-B9C3-22BE7679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53C3E-31CE-422D-9A5C-6CB3F441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D52C9-F271-4CD6-98B1-5B63550F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37EF8-67A7-456E-A553-73DB446C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2D167-DA1D-44F3-B57F-9AA0F411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44051-7AE8-428C-B07F-E3B4B8CD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74DBA-B599-4F8E-8C71-B01ABFC4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FD47B-4057-4A0D-961D-9D7A7C24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4761E-40B8-41D6-88F9-942D78D2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72731-A022-4E67-AF71-D936B622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65FF5-E657-47B4-81B8-68AC2E65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351572-EDD9-4847-9B91-08E74977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FA558-DE8B-43D2-89CA-903F5101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4FE7B3-0C6A-4F75-BE09-D9082C45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7F105-4EB0-48F4-9632-4BD4EA95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B007DD-B5FF-4025-9E5F-CD354E66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33D64C-BA7B-4639-ADFD-B1D95CF9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A4F6AE-569A-4AB5-849B-7458C6AB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4DA38D-CDC5-4149-912B-BCC95D4C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F1AC21-ED4B-48D8-AAEB-43F231F4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328C6C-5B21-465F-A6B7-90BE7755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8E087D-A002-452A-8947-B6EAE4B7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69A7E9-E6DF-4B60-91D6-EF31C3C3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DCDAF8-748A-4350-9926-068718BF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D2693F-ACEA-4E3A-B5BF-83C6A479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1974E7-ADD2-4EB7-82EE-A6985F26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B466FC-0020-4D2E-97F4-4EB3ADB7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CA4436-CAEA-4814-AA7C-733EA4F3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005E40-3E9C-4F99-8701-021C74CA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9B72F3-912A-48F8-9447-7CA95189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18289C-833C-4FAB-9EC8-8389699F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C96B34-B3B9-42B0-B329-24ED357F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9585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687FDA-8F06-4891-A665-AFF955AF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66CFB2-8061-4E53-BBF0-E0A0FF71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FC1BFA-6F8F-4DA3-872B-0EB8B752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4882C0-3924-4404-9090-82B728FD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8186A4-480F-4B8B-97ED-18A29A74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模型注册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695842-4DA6-4B7E-BE2F-F16D31BD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8CF2A3-63EB-4EA0-88D5-7CD2D2BF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EDAE08-AE68-4040-B83F-977C2CC6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809D43-885D-4BB2-A0A2-86C9A089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BC4E48-D4F1-4E02-AC7A-8714F0C8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17FBAD-EF69-4824-9F62-161DBDC3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B24335-6BE1-4A1B-ACAF-2ECAB073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BC7A71-D721-49F6-B67C-BE9FA6CA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模型列表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20C8C2-E8C2-4273-8429-512DD887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版本 / 状态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E14BE3-AEC6-482F-9EBE-33349F09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4609B4D-AA3C-423A-93B4-E335306D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3D0B1B2-116F-474D-8BFE-B001F917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指标对比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E679FE-77C6-4932-8DB0-0B7C936C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收益 / 回撤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9FB1345-691E-4B27-8383-E30E08CE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611CBAA-1764-401C-9263-8EB9DDB8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D4DAF18-98A3-451D-ABEC-4DF80197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部署阶段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3C8D035-7C1F-4BB5-9498-860A3A8C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灰度 / 回滚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466535F-61D3-44C3-8F60-66B4E3FC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98001D4-EBEF-4521-AD0F-73BE5443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FB4D765-0A70-4855-A92B-F3FC1A81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审计记录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CC5630C-2B87-47ED-9C0B-99A3BF79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变更历史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B21D96A-8FE9-4310-A098-712F6A25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DF77AD1-20D1-471B-98F3-9B904920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8A5BFB7-54D0-4FCA-94A1-5C8CD737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模型注册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1B2F2E9-53A6-4F91-9E5C-D7EDC5DC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CB9B1D9-D82E-4E64-9137-B3BE3541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4CE564B-6A67-493D-97C9-EB250136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模型列表 · 指标对比 · 部署阶段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75BA832-6AA2-493C-9235-D1EB68F7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3CB2443-B259-43BF-BCE3-3655C663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2E51D37-06CD-4054-9C9F-77841EEE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14 个注册版本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952FAE7-9D93-4E6A-B57F-F1034093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8DE091F-7EA7-4981-9835-D15E6194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643DBE2-C418-4934-A27D-51D8DEA9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灰度通道在线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749D429-84CB-4C66-A86D-34223A70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58 · 模型注册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39F1F78-3EE2-4A73-8FAC-8BA268B4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部署阶段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5134CA8-7668-4923-8BE4-91BC9DE7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灰度 / 回滚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9C2BDA6-AF84-47FF-8533-A04DCACD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1C69E73-5991-4A87-9173-E5EF9585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649116E-3264-4118-9007-14749592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41AD2D9-34B2-44DA-A867-96D9501E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模型注册 / 部署阶段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160A2BB-A945-421C-9C2A-8C2B8215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36FD002-0A38-4941-B17C-CB39DFF4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灰度 / 回滚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E40898A-DD43-4271-8E64-9B908E27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D4C9877-75A7-44B4-959E-75DF7A8E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全部注册版本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B57E5D9-2F6B-4654-8143-6600AD0D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7111B01-4285-4FEF-AFB1-80C05116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6C45732-1D2B-4CDD-90A1-5435954B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E3C3B11-BDD3-42DA-A2CB-96164E43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1F3EB1A-D3BE-4977-BBC5-6BB61F02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3985C05-2BD4-4E67-B0BB-F7B7D499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部署阶段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EA92781-E2C3-4500-B3AB-9198A504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F3074E5-85EB-432A-8266-3ACE9001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全部注册版本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3459DA3-FD4C-483E-B581-B9F769A9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E59B080-F708-4FE9-A0FB-B51AA51A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生产 · 集成权重 40%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8F6D66A-8FC5-4B04-A577-976DC5E3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0A0C678-ABC4-43F1-9881-0D8C6D43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候选 · 灰度 5%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BF8E6A0-E13F-459D-97B7-9D12E67A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9A968AD-F711-41C0-98DD-18E8A93A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B00C5E4-C1D3-4E6F-99F5-B99D5F7F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0AD4FBE-E297-496D-8EF6-57E6D619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生产 · 100% 流量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E80D1AC-ED09-45EC-98C9-92BBA4B1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81156DF-37D7-4740-A18F-55C2CEE6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生产 · 集成权重 40%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1578523-40B5-48AB-8AFC-EE516E28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1976532-A1D2-4475-8D36-316804B7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候选 · 灰度 5%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AC8B2CE-C3E3-48D0-BB68-358E1983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2E24353-C745-43A1-BF7F-3C2CD716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14 个 · 含归档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438958F-2AF5-423D-AEF0-0F5B9B55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080E12C-5CA6-4DDF-BF8C-468A3348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3B0D18A-6AA2-49AA-BF4B-258741C3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0AC05DE-A1B4-4BD6-8519-8AE3AA1D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2A7EFCC-6579-447A-8867-2B0CE746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6446AE1-C751-46FD-9231-824C3862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3F368C0-65E8-459F-88EC-B0F8C79C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生产 · 100% 流量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71B849C-2A1D-4EA7-B47B-65509330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4791501-CFCD-4CE9-B80E-697A775C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查看日志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5880E0B-C64A-45FF-A283-915A8965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E950A3F-DEB7-4067-ACC6-A94F8AB9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生产 · 集成权重 40%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DCF7710-2E18-45F0-82F9-FDF55350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880A020-39E7-40E2-8214-F0602012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回滚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FCAAD97-894E-40F1-BC32-5ED329AC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48430F5-9DA7-4338-996E-E4BF57FB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候选 · 灰度 5%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AF47A96-E5DF-4F7A-87A3-2B0E01BE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E27BB8E-B638-424A-9B11-9AB6D6E5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提升流量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24F327C-6683-4EFA-BD80-F54FBD56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A87BF3C-9AA1-42A7-932E-922EB9CE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6A00F84-C9B7-4BEA-AEB5-2521C6F6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F01A696-96F3-486F-80B0-CBC07C27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查看日志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A258AD9-886B-4274-BF38-8F22E49A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503A91A-AD90-4D5E-85B9-8CDDA009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回滚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B9F818F-47B0-464B-972D-0DD60556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A0B7861-F3BF-44A9-9BA2-02773916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回滚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D52A615-8A28-46C5-8E06-1AFEB887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0E836EC-9440-4979-9A25-3A5A18D1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提升流量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42B8933-189C-4963-A711-5ECAC1BE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0368EFB-680D-4C19-AE35-C958EECE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提升流量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DC978E4-E3F9-4F56-B4CE-2E12AB23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A4DE3EA-7811-40CB-A446-321919F5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下线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468CB52-A2FA-4974-B861-5AAEE3CB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文件：model-registry.html#deployment-stage</a:t>
            </a:r>
          </a:p>
        </p:txBody>
      </p:sp>
    </p:spTree>
    <p:extLst>
      <p:ext uri="{BB962C8B-B14F-4D97-AF65-F5344CB8AC3E}">
        <p14:creationId xmlns:p14="http://schemas.microsoft.com/office/powerpoint/2010/main" val="382762436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16F129-7402-4B27-A8E7-40278497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A4DFF-D190-45CB-8A98-263B0FE6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24DDD-8B6F-46BC-BEEF-FE9AB79F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85753-A516-4434-AF76-49898714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EBC9E-C872-42F0-B009-BCA51736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03A9E-5F7C-4816-8D6C-DD8FC94D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A62E1-6909-4800-A434-C83D20F1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886B7-EE81-4903-9927-56DC28D4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88391-6175-471A-88B9-2585940C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385C1-B1C1-4FA8-AAB9-74F49F62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6B29F-538A-43AD-98C3-34AE358E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276FF-E1BD-4BE0-BD7C-0B8241D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54B16-E216-4358-8BA9-85D0596F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3EAF5-2469-41AB-A301-C91CA80D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ECC22-CBFE-4DFC-92FE-A22F1416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F2AB85-47F1-4AC8-829B-8E31D3D4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755512-64AA-483B-9B08-FFFB2B33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0BB9D-4CC2-4F0E-A1D9-C260BF2F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F9ABE-E2AF-4BC8-A6D2-AD4682F2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A55EDB-AFE7-4955-8313-F35645CE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A7AE0E-E311-4508-83A2-6ED92BB9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D09671-9FC5-47C7-816E-9BD21AAB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E2D50B-F23E-453A-BF0B-12CB8181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9A7B8A-9E48-4959-B4A5-32ADE1C8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326681-C3E5-47F2-B5CC-F17A092F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AA9ABA-4A7A-4C9C-82D3-5EA77E3F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AC487B-2CA5-4028-B34D-36086213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4F32CF-93BA-4120-A63C-052E8B71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68D62D-A874-4EDB-887B-EF4C47A7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DF53F4-7659-4D2F-9327-08B57999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4521A6-8AC5-4B3C-BDDB-17DD245E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417A35-AE1C-424C-B30E-0C7F2391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BF745B-3867-441D-8285-520B5000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DAECCC-FBBD-4134-9BDE-907F4C79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E4E4C3-86B4-4C50-B6A3-7359F503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1F4A46-80FD-4806-BEDB-FC88D946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95850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95CF58-D5E3-4B08-84A3-CE052717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模型注册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355AC5-76A0-48BE-B5B4-95E7AF2A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FC99F9-F196-4777-AB64-3B6DC473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9AD47A-E1C2-462E-AC41-F864136B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069898-811A-4023-8CAC-A35CEC0D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模型注册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A731B0-B814-4EE5-9B5B-0C2312A8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75ACA2-7B13-416C-9C22-F38E519C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FAE6C2-0C77-4653-8DB4-3176A788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28376F-B463-41FC-8FBC-CB21024C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4CBC32-89D1-4B0E-974E-7D83DA0A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73ADBD-314F-4024-ADFD-351F0B87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BFB4AB-257C-4BE5-8C6C-D7926C4A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7BF3EB-2467-42DD-AA9F-EF9832E6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模型列表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637A91-A8C1-43E7-8FD3-9D1991A1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版本 / 状态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C2FF3F-D5A1-483B-A4D2-01B7F067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D4196E-99D9-49B1-97D8-173BA556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C38F5AC-B848-4252-8E1A-37BEC379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指标对比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7D5144D-8C30-4B64-8EE7-341C316A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收益 / 回撤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A7A71BB-6BC1-4DFB-92E7-926CBEB7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381335-5DCD-4EC7-BC74-2A4205C6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2EFE998-8FE5-4CDB-9F00-428CD97C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部署阶段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4EAAA63-BA36-41EF-A61A-5C00A13A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灰度 / 回滚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95AA041-5F1D-4D3C-8C72-9DBC3006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C747272-6264-46B0-80C7-FF7873F6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46C9AB7-033E-4652-8134-39B6D883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审计记录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EC5BA7A-B06A-4152-A6EC-C171F08F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变更历史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69BB43F-E06F-464C-93C3-6378F6C9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245E502-397F-4FEC-BBC7-7A552EFC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25951C3-9C4F-46D9-AB25-8922FCC3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模型注册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1EC5C0E-2E0E-41B5-B6AC-0D5FAB72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1F74ED8-C2F6-4ABF-A025-DDD8DB51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C5869EB-7BBA-4A80-B70B-DDC6F7F8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模型列表 · 指标对比 · 部署阶段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CF3DD97-7DCF-4F4D-94E3-B8E9545A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63DD123-692E-4E02-9875-0A65F7F4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D4E1CDB-5761-4C69-900D-7AA7F66A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14 个注册版本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7A210FB-0AE2-4396-8C7E-418A34BB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15DD11C-FFF2-471D-A89C-DFA3CE36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94134C8-54C5-4F71-8097-D397C866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灰度通道在线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DA86608-2246-4CE1-A439-9D43EDFB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59 · 模型注册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D99AAA0-1846-468E-BBA5-4D06C08F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审计记录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4AAFFFD-DF7A-4FFB-8794-6D737045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变更历史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12ED0AF-E629-4DC0-8547-408F3CF8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54833CD-2013-4082-81F2-C62F2A9E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16C0B2B-78B6-4DE1-B5D7-D8B5430F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DFAE26C-9B3B-4854-944C-6DF45468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模型注册 / 审计记录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4EEE4F3-DCEB-465F-A29B-8B75326A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66402D3-C543-471D-9C87-65700AD9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变更历史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9E30789-6B06-4546-B9D2-1A353A5A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AB797AE-4DD2-4E3A-B120-FF5B89EE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模型版本与灰度配置用于内部 MLOps 管理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6BEDAD6-32AF-4316-8341-DD1EE79A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5521AAC-47BA-4FF8-A41A-B6A84408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364FDD0-CDCD-481D-B9F4-B3930DD1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5FA54E5-4663-4085-9157-A032B2D6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977E512-216E-4388-ACEE-4ED0D035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31D4E5E-914C-4B75-9E06-F375191F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审计记录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D9F8319-3B70-43B0-B25D-0A9FA1D2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6DA4CD8-BE31-4D79-8B8B-8806E5EC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模型版本与灰度配置用于内部 MLOps 管理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8A7A872-3EB3-4F0D-BAA9-CAFD8486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F1E1F63-79D3-4234-9398-473A7B6E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灰度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6604C5B-6DE3-483D-8A39-3F353A26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77626B4-175A-4B01-A20E-640BDB48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归档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578A43A-D6EF-4313-8867-11A254F6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73FAF01-62AC-423D-B768-249193DF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3127C38-0A73-4C3D-92BF-48375A5C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918A844-00ED-4D87-8F29-D07748C0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生产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6381935-B545-45B4-B1C0-7BD2FB1C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EB73D55-368A-44B2-82C3-29E11CDD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灰度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A20884D-1D4F-4F18-88FC-850375F3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2C34703-5898-4DC2-BF9F-4EDA7048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归档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F45FDC0-7613-4A70-82F8-4C052B46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32AC072-0E3F-4B54-BDF4-A47DC030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废弃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B3BBD2C-6D06-4B3F-8413-EA41F65E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59B4DD0-1E76-4714-AAF2-910C33BE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F104BA0-0317-4A9B-A38E-4890EA7C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E9AEA26-AC4F-4ED5-B7D5-F8AC6C4E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5EB47B7-3F44-49AF-95E6-40FF50EF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F9A48D6-8EAC-4CBF-A8A9-B49E9A05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D4CE443-97E0-4608-8908-93EB7AB8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模型 / 版本 SHA IC AUC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2761B74-C665-4D53-8DB1-0D4666BE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ED0482D-3104-40E5-BB37-ABC91C79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详情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D3BF6A0-C713-450D-9924-AEEA0FC9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94FD073-BFFA-4FCE-978A-53D3AFA7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Kronos-base v3 4f2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7DE595A-21B0-4343-B703-6CD8A1A2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7FF2ADF-41BC-4AAE-BAB5-84B08C23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提交复核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F2AE123-7BC8-4CB1-90A9-3C6A8193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273C4F0-185F-4F6A-9563-952ADD94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ensemble v1 c3d5f2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AC0755A-2446-486F-9A51-34450D89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4487F41-5344-486A-B41E-07D6D704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导出证据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80850C6-E14B-4489-B48B-76680F8D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C8B2453-8A7A-44CA-AC33-FD80CC45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47DE61D-FFFC-49CA-9F0B-02C34936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9FE1416-F57F-486B-872B-072DA1EC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详情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685D892-F830-41F4-A0B6-DF914CD2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A665A3A-259E-4FA1-B8C3-7F856F02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E775105-6DF4-4641-B355-9161BC64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53C927E-B20A-4355-9972-E8E947F0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提交复核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FFD7C44-6FBE-4EF5-AC0D-8CF00FC5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39D7586-5260-477C-8105-535F42AC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导出证据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0D5B194-5E7B-4421-8652-277A7A9C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2C406AF-046A-463C-96AB-55C10CE8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导出证据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189415A-39B2-4E27-9002-ABB1BA98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2BE72D3-E248-4A9A-8D0E-A59F04E1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重新检测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C03F1C2-05D3-4F2E-8A40-85A25425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文件：model-registry.html#audit-log</a:t>
            </a:r>
          </a:p>
        </p:txBody>
      </p:sp>
    </p:spTree>
    <p:extLst>
      <p:ext uri="{BB962C8B-B14F-4D97-AF65-F5344CB8AC3E}">
        <p14:creationId xmlns:p14="http://schemas.microsoft.com/office/powerpoint/2010/main" val="1006867296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24721A-6E40-4F18-94BA-E7C21265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1EBAC-F51E-42B5-857D-FD5EE8C6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DFFE0-B00E-49B6-AFA0-1A399625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FF510-C877-4C4C-97B5-2306AAAC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A8BAE-B0C8-4B34-BD58-5829EF4A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6F254-833E-4C1C-BB69-E684AB9B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7A409-0C96-4E9C-AE65-F616BA4C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32ED8-BC5A-4119-9A46-6433ED15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F973C-ED59-4E20-9B6B-FA85BFDE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07C2B-3185-4606-9EBA-6C3AD10C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6B58B2-AF34-43C7-B2C4-261C3D66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E5EE2-A201-463A-A02E-E588F65A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FE768-7EE4-4B8B-85E7-08D1828B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D48BE-DBE1-4531-9FFE-A585F4EA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15D55B-FBC3-4F52-AADC-FEB76E98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554AE-A387-49F9-AA9E-76B750D6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E1FF5D-1028-46F1-B327-FBDCF061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AE02C4-5BD8-4227-AD94-230032F4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C48C3E-46E9-4F26-BB69-5D0A7E53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CB835-8B95-47BE-A7E3-EF03B966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47B41E-ED72-4BD2-9284-EC9CBDFF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C0E41A-A825-48B7-84B7-B51122A2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89CCF2-3C08-4D5C-A8A8-6C73B105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FA1671-D842-44D0-BD52-DC8B0EF4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4E32C6-9871-430D-A44B-C5612ED4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AF9789-128C-4CEF-BD4C-AA4B9343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87C523-58B9-4CF7-A4C8-6CB78849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9177C3-1A97-473A-8FEA-9F38DCDF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41D357-7C55-47B7-8EE8-CDC4BB95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26C806-EAC7-4680-9640-9C822A30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CE0341-3EDF-42CA-8360-0ED48008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FFDF25-40BC-4625-B8EF-24A18061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07B4DD-4E1D-4B45-BFF6-DD065ECC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D776B5-B676-4D5B-8564-650C85B8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0DD0B3-B34B-49D6-B0C7-CFD3FAF5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1D0FF8-2B48-4EB0-94C8-5D2A44EB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BFFB97-4692-4E4E-950F-7FAE5ABF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CF8F96-AD50-4207-A6DC-C5879E31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9112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4800E2-E604-444B-895A-AF54A10C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A2675A-08FE-4588-97F2-BCB50C0E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38FF59-B36A-41DA-97BF-85BC9D37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数据更新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C707A5-A1EF-4D15-8509-58162E23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AC405B-2E24-4692-84C3-2558437C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628510-2919-43A8-AC61-6B94725B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213500-8BCC-4360-AFDD-39E0E2DD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23346E-E8EA-4427-9DF9-3C4138A6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AC7FF9-E393-4BB4-993C-206709B4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949905-7502-458A-A995-6E757232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4D719DE-4B00-49D4-A44E-81E1BFCC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同步总览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0FB5D3-7F10-4244-984B-29DE04A8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源状态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BC39F0A-1C4F-4EDB-8CAA-C4259D02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3E7C32E-E729-4A47-8288-68357679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F0D5878-FEDF-4F1D-AA5D-43CDD069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质量检查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2AE8029-16FC-47F5-B13D-8B1914A5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缺失 / 延迟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99D2A63-A39B-4179-9851-07D09ACD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A6E0291-EDEC-42BA-B4B6-1E3876C6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C4BA655-C692-40BD-8CBB-40EE7791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同步日志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3A160D2-0BF0-49EC-9D21-D46E6F3C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任务明细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230C75D-1067-43ED-9E90-F8F3B53A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EF6B25C-026A-40B9-BD0F-ED39F7A2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C843374-CEAC-4892-BB76-FEB6B087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修复动作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443BD14-13DA-4AF9-BAE3-39A79B87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重跑 / 补数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9F0796E-DA29-42DC-8EA1-67070FB7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422C380-E7C2-44B5-8426-250D40B9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28B6F8E-93AF-4267-BE31-D3039E04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数据更新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8D3B84A-3181-4208-AC19-3D2BC00C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EE70E64-B9B8-4CAE-8E1E-DFB19E9D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43330C7-A5A8-419D-B235-6FA04ABD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同步总览 · 质量检查 · 修复动作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09177A1-78C6-4770-874C-49240EA1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13D2237-E42A-48D2-948F-17109334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8FC240E-35E2-4213-AF10-63A3D19C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83% 健康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C3ADCA9-2307-4B27-82F5-5CC53579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8868D59-99D0-4427-BBB4-9BCCCF96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7B0B3B7-53C3-463A-B83A-24483DC5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盘后同步待执行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99B31EA-D2F8-458F-9885-F5B1B611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60 · 数据更新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2D95CD6-85D9-485C-97D2-C9CF19D4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同步总览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B0F680D-026F-4A4C-B8F0-86D961B5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源状态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C71D87A-EBC3-470D-9364-3BC9CA69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459E8F3-44BA-4D32-ACCB-94FE6B3C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B0CA1E7-F658-4D1A-A19B-E035CCD6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34B3E29-0419-48A2-9894-A0FF7177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数据更新 / 同步总览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960EAB0-760C-4F6C-96F7-CFCDBA91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7DBA74D-5BA1-4B52-B0D7-A06BEFC2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源状态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8A8D5FE-BE9F-4634-B971-1B52B8E2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362D31E-FFF0-4884-9F32-8B299B0C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异常源必须先修复或显式降级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2CBE094-23D6-4679-94C7-C163581A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B25A768-CBEF-491C-9027-AD82BE60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FA64F98-DAC1-4C1F-98AF-BF588713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6FD1F0D-411D-498C-B2B5-F5772178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E499E31-9067-4BF0-9549-B2BC8BDE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FDC5B43-4EA0-480B-A2DD-DA78EF7C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同步总览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505A11C-9CBC-4B8F-8D38-2857431C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3193B08-055E-422C-A658-B3C756A0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异常源必须先修复或显式降级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CFE394C-6B34-4170-B09B-AFE86517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F0168EF-4703-4A01-8827-4AD4E968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全量同步会排队执行，故障源优先进入修复动作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EAB34CC-EF98-489E-A536-D4726C35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00EE907-4F6E-444B-835A-D3FE4804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创建全量同步 查看修复动作 &lt;div class="card"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5DA2E69-ADC3-4894-85D5-D256BAC6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EE72657-6759-4971-A352-41AB2AFD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C600436-EF3D-4BDF-B782-470A2ECB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A59A7F0-A9B4-4ACD-8ED3-D8E0812D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异常源必须先修复或显式降级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D5F884A-DB0B-43B2-BEDF-020B0B40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3937FA7-69F4-4D72-8ED7-130423F7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全量同步会排队执行，故障源优先进入修复动作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F060178-75DA-48A1-A50C-C910D9AC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18325B8-8B7C-485F-BCFB-AC615BD4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创建全量同步 查看修复动作 &lt;div class="card"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15FC60D-5662-49F1-9C49-B99E6A32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77576AE-8BB9-4118-B8C6-7490A080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结果写入审计记录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BD8D530-C530-4C82-8E2F-3EB437C5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1CE9F0E-D611-4B6B-B661-386AB6C4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69ABE25-496A-49FC-BEFC-44B1DF1F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34D61B3-D7D5-498E-AFEF-993E4403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EFA3930-FD32-4029-9695-764676B0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48AE4BC-78D0-42B3-BA3A-DF5A09F1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98160A1-B00B-4F2C-A5B9-2A469AF0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异常源必须先修复或显式降级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D4E4CDE-50F3-401D-8BB2-D40714E6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CB4C4B8-624E-4C79-AFCF-37F25D3C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创建全量同步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6197BB4-069E-48EF-9781-57ADDAA1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A3B4DF1-B6EF-4FE2-AF30-02545F79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全量同步会排队执行，故障源优先进入修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9A8BC4C-0CE3-4A1E-BAFA-235A6FA4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ADDABAB-3B3C-406E-B83C-96058AE8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查看修复动作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F4AEF25-19F7-4794-B14C-00BB477E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7D732FE-766C-4D23-A5DA-2169D4BF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创建全量同步 查看修复动作 &lt;div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78BB251-5788-42BA-AA77-56FE4E75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CF52770-97AA-4030-AF48-0AE1834D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保存快照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EFBE770-DD6D-4047-B06D-CD2AD1C4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34875A5-72FF-4EBD-AC38-47C8349C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0735681-FDD6-49A8-9571-07B1CE1A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7772451-01CA-449F-AE01-7AF86CDA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创建全量同步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013AAEC-78E8-433F-B287-D90AAD25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0689475-3AAC-4980-B00B-BB96EA99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查看修复动作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FC52C29-B0AB-461D-9A26-C879E3EC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692920C-1C3C-40DA-ACA6-5CE9B56D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查看修复动作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67C32AF-DC0C-4A77-A373-60DC3D3A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F0580A3-C79B-41F1-8D70-24678D38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E14F95A-490E-43CA-829D-391AFED0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74A9B15-7054-479A-9F17-D3792415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保存快照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9A883D3-852E-48F7-ACC4-795E7F7A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01F9914-54DC-48BB-A176-E64A71D2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导出数据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7A249B7-43DF-42CC-BC7E-858A0FFE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文件：data-update.html#sync-overview</a:t>
            </a:r>
          </a:p>
        </p:txBody>
      </p:sp>
    </p:spTree>
    <p:extLst>
      <p:ext uri="{BB962C8B-B14F-4D97-AF65-F5344CB8AC3E}">
        <p14:creationId xmlns:p14="http://schemas.microsoft.com/office/powerpoint/2010/main" val="1938490801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FCED0E-D120-4D0D-A354-DF30CD52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B919D-8BAD-46DA-A0CE-202F0CCC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29F85-7090-4F63-AF24-03D7A634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CE9C9-D711-4D24-9E1C-2F857BCD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C39CE-95BB-4318-8CC0-3D713787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8BC11-FBB9-48C5-B462-6B1A4716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EB451-D2EA-4C66-A5F0-CED95814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F35EC-10DA-40D7-820C-E219E94C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0862F-D958-4BB1-889F-13A623B3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F5B7B-9B38-4C57-AB33-C687E4B0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738E3-3236-4A95-B1DB-49EA53BA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10875-7EA2-4E04-AB57-525125C8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70A4F-4F67-439F-9068-F208BD4F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5E640-06D0-4B51-AB1B-23C479E7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89333-BBBF-439F-93CC-1094B9F9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54736-E481-485D-8E60-6136FC3B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FA071F-E2B3-4F13-BE9E-868F54F2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9CCA1-B987-4E81-A0D5-CD92EA77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595CDD-797A-412B-A09A-A62F3DBD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A2A34E-1FEA-4B47-9A2A-71B339AF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2978EC-301E-4ED0-A0FA-627DEF70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A3C6AC-B6B3-4AF3-9354-A556D3B7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124412-A67F-4543-842E-8B1935BA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94A78A-3E40-4844-8339-603DB6B9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02E826-8E12-43EC-8382-2C9065F5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FD6F8B-2402-4BD7-BA9B-DF67D2D8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19E5F5-4608-41B3-8CBF-8AF4D7FB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54E1A3-BCE6-4901-953E-7B635BF8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E4F0D8-8E22-44B1-BEEC-365A038C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9744D5-9B25-4969-8056-A76E6AA1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429F2C-97C6-4895-9DE3-9A3A8490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6CBA13-231F-4B69-92F4-FBB4A8F2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7AA688-FAE4-4E8E-8DD8-9D53CF9C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87E41E-6204-4AC1-A861-8CDC1093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EDCD78-973C-439C-8630-C99F9FF6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B3ACE7-8901-4E4B-A01A-73F0C37C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2D6D1E-FF9F-40F8-839A-E7CC23E1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EBC264-1C21-43B8-8748-6F5D91FE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9112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B874FD-6A2B-4EAF-89D7-C9C0C8CF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F344CF-BB95-4555-B36E-1ACBD917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B8E24E-9B74-4C81-A7E4-13C1096E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数据更新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41750C-9592-4F74-9024-09C44358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D33985-E606-41C4-8601-33E06C2F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CCB09C-BC7C-47A4-92CC-BBA043AA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97C197-BC5D-4A78-BCF5-1CBD8D36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7890C4-6633-4B5D-8626-B84E38C1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B99254-DA6D-498C-AB90-27950AC6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9A97D6-D8D0-4471-88E5-A745CAAB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1A4F83-E43A-48C4-9E58-F855B61F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同步总览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717BB3C-2EFD-42C9-8074-5012C0B9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源状态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9142780-3311-41FE-8D3E-3A0D8A1A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4903C5A-8BAF-4772-8F40-3C45EECC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8AA6B0-B261-4954-8C5F-8CBED743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质量检查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27E0426-D178-4D29-A229-1BDA334C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缺失 / 延迟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72B6B47-710E-4607-943A-360F1AA2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3D04AA3-6483-4F6B-946B-9EC16C70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D890AF8-0F58-408B-B01B-98B4BFD2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同步日志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A820E79-39F2-4031-83A0-1E2303D0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任务明细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D147E1B-AD65-407F-96E8-12EC6915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F29940A-8E40-4B98-8E10-CF567334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D693D00-8903-446E-94E8-5EE07073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修复动作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01C8BCC-F7B9-4C12-BEF9-E6CD7A3D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重跑 / 补数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323A43B-3B8C-4170-AF46-982AEE22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F554FD7-9A64-4D20-ADA1-D72A534E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5D7F5FB-4EDA-4A3D-8839-42707427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数据更新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A61BAF3-F13F-4AB1-BA87-9D011A85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AE62804-606C-40A6-9CAE-AD61AC85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98C8D11-130C-4AD8-A75C-573CA2F2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同步总览 · 质量检查 · 修复动作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CA55FF6-B01B-4520-A429-CE6C653A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B4283A8-B6F5-48CA-887A-18C3BBEC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1EBE696-D684-4F20-9B73-99F2D240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83% 健康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000A822-E29C-4AC8-8F91-BDED35EC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6EF90FB-4DEA-439A-A28D-3972A07F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BFFDAF4-B4EF-4B7B-B98C-A4C75590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盘后同步待执行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A4DF4D8-B7B3-4FB5-8697-4F4714CE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61 · 数据更新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B8B3F1F-9150-4B59-A33B-AC84E134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质量检查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2A6A7AC-D9A4-4E7E-97A0-8747D121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缺失 / 延迟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5BCC580-6930-4BD0-A5A8-90B304C5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9F0CE90-7E7F-436B-BA97-670D63BC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04FD160-610E-4F94-B912-16D6BEEB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8E83DDC-4BD0-41E7-B4E3-4B94D717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数据更新 / 质量检查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3A3B392-09C8-4588-8F0F-755A31D9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8CE919A-4AAD-4BC2-8334-08793DE9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缺失 / 延迟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8635387-7363-4509-BC4E-8D69A9B6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BBB79BA-C2EC-4DA5-B22C-2E308AA2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数据健康度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F7EB868-DE96-4027-9DD4-51526B35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AF1CCA7-EFFD-4747-852F-9D987C44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4CBA763-AFEE-4502-9982-3CE745E7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527E067-1A28-4F85-B3C6-95DCCC4B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9E88152-1C89-45BD-9473-F92C3433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AD2F47B-5FA3-4396-BE74-5B445DDB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质量检查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E7B11E2-5CEE-47FB-8525-E4AA1DB0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526CB4A-6A79-48C8-B13D-EAD69DB8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数据健康度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323AA69-01A1-468F-8460-D8E81CED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F3128D0-F905-4299-8999-4729F16C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A股全市场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9B7783A-C42B-4651-8A3A-722DA0B6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C3ED0F5-C1E4-4890-AB44-3B1838B3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行情已收盘更新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05673A3-07D2-4195-B05C-A7E02906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708774F-7CE7-4FB4-A4D7-536E4CCB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5102085-E795-4293-8E05-B86A3EDA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861E1D8-A774-478E-8923-D1530BBE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06-25 15:02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C23A832-AA54-402E-B11B-5AC0286A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99FC931-78B8-41B2-B972-C3F052CD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A股全市场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5AD156F-0F69-4281-9EB8-1B35F582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65AA424-79D1-40E8-993D-579B10B9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行情已收盘更新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B8D81F8-5342-434A-99C9-F816733E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ABCEAA4-D0CB-462C-A827-5A73EE11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盘后行情同步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2E83328-2F31-434E-9D9E-1D580146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E8C513A-8D6A-4FCC-B5F6-C39ABCFE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3C6792C-DE90-4164-B510-5175425F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790BE12-67F1-4552-94F7-F3132F06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E800E1A-A633-46EB-B81E-3AC61755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2ED9F43-8756-49CE-91A0-1EEFD759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4EE36B7-B81F-43F6-8D08-CA39E553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06-25 15:02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C3F5BB2-DCD3-403D-8EA4-B6CAC57C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114105D-E854-48FB-B807-FBB54601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提交复核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25E9F58-B87B-4617-B9C2-728D6DA3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534399C-21E3-4882-812D-88167130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A股全市场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4C71388-EB0B-4AE7-9F81-D6589EB9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417975A-70A8-4729-B3F4-FBACC775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导出证据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781B5B6-EE67-47E6-BBFC-801A1191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33AB0D6-FE63-409B-90D5-119574CC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行情已收盘更新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0BCAF44-0F50-4D44-AEF4-E5AC572B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A0038B3-DDB5-4AA9-93D4-2728D844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重新检测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58497A7-F15B-40D3-9635-41DB6802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DD59A8C-9851-4609-ACF9-3B85FC85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C2C3922-A8FA-4F7A-B5A0-B832E9C9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36A7567-FBB0-4D80-8F19-A8F4A410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提交复核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1DE478B-94D4-4F75-9BA0-4759FF48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62165D7-2ED3-4B63-83CE-35F153A9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导出证据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53B0432-DC5A-457B-8024-DCEA5A57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3E55D88-86D8-4F91-9F37-0AAF4E7D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导出证据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DACD62A-12B5-4747-BF3F-DBF043F5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64166AA-F4B2-4AB3-B86E-3557B4D4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重新检测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8F4F379-8CD0-4FE8-A971-B5AA12FB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1C33F6F-7073-43F3-AE27-8B746A25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重新检测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1297FA2-2D39-43D1-9AD4-DE22122E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9C5F67A-DCA2-4672-9930-99A7731A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写入审计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61F17CE-A0EA-4DC5-908D-A591E9B6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文件：data-update.html#data-quality</a:t>
            </a:r>
          </a:p>
        </p:txBody>
      </p:sp>
    </p:spTree>
    <p:extLst>
      <p:ext uri="{BB962C8B-B14F-4D97-AF65-F5344CB8AC3E}">
        <p14:creationId xmlns:p14="http://schemas.microsoft.com/office/powerpoint/2010/main" val="1095660829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B2AD6F-085B-4170-A1F3-E477C83F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76C4A-97F2-4653-BE01-F7123AAE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9B6A2-FF6B-450F-87EE-9FFD71E8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9C6BE-A108-4A68-B6ED-8DD6094C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E263D-8570-47D4-A6EE-619FD93F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41829-C626-46EC-92D3-C4B708EE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F3FAE-66B3-484D-8EF5-3B123E15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C63FE-5E38-4860-9398-A43F5428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5810E-AA1F-4536-A70A-503E513B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6996C-534C-4EE8-8207-6E750961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8270D-1284-4C6B-8BDF-AE77C5F6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B0487-0F1E-40BF-9BCB-341B987A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2DDCA-DE07-4866-9A11-F529E77C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61359-B33B-48C9-9832-1F01F4BB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747B3E-7CE8-409F-A92B-A1020309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28E080-1427-4705-A356-143847F1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A84222-C83C-4FB9-B8A9-69B34AF9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A2F08C-9813-4963-9CD2-EA5A717F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880D00-8C2A-490A-B6BD-EC841282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FC7EBF-BD74-4B47-81E5-450B44D9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A2D0AD-8A32-4B2D-AFF6-68913E86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A94647-669F-4BB5-9F12-EB5944DA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A2E88B-E35B-4A92-BBE3-3486024F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1B83C4-EE87-4BC3-8F65-3F9418E0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94DC2D-851F-4C25-98A5-656D9C5A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DC9977-6473-412A-9E17-346D361E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2C3FC7-2CB3-4A07-8342-EA87AC5D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760E02-7D2A-4655-95AA-BDC5ED8E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5DD09B-777C-441F-9E14-5E566685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975562-428D-483D-AF88-EA6FC166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ED0A33-7369-4315-83D2-51FC992C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555811-906C-466C-BE1E-48B3247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B47EBB-D6F4-4B8E-812B-0DDC9A3A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8DB504-FE85-460C-AF0E-E798921D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FB8536-5654-4FFF-82A4-35E82A5F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17C2DC-05D3-4FDF-A126-C614F63A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686860-075D-4D07-9A90-888003D9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2833A6-AE8A-4452-93BF-FE23BA36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9112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28CCD2-A19E-4B9D-92DD-AF31EBFA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0B1230-E807-4834-BF12-22A41A6D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6BE725-BB3E-48EA-97BD-9DAA6EC1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数据更新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94BDBC-3866-40DC-8885-FF159700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C99DF5-8510-46C7-849F-A9774EA4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92EC24-BB03-43DD-8632-39B9CE0B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E8CF24-D5F5-4021-BB87-9000FEC1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F92285-61A4-483A-BDC0-C188E966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3BDE30-1555-4163-B05E-97F6415A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530D04-6710-4BE4-B843-A4A33BE9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E9F15D7-A655-460A-9CB0-AC49760D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同步总览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D3403C-CD0A-43A1-A991-7895F027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源状态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97680A8-673D-4C2B-81A7-8566382B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D573335-6904-4641-8C6B-DABE2D75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1FEFA35-9056-4A8A-A5C2-4D5DD99E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质量检查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FC6E16B-5589-454F-85AB-FD6F33E0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缺失 / 延迟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E23CB2-7DC2-425D-8D15-59B6F007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C69BA6D-B039-40DE-AC8B-39E64AD6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012B04B-DF39-4C17-A5E3-B748BA04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同步日志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2A8F2C6-7B98-4592-BE42-D8FE6066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任务明细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FFEA0C6-62BB-4B18-8BE2-7C6F0EED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537B190-F133-4E5D-BACC-A392C288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E22AEFA-6651-49E0-AC8F-9BDFA854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修复动作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ACF5EF8-D73D-4834-B6EB-15836604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重跑 / 补数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3C6122-DF81-48CD-A589-5FFE764D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8D5FD7B-CC96-483E-AA7C-6FCAB3CA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7221F8A-781F-48FC-B034-9587994C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数据更新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DC70417-0871-412D-A4EA-13EEC6C0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2AF4DD7-D4D7-43AA-9349-E3C40EEA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F3BC2AD-F56D-46B4-9879-38249C96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同步总览 · 质量检查 · 修复动作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EF0D976-AA50-491D-81C3-80F76525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EF01EC5-6D03-4433-B97D-8F9F845B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4B30EBB-169D-4069-8E8A-5FE7F5E2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83% 健康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915A58C-5EDE-4076-BA6B-C04E849B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D5CDADE-758D-4ABD-9EA9-32A0FB79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A1D0ECF-2AE0-4848-B41B-085C577A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盘后同步待执行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3E9C5D8-AB8B-4A98-89DA-9E0D2681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62 · 数据更新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1F7EA32-8555-4FB2-AF05-0A2737D3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同步日志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9424900-D2CE-492D-88A2-F07A249E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任务明细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D3AE176-7306-418F-868C-BBDD075F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8E759B5-E41B-4918-A938-5C8D1FD5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6DF6D2C-F674-48E0-89F8-886AA3BD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3FE2059-9265-4BCB-A408-33A4017B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数据更新 / 同步日志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0819F25-C52C-4BB0-B9DB-7E147DFE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300798E-61C9-42F9-8959-50CEE41F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任务明细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B985EDE-D4F5-47D5-9B9F-25E1285A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FD56435-8C4E-4AB4-9776-7C34D69D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承载本页签核心数据判断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4693C0D-CB9F-43BE-8ACE-EC5492E0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9FBC8CA-CEFF-4F91-840F-8CB05003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6B31265-D414-4798-AD1E-4E4D130A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DA5ECFB-7B4B-4ACB-A883-BF3BFC09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CED2846-598E-4533-94FA-916DA7AC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8D372AB-2C4B-4DA1-BDBC-EEFF6C75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同步日志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24AD04A-5418-46E5-9E6F-7A1D3A74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B958C89-A9E3-4002-8066-EEF6D73A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成功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5EAB086-538C-40E2-8B88-14C81E9B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454E652-38E3-4638-B356-85B11C56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部分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E3BD8D8-415C-4D04-BE15-4C22E822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9ADA69F-000C-453D-B870-D6CA6CB5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失败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67DE7E6-11D2-4912-A073-30239FCE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76D2551-88D8-41F9-B261-E7BDAC00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D5A6BD3-C3B0-4FF3-9924-FA2A2213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117E9D4-6D51-43BD-A6B9-54759E69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成功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83B8B9C-BDE1-4B4E-A734-8B59EFA5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5A7C79F-9987-41FA-8E0B-A8F8D6D2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部分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1A29D83-4FF5-4B79-A531-AB022F36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736CF8F-A44C-49DB-A284-00724416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失败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A53D60F-3763-4FC8-91F0-72DE73F1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82F13E7-1DA5-44AD-9636-E1648200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数据同步任务由调度系统自动执行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1A9FD8F-6FCD-45DD-A4C3-A81F4952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07BCC4D-494C-47DC-8C86-972F8A5E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3817206-512D-4029-A93E-1D91D67E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1280456-F157-48DA-88CB-1BD3580A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D04B6CB-2D94-4AAE-AFB8-ED99DFC7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6AD4C5F-6EB6-42BC-9006-99B9791D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789C82B-715F-4310-AB13-D70A9527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时间 任务 记录数 耗时 结果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7489D0B-DACA-49BE-B8B0-4CDDEFBE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B9D88C8-2DF6-4864-85F6-C4807BC4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全部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A3ABCA2-FFE2-4E7C-BC3A-400EC87A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B7A9E21-C52F-4179-B648-8937A9C3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15:02:18 日线行情同步 5,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753794A-E031-4C6D-B0E7-E391D883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FB62478-0EF8-4991-841D-C023F8DF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成功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28682AA-6DF8-46DF-9219-18CD92A8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6D4B5C5-A3E1-4282-9C1B-CAC7E878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15:01:30 北向资金更新 2 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3E92DAC-0B5D-4335-9C50-0708F253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088E0CF-F228-4C8A-A5F5-D749F064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部分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02D1C4A-52A8-4F8A-BDAE-CC363A10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3BF328E-CD0A-4B52-8F6D-3D9AB462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9B1B27A-3496-4937-9518-C58D866C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8D8BCDF-A987-4184-88FF-D3BC2B4A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全部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0A680E9-551D-449C-8E9B-ADA6CC15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E364CC7-6501-405B-8F59-EC6F02A7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成功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DEEED9C-CC9D-43C7-BAB9-D0B5306E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16FB291-ABEA-4C27-A46B-30DAECAE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成功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020968F-5D9C-4C22-9D6D-B22F6AC8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7C33D5A-635D-42A5-A0FA-FBF4E9D5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部分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59BF1AE-D444-48F7-84AB-D4C9DF6F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CE720DF-982F-4750-9B18-3EAE8FA4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部分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C2F5F29-7EBD-4CD7-A4DA-243E1695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304C5C0-66F7-439D-8735-7CC01EC1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失败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2B13A8E-37FA-4385-95FF-141138F3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文件：data-update.html#sync-log</a:t>
            </a:r>
          </a:p>
        </p:txBody>
      </p:sp>
    </p:spTree>
    <p:extLst>
      <p:ext uri="{BB962C8B-B14F-4D97-AF65-F5344CB8AC3E}">
        <p14:creationId xmlns:p14="http://schemas.microsoft.com/office/powerpoint/2010/main" val="100297326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DD2FAD-CEA5-4861-A37B-CB791AA5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68580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09F25-EEA6-4B77-ADBB-279901B3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4076C-4B7A-49C6-9929-E8A10FF5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2230"/>
                </a:solidFill>
              </a:defRPr>
            </a:pPr>
            <a:r>
              <a:rPr sz="1200" b="1">
                <a:solidFill>
                  <a:srgbClr val="1A2230"/>
                </a:solidFill>
              </a:rPr>
              <a:t>速赢AI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FCFDD-858B-4ACF-BA00-DE15447C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667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行情决策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9F36C-0C02-4E46-8F4D-44144E94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763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B1735-6621-44B6-B428-4F70E0E9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AI 智能看板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89F94-7C3F-4EB2-8813-54F6D9D5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1715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C5DC7-2313-4ED8-A575-58B84016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开盘决策舱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4381A-AE18-4421-8DDE-DEA16703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668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EBE95-9EE0-4AD7-8E2C-7858D7FF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335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智能选股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C2AE1-BD99-46F3-94E6-FD303036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90F86-009F-4964-B194-E26D657B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5716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91C7C-1866-4C84-976F-3DEF8234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621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74B0DF-18A7-49E9-8A02-DF2B7766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288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产业链拆解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7CB9F-33A9-4DC7-99C2-F3C97858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574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3B3D53-FD68-4B90-B99E-6AB9D9B5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240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K线预测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388286-CE3E-4981-886D-D79A9BD7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526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434DE-9F26-4B5F-B5C9-DE90D076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193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方案管理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50C10A-5490-42D5-AB9E-3685662C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479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DD7021-B7B7-43AE-8FAE-97940E64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3CB5C5-3721-4A2C-99EB-9D74EA02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342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D987A0-33CF-45D1-96F9-017825D6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527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FF4D4F"/>
                </a:solidFill>
              </a:defRPr>
            </a:pPr>
            <a:r>
              <a:rPr sz="788" b="1">
                <a:solidFill>
                  <a:srgbClr val="FF4D4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EEDE16-87E4-4894-BBAA-60724EDB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9432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交易执行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01F332-466E-4E7D-B109-9C8D58C2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1527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EC579D-7A2D-40FB-86ED-C9B88046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交易中心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B194AE-CF62-44A4-B8CD-46BE4AFF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4805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DDD813-FEF4-429D-BB8E-ED67D2D2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147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量化交易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DA857D-F165-498A-AD5A-156935D7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7433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63E419-F1E1-44A1-A907-15F35B8E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回测分析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D294B2-6238-403A-97EB-847BA7C5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0386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0CF773-012B-4216-908F-78E6092E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052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个股诊断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2E2F37-C084-40C2-BC5A-68115C31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33387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6A8"/>
                </a:solidFill>
              </a:defRPr>
            </a:pPr>
            <a:r>
              <a:rPr sz="675" b="1">
                <a:solidFill>
                  <a:srgbClr val="8A96A8"/>
                </a:solidFill>
              </a:rPr>
              <a:t>模型 / 系统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A57578-6F9E-4B04-878F-A74C596A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54342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CB7757-73CA-4796-AFC0-16D1ECF8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模型训练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42499F-8527-4638-8EAB-B414B65B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AC78E1-81AC-4F2E-9D7A-F3136809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模型注册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62994F-113A-4CA2-B91D-625AED8A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33975"/>
            <a:ext cx="17907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87B6DE-412B-4517-B549-E6ACC713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91125"/>
            <a:ext cx="2857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3EEA37-06D6-4B7F-8663-DFFEFDBB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数据更新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1F73F0-4F3D-452D-8930-091CB8A2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0"/>
            <a:ext cx="10134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49E127-200D-44FD-AC01-15FD54AA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A2230"/>
                </a:solidFill>
              </a:defRPr>
            </a:pPr>
            <a:r>
              <a:rPr sz="1088" b="1">
                <a:solidFill>
                  <a:srgbClr val="1A2230"/>
                </a:solidFill>
              </a:rPr>
              <a:t>数据更新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F42C16-17D5-4E39-BA7D-65E84BA3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2617A"/>
                </a:solidFill>
              </a:defRPr>
            </a:pPr>
            <a:r>
              <a:rPr sz="788" b="0">
                <a:solidFill>
                  <a:srgbClr val="52617A"/>
                </a:solidFill>
              </a:rPr>
              <a:t>上证 3,486.32 +0.74%     深成 10,612.5 +1.12%     创业板 2,108.7 -0.43%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B63472-4F7A-4C51-9FEC-372D083A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4C2F5A-DE20-4312-B2A4-F306A3F8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"/>
            <a:ext cx="495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3D8BFF"/>
                </a:solidFill>
              </a:defRPr>
            </a:pPr>
            <a:r>
              <a:rPr sz="788" b="1">
                <a:solidFill>
                  <a:srgbClr val="3D8BFF"/>
                </a:solidFill>
              </a:rPr>
              <a:t>白天主题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EA7CF6-5E12-42A1-A8F2-3CAC2CBE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61925"/>
            <a:ext cx="800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9F3"/>
          </a:solidFill>
          <a:ln xmlns:a="http://schemas.openxmlformats.org/drawingml/2006/main" w="9525">
            <a:solidFill>
              <a:srgbClr val="EDF9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AF7E24-FD4F-413C-9ABB-EA4BAC45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09550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EC27E"/>
                </a:solidFill>
              </a:defRPr>
            </a:pPr>
            <a:r>
              <a:rPr sz="788" b="1">
                <a:solidFill>
                  <a:srgbClr val="2EC27E"/>
                </a:solidFill>
              </a:rPr>
              <a:t>可编辑原型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01B44E-538C-44B6-BF12-E0AE18DC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FBF767-AA23-4073-ABC9-CC06600A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216EF0-4A01-445B-B62E-17114529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同步总览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095B1D-660C-413E-BB70-4C8D5949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源状态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5156D0-B897-4DFD-A16E-785D962F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89DF1D-BA9D-48AF-9C89-718BEC4A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84BE49B-1EC9-4CFC-BEA7-FFE117B0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质量检查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602F765-4220-4E73-8222-4F303F9C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缺失 / 延迟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E9752A-53BE-4E6C-A7B7-D62B1862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22F7E7-19A0-43F6-BAA8-0538CAC4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EA7A4A-EBF4-4AEA-BCF8-393AFD21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52617A"/>
                </a:solidFill>
              </a:defRPr>
            </a:pPr>
            <a:r>
              <a:rPr sz="795" b="1">
                <a:solidFill>
                  <a:srgbClr val="52617A"/>
                </a:solidFill>
              </a:rPr>
              <a:t>同步日志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D67D4DC-BC4D-4319-A4D0-87D28A41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任务明细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A82E19-D5EC-49BB-9878-B9672AE8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85800"/>
            <a:ext cx="14668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DCE97BB-45C4-4F4B-9FCA-6FEED62E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800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3D8BFF"/>
                </a:solidFill>
              </a:defRPr>
            </a:pPr>
            <a:r>
              <a:rPr sz="660" b="1">
                <a:solidFill>
                  <a:srgbClr val="3D8BFF"/>
                </a:solidFill>
              </a:rPr>
              <a:t>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9406613-162C-4721-8C5D-75728F70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620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95" b="1">
                <a:solidFill>
                  <a:srgbClr val="1A2230"/>
                </a:solidFill>
              </a:defRPr>
            </a:pPr>
            <a:r>
              <a:rPr sz="795" b="1">
                <a:solidFill>
                  <a:srgbClr val="1A2230"/>
                </a:solidFill>
              </a:rPr>
              <a:t>修复动作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0CAA252-FC89-4BF2-8638-F6AEE696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14400"/>
            <a:ext cx="971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0">
                <a:solidFill>
                  <a:srgbClr val="8A96A8"/>
                </a:solidFill>
              </a:defRPr>
            </a:pPr>
            <a:r>
              <a:rPr sz="660" b="0">
                <a:solidFill>
                  <a:srgbClr val="8A96A8"/>
                </a:solidFill>
              </a:rPr>
              <a:t>重跑 / 补数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178B147-40D0-4E5E-8401-4E5AF90C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14B1E7A-F459-47C8-80FF-C4447B8B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当前模块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00656BD-9246-44B8-970B-12AE32AB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数据更新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46473A5-8877-450F-906E-5E8C2B11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BE19F8F-6C0C-4761-9736-5E2B07C5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功能板块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ECD47EF-637E-4233-BD0E-17BB908B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1A2230"/>
                </a:solidFill>
              </a:defRPr>
            </a:pPr>
            <a:r>
              <a:rPr sz="780" b="1">
                <a:solidFill>
                  <a:srgbClr val="1A2230"/>
                </a:solidFill>
              </a:rPr>
              <a:t>同步总览 · 质量检查 · 修复动作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CD7BEE7-6599-47C7-922E-F78174B6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78C8479-F79A-4F40-9848-A21DEC80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业务状态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8454F93-711F-4E95-BE71-03480DEB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2EC27E"/>
                </a:solidFill>
              </a:defRPr>
            </a:pPr>
            <a:r>
              <a:rPr sz="780" b="1">
                <a:solidFill>
                  <a:srgbClr val="2EC27E"/>
                </a:solidFill>
              </a:rPr>
              <a:t>83% 健康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4328D29-90BD-4A90-896F-DD90CCDA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33362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80F78EB-CABE-47BD-B3FD-C2677C1D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 b="1">
                <a:solidFill>
                  <a:srgbClr val="8A96A8"/>
                </a:solidFill>
              </a:defRPr>
            </a:pPr>
            <a:r>
              <a:rPr sz="660" b="1">
                <a:solidFill>
                  <a:srgbClr val="8A96A8"/>
                </a:solidFill>
              </a:rPr>
              <a:t>数据状态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6026352-A17F-4121-A304-4447AF15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276350"/>
            <a:ext cx="1419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0" b="1">
                <a:solidFill>
                  <a:srgbClr val="F5A623"/>
                </a:solidFill>
              </a:defRPr>
            </a:pPr>
            <a:r>
              <a:rPr sz="780" b="1">
                <a:solidFill>
                  <a:srgbClr val="F5A623"/>
                </a:solidFill>
              </a:rPr>
              <a:t>盘后同步待执行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075E4DF-DE73-4153-875D-81C9A43B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BFF"/>
                </a:solidFill>
              </a:defRPr>
            </a:pPr>
            <a:r>
              <a:rPr sz="900" b="1">
                <a:solidFill>
                  <a:srgbClr val="3D8BFF"/>
                </a:solidFill>
              </a:rPr>
              <a:t>63 · 数据更新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F3D906D-B2B2-45FA-B781-B540B6B6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A2230"/>
                </a:solidFill>
              </a:defRPr>
            </a:pPr>
            <a:r>
              <a:rPr sz="2550" b="1">
                <a:solidFill>
                  <a:srgbClr val="1A2230"/>
                </a:solidFill>
              </a:rPr>
              <a:t>修复动作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97CD564-E1FA-41C6-A67F-3410FC50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2617A"/>
                </a:solidFill>
              </a:defRPr>
            </a:pPr>
            <a:r>
              <a:rPr sz="938" b="0">
                <a:solidFill>
                  <a:srgbClr val="52617A"/>
                </a:solidFill>
              </a:rPr>
              <a:t>重跑 / 补数 · 原型页内所有卡片、按钮、表格均为 PPT 可编辑对象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41E8D9F-A4DB-4C22-B300-84856129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D52B9D2-4983-45BA-AD11-CCCFF25E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功能域目标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D131AAB-D75F-4FFB-9F3E-76B7B0AD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08ACC89-AC6C-40C0-A9DC-00CB1985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数据更新 / 修复动作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C6720EA-B05D-4A79-8B4E-6623055C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EA9B738-5C9E-4FE8-8A96-6A505301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重跑 / 补数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312F317-B0E7-420D-B6F2-A1ED7581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34093C5-B4DE-4596-8756-47CD15EB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数据源同步状态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BB72BB8-4021-49D4-8643-8E5CFA97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FF"/>
          </a:solidFill>
          <a:ln xmlns:a="http://schemas.openxmlformats.org/drawingml/2006/main" w="0">
            <a:solidFill>
              <a:srgbClr val="3D8B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95A31D1-961E-4773-9A05-87E588FE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顶部页签只定位本模块区块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6051BB1-798B-481E-BB48-4AF61782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E07E551-0D4F-4DB6-8ED4-73922014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关键卡片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86E9B21-B0EF-442C-BB9A-7B7B29A2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5C18646-BD9E-4181-88A8-14A356B5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修复动作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CA04B0F-3FE1-46DA-8C1F-F8C57FF6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0C29A5F-B083-4F7E-9E65-912C9ABE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数据源同步状态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B9A744D-8003-4E16-93FA-2A460179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27FDB67-EB0C-48D8-8400-8772E82B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定时任务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75A3DAC-FC3A-48B2-B51E-F26E9A79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27E"/>
          </a:solidFill>
          <a:ln xmlns:a="http://schemas.openxmlformats.org/drawingml/2006/main" w="0">
            <a:solidFill>
              <a:srgbClr val="2EC2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46820FE-4784-487C-9456-1692B22B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同步日志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83E3891-248D-4704-A36F-D8ABD0E1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85750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9886144-05BC-4C87-89C0-A2DFBF5B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状态与异常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538B0C2-046E-4367-A0D9-E4745CF2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38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FC5E0A5-1513-4F83-8B1B-1ED71815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71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点击展开详情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30E67D7-9450-4EF2-B963-AF0198F3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86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127D619-648E-4D4D-B025-E4E21BE5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选股服务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98A6D21-55A4-4F2D-9A84-EB04B4BF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33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52F3F70-BBF0-4B53-9D53-CD22E995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TuShare Pro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0EC85AA-9C3E-4E54-9C9B-EECA92BF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94C42F5-48B7-485E-918D-8FAA9361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0">
                <a:solidFill>
                  <a:srgbClr val="52617A"/>
                </a:solidFill>
              </a:defRPr>
            </a:pPr>
            <a:r>
              <a:rPr sz="885" b="0">
                <a:solidFill>
                  <a:srgbClr val="52617A"/>
                </a:solidFill>
              </a:rPr>
              <a:t>行情网关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4E01A64-231A-4F37-B874-817C4FC1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00600"/>
            <a:ext cx="58102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AD3E05E-64DC-4F49-B871-45B77186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可编辑数据表 / 列表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857152D-8830-467E-804D-63B0C7F7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对象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2C548C6-48E7-41CF-94CC-386BE860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状态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D7EB8AA-FB70-4524-B6B1-6DB656CC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" b="1">
                <a:solidFill>
                  <a:srgbClr val="8A96A8"/>
                </a:solidFill>
              </a:defRPr>
            </a:pPr>
            <a:r>
              <a:rPr sz="735" b="1">
                <a:solidFill>
                  <a:srgbClr val="8A96A8"/>
                </a:solidFill>
              </a:rPr>
              <a:t>动作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0E91180-2AED-40F6-ABF2-715CE09E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D3781DF-5784-4878-8EF5-DD08742D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时间 任务 记录数 耗时 结果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85836E0-C8D9-4CC5-BCDF-362A0A9D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待复核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EE1F1F0-8836-478D-A686-30CC16A6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手动重试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82FA4E8-19FE-498B-989E-0DBE3B7C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38800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58A92FD-274E-4A2D-8102-5FBA4F3B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67375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15:02:18 日线行情同步 5,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5535852-0C8C-4D24-82CC-CA86134F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67375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52617A"/>
                </a:solidFill>
              </a:defRPr>
            </a:pPr>
            <a:r>
              <a:rPr sz="765" b="0">
                <a:solidFill>
                  <a:srgbClr val="52617A"/>
                </a:solidFill>
              </a:rPr>
              <a:t>已校验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902EC7C-7BAF-4B70-99B7-66EF853E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6737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查看错误日志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AB76F74-CCB9-45F1-A62A-BA2F83DE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38825"/>
            <a:ext cx="5334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A63A7E7-7D50-42FB-9890-C926870A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1A2230"/>
                </a:solidFill>
              </a:defRPr>
            </a:pPr>
            <a:r>
              <a:rPr sz="765" b="0">
                <a:solidFill>
                  <a:srgbClr val="1A2230"/>
                </a:solidFill>
              </a:rPr>
              <a:t>15:01:30 北向资金更新 2 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D167DCA-60E9-4739-ADB4-61879276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6740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0">
                <a:solidFill>
                  <a:srgbClr val="F5A623"/>
                </a:solidFill>
              </a:defRPr>
            </a:pPr>
            <a:r>
              <a:rPr sz="765" b="0">
                <a:solidFill>
                  <a:srgbClr val="F5A623"/>
                </a:solidFill>
              </a:rPr>
              <a:t>需关注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DDDD560-A42D-41CB-99D3-7F732A73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6740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>
                <a:solidFill>
                  <a:srgbClr val="3D8BFF"/>
                </a:solidFill>
              </a:defRPr>
            </a:pPr>
            <a:r>
              <a:rPr sz="765" b="1">
                <a:solidFill>
                  <a:srgbClr val="3D8BFF"/>
                </a:solidFill>
              </a:rPr>
              <a:t>跳过该源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27C86E3-077E-40A6-B17A-C899B311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8575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4295B26-6EBB-49CA-99A9-4CC22B3A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A2230"/>
                </a:solidFill>
              </a:defRPr>
            </a:pPr>
            <a:r>
              <a:rPr sz="1050" b="1">
                <a:solidFill>
                  <a:srgbClr val="1A2230"/>
                </a:solidFill>
              </a:rPr>
              <a:t>交互动作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02C006E-7D2D-4BBE-A242-04A4373A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8BFF"/>
          </a:solidFill>
          <a:ln xmlns:a="http://schemas.openxmlformats.org/drawingml/2006/main" w="9525">
            <a:solidFill>
              <a:srgbClr val="3D8B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7131D18-10F8-4066-B15D-82763209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</a:rPr>
              <a:t>手动重试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0A0F322-0E71-4404-BFAC-82EC71D5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3EA2D9B-97DD-4518-8996-6F1FEED3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查看错误日志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981C4AC-33D9-4521-BBA5-3AA0C6B7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DC2580B-9BD3-4D55-9CA6-FFE198CF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查看错误日志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AF9FD5B-BEB5-4739-8DD3-7E434E18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638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6601830-B1EE-4B98-AF9C-F4B906B3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15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跳过该源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2A54401-8991-44F2-B2C3-6E97828A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BE6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D294AF4-5729-4FE2-BA1B-5B87D4B8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A2230"/>
                </a:solidFill>
              </a:defRPr>
            </a:pPr>
            <a:r>
              <a:rPr sz="840" b="1">
                <a:solidFill>
                  <a:srgbClr val="1A2230"/>
                </a:solidFill>
              </a:rPr>
              <a:t>跳过该源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DD40AC6-DC85-443C-9A65-BB8CC3B6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198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5A62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AF1AAD1-D691-4EE1-A66A-E76ADBFB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5A623"/>
                </a:solidFill>
              </a:defRPr>
            </a:pPr>
            <a:r>
              <a:rPr sz="840" b="1">
                <a:solidFill>
                  <a:srgbClr val="F5A623"/>
                </a:solidFill>
              </a:rPr>
              <a:t>全部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4964ADF-7421-49B3-BB1D-045F9D02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817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" b="0">
                <a:solidFill>
                  <a:srgbClr val="8A96A8"/>
                </a:solidFill>
              </a:defRPr>
            </a:pPr>
            <a:r>
              <a:rPr sz="690" b="0">
                <a:solidFill>
                  <a:srgbClr val="8A96A8"/>
                </a:solidFill>
              </a:rPr>
              <a:t>文件：data-update.html#repair-actions</a:t>
            </a:r>
          </a:p>
        </p:txBody>
      </p:sp>
    </p:spTree>
    <p:extLst>
      <p:ext uri="{BB962C8B-B14F-4D97-AF65-F5344CB8AC3E}">
        <p14:creationId xmlns:p14="http://schemas.microsoft.com/office/powerpoint/2010/main" val="9093114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2026-06-25T14:24:46.1240000Z</dcterms:created>
  <dcterms:modified xsi:type="dcterms:W3CDTF">2026-06-25T14:24:46.1240000Z</dcterms:modified>
</coreProperties>
</file>